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2.xml" ContentType="application/vnd.openxmlformats-officedocument.theme+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notesSlides/notesSlide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notesSlides/notesSlide5.xml" ContentType="application/vnd.openxmlformats-officedocument.presentationml.notesSlide+xml"/>
  <Override PartName="/ppt/comments/modernComment_10A_BE636960.xml" ContentType="application/vnd.ms-powerpoint.comment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7.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5" r:id="rId2"/>
    <p:sldId id="322" r:id="rId3"/>
    <p:sldId id="2147483607" r:id="rId4"/>
    <p:sldId id="261" r:id="rId5"/>
    <p:sldId id="266" r:id="rId6"/>
    <p:sldId id="2147483617" r:id="rId7"/>
    <p:sldId id="260" r:id="rId8"/>
    <p:sldId id="312" r:id="rId9"/>
    <p:sldId id="2147483586" r:id="rId10"/>
    <p:sldId id="2147483603" r:id="rId11"/>
    <p:sldId id="2147483604"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D326C59-19B9-92CA-A063-AB5671B5128D}" name="Elsner, Marc" initials="ME" userId="S::melsner@deloitte.de::6c9ae83f-0b79-4618-a8d5-159866fb08a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9" d="100"/>
          <a:sy n="79" d="100"/>
        </p:scale>
        <p:origin x="173"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modernComment_10A_BE636960.xml><?xml version="1.0" encoding="utf-8"?>
<p188:cmLst xmlns:a="http://schemas.openxmlformats.org/drawingml/2006/main" xmlns:r="http://schemas.openxmlformats.org/officeDocument/2006/relationships" xmlns:p188="http://schemas.microsoft.com/office/powerpoint/2018/8/main">
  <p188:cm id="{DBE83C05-2133-48A3-B191-76CDF7B6D8CB}" authorId="{7D326C59-19B9-92CA-A063-AB5671B5128D}" created="2026-08-26T08:34:20.511">
    <ac:deMkLst xmlns:ac="http://schemas.microsoft.com/office/drawing/2013/main/command">
      <pc:docMk xmlns:pc="http://schemas.microsoft.com/office/powerpoint/2013/main/command"/>
      <pc:sldMk xmlns:pc="http://schemas.microsoft.com/office/powerpoint/2013/main/command" cId="3194186080" sldId="266"/>
      <ac:spMk id="143" creationId="{08193AE4-4B48-84E5-9886-BFD922C81EA5}"/>
    </ac:deMkLst>
    <p188:txBody>
      <a:bodyPr/>
      <a:lstStyle/>
      <a:p>
        <a:r>
          <a:rPr lang="de-DE"/>
          <a:t>To be updated for External parallel deal maintanence (most likely to be deleted) - then shifting Price curve storage into grey unrealized sphere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2E437-8875-45DC-B9CE-C1734AE682F0}" type="datetimeFigureOut">
              <a:rPr lang="de-DE" smtClean="0"/>
              <a:t>26.08.2026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73D5F3-A385-4DDE-B691-05F5AA52D3E9}" type="slidenum">
              <a:rPr lang="de-DE" smtClean="0"/>
              <a:t>‹#›</a:t>
            </a:fld>
            <a:endParaRPr lang="de-DE"/>
          </a:p>
        </p:txBody>
      </p:sp>
    </p:spTree>
    <p:extLst>
      <p:ext uri="{BB962C8B-B14F-4D97-AF65-F5344CB8AC3E}">
        <p14:creationId xmlns:p14="http://schemas.microsoft.com/office/powerpoint/2010/main" val="1109968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F0A2B-1A58-4465-3848-E95823E5B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F64E2-4C29-75F0-4365-BF6BE2F6485B}"/>
              </a:ext>
            </a:extLst>
          </p:cNvPr>
          <p:cNvSpPr>
            <a:spLocks noGrp="1" noRot="1" noChangeAspect="1"/>
          </p:cNvSpPr>
          <p:nvPr>
            <p:ph type="sldImg"/>
          </p:nvPr>
        </p:nvSpPr>
        <p:spPr>
          <a:xfrm>
            <a:off x="-579438" y="836613"/>
            <a:ext cx="7419976" cy="4175125"/>
          </a:xfrm>
        </p:spPr>
        <p:txBody>
          <a:bodyPr/>
          <a:lstStyle/>
          <a:p>
            <a:endParaRPr lang="en-US"/>
          </a:p>
        </p:txBody>
      </p:sp>
      <p:sp>
        <p:nvSpPr>
          <p:cNvPr id="3" name="Notes Placeholder 2">
            <a:extLst>
              <a:ext uri="{FF2B5EF4-FFF2-40B4-BE49-F238E27FC236}">
                <a16:creationId xmlns:a16="http://schemas.microsoft.com/office/drawing/2014/main" id="{16D0E39A-0153-4999-69E8-EACD35183EAD}"/>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C48E4A6B-6B35-4F45-C318-37976DC04ED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77846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60750A-9EDE-4087-92F7-2A1E690E2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2570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8145F-E694-43DB-A375-DA3D33612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79E41-AF71-1C7F-F53C-B2277A313E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40C6B5-C94D-6453-0C29-5136145152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2F253C-8878-E7DE-86AD-999E0BF785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60750A-9EDE-4087-92F7-2A1E690E2C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5693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F3A35-B5D5-47A2-950B-5539239512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486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07E99-9B7D-4AFF-5859-ADEE2A345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4AEAD-E411-CB67-0FB9-A3CC37F2E4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0AAF52-D803-7C81-4A30-D7F1CBF574BF}"/>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3ED45AA6-282C-D361-1B39-0DBE918981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52BC67-7E67-CC48-8269-F704D6F78F87}"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0515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160FC-6B09-E2C7-A926-B07AA0119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28A9F-C18C-AB7B-69C6-02AA18DF35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5FBAF5-E330-0224-73E8-036798049BF8}"/>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F7EC33A8-124E-C53C-9E1B-F5BAA73F26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52BC67-7E67-CC48-8269-F704D6F78F87}"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564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38F58-A35E-B7DE-6E35-3BD039997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CF23-B8A6-B830-45C9-7632E309CFA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F3B91EE-7DCB-3EDB-05B2-E2A7E8F36D0C}"/>
              </a:ext>
            </a:extLst>
          </p:cNvPr>
          <p:cNvSpPr>
            <a:spLocks noGrp="1"/>
          </p:cNvSpPr>
          <p:nvPr>
            <p:ph type="body" idx="1"/>
          </p:nvPr>
        </p:nvSpPr>
        <p:spPr/>
        <p:txBody>
          <a:bodyPr/>
          <a:lstStyle/>
          <a:p>
            <a:endParaRPr lang="de-DE"/>
          </a:p>
        </p:txBody>
      </p:sp>
      <p:sp>
        <p:nvSpPr>
          <p:cNvPr id="4" name="Slide Number Placeholder 3">
            <a:extLst>
              <a:ext uri="{FF2B5EF4-FFF2-40B4-BE49-F238E27FC236}">
                <a16:creationId xmlns:a16="http://schemas.microsoft.com/office/drawing/2014/main" id="{D7C9ADDE-6FD1-2ADF-5327-2BEA3D6D14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52BC67-7E67-CC48-8269-F704D6F78F87}"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25676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5.bin"/></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1.xml"/><Relationship Id="rId6" Type="http://schemas.microsoft.com/office/2007/relationships/hdphoto" Target="../media/hdphoto2.wdp"/><Relationship Id="rId5" Type="http://schemas.openxmlformats.org/officeDocument/2006/relationships/image" Target="../media/image7.png"/><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2.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tags" Target="../tags/tag15.xml"/><Relationship Id="rId7" Type="http://schemas.openxmlformats.org/officeDocument/2006/relationships/oleObject" Target="../embeddings/oleObject8.bin"/><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4_Title Slide - White">
    <p:bg bwMode="gray">
      <p:bgPr>
        <a:solidFill>
          <a:schemeClr val="bg1"/>
        </a:solidFill>
        <a:effectLst/>
      </p:bgPr>
    </p:bg>
    <p:spTree>
      <p:nvGrpSpPr>
        <p:cNvPr id="1" name=""/>
        <p:cNvGrpSpPr/>
        <p:nvPr/>
      </p:nvGrpSpPr>
      <p:grpSpPr>
        <a:xfrm>
          <a:off x="0" y="0"/>
          <a:ext cx="0" cy="0"/>
          <a:chOff x="0" y="0"/>
          <a:chExt cx="0" cy="0"/>
        </a:xfrm>
      </p:grpSpPr>
      <p:pic>
        <p:nvPicPr>
          <p:cNvPr id="21" name="Grafik 20">
            <a:extLst>
              <a:ext uri="{FF2B5EF4-FFF2-40B4-BE49-F238E27FC236}">
                <a16:creationId xmlns:a16="http://schemas.microsoft.com/office/drawing/2014/main" id="{62DC590B-A8A6-AEEB-B8C9-1D24217A99B0}"/>
              </a:ext>
            </a:extLst>
          </p:cNvPr>
          <p:cNvPicPr>
            <a:picLocks noChangeAspect="1"/>
          </p:cNvPicPr>
          <p:nvPr userDrawn="1"/>
        </p:nvPicPr>
        <p:blipFill>
          <a:blip r:embed="rId3">
            <a:extLst>
              <a:ext uri="{28A0092B-C50C-407E-A947-70E740481C1C}">
                <a14:useLocalDpi xmlns:a14="http://schemas.microsoft.com/office/drawing/2010/main" val="0"/>
              </a:ext>
            </a:extLst>
          </a:blip>
          <a:srcRect l="966" t="9195" r="13096"/>
          <a:stretch>
            <a:fillRect/>
          </a:stretch>
        </p:blipFill>
        <p:spPr>
          <a:xfrm>
            <a:off x="0" y="0"/>
            <a:ext cx="12192000" cy="6858000"/>
          </a:xfrm>
          <a:prstGeom prst="rect">
            <a:avLst/>
          </a:prstGeom>
        </p:spPr>
      </p:pic>
      <p:graphicFrame>
        <p:nvGraphicFramePr>
          <p:cNvPr id="4" name="think-cell data - do not delete" hidden="1">
            <a:extLst>
              <a:ext uri="{FF2B5EF4-FFF2-40B4-BE49-F238E27FC236}">
                <a16:creationId xmlns:a16="http://schemas.microsoft.com/office/drawing/2014/main" id="{4997F63C-ED3F-AE66-8669-D85F2517B8AE}"/>
              </a:ext>
            </a:extLst>
          </p:cNvPr>
          <p:cNvGraphicFramePr>
            <a:graphicFrameLocks noChangeAspect="1"/>
          </p:cNvGraphicFramePr>
          <p:nvPr userDrawn="1">
            <p:custDataLst>
              <p:tags r:id="rId1"/>
            </p:custDataLst>
            <p:extLst>
              <p:ext uri="{D42A27DB-BD31-4B8C-83A1-F6EECF244321}">
                <p14:modId xmlns:p14="http://schemas.microsoft.com/office/powerpoint/2010/main" val="1894861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5" imgH="405" progId="TCLayout.ActiveDocument.1">
                  <p:embed/>
                </p:oleObj>
              </mc:Choice>
              <mc:Fallback>
                <p:oleObj name="think-cell Folie" r:id="rId4" imgW="405" imgH="405" progId="TCLayout.ActiveDocument.1">
                  <p:embed/>
                  <p:pic>
                    <p:nvPicPr>
                      <p:cNvPr id="4" name="think-cell data - do not delete" hidden="1">
                        <a:extLst>
                          <a:ext uri="{FF2B5EF4-FFF2-40B4-BE49-F238E27FC236}">
                            <a16:creationId xmlns:a16="http://schemas.microsoft.com/office/drawing/2014/main" id="{4997F63C-ED3F-AE66-8669-D85F2517B8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MIO_AGENDA_IGNORE_NAVIGATION" hidden="1">
            <a:extLst>
              <a:ext uri="{FF2B5EF4-FFF2-40B4-BE49-F238E27FC236}">
                <a16:creationId xmlns:a16="http://schemas.microsoft.com/office/drawing/2014/main" id="{D35CEE80-9913-49B6-AD2D-CD6015DCEA12}"/>
              </a:ext>
            </a:extLst>
          </p:cNvPr>
          <p:cNvSpPr/>
          <p:nvPr/>
        </p:nvSpPr>
        <p:spPr>
          <a:xfrm>
            <a:off x="1134480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sp>
        <p:nvSpPr>
          <p:cNvPr id="17" name="MIO_AGENDA_IGNORE_CHAPTER_REFERENCE" hidden="1">
            <a:extLst>
              <a:ext uri="{FF2B5EF4-FFF2-40B4-BE49-F238E27FC236}">
                <a16:creationId xmlns:a16="http://schemas.microsoft.com/office/drawing/2014/main" id="{6BB5887F-93D5-475B-917E-FCC7B89F3723}"/>
              </a:ext>
            </a:extLst>
          </p:cNvPr>
          <p:cNvSpPr/>
          <p:nvPr/>
        </p:nvSpPr>
        <p:spPr>
          <a:xfrm>
            <a:off x="1105395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grpSp>
        <p:nvGrpSpPr>
          <p:cNvPr id="5" name="Group 26">
            <a:extLst>
              <a:ext uri="{FF2B5EF4-FFF2-40B4-BE49-F238E27FC236}">
                <a16:creationId xmlns:a16="http://schemas.microsoft.com/office/drawing/2014/main" id="{C3E8AEA2-FF13-75CC-CC6E-8336DB7DE4D4}"/>
              </a:ext>
            </a:extLst>
          </p:cNvPr>
          <p:cNvGrpSpPr/>
          <p:nvPr userDrawn="1"/>
        </p:nvGrpSpPr>
        <p:grpSpPr>
          <a:xfrm>
            <a:off x="458636" y="342232"/>
            <a:ext cx="1819656" cy="347472"/>
            <a:chOff x="398463" y="404813"/>
            <a:chExt cx="1627187" cy="307976"/>
          </a:xfrm>
          <a:solidFill>
            <a:schemeClr val="bg1"/>
          </a:solidFill>
        </p:grpSpPr>
        <p:sp>
          <p:nvSpPr>
            <p:cNvPr id="6" name="Oval 5">
              <a:extLst>
                <a:ext uri="{FF2B5EF4-FFF2-40B4-BE49-F238E27FC236}">
                  <a16:creationId xmlns:a16="http://schemas.microsoft.com/office/drawing/2014/main" id="{95D9FD8C-ABE6-39AA-5F2E-98083606B3D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7" name="Freeform 6">
              <a:extLst>
                <a:ext uri="{FF2B5EF4-FFF2-40B4-BE49-F238E27FC236}">
                  <a16:creationId xmlns:a16="http://schemas.microsoft.com/office/drawing/2014/main" id="{2D02D30F-611C-4768-BBCE-3444E8062AC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8" name="Rectangle 7">
              <a:extLst>
                <a:ext uri="{FF2B5EF4-FFF2-40B4-BE49-F238E27FC236}">
                  <a16:creationId xmlns:a16="http://schemas.microsoft.com/office/drawing/2014/main" id="{81ED1758-9AD0-A0EF-D25A-813C5AC44ACD}"/>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9" name="Freeform 8">
              <a:extLst>
                <a:ext uri="{FF2B5EF4-FFF2-40B4-BE49-F238E27FC236}">
                  <a16:creationId xmlns:a16="http://schemas.microsoft.com/office/drawing/2014/main" id="{0E3C5091-80E6-5884-530A-AA044D90D524}"/>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0" name="Rectangle 9">
              <a:extLst>
                <a:ext uri="{FF2B5EF4-FFF2-40B4-BE49-F238E27FC236}">
                  <a16:creationId xmlns:a16="http://schemas.microsoft.com/office/drawing/2014/main" id="{C902363E-ACA5-8851-A889-143A61CE876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1" name="Rectangle 10">
              <a:extLst>
                <a:ext uri="{FF2B5EF4-FFF2-40B4-BE49-F238E27FC236}">
                  <a16:creationId xmlns:a16="http://schemas.microsoft.com/office/drawing/2014/main" id="{2DE4EF9D-B447-C8A4-1649-06E2B0E0583D}"/>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2" name="Freeform 11">
              <a:extLst>
                <a:ext uri="{FF2B5EF4-FFF2-40B4-BE49-F238E27FC236}">
                  <a16:creationId xmlns:a16="http://schemas.microsoft.com/office/drawing/2014/main" id="{F0A4476D-CD6C-4F89-8775-0F0DB6FAA9F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3" name="Freeform 12">
              <a:extLst>
                <a:ext uri="{FF2B5EF4-FFF2-40B4-BE49-F238E27FC236}">
                  <a16:creationId xmlns:a16="http://schemas.microsoft.com/office/drawing/2014/main" id="{310B8BBE-263D-BEF2-3523-90E04EB41534}"/>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4" name="Freeform 13">
              <a:extLst>
                <a:ext uri="{FF2B5EF4-FFF2-40B4-BE49-F238E27FC236}">
                  <a16:creationId xmlns:a16="http://schemas.microsoft.com/office/drawing/2014/main" id="{D144ACF2-EDB3-593E-F29E-FD5DB56EA70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5" name="Freeform 14">
              <a:extLst>
                <a:ext uri="{FF2B5EF4-FFF2-40B4-BE49-F238E27FC236}">
                  <a16:creationId xmlns:a16="http://schemas.microsoft.com/office/drawing/2014/main" id="{35B546C6-D3C5-7A8F-1B6D-DB9C3964996F}"/>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364398863"/>
      </p:ext>
    </p:extLst>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tter Layout">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9F5C1707-B0B1-7645-79DB-5F9283FCE977}"/>
              </a:ext>
            </a:extLst>
          </p:cNvPr>
          <p:cNvPicPr>
            <a:picLocks noChangeAspect="1"/>
          </p:cNvPicPr>
          <p:nvPr userDrawn="1"/>
        </p:nvPicPr>
        <p:blipFill>
          <a:blip r:embed="rId3">
            <a:alphaModFix amt="25000"/>
            <a:extLst>
              <a:ext uri="{28A0092B-C50C-407E-A947-70E740481C1C}">
                <a14:useLocalDpi xmlns:a14="http://schemas.microsoft.com/office/drawing/2010/main" val="0"/>
              </a:ext>
            </a:extLst>
          </a:blip>
          <a:srcRect l="966" t="9195" r="13096"/>
          <a:stretch>
            <a:fillRect/>
          </a:stretch>
        </p:blipFill>
        <p:spPr>
          <a:xfrm>
            <a:off x="0" y="0"/>
            <a:ext cx="12192000" cy="6858000"/>
          </a:xfrm>
          <a:prstGeom prst="rect">
            <a:avLst/>
          </a:prstGeom>
        </p:spPr>
      </p:pic>
      <p:sp>
        <p:nvSpPr>
          <p:cNvPr id="8" name="Rechteck 7">
            <a:extLst>
              <a:ext uri="{FF2B5EF4-FFF2-40B4-BE49-F238E27FC236}">
                <a16:creationId xmlns:a16="http://schemas.microsoft.com/office/drawing/2014/main" id="{8B7C4D68-EA11-D21B-C19F-550830902A1F}"/>
              </a:ext>
            </a:extLst>
          </p:cNvPr>
          <p:cNvSpPr/>
          <p:nvPr userDrawn="1"/>
        </p:nvSpPr>
        <p:spPr bwMode="gray">
          <a:xfrm>
            <a:off x="0" y="1536563"/>
            <a:ext cx="2387600" cy="4826137"/>
          </a:xfrm>
          <a:prstGeom prst="rect">
            <a:avLst/>
          </a:prstGeom>
          <a:solidFill>
            <a:schemeClr val="bg1">
              <a:alpha val="55000"/>
            </a:schemeClr>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de-DE" sz="1400">
              <a:solidFill>
                <a:srgbClr val="FF0000"/>
              </a:solidFill>
            </a:endParaRPr>
          </a:p>
        </p:txBody>
      </p:sp>
      <p:sp>
        <p:nvSpPr>
          <p:cNvPr id="10" name="Rechteck 9">
            <a:extLst>
              <a:ext uri="{FF2B5EF4-FFF2-40B4-BE49-F238E27FC236}">
                <a16:creationId xmlns:a16="http://schemas.microsoft.com/office/drawing/2014/main" id="{BA807BA9-514D-948C-B632-A6E03C6DC8D1}"/>
              </a:ext>
            </a:extLst>
          </p:cNvPr>
          <p:cNvSpPr/>
          <p:nvPr userDrawn="1"/>
        </p:nvSpPr>
        <p:spPr bwMode="gray">
          <a:xfrm>
            <a:off x="2536732" y="1536563"/>
            <a:ext cx="9655268" cy="4826137"/>
          </a:xfrm>
          <a:prstGeom prst="rect">
            <a:avLst/>
          </a:prstGeom>
          <a:solidFill>
            <a:schemeClr val="bg1">
              <a:alpha val="55000"/>
            </a:schemeClr>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de-DE" sz="1400">
              <a:solidFill>
                <a:srgbClr val="FF0000"/>
              </a:solidFill>
            </a:endParaRPr>
          </a:p>
        </p:txBody>
      </p:sp>
      <p:graphicFrame>
        <p:nvGraphicFramePr>
          <p:cNvPr id="2" name="think-cell data - do not delete" hidden="1">
            <a:extLst>
              <a:ext uri="{FF2B5EF4-FFF2-40B4-BE49-F238E27FC236}">
                <a16:creationId xmlns:a16="http://schemas.microsoft.com/office/drawing/2014/main" id="{D90E83CD-0A46-BD16-493D-CC325024A594}"/>
              </a:ext>
            </a:extLst>
          </p:cNvPr>
          <p:cNvGraphicFramePr>
            <a:graphicFrameLocks noChangeAspect="1"/>
          </p:cNvGraphicFramePr>
          <p:nvPr userDrawn="1">
            <p:custDataLst>
              <p:tags r:id="rId1"/>
            </p:custDataLst>
            <p:extLst>
              <p:ext uri="{D42A27DB-BD31-4B8C-83A1-F6EECF244321}">
                <p14:modId xmlns:p14="http://schemas.microsoft.com/office/powerpoint/2010/main" val="1360137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5" imgH="405" progId="TCLayout.ActiveDocument.1">
                  <p:embed/>
                </p:oleObj>
              </mc:Choice>
              <mc:Fallback>
                <p:oleObj name="think-cell Folie" r:id="rId4" imgW="405" imgH="405" progId="TCLayout.ActiveDocument.1">
                  <p:embed/>
                  <p:pic>
                    <p:nvPicPr>
                      <p:cNvPr id="2" name="think-cell data - do not delete" hidden="1">
                        <a:extLst>
                          <a:ext uri="{FF2B5EF4-FFF2-40B4-BE49-F238E27FC236}">
                            <a16:creationId xmlns:a16="http://schemas.microsoft.com/office/drawing/2014/main" id="{D90E83CD-0A46-BD16-493D-CC325024A59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upper right"/>
          <p:cNvSpPr>
            <a:spLocks noGrp="1"/>
          </p:cNvSpPr>
          <p:nvPr>
            <p:ph type="body" sz="quarter" idx="10" hasCustomPrompt="1"/>
          </p:nvPr>
        </p:nvSpPr>
        <p:spPr>
          <a:xfrm>
            <a:off x="8933144" y="345584"/>
            <a:ext cx="2804160" cy="1027760"/>
          </a:xfrm>
        </p:spPr>
        <p:txBody>
          <a:bodyPr>
            <a:noAutofit/>
          </a:bodyPr>
          <a:lstStyle>
            <a:lvl1pPr rtl="0">
              <a:spcBef>
                <a:spcPts val="139"/>
              </a:spcBef>
              <a:defRPr sz="800">
                <a:solidFill>
                  <a:schemeClr val="tx1"/>
                </a:solidFill>
              </a:defRPr>
            </a:lvl1pPr>
            <a:lvl2pPr>
              <a:defRPr sz="727">
                <a:solidFill>
                  <a:schemeClr val="tx2"/>
                </a:solidFill>
              </a:defRPr>
            </a:lvl2pPr>
            <a:lvl3pPr>
              <a:defRPr sz="727">
                <a:solidFill>
                  <a:schemeClr val="tx2"/>
                </a:solidFill>
              </a:defRPr>
            </a:lvl3pPr>
            <a:lvl4pPr>
              <a:defRPr sz="692">
                <a:solidFill>
                  <a:schemeClr val="tx2"/>
                </a:solidFill>
              </a:defRPr>
            </a:lvl4pPr>
            <a:lvl5pPr>
              <a:defRPr sz="692">
                <a:solidFill>
                  <a:schemeClr val="tx2"/>
                </a:solidFill>
              </a:defRPr>
            </a:lvl5pPr>
          </a:lstStyle>
          <a:p>
            <a:pPr lvl="0"/>
            <a:r>
              <a:rPr lang="en-US"/>
              <a:t>Edit Master text styles</a:t>
            </a:r>
          </a:p>
        </p:txBody>
      </p:sp>
      <p:sp>
        <p:nvSpPr>
          <p:cNvPr id="7" name="Text left"/>
          <p:cNvSpPr>
            <a:spLocks noGrp="1"/>
          </p:cNvSpPr>
          <p:nvPr>
            <p:ph type="body" sz="quarter" idx="11" hasCustomPrompt="1"/>
          </p:nvPr>
        </p:nvSpPr>
        <p:spPr>
          <a:xfrm>
            <a:off x="463296" y="1714500"/>
            <a:ext cx="1924304" cy="4648200"/>
          </a:xfrm>
        </p:spPr>
        <p:txBody>
          <a:bodyPr>
            <a:noAutofit/>
          </a:bodyPr>
          <a:lstStyle>
            <a:lvl1pPr rtl="0">
              <a:spcBef>
                <a:spcPts val="0"/>
              </a:spcBef>
              <a:spcAft>
                <a:spcPts val="416"/>
              </a:spcAft>
              <a:defRPr sz="1200"/>
            </a:lvl1pPr>
            <a:lvl2pPr>
              <a:spcBef>
                <a:spcPts val="208"/>
              </a:spcBef>
              <a:defRPr/>
            </a:lvl2pPr>
            <a:lvl3pPr>
              <a:spcBef>
                <a:spcPts val="208"/>
              </a:spcBef>
              <a:defRPr/>
            </a:lvl3pPr>
            <a:lvl4pPr>
              <a:spcBef>
                <a:spcPts val="208"/>
              </a:spcBef>
              <a:defRPr/>
            </a:lvl4pPr>
            <a:lvl5pPr>
              <a:spcBef>
                <a:spcPts val="208"/>
              </a:spcBef>
              <a:defRPr/>
            </a:lvl5pPr>
          </a:lstStyle>
          <a:p>
            <a:pPr lvl="0"/>
            <a:r>
              <a:rPr lang="en-US"/>
              <a:t>Edit Master text styles</a:t>
            </a:r>
          </a:p>
        </p:txBody>
      </p:sp>
      <p:sp>
        <p:nvSpPr>
          <p:cNvPr id="9" name="Text right"/>
          <p:cNvSpPr>
            <a:spLocks noGrp="1"/>
          </p:cNvSpPr>
          <p:nvPr>
            <p:ph type="body" sz="quarter" idx="12" hasCustomPrompt="1"/>
          </p:nvPr>
        </p:nvSpPr>
        <p:spPr>
          <a:xfrm>
            <a:off x="2697018" y="1719073"/>
            <a:ext cx="9037783" cy="4643628"/>
          </a:xfrm>
        </p:spPr>
        <p:txBody>
          <a:bodyPr>
            <a:noAutofit/>
          </a:bodyPr>
          <a:lstStyle>
            <a:lvl1pPr marL="0" indent="0" algn="l" rtl="0">
              <a:spcBef>
                <a:spcPts val="1247"/>
              </a:spcBef>
              <a:buFontTx/>
              <a:buNone/>
              <a:defRPr sz="1200"/>
            </a:lvl1pPr>
            <a:lvl2pPr marL="104775" indent="-104775" algn="l" rtl="0">
              <a:buClrTx/>
              <a:buSzPct val="100000"/>
              <a:buFont typeface="Arial" panose="020B0604020202020204" pitchFamily="34" charset="0"/>
              <a:buChar char="•"/>
              <a:defRPr sz="1200"/>
            </a:lvl2pPr>
            <a:lvl3pPr marL="228600" indent="-104775" algn="l" rtl="0">
              <a:buClrTx/>
              <a:buSzPct val="100000"/>
              <a:buFont typeface="Arial" panose="020B0604020202020204" pitchFamily="34" charset="0"/>
              <a:buChar char="−"/>
              <a:defRPr sz="1200"/>
            </a:lvl3pPr>
            <a:lvl4pPr marL="352425" indent="-104775" algn="l" rtl="0">
              <a:buClrTx/>
              <a:buSzPct val="100000"/>
              <a:buFont typeface="Arial" panose="020B0604020202020204" pitchFamily="34" charset="0"/>
              <a:buChar char="◦"/>
              <a:defRPr sz="1200"/>
            </a:lvl4pPr>
            <a:lvl5pPr marL="476250" indent="-104775" algn="l" rtl="0">
              <a:buClrTx/>
              <a:buSzPct val="100000"/>
              <a:buFont typeface="Arial" panose="020B0604020202020204" pitchFamily="34" charset="0"/>
              <a:buChar cha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21" name="Gruppieren 20">
            <a:extLst>
              <a:ext uri="{FF2B5EF4-FFF2-40B4-BE49-F238E27FC236}">
                <a16:creationId xmlns:a16="http://schemas.microsoft.com/office/drawing/2014/main" id="{60002FAD-FD46-6CF9-DB6C-67BEAC7BB946}"/>
              </a:ext>
            </a:extLst>
          </p:cNvPr>
          <p:cNvGrpSpPr/>
          <p:nvPr userDrawn="1"/>
        </p:nvGrpSpPr>
        <p:grpSpPr>
          <a:xfrm>
            <a:off x="458636" y="342232"/>
            <a:ext cx="1819656" cy="347472"/>
            <a:chOff x="458636" y="342232"/>
            <a:chExt cx="1819656" cy="347472"/>
          </a:xfrm>
        </p:grpSpPr>
        <p:sp>
          <p:nvSpPr>
            <p:cNvPr id="11" name="Oval 5">
              <a:extLst>
                <a:ext uri="{FF2B5EF4-FFF2-40B4-BE49-F238E27FC236}">
                  <a16:creationId xmlns:a16="http://schemas.microsoft.com/office/drawing/2014/main" id="{46E7E5E7-13DC-D3CF-9884-EEF4FE27C8D6}"/>
                </a:ext>
              </a:extLst>
            </p:cNvPr>
            <p:cNvSpPr>
              <a:spLocks noChangeArrowheads="1"/>
            </p:cNvSpPr>
            <p:nvPr userDrawn="1"/>
          </p:nvSpPr>
          <p:spPr bwMode="auto">
            <a:xfrm>
              <a:off x="2180652" y="591194"/>
              <a:ext cx="97640" cy="98510"/>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2" name="Freeform 6">
              <a:extLst>
                <a:ext uri="{FF2B5EF4-FFF2-40B4-BE49-F238E27FC236}">
                  <a16:creationId xmlns:a16="http://schemas.microsoft.com/office/drawing/2014/main" id="{112F6086-CB9F-977A-1B26-62C22C66A6A9}"/>
                </a:ext>
              </a:extLst>
            </p:cNvPr>
            <p:cNvSpPr>
              <a:spLocks noEditPoints="1"/>
            </p:cNvSpPr>
            <p:nvPr userDrawn="1"/>
          </p:nvSpPr>
          <p:spPr bwMode="auto">
            <a:xfrm>
              <a:off x="458636" y="344024"/>
              <a:ext cx="276943" cy="340307"/>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3" name="Rectangle 7">
              <a:extLst>
                <a:ext uri="{FF2B5EF4-FFF2-40B4-BE49-F238E27FC236}">
                  <a16:creationId xmlns:a16="http://schemas.microsoft.com/office/drawing/2014/main" id="{BBDC1D0D-ED3C-BB1B-F68D-73D52D474473}"/>
                </a:ext>
              </a:extLst>
            </p:cNvPr>
            <p:cNvSpPr>
              <a:spLocks noChangeArrowheads="1"/>
            </p:cNvSpPr>
            <p:nvPr userDrawn="1"/>
          </p:nvSpPr>
          <p:spPr bwMode="auto">
            <a:xfrm>
              <a:off x="1026724" y="342232"/>
              <a:ext cx="83437" cy="34209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4" name="Freeform 8">
              <a:extLst>
                <a:ext uri="{FF2B5EF4-FFF2-40B4-BE49-F238E27FC236}">
                  <a16:creationId xmlns:a16="http://schemas.microsoft.com/office/drawing/2014/main" id="{C85394C5-C53E-4AA4-9A24-5396DFD90DEA}"/>
                </a:ext>
              </a:extLst>
            </p:cNvPr>
            <p:cNvSpPr>
              <a:spLocks noEditPoints="1"/>
            </p:cNvSpPr>
            <p:nvPr userDrawn="1"/>
          </p:nvSpPr>
          <p:spPr bwMode="auto">
            <a:xfrm>
              <a:off x="1143892" y="426414"/>
              <a:ext cx="241437" cy="261499"/>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5" name="Rectangle 9">
              <a:extLst>
                <a:ext uri="{FF2B5EF4-FFF2-40B4-BE49-F238E27FC236}">
                  <a16:creationId xmlns:a16="http://schemas.microsoft.com/office/drawing/2014/main" id="{83F4C2B0-3F51-8FC9-0E21-D1EDAC8C69E6}"/>
                </a:ext>
              </a:extLst>
            </p:cNvPr>
            <p:cNvSpPr>
              <a:spLocks noChangeArrowheads="1"/>
            </p:cNvSpPr>
            <p:nvPr userDrawn="1"/>
          </p:nvSpPr>
          <p:spPr bwMode="auto">
            <a:xfrm>
              <a:off x="1419059" y="429996"/>
              <a:ext cx="83437" cy="25433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6" name="Rectangle 10">
              <a:extLst>
                <a:ext uri="{FF2B5EF4-FFF2-40B4-BE49-F238E27FC236}">
                  <a16:creationId xmlns:a16="http://schemas.microsoft.com/office/drawing/2014/main" id="{065D7478-AC6C-BDD4-6626-86951A859909}"/>
                </a:ext>
              </a:extLst>
            </p:cNvPr>
            <p:cNvSpPr>
              <a:spLocks noChangeArrowheads="1"/>
            </p:cNvSpPr>
            <p:nvPr userDrawn="1"/>
          </p:nvSpPr>
          <p:spPr bwMode="auto">
            <a:xfrm>
              <a:off x="1419059" y="342232"/>
              <a:ext cx="83437" cy="5731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7" name="Freeform 11">
              <a:extLst>
                <a:ext uri="{FF2B5EF4-FFF2-40B4-BE49-F238E27FC236}">
                  <a16:creationId xmlns:a16="http://schemas.microsoft.com/office/drawing/2014/main" id="{4FA51C47-CAFE-0836-517F-146DE02BC146}"/>
                </a:ext>
              </a:extLst>
            </p:cNvPr>
            <p:cNvSpPr>
              <a:spLocks/>
            </p:cNvSpPr>
            <p:nvPr userDrawn="1"/>
          </p:nvSpPr>
          <p:spPr bwMode="auto">
            <a:xfrm>
              <a:off x="1536227" y="349396"/>
              <a:ext cx="177527" cy="338516"/>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8" name="Freeform 12">
              <a:extLst>
                <a:ext uri="{FF2B5EF4-FFF2-40B4-BE49-F238E27FC236}">
                  <a16:creationId xmlns:a16="http://schemas.microsoft.com/office/drawing/2014/main" id="{50ECA333-7448-1F4E-026D-F3A0BD56F6CE}"/>
                </a:ext>
              </a:extLst>
            </p:cNvPr>
            <p:cNvSpPr>
              <a:spLocks/>
            </p:cNvSpPr>
            <p:nvPr userDrawn="1"/>
          </p:nvSpPr>
          <p:spPr bwMode="auto">
            <a:xfrm>
              <a:off x="1729733" y="349396"/>
              <a:ext cx="177527" cy="338516"/>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9" name="Freeform 13">
              <a:extLst>
                <a:ext uri="{FF2B5EF4-FFF2-40B4-BE49-F238E27FC236}">
                  <a16:creationId xmlns:a16="http://schemas.microsoft.com/office/drawing/2014/main" id="{52CBA545-C91B-829A-0543-7208CBFB0B89}"/>
                </a:ext>
              </a:extLst>
            </p:cNvPr>
            <p:cNvSpPr>
              <a:spLocks noEditPoints="1"/>
            </p:cNvSpPr>
            <p:nvPr userDrawn="1"/>
          </p:nvSpPr>
          <p:spPr bwMode="auto">
            <a:xfrm>
              <a:off x="1925013" y="426414"/>
              <a:ext cx="236111" cy="261499"/>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0" name="Freeform 14">
              <a:extLst>
                <a:ext uri="{FF2B5EF4-FFF2-40B4-BE49-F238E27FC236}">
                  <a16:creationId xmlns:a16="http://schemas.microsoft.com/office/drawing/2014/main" id="{308EFAB7-4B32-4E66-911B-B152AAE5DC77}"/>
                </a:ext>
              </a:extLst>
            </p:cNvPr>
            <p:cNvSpPr>
              <a:spLocks noEditPoints="1"/>
            </p:cNvSpPr>
            <p:nvPr userDrawn="1"/>
          </p:nvSpPr>
          <p:spPr bwMode="auto">
            <a:xfrm>
              <a:off x="760433" y="426414"/>
              <a:ext cx="234336" cy="261499"/>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3021669448"/>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4BFB5AC-5B7B-989B-620C-318042CF0317}"/>
              </a:ext>
            </a:extLst>
          </p:cNvPr>
          <p:cNvGraphicFramePr>
            <a:graphicFrameLocks noChangeAspect="1"/>
          </p:cNvGraphicFramePr>
          <p:nvPr userDrawn="1">
            <p:custDataLst>
              <p:tags r:id="rId1"/>
            </p:custDataLst>
            <p:extLst>
              <p:ext uri="{D42A27DB-BD31-4B8C-83A1-F6EECF244321}">
                <p14:modId xmlns:p14="http://schemas.microsoft.com/office/powerpoint/2010/main" val="28269973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05" imgH="405" progId="TCLayout.ActiveDocument.1">
                  <p:embed/>
                </p:oleObj>
              </mc:Choice>
              <mc:Fallback>
                <p:oleObj name="think-cell Folie" r:id="rId3" imgW="405" imgH="405" progId="TCLayout.ActiveDocument.1">
                  <p:embed/>
                  <p:pic>
                    <p:nvPicPr>
                      <p:cNvPr id="3" name="think-cell data - do not delete" hidden="1">
                        <a:extLst>
                          <a:ext uri="{FF2B5EF4-FFF2-40B4-BE49-F238E27FC236}">
                            <a16:creationId xmlns:a16="http://schemas.microsoft.com/office/drawing/2014/main" id="{64BFB5AC-5B7B-989B-620C-318042CF03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ubtitle">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rtl="0">
              <a:buNone/>
              <a:defRPr sz="1800" b="0">
                <a:solidFill>
                  <a:schemeClr val="tx2"/>
                </a:solidFill>
              </a:defRPr>
            </a:lvl1pPr>
          </a:lstStyle>
          <a:p>
            <a:pPr lvl="0"/>
            <a:r>
              <a:rPr lang="en-US"/>
              <a:t>Click to add subtitle</a:t>
            </a:r>
          </a:p>
        </p:txBody>
      </p:sp>
      <p:sp>
        <p:nvSpPr>
          <p:cNvPr id="7" name="Title">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rtl="0">
              <a:defRPr sz="2100">
                <a:latin typeface="+mj-lt"/>
              </a:defRPr>
            </a:lvl1pPr>
          </a:lstStyle>
          <a:p>
            <a:r>
              <a:rPr lang="en-US"/>
              <a:t>Click to add title</a:t>
            </a:r>
          </a:p>
        </p:txBody>
      </p:sp>
    </p:spTree>
    <p:extLst>
      <p:ext uri="{BB962C8B-B14F-4D97-AF65-F5344CB8AC3E}">
        <p14:creationId xmlns:p14="http://schemas.microsoft.com/office/powerpoint/2010/main" val="335166917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32" name="Gerader Verbinder 31">
            <a:extLst>
              <a:ext uri="{FF2B5EF4-FFF2-40B4-BE49-F238E27FC236}">
                <a16:creationId xmlns:a16="http://schemas.microsoft.com/office/drawing/2014/main" id="{93DD32CD-4925-E661-B06C-A28692B2ADF8}"/>
              </a:ext>
            </a:extLst>
          </p:cNvPr>
          <p:cNvCxnSpPr>
            <a:cxnSpLocks/>
          </p:cNvCxnSpPr>
          <p:nvPr/>
        </p:nvCxnSpPr>
        <p:spPr>
          <a:xfrm>
            <a:off x="-1" y="1029159"/>
            <a:ext cx="11740895"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graphicFrame>
        <p:nvGraphicFramePr>
          <p:cNvPr id="3" name="think-cell data - do not delete" hidden="1">
            <a:extLst>
              <a:ext uri="{FF2B5EF4-FFF2-40B4-BE49-F238E27FC236}">
                <a16:creationId xmlns:a16="http://schemas.microsoft.com/office/drawing/2014/main" id="{CD2DE3A4-2A93-5C67-1500-3D744F4252EC}"/>
              </a:ext>
            </a:extLst>
          </p:cNvPr>
          <p:cNvGraphicFramePr>
            <a:graphicFrameLocks noChangeAspect="1"/>
          </p:cNvGraphicFramePr>
          <p:nvPr userDrawn="1">
            <p:custDataLst>
              <p:tags r:id="rId1"/>
            </p:custDataLst>
            <p:extLst>
              <p:ext uri="{D42A27DB-BD31-4B8C-83A1-F6EECF244321}">
                <p14:modId xmlns:p14="http://schemas.microsoft.com/office/powerpoint/2010/main" val="14557864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05" imgH="405" progId="TCLayout.ActiveDocument.1">
                  <p:embed/>
                </p:oleObj>
              </mc:Choice>
              <mc:Fallback>
                <p:oleObj name="think-cell Folie" r:id="rId3" imgW="405" imgH="405" progId="TCLayout.ActiveDocument.1">
                  <p:embed/>
                  <p:pic>
                    <p:nvPicPr>
                      <p:cNvPr id="3" name="think-cell data - do not delete" hidden="1">
                        <a:extLst>
                          <a:ext uri="{FF2B5EF4-FFF2-40B4-BE49-F238E27FC236}">
                            <a16:creationId xmlns:a16="http://schemas.microsoft.com/office/drawing/2014/main" id="{CD2DE3A4-2A93-5C67-1500-3D744F4252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266617"/>
            <a:ext cx="11277600" cy="334099"/>
          </a:xfrm>
          <a:prstGeom prst="rect">
            <a:avLst/>
          </a:prstGeom>
        </p:spPr>
        <p:txBody>
          <a:bodyPr vert="horz" lIns="0" tIns="0" rIns="0" bIns="0" rtlCol="0" anchor="t" anchorCtr="0">
            <a:noAutofit/>
          </a:bodyPr>
          <a:lstStyle>
            <a:lvl1pPr rtl="0">
              <a:defRPr lang="en-US" sz="2400" b="1" kern="1200" dirty="0">
                <a:solidFill>
                  <a:srgbClr val="009A44"/>
                </a:solidFill>
                <a:latin typeface="+mn-lt"/>
                <a:ea typeface="+mj-ea"/>
                <a:cs typeface="+mj-cs"/>
              </a:defRPr>
            </a:lvl1pPr>
          </a:lstStyle>
          <a:p>
            <a:r>
              <a:rPr lang="en-US"/>
              <a:t>Click to add title</a:t>
            </a:r>
          </a:p>
        </p:txBody>
      </p:sp>
      <p:sp>
        <p:nvSpPr>
          <p:cNvPr id="7" name="Textplatzhalter 6">
            <a:extLst>
              <a:ext uri="{FF2B5EF4-FFF2-40B4-BE49-F238E27FC236}">
                <a16:creationId xmlns:a16="http://schemas.microsoft.com/office/drawing/2014/main" id="{4B82E182-BD40-61FD-8222-DDEC5EE19D63}"/>
              </a:ext>
            </a:extLst>
          </p:cNvPr>
          <p:cNvSpPr>
            <a:spLocks noGrp="1"/>
          </p:cNvSpPr>
          <p:nvPr>
            <p:ph type="body" sz="quarter" idx="10" hasCustomPrompt="1"/>
          </p:nvPr>
        </p:nvSpPr>
        <p:spPr>
          <a:xfrm>
            <a:off x="463295" y="634917"/>
            <a:ext cx="11277600" cy="277813"/>
          </a:xfrm>
        </p:spPr>
        <p:txBody>
          <a:bodyPr>
            <a:noAutofit/>
          </a:bodyPr>
          <a:lstStyle>
            <a:lvl1pPr>
              <a:defRPr lang="de-DE" sz="1800" b="0" kern="1200" dirty="0" smtClean="0">
                <a:solidFill>
                  <a:schemeClr val="tx1"/>
                </a:solidFill>
                <a:latin typeface="+mn-lt"/>
                <a:ea typeface="+mj-ea"/>
                <a:cs typeface="+mj-cs"/>
              </a:defRPr>
            </a:lvl1pPr>
            <a:lvl2pPr>
              <a:defRPr lang="de-DE" sz="1800" b="0" kern="1200" dirty="0" smtClean="0">
                <a:solidFill>
                  <a:schemeClr val="tx2"/>
                </a:solidFill>
                <a:latin typeface="+mn-lt"/>
                <a:ea typeface="+mj-ea"/>
                <a:cs typeface="+mj-cs"/>
              </a:defRPr>
            </a:lvl2pPr>
            <a:lvl3pPr>
              <a:defRPr lang="de-DE" sz="1800" b="0" kern="1200" dirty="0" smtClean="0">
                <a:solidFill>
                  <a:schemeClr val="tx2"/>
                </a:solidFill>
                <a:latin typeface="+mn-lt"/>
                <a:ea typeface="+mj-ea"/>
                <a:cs typeface="+mj-cs"/>
              </a:defRPr>
            </a:lvl3pPr>
            <a:lvl4pPr>
              <a:defRPr lang="de-DE" sz="1800" b="0" kern="1200" dirty="0" smtClean="0">
                <a:solidFill>
                  <a:schemeClr val="tx2"/>
                </a:solidFill>
                <a:latin typeface="+mn-lt"/>
                <a:ea typeface="+mj-ea"/>
                <a:cs typeface="+mj-cs"/>
              </a:defRPr>
            </a:lvl4pPr>
            <a:lvl5pPr>
              <a:defRPr lang="de-DE" sz="1800" b="0" kern="1200" dirty="0">
                <a:solidFill>
                  <a:schemeClr val="tx2"/>
                </a:solidFill>
                <a:latin typeface="+mn-lt"/>
                <a:ea typeface="+mj-ea"/>
                <a:cs typeface="+mj-cs"/>
              </a:defRPr>
            </a:lvl5pPr>
          </a:lstStyle>
          <a:p>
            <a:r>
              <a:rPr lang="de-DE" sz="1800" b="0"/>
              <a:t>Click </a:t>
            </a:r>
            <a:r>
              <a:rPr lang="de-DE" sz="1800" b="0" err="1"/>
              <a:t>to</a:t>
            </a:r>
            <a:r>
              <a:rPr lang="de-DE" sz="1800" b="0"/>
              <a:t> </a:t>
            </a:r>
            <a:r>
              <a:rPr lang="de-DE" sz="1800" b="0" err="1"/>
              <a:t>add</a:t>
            </a:r>
            <a:r>
              <a:rPr lang="de-DE" sz="1800" b="0"/>
              <a:t> title</a:t>
            </a:r>
          </a:p>
        </p:txBody>
      </p:sp>
      <p:sp>
        <p:nvSpPr>
          <p:cNvPr id="2" name="TextBox 3">
            <a:extLst>
              <a:ext uri="{FF2B5EF4-FFF2-40B4-BE49-F238E27FC236}">
                <a16:creationId xmlns:a16="http://schemas.microsoft.com/office/drawing/2014/main" id="{F416C3E6-C4A2-E5C2-CF90-7FB4EAC1EE72}"/>
              </a:ext>
            </a:extLst>
          </p:cNvPr>
          <p:cNvSpPr txBox="1"/>
          <p:nvPr userDrawn="1"/>
        </p:nvSpPr>
        <p:spPr>
          <a:xfrm>
            <a:off x="11479624" y="438203"/>
            <a:ext cx="26127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smtClean="0">
                <a:ln>
                  <a:noFill/>
                </a:ln>
                <a:solidFill>
                  <a:srgbClr val="97999B"/>
                </a:solidFill>
                <a:effectLst/>
                <a:uLnTx/>
                <a:uFillTx/>
                <a:ea typeface="+mn-ea"/>
                <a:cs typeface="Calibri" panose="020F0502020204030204" pitchFamily="34" charset="0"/>
              </a:rPr>
              <a:pPr marL="0" marR="0" lvl="0" indent="0" algn="l" defTabSz="914400" rtl="0" eaLnBrk="1" fontAlgn="auto" latinLnBrk="0" hangingPunct="1">
                <a:lnSpc>
                  <a:spcPct val="100000"/>
                </a:lnSpc>
                <a:spcBef>
                  <a:spcPts val="450"/>
                </a:spcBef>
                <a:spcAft>
                  <a:spcPts val="0"/>
                </a:spcAft>
                <a:buClrTx/>
                <a:buSzPct val="100000"/>
                <a:buFont typeface="Arial"/>
                <a:buNone/>
                <a:tabLst/>
                <a:defRPr/>
              </a:pPr>
              <a:t>‹#›</a:t>
            </a:fld>
            <a:endParaRPr kumimoji="0" lang="de-DE" sz="900" b="0" i="0" u="none" strike="noStrike" kern="1200" cap="none" spc="0" normalizeH="0" baseline="0">
              <a:ln>
                <a:noFill/>
              </a:ln>
              <a:solidFill>
                <a:srgbClr val="97999B"/>
              </a:solidFill>
              <a:effectLst/>
              <a:uLnTx/>
              <a:uFillTx/>
              <a:ea typeface="+mn-ea"/>
              <a:cs typeface="Calibri" panose="020F0502020204030204" pitchFamily="34" charset="0"/>
            </a:endParaRPr>
          </a:p>
        </p:txBody>
      </p:sp>
      <p:sp>
        <p:nvSpPr>
          <p:cNvPr id="9" name="TextBox 3">
            <a:extLst>
              <a:ext uri="{FF2B5EF4-FFF2-40B4-BE49-F238E27FC236}">
                <a16:creationId xmlns:a16="http://schemas.microsoft.com/office/drawing/2014/main" id="{485C2F60-D5EF-8979-A29E-50D16297CA89}"/>
              </a:ext>
            </a:extLst>
          </p:cNvPr>
          <p:cNvSpPr txBox="1"/>
          <p:nvPr userDrawn="1"/>
        </p:nvSpPr>
        <p:spPr>
          <a:xfrm>
            <a:off x="10135650" y="438203"/>
            <a:ext cx="113030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Deloitte </a:t>
            </a:r>
            <a:r>
              <a:rPr kumimoji="0" lang="de-DE" sz="900" b="0" i="0" u="none" strike="noStrike" kern="1200" cap="none" spc="0" normalizeH="0" baseline="0" err="1">
                <a:ln>
                  <a:noFill/>
                </a:ln>
                <a:solidFill>
                  <a:srgbClr val="97999B"/>
                </a:solidFill>
                <a:effectLst/>
                <a:uLnTx/>
                <a:uFillTx/>
                <a:ea typeface="+mn-ea"/>
                <a:cs typeface="Calibri" panose="020F0502020204030204" pitchFamily="34" charset="0"/>
              </a:rPr>
              <a:t>for</a:t>
            </a: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 E.ON</a:t>
            </a:r>
          </a:p>
        </p:txBody>
      </p:sp>
      <p:cxnSp>
        <p:nvCxnSpPr>
          <p:cNvPr id="4" name="Gerader Verbinder 3">
            <a:extLst>
              <a:ext uri="{FF2B5EF4-FFF2-40B4-BE49-F238E27FC236}">
                <a16:creationId xmlns:a16="http://schemas.microsoft.com/office/drawing/2014/main" id="{BC4B420D-90E5-ADAD-2D50-C1F520CE7E84}"/>
              </a:ext>
            </a:extLst>
          </p:cNvPr>
          <p:cNvCxnSpPr>
            <a:cxnSpLocks/>
          </p:cNvCxnSpPr>
          <p:nvPr userDrawn="1"/>
        </p:nvCxnSpPr>
        <p:spPr>
          <a:xfrm>
            <a:off x="10109200" y="342900"/>
            <a:ext cx="1631694" cy="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DCF53A18-8504-EE3F-E4F2-989957709EEF}"/>
              </a:ext>
            </a:extLst>
          </p:cNvPr>
          <p:cNvCxnSpPr>
            <a:cxnSpLocks/>
          </p:cNvCxnSpPr>
          <p:nvPr userDrawn="1"/>
        </p:nvCxnSpPr>
        <p:spPr>
          <a:xfrm>
            <a:off x="11378408" y="438203"/>
            <a:ext cx="0" cy="14400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80633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Vs VARIANTE">
    <p:spTree>
      <p:nvGrpSpPr>
        <p:cNvPr id="1" name=""/>
        <p:cNvGrpSpPr/>
        <p:nvPr/>
      </p:nvGrpSpPr>
      <p:grpSpPr>
        <a:xfrm>
          <a:off x="0" y="0"/>
          <a:ext cx="0" cy="0"/>
          <a:chOff x="0" y="0"/>
          <a:chExt cx="0" cy="0"/>
        </a:xfrm>
      </p:grpSpPr>
      <p:grpSp>
        <p:nvGrpSpPr>
          <p:cNvPr id="9" name="Gruppieren 8">
            <a:extLst>
              <a:ext uri="{FF2B5EF4-FFF2-40B4-BE49-F238E27FC236}">
                <a16:creationId xmlns:a16="http://schemas.microsoft.com/office/drawing/2014/main" id="{58D01A3C-15E9-8222-6555-4D80C451BE51}"/>
              </a:ext>
            </a:extLst>
          </p:cNvPr>
          <p:cNvGrpSpPr/>
          <p:nvPr userDrawn="1"/>
        </p:nvGrpSpPr>
        <p:grpSpPr>
          <a:xfrm>
            <a:off x="0" y="1714500"/>
            <a:ext cx="12192000" cy="5143500"/>
            <a:chOff x="0" y="1714500"/>
            <a:chExt cx="12192000" cy="5143500"/>
          </a:xfrm>
        </p:grpSpPr>
        <p:pic>
          <p:nvPicPr>
            <p:cNvPr id="10" name="Grafik 9">
              <a:extLst>
                <a:ext uri="{FF2B5EF4-FFF2-40B4-BE49-F238E27FC236}">
                  <a16:creationId xmlns:a16="http://schemas.microsoft.com/office/drawing/2014/main" id="{2668B493-35E8-64C6-A877-180AD0B00B00}"/>
                </a:ext>
              </a:extLst>
            </p:cNvPr>
            <p:cNvPicPr>
              <a:picLocks noChangeAspect="1"/>
            </p:cNvPicPr>
            <p:nvPr/>
          </p:nvPicPr>
          <p:blipFill>
            <a:blip r:embed="rId3">
              <a:extLst>
                <a:ext uri="{28A0092B-C50C-407E-A947-70E740481C1C}">
                  <a14:useLocalDpi xmlns:a14="http://schemas.microsoft.com/office/drawing/2010/main" val="0"/>
                </a:ext>
              </a:extLst>
            </a:blip>
            <a:srcRect l="49126" t="842" r="-1" b="58842"/>
            <a:stretch>
              <a:fillRect/>
            </a:stretch>
          </p:blipFill>
          <p:spPr>
            <a:xfrm>
              <a:off x="0" y="1714500"/>
              <a:ext cx="12192000" cy="5143500"/>
            </a:xfrm>
            <a:prstGeom prst="rect">
              <a:avLst/>
            </a:prstGeom>
          </p:spPr>
        </p:pic>
        <p:sp>
          <p:nvSpPr>
            <p:cNvPr id="11" name="Rechteck 10">
              <a:extLst>
                <a:ext uri="{FF2B5EF4-FFF2-40B4-BE49-F238E27FC236}">
                  <a16:creationId xmlns:a16="http://schemas.microsoft.com/office/drawing/2014/main" id="{1D0F3604-0D5C-6FFA-11B0-A9B9458FC0C4}"/>
                </a:ext>
              </a:extLst>
            </p:cNvPr>
            <p:cNvSpPr/>
            <p:nvPr/>
          </p:nvSpPr>
          <p:spPr bwMode="gray">
            <a:xfrm flipH="1">
              <a:off x="457195" y="2419350"/>
              <a:ext cx="11734801" cy="4095750"/>
            </a:xfrm>
            <a:prstGeom prst="rect">
              <a:avLst/>
            </a:prstGeom>
            <a:gradFill>
              <a:gsLst>
                <a:gs pos="100000">
                  <a:schemeClr val="bg1">
                    <a:alpha val="80000"/>
                  </a:schemeClr>
                </a:gs>
                <a:gs pos="0">
                  <a:schemeClr val="bg1">
                    <a:alpha val="25000"/>
                  </a:schemeClr>
                </a:gs>
                <a:gs pos="25000">
                  <a:schemeClr val="bg1">
                    <a:alpha val="70000"/>
                  </a:schemeClr>
                </a:gs>
              </a:gsLst>
              <a:lin ang="0" scaled="1"/>
            </a:gra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de-DE" sz="1400">
                <a:solidFill>
                  <a:srgbClr val="FF0000"/>
                </a:solidFill>
              </a:endParaRPr>
            </a:p>
          </p:txBody>
        </p:sp>
      </p:grpSp>
      <p:cxnSp>
        <p:nvCxnSpPr>
          <p:cNvPr id="32" name="Gerader Verbinder 31">
            <a:extLst>
              <a:ext uri="{FF2B5EF4-FFF2-40B4-BE49-F238E27FC236}">
                <a16:creationId xmlns:a16="http://schemas.microsoft.com/office/drawing/2014/main" id="{93DD32CD-4925-E661-B06C-A28692B2ADF8}"/>
              </a:ext>
            </a:extLst>
          </p:cNvPr>
          <p:cNvCxnSpPr>
            <a:cxnSpLocks/>
          </p:cNvCxnSpPr>
          <p:nvPr/>
        </p:nvCxnSpPr>
        <p:spPr>
          <a:xfrm>
            <a:off x="-1" y="1029159"/>
            <a:ext cx="11740895"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graphicFrame>
        <p:nvGraphicFramePr>
          <p:cNvPr id="3" name="think-cell data - do not delete" hidden="1">
            <a:extLst>
              <a:ext uri="{FF2B5EF4-FFF2-40B4-BE49-F238E27FC236}">
                <a16:creationId xmlns:a16="http://schemas.microsoft.com/office/drawing/2014/main" id="{CD2DE3A4-2A93-5C67-1500-3D744F4252EC}"/>
              </a:ext>
            </a:extLst>
          </p:cNvPr>
          <p:cNvGraphicFramePr>
            <a:graphicFrameLocks noChangeAspect="1"/>
          </p:cNvGraphicFramePr>
          <p:nvPr userDrawn="1">
            <p:custDataLst>
              <p:tags r:id="rId1"/>
            </p:custDataLst>
            <p:extLst>
              <p:ext uri="{D42A27DB-BD31-4B8C-83A1-F6EECF244321}">
                <p14:modId xmlns:p14="http://schemas.microsoft.com/office/powerpoint/2010/main" val="14557864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5" imgH="405" progId="TCLayout.ActiveDocument.1">
                  <p:embed/>
                </p:oleObj>
              </mc:Choice>
              <mc:Fallback>
                <p:oleObj name="think-cell Folie" r:id="rId4" imgW="405" imgH="405" progId="TCLayout.ActiveDocument.1">
                  <p:embed/>
                  <p:pic>
                    <p:nvPicPr>
                      <p:cNvPr id="3" name="think-cell data - do not delete" hidden="1">
                        <a:extLst>
                          <a:ext uri="{FF2B5EF4-FFF2-40B4-BE49-F238E27FC236}">
                            <a16:creationId xmlns:a16="http://schemas.microsoft.com/office/drawing/2014/main" id="{CD2DE3A4-2A93-5C67-1500-3D744F4252E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266617"/>
            <a:ext cx="11277600" cy="334099"/>
          </a:xfrm>
          <a:prstGeom prst="rect">
            <a:avLst/>
          </a:prstGeom>
        </p:spPr>
        <p:txBody>
          <a:bodyPr vert="horz" lIns="0" tIns="0" rIns="0" bIns="0" rtlCol="0" anchor="t" anchorCtr="0">
            <a:noAutofit/>
          </a:bodyPr>
          <a:lstStyle>
            <a:lvl1pPr rtl="0">
              <a:defRPr lang="en-US" sz="2400" b="1" kern="1200" dirty="0">
                <a:solidFill>
                  <a:srgbClr val="009A44"/>
                </a:solidFill>
                <a:latin typeface="+mn-lt"/>
                <a:ea typeface="+mj-ea"/>
                <a:cs typeface="+mj-cs"/>
              </a:defRPr>
            </a:lvl1pPr>
          </a:lstStyle>
          <a:p>
            <a:r>
              <a:rPr lang="en-US"/>
              <a:t>Click to add title</a:t>
            </a:r>
          </a:p>
        </p:txBody>
      </p:sp>
      <p:sp>
        <p:nvSpPr>
          <p:cNvPr id="4" name="Bildplatzhalter 3">
            <a:extLst>
              <a:ext uri="{FF2B5EF4-FFF2-40B4-BE49-F238E27FC236}">
                <a16:creationId xmlns:a16="http://schemas.microsoft.com/office/drawing/2014/main" id="{0038EEE6-AFB8-F6C4-36D8-0130EA1EFE33}"/>
              </a:ext>
            </a:extLst>
          </p:cNvPr>
          <p:cNvSpPr>
            <a:spLocks noGrp="1" noChangeAspect="1"/>
          </p:cNvSpPr>
          <p:nvPr>
            <p:ph type="pic" sz="quarter" idx="10"/>
          </p:nvPr>
        </p:nvSpPr>
        <p:spPr>
          <a:xfrm>
            <a:off x="850013" y="1350184"/>
            <a:ext cx="2138332" cy="2138332"/>
          </a:xfrm>
          <a:prstGeom prst="ellipse">
            <a:avLst/>
          </a:prstGeom>
          <a:blipFill>
            <a:blip r:embed="rId6"/>
            <a:stretch>
              <a:fillRect/>
            </a:stretch>
          </a:blipFill>
          <a:effectLst/>
        </p:spPr>
        <p:txBody>
          <a:bodyPr/>
          <a:lstStyle/>
          <a:p>
            <a:endParaRPr lang="de-DE"/>
          </a:p>
        </p:txBody>
      </p:sp>
      <p:sp>
        <p:nvSpPr>
          <p:cNvPr id="8" name="Textplatzhalter 7">
            <a:extLst>
              <a:ext uri="{FF2B5EF4-FFF2-40B4-BE49-F238E27FC236}">
                <a16:creationId xmlns:a16="http://schemas.microsoft.com/office/drawing/2014/main" id="{70C32D81-E7C8-B3C2-D2EF-4F12DC051DB3}"/>
              </a:ext>
            </a:extLst>
          </p:cNvPr>
          <p:cNvSpPr>
            <a:spLocks noGrp="1"/>
          </p:cNvSpPr>
          <p:nvPr>
            <p:ph type="body" sz="quarter" idx="11"/>
          </p:nvPr>
        </p:nvSpPr>
        <p:spPr>
          <a:xfrm>
            <a:off x="3378273" y="2838450"/>
            <a:ext cx="3996000" cy="1797050"/>
          </a:xfrm>
        </p:spPr>
        <p:txBody>
          <a:bodyPr>
            <a:noAutofit/>
          </a:bodyPr>
          <a:lstStyle>
            <a:lvl1pPr>
              <a:spcAft>
                <a:spcPts val="0"/>
              </a:spcAft>
              <a:defRPr sz="1100">
                <a:latin typeface="+mn-lt"/>
              </a:defRPr>
            </a:lvl1pPr>
            <a:lvl2pPr>
              <a:spcAft>
                <a:spcPts val="0"/>
              </a:spcAft>
              <a:defRPr sz="1100">
                <a:latin typeface="+mn-lt"/>
              </a:defRPr>
            </a:lvl2pPr>
            <a:lvl3pPr>
              <a:spcAft>
                <a:spcPts val="0"/>
              </a:spcAft>
              <a:defRPr sz="1100">
                <a:latin typeface="+mn-lt"/>
              </a:defRPr>
            </a:lvl3pPr>
            <a:lvl4pPr>
              <a:spcAft>
                <a:spcPts val="0"/>
              </a:spcAft>
              <a:defRPr sz="1100">
                <a:latin typeface="+mn-lt"/>
              </a:defRPr>
            </a:lvl4pPr>
            <a:lvl5pPr>
              <a:spcAft>
                <a:spcPts val="0"/>
              </a:spcAft>
              <a:defRPr sz="1100">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7">
            <a:extLst>
              <a:ext uri="{FF2B5EF4-FFF2-40B4-BE49-F238E27FC236}">
                <a16:creationId xmlns:a16="http://schemas.microsoft.com/office/drawing/2014/main" id="{0BEC8854-FAAD-32BC-92C0-D51546FB7D25}"/>
              </a:ext>
            </a:extLst>
          </p:cNvPr>
          <p:cNvSpPr>
            <a:spLocks noGrp="1"/>
          </p:cNvSpPr>
          <p:nvPr>
            <p:ph type="body" sz="quarter" idx="12"/>
          </p:nvPr>
        </p:nvSpPr>
        <p:spPr>
          <a:xfrm>
            <a:off x="7738800" y="2838450"/>
            <a:ext cx="3996000" cy="2518770"/>
          </a:xfrm>
        </p:spPr>
        <p:txBody>
          <a:bodyPr>
            <a:noAutofit/>
          </a:bodyPr>
          <a:lstStyle>
            <a:lvl1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1pPr>
            <a:lvl2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2pPr>
            <a:lvl3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3pPr>
            <a:lvl4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4pPr>
            <a:lvl5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Textplatzhalter 7">
            <a:extLst>
              <a:ext uri="{FF2B5EF4-FFF2-40B4-BE49-F238E27FC236}">
                <a16:creationId xmlns:a16="http://schemas.microsoft.com/office/drawing/2014/main" id="{9ADFEACD-EE47-EDB6-B920-818935ADDB78}"/>
              </a:ext>
            </a:extLst>
          </p:cNvPr>
          <p:cNvSpPr>
            <a:spLocks noGrp="1"/>
          </p:cNvSpPr>
          <p:nvPr>
            <p:ph type="body" sz="quarter" idx="13"/>
          </p:nvPr>
        </p:nvSpPr>
        <p:spPr>
          <a:xfrm>
            <a:off x="3378273" y="5509968"/>
            <a:ext cx="3996000" cy="852731"/>
          </a:xfrm>
        </p:spPr>
        <p:txBody>
          <a:bodyPr>
            <a:noAutofit/>
          </a:bodyPr>
          <a:lstStyle>
            <a:lvl1pPr>
              <a:spcAft>
                <a:spcPts val="0"/>
              </a:spcAft>
              <a:defRPr sz="1100">
                <a:latin typeface="+mn-lt"/>
              </a:defRPr>
            </a:lvl1pPr>
            <a:lvl2pPr>
              <a:spcAft>
                <a:spcPts val="0"/>
              </a:spcAft>
              <a:defRPr sz="1100">
                <a:latin typeface="+mn-lt"/>
              </a:defRPr>
            </a:lvl2pPr>
            <a:lvl3pPr>
              <a:spcAft>
                <a:spcPts val="0"/>
              </a:spcAft>
              <a:defRPr sz="1100">
                <a:latin typeface="+mn-lt"/>
              </a:defRPr>
            </a:lvl3pPr>
            <a:lvl4pPr>
              <a:spcAft>
                <a:spcPts val="0"/>
              </a:spcAft>
              <a:defRPr>
                <a:latin typeface="+mn-lt"/>
              </a:defRPr>
            </a:lvl4pPr>
            <a:lvl5pPr>
              <a:spcAft>
                <a:spcPts val="0"/>
              </a:spcAft>
              <a:defRPr>
                <a:latin typeface="+mn-lt"/>
              </a:defRPr>
            </a:lvl5pPr>
          </a:lstStyle>
          <a:p>
            <a:pPr lvl="0"/>
            <a:r>
              <a:rPr lang="de-DE"/>
              <a:t>Mastertextformat bearbeiten</a:t>
            </a:r>
          </a:p>
          <a:p>
            <a:pPr lvl="1"/>
            <a:r>
              <a:rPr lang="de-DE"/>
              <a:t>Zweite Ebene</a:t>
            </a:r>
          </a:p>
          <a:p>
            <a:pPr lvl="2"/>
            <a:r>
              <a:rPr lang="de-DE"/>
              <a:t>Dritte</a:t>
            </a:r>
          </a:p>
        </p:txBody>
      </p:sp>
      <p:sp>
        <p:nvSpPr>
          <p:cNvPr id="14" name="Textplatzhalter 7">
            <a:extLst>
              <a:ext uri="{FF2B5EF4-FFF2-40B4-BE49-F238E27FC236}">
                <a16:creationId xmlns:a16="http://schemas.microsoft.com/office/drawing/2014/main" id="{B698C8D5-A814-94E1-C51F-8D25EDA80D56}"/>
              </a:ext>
            </a:extLst>
          </p:cNvPr>
          <p:cNvSpPr>
            <a:spLocks noGrp="1"/>
          </p:cNvSpPr>
          <p:nvPr>
            <p:ph type="body" sz="quarter" idx="14"/>
          </p:nvPr>
        </p:nvSpPr>
        <p:spPr>
          <a:xfrm>
            <a:off x="7738800" y="5764428"/>
            <a:ext cx="3996000" cy="598271"/>
          </a:xfrm>
        </p:spPr>
        <p:txBody>
          <a:bodyPr>
            <a:noAutofit/>
          </a:bodyPr>
          <a:lstStyle>
            <a:lvl1pPr>
              <a:spcAft>
                <a:spcPts val="0"/>
              </a:spcAft>
              <a:defRPr sz="1100">
                <a:latin typeface="+mn-lt"/>
              </a:defRPr>
            </a:lvl1pPr>
            <a:lvl2pPr>
              <a:spcAft>
                <a:spcPts val="0"/>
              </a:spcAft>
              <a:defRPr sz="1100">
                <a:latin typeface="+mn-lt"/>
              </a:defRPr>
            </a:lvl2pPr>
            <a:lvl3pPr>
              <a:spcAft>
                <a:spcPts val="0"/>
              </a:spcAft>
              <a:defRPr sz="1100">
                <a:latin typeface="+mn-lt"/>
              </a:defRPr>
            </a:lvl3pPr>
            <a:lvl4pPr>
              <a:spcAft>
                <a:spcPts val="0"/>
              </a:spcAft>
              <a:defRPr>
                <a:latin typeface="+mn-lt"/>
              </a:defRPr>
            </a:lvl4pPr>
            <a:lvl5pPr>
              <a:spcAft>
                <a:spcPts val="0"/>
              </a:spcAft>
              <a:defRPr>
                <a:latin typeface="+mn-lt"/>
              </a:defRPr>
            </a:lvl5pPr>
          </a:lstStyle>
          <a:p>
            <a:pPr lvl="0"/>
            <a:r>
              <a:rPr lang="de-DE"/>
              <a:t>Mastertextformat bearbeiten</a:t>
            </a:r>
          </a:p>
          <a:p>
            <a:pPr lvl="1"/>
            <a:r>
              <a:rPr lang="de-DE"/>
              <a:t>Zweite Ebene</a:t>
            </a:r>
          </a:p>
          <a:p>
            <a:pPr lvl="2"/>
            <a:r>
              <a:rPr lang="de-DE"/>
              <a:t>Dritte</a:t>
            </a:r>
          </a:p>
        </p:txBody>
      </p:sp>
      <p:sp>
        <p:nvSpPr>
          <p:cNvPr id="16" name="Textplatzhalter 7">
            <a:extLst>
              <a:ext uri="{FF2B5EF4-FFF2-40B4-BE49-F238E27FC236}">
                <a16:creationId xmlns:a16="http://schemas.microsoft.com/office/drawing/2014/main" id="{A3D1CAA3-0701-FD69-352F-51528CF97B6A}"/>
              </a:ext>
            </a:extLst>
          </p:cNvPr>
          <p:cNvSpPr>
            <a:spLocks noGrp="1"/>
          </p:cNvSpPr>
          <p:nvPr>
            <p:ph type="body" sz="quarter" idx="15" hasCustomPrompt="1"/>
          </p:nvPr>
        </p:nvSpPr>
        <p:spPr>
          <a:xfrm>
            <a:off x="3378272" y="1873466"/>
            <a:ext cx="8356527" cy="445871"/>
          </a:xfrm>
        </p:spPr>
        <p:txBody>
          <a:bodyPr>
            <a:noAutofit/>
          </a:bodyPr>
          <a:lstStyle>
            <a:lvl1pPr>
              <a:spcAft>
                <a:spcPts val="0"/>
              </a:spcAft>
              <a:defRPr sz="2400" b="1">
                <a:solidFill>
                  <a:schemeClr val="bg1"/>
                </a:solidFill>
                <a:latin typeface="+mn-lt"/>
              </a:defRPr>
            </a:lvl1pPr>
            <a:lvl2pPr>
              <a:spcAft>
                <a:spcPts val="0"/>
              </a:spcAft>
              <a:defRPr>
                <a:latin typeface="+mn-lt"/>
              </a:defRPr>
            </a:lvl2pPr>
            <a:lvl3pPr>
              <a:spcAft>
                <a:spcPts val="0"/>
              </a:spcAft>
              <a:defRPr>
                <a:latin typeface="+mn-lt"/>
              </a:defRPr>
            </a:lvl3pPr>
            <a:lvl4pPr>
              <a:spcAft>
                <a:spcPts val="0"/>
              </a:spcAft>
              <a:defRPr>
                <a:latin typeface="+mn-lt"/>
              </a:defRPr>
            </a:lvl4pPr>
            <a:lvl5pPr>
              <a:spcAft>
                <a:spcPts val="0"/>
              </a:spcAft>
              <a:defRPr>
                <a:latin typeface="+mn-lt"/>
              </a:defRPr>
            </a:lvl5pPr>
          </a:lstStyle>
          <a:p>
            <a:pPr lvl="0"/>
            <a:r>
              <a:rPr lang="de-DE"/>
              <a:t>Name</a:t>
            </a:r>
          </a:p>
        </p:txBody>
      </p:sp>
      <p:sp>
        <p:nvSpPr>
          <p:cNvPr id="17" name="Textplatzhalter 7">
            <a:extLst>
              <a:ext uri="{FF2B5EF4-FFF2-40B4-BE49-F238E27FC236}">
                <a16:creationId xmlns:a16="http://schemas.microsoft.com/office/drawing/2014/main" id="{BD88734C-939A-1637-359D-2670DCB932C3}"/>
              </a:ext>
            </a:extLst>
          </p:cNvPr>
          <p:cNvSpPr>
            <a:spLocks noGrp="1"/>
          </p:cNvSpPr>
          <p:nvPr>
            <p:ph type="body" sz="quarter" idx="16"/>
          </p:nvPr>
        </p:nvSpPr>
        <p:spPr>
          <a:xfrm>
            <a:off x="850013" y="3714750"/>
            <a:ext cx="2163733" cy="2647950"/>
          </a:xfrm>
        </p:spPr>
        <p:txBody>
          <a:bodyPr>
            <a:noAutofit/>
          </a:bodyPr>
          <a:lstStyle>
            <a:lvl1pPr algn="ctr">
              <a:spcAft>
                <a:spcPts val="0"/>
              </a:spcAft>
              <a:defRPr sz="1100">
                <a:latin typeface="+mn-lt"/>
              </a:defRPr>
            </a:lvl1pPr>
            <a:lvl2pPr algn="ctr">
              <a:spcAft>
                <a:spcPts val="0"/>
              </a:spcAft>
              <a:defRPr>
                <a:latin typeface="+mn-lt"/>
              </a:defRPr>
            </a:lvl2pPr>
            <a:lvl3pPr algn="ctr">
              <a:spcAft>
                <a:spcPts val="0"/>
              </a:spcAft>
              <a:defRPr>
                <a:latin typeface="+mn-lt"/>
              </a:defRPr>
            </a:lvl3pPr>
            <a:lvl4pPr algn="ctr">
              <a:spcAft>
                <a:spcPts val="0"/>
              </a:spcAft>
              <a:defRPr>
                <a:latin typeface="+mn-lt"/>
              </a:defRPr>
            </a:lvl4pPr>
            <a:lvl5pPr algn="ctr">
              <a:spcAft>
                <a:spcPts val="0"/>
              </a:spcAft>
              <a:defRPr>
                <a:latin typeface="+mn-lt"/>
              </a:defRPr>
            </a:lvl5pPr>
          </a:lstStyle>
          <a:p>
            <a:pPr lvl="0"/>
            <a:r>
              <a:rPr lang="de-DE"/>
              <a:t>Mastertextformat bearbeite</a:t>
            </a:r>
          </a:p>
        </p:txBody>
      </p:sp>
      <p:sp>
        <p:nvSpPr>
          <p:cNvPr id="23" name="Title">
            <a:extLst>
              <a:ext uri="{FF2B5EF4-FFF2-40B4-BE49-F238E27FC236}">
                <a16:creationId xmlns:a16="http://schemas.microsoft.com/office/drawing/2014/main" id="{EF3ED229-E1A1-3C5A-D4BF-29A2FFFCF53F}"/>
              </a:ext>
            </a:extLst>
          </p:cNvPr>
          <p:cNvSpPr txBox="1">
            <a:spLocks/>
          </p:cNvSpPr>
          <p:nvPr userDrawn="1"/>
        </p:nvSpPr>
        <p:spPr bwMode="gray">
          <a:xfrm>
            <a:off x="3378268" y="2601508"/>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SUMMARY OF PROFESSIONAL EXPERIENCE</a:t>
            </a:r>
          </a:p>
        </p:txBody>
      </p:sp>
      <p:sp>
        <p:nvSpPr>
          <p:cNvPr id="24" name="Title">
            <a:extLst>
              <a:ext uri="{FF2B5EF4-FFF2-40B4-BE49-F238E27FC236}">
                <a16:creationId xmlns:a16="http://schemas.microsoft.com/office/drawing/2014/main" id="{BCC352CF-5B55-0EFD-1E2C-761CA54040EF}"/>
              </a:ext>
            </a:extLst>
          </p:cNvPr>
          <p:cNvSpPr txBox="1">
            <a:spLocks/>
          </p:cNvSpPr>
          <p:nvPr userDrawn="1"/>
        </p:nvSpPr>
        <p:spPr bwMode="gray">
          <a:xfrm>
            <a:off x="7738799" y="2601508"/>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RELEVANT EXPERIENCE</a:t>
            </a:r>
          </a:p>
        </p:txBody>
      </p:sp>
      <p:sp>
        <p:nvSpPr>
          <p:cNvPr id="27" name="Title">
            <a:extLst>
              <a:ext uri="{FF2B5EF4-FFF2-40B4-BE49-F238E27FC236}">
                <a16:creationId xmlns:a16="http://schemas.microsoft.com/office/drawing/2014/main" id="{371E3145-77AF-37B0-C605-E33A551769AE}"/>
              </a:ext>
            </a:extLst>
          </p:cNvPr>
          <p:cNvSpPr txBox="1">
            <a:spLocks/>
          </p:cNvSpPr>
          <p:nvPr userDrawn="1"/>
        </p:nvSpPr>
        <p:spPr bwMode="gray">
          <a:xfrm>
            <a:off x="3378268" y="5272219"/>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EDUCATION</a:t>
            </a:r>
          </a:p>
        </p:txBody>
      </p:sp>
      <p:sp>
        <p:nvSpPr>
          <p:cNvPr id="28" name="Title">
            <a:extLst>
              <a:ext uri="{FF2B5EF4-FFF2-40B4-BE49-F238E27FC236}">
                <a16:creationId xmlns:a16="http://schemas.microsoft.com/office/drawing/2014/main" id="{FC256882-609A-3B97-0E2D-E4D737BA38E8}"/>
              </a:ext>
            </a:extLst>
          </p:cNvPr>
          <p:cNvSpPr txBox="1">
            <a:spLocks/>
          </p:cNvSpPr>
          <p:nvPr userDrawn="1"/>
        </p:nvSpPr>
        <p:spPr bwMode="gray">
          <a:xfrm>
            <a:off x="7738799" y="5526679"/>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SELECTED CLIENTS</a:t>
            </a:r>
          </a:p>
        </p:txBody>
      </p:sp>
      <p:sp>
        <p:nvSpPr>
          <p:cNvPr id="29" name="Textplatzhalter 6">
            <a:extLst>
              <a:ext uri="{FF2B5EF4-FFF2-40B4-BE49-F238E27FC236}">
                <a16:creationId xmlns:a16="http://schemas.microsoft.com/office/drawing/2014/main" id="{37771CF1-3CF9-E2C0-3E1A-96923FF01088}"/>
              </a:ext>
            </a:extLst>
          </p:cNvPr>
          <p:cNvSpPr>
            <a:spLocks noGrp="1"/>
          </p:cNvSpPr>
          <p:nvPr>
            <p:ph type="body" sz="quarter" idx="17" hasCustomPrompt="1"/>
          </p:nvPr>
        </p:nvSpPr>
        <p:spPr>
          <a:xfrm>
            <a:off x="463295" y="634917"/>
            <a:ext cx="11277600" cy="277813"/>
          </a:xfrm>
        </p:spPr>
        <p:txBody>
          <a:bodyPr>
            <a:noAutofit/>
          </a:bodyPr>
          <a:lstStyle>
            <a:lvl1pPr>
              <a:defRPr lang="de-DE" sz="1800" b="0" kern="1200" dirty="0" smtClean="0">
                <a:solidFill>
                  <a:schemeClr val="tx1"/>
                </a:solidFill>
                <a:latin typeface="+mn-lt"/>
                <a:ea typeface="+mj-ea"/>
                <a:cs typeface="+mj-cs"/>
              </a:defRPr>
            </a:lvl1pPr>
            <a:lvl2pPr>
              <a:defRPr lang="de-DE" sz="1800" b="0" kern="1200" dirty="0" smtClean="0">
                <a:solidFill>
                  <a:schemeClr val="tx2"/>
                </a:solidFill>
                <a:latin typeface="+mn-lt"/>
                <a:ea typeface="+mj-ea"/>
                <a:cs typeface="+mj-cs"/>
              </a:defRPr>
            </a:lvl2pPr>
            <a:lvl3pPr>
              <a:defRPr lang="de-DE" sz="1800" b="0" kern="1200" dirty="0" smtClean="0">
                <a:solidFill>
                  <a:schemeClr val="tx2"/>
                </a:solidFill>
                <a:latin typeface="+mn-lt"/>
                <a:ea typeface="+mj-ea"/>
                <a:cs typeface="+mj-cs"/>
              </a:defRPr>
            </a:lvl3pPr>
            <a:lvl4pPr>
              <a:defRPr lang="de-DE" sz="1800" b="0" kern="1200" dirty="0" smtClean="0">
                <a:solidFill>
                  <a:schemeClr val="tx2"/>
                </a:solidFill>
                <a:latin typeface="+mn-lt"/>
                <a:ea typeface="+mj-ea"/>
                <a:cs typeface="+mj-cs"/>
              </a:defRPr>
            </a:lvl4pPr>
            <a:lvl5pPr>
              <a:defRPr lang="de-DE" sz="1800" b="0" kern="1200" dirty="0">
                <a:solidFill>
                  <a:schemeClr val="tx2"/>
                </a:solidFill>
                <a:latin typeface="+mn-lt"/>
                <a:ea typeface="+mj-ea"/>
                <a:cs typeface="+mj-cs"/>
              </a:defRPr>
            </a:lvl5pPr>
          </a:lstStyle>
          <a:p>
            <a:r>
              <a:rPr lang="de-DE" sz="1800" b="0"/>
              <a:t>Click </a:t>
            </a:r>
            <a:r>
              <a:rPr lang="de-DE" sz="1800" b="0" err="1"/>
              <a:t>to</a:t>
            </a:r>
            <a:r>
              <a:rPr lang="de-DE" sz="1800" b="0"/>
              <a:t> </a:t>
            </a:r>
            <a:r>
              <a:rPr lang="de-DE" sz="1800" b="0" err="1"/>
              <a:t>add</a:t>
            </a:r>
            <a:r>
              <a:rPr lang="de-DE" sz="1800" b="0"/>
              <a:t> title</a:t>
            </a:r>
          </a:p>
        </p:txBody>
      </p:sp>
      <p:sp>
        <p:nvSpPr>
          <p:cNvPr id="2" name="TextBox 3">
            <a:extLst>
              <a:ext uri="{FF2B5EF4-FFF2-40B4-BE49-F238E27FC236}">
                <a16:creationId xmlns:a16="http://schemas.microsoft.com/office/drawing/2014/main" id="{D5B37A40-C3DC-ED92-60FC-1EED3DC606E7}"/>
              </a:ext>
            </a:extLst>
          </p:cNvPr>
          <p:cNvSpPr txBox="1"/>
          <p:nvPr userDrawn="1"/>
        </p:nvSpPr>
        <p:spPr>
          <a:xfrm>
            <a:off x="11479624" y="438203"/>
            <a:ext cx="26127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smtClean="0">
                <a:ln>
                  <a:noFill/>
                </a:ln>
                <a:solidFill>
                  <a:srgbClr val="97999B"/>
                </a:solidFill>
                <a:effectLst/>
                <a:uLnTx/>
                <a:uFillTx/>
                <a:ea typeface="+mn-ea"/>
                <a:cs typeface="Calibri" panose="020F0502020204030204" pitchFamily="34" charset="0"/>
              </a:rPr>
              <a:pPr marL="0" marR="0" lvl="0" indent="0" algn="l" defTabSz="914400" rtl="0" eaLnBrk="1" fontAlgn="auto" latinLnBrk="0" hangingPunct="1">
                <a:lnSpc>
                  <a:spcPct val="100000"/>
                </a:lnSpc>
                <a:spcBef>
                  <a:spcPts val="450"/>
                </a:spcBef>
                <a:spcAft>
                  <a:spcPts val="0"/>
                </a:spcAft>
                <a:buClrTx/>
                <a:buSzPct val="100000"/>
                <a:buFont typeface="Arial"/>
                <a:buNone/>
                <a:tabLst/>
                <a:defRPr/>
              </a:pPr>
              <a:t>‹#›</a:t>
            </a:fld>
            <a:endParaRPr kumimoji="0" lang="de-DE" sz="900" b="0" i="0" u="none" strike="noStrike" kern="1200" cap="none" spc="0" normalizeH="0" baseline="0">
              <a:ln>
                <a:noFill/>
              </a:ln>
              <a:solidFill>
                <a:srgbClr val="97999B"/>
              </a:solidFill>
              <a:effectLst/>
              <a:uLnTx/>
              <a:uFillTx/>
              <a:ea typeface="+mn-ea"/>
              <a:cs typeface="Calibri" panose="020F0502020204030204" pitchFamily="34" charset="0"/>
            </a:endParaRPr>
          </a:p>
        </p:txBody>
      </p:sp>
      <p:sp>
        <p:nvSpPr>
          <p:cNvPr id="6" name="TextBox 3">
            <a:extLst>
              <a:ext uri="{FF2B5EF4-FFF2-40B4-BE49-F238E27FC236}">
                <a16:creationId xmlns:a16="http://schemas.microsoft.com/office/drawing/2014/main" id="{EE2E4C85-662C-5614-E695-B3A42F500828}"/>
              </a:ext>
            </a:extLst>
          </p:cNvPr>
          <p:cNvSpPr txBox="1"/>
          <p:nvPr userDrawn="1"/>
        </p:nvSpPr>
        <p:spPr>
          <a:xfrm>
            <a:off x="10135650" y="438203"/>
            <a:ext cx="113030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Deloitte </a:t>
            </a:r>
            <a:r>
              <a:rPr kumimoji="0" lang="de-DE" sz="900" b="0" i="0" u="none" strike="noStrike" kern="1200" cap="none" spc="0" normalizeH="0" baseline="0" err="1">
                <a:ln>
                  <a:noFill/>
                </a:ln>
                <a:solidFill>
                  <a:srgbClr val="97999B"/>
                </a:solidFill>
                <a:effectLst/>
                <a:uLnTx/>
                <a:uFillTx/>
                <a:ea typeface="+mn-ea"/>
                <a:cs typeface="Calibri" panose="020F0502020204030204" pitchFamily="34" charset="0"/>
              </a:rPr>
              <a:t>for</a:t>
            </a: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 E.ON</a:t>
            </a:r>
          </a:p>
        </p:txBody>
      </p:sp>
      <p:cxnSp>
        <p:nvCxnSpPr>
          <p:cNvPr id="7" name="Gerader Verbinder 6">
            <a:extLst>
              <a:ext uri="{FF2B5EF4-FFF2-40B4-BE49-F238E27FC236}">
                <a16:creationId xmlns:a16="http://schemas.microsoft.com/office/drawing/2014/main" id="{0E21E095-91FF-7B10-3D8F-9334EB56D301}"/>
              </a:ext>
            </a:extLst>
          </p:cNvPr>
          <p:cNvCxnSpPr>
            <a:cxnSpLocks/>
          </p:cNvCxnSpPr>
          <p:nvPr userDrawn="1"/>
        </p:nvCxnSpPr>
        <p:spPr>
          <a:xfrm>
            <a:off x="10109200" y="342900"/>
            <a:ext cx="1631694" cy="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B395353B-8806-6702-9D3A-EBD70E6444B2}"/>
              </a:ext>
            </a:extLst>
          </p:cNvPr>
          <p:cNvCxnSpPr>
            <a:cxnSpLocks/>
          </p:cNvCxnSpPr>
          <p:nvPr userDrawn="1"/>
        </p:nvCxnSpPr>
        <p:spPr>
          <a:xfrm>
            <a:off x="11378408" y="438203"/>
            <a:ext cx="0" cy="14400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658327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Vs">
    <p:spTree>
      <p:nvGrpSpPr>
        <p:cNvPr id="1" name=""/>
        <p:cNvGrpSpPr/>
        <p:nvPr/>
      </p:nvGrpSpPr>
      <p:grpSpPr>
        <a:xfrm>
          <a:off x="0" y="0"/>
          <a:ext cx="0" cy="0"/>
          <a:chOff x="0" y="0"/>
          <a:chExt cx="0" cy="0"/>
        </a:xfrm>
      </p:grpSpPr>
      <p:grpSp>
        <p:nvGrpSpPr>
          <p:cNvPr id="9" name="Gruppieren 8">
            <a:extLst>
              <a:ext uri="{FF2B5EF4-FFF2-40B4-BE49-F238E27FC236}">
                <a16:creationId xmlns:a16="http://schemas.microsoft.com/office/drawing/2014/main" id="{58D01A3C-15E9-8222-6555-4D80C451BE51}"/>
              </a:ext>
            </a:extLst>
          </p:cNvPr>
          <p:cNvGrpSpPr/>
          <p:nvPr userDrawn="1"/>
        </p:nvGrpSpPr>
        <p:grpSpPr>
          <a:xfrm>
            <a:off x="0" y="1714500"/>
            <a:ext cx="12192000" cy="5143500"/>
            <a:chOff x="0" y="1714500"/>
            <a:chExt cx="12192000" cy="5143500"/>
          </a:xfrm>
        </p:grpSpPr>
        <p:pic>
          <p:nvPicPr>
            <p:cNvPr id="10" name="Grafik 9">
              <a:extLst>
                <a:ext uri="{FF2B5EF4-FFF2-40B4-BE49-F238E27FC236}">
                  <a16:creationId xmlns:a16="http://schemas.microsoft.com/office/drawing/2014/main" id="{2668B493-35E8-64C6-A877-180AD0B00B00}"/>
                </a:ext>
              </a:extLst>
            </p:cNvPr>
            <p:cNvPicPr>
              <a:picLocks noChangeAspect="1"/>
            </p:cNvPicPr>
            <p:nvPr/>
          </p:nvPicPr>
          <p:blipFill>
            <a:blip r:embed="rId3">
              <a:extLst>
                <a:ext uri="{28A0092B-C50C-407E-A947-70E740481C1C}">
                  <a14:useLocalDpi xmlns:a14="http://schemas.microsoft.com/office/drawing/2010/main" val="0"/>
                </a:ext>
              </a:extLst>
            </a:blip>
            <a:srcRect l="49126" t="842" r="-1" b="58842"/>
            <a:stretch>
              <a:fillRect/>
            </a:stretch>
          </p:blipFill>
          <p:spPr>
            <a:xfrm>
              <a:off x="0" y="1714500"/>
              <a:ext cx="12192000" cy="5143500"/>
            </a:xfrm>
            <a:prstGeom prst="rect">
              <a:avLst/>
            </a:prstGeom>
          </p:spPr>
        </p:pic>
        <p:sp>
          <p:nvSpPr>
            <p:cNvPr id="11" name="Rechteck 10">
              <a:extLst>
                <a:ext uri="{FF2B5EF4-FFF2-40B4-BE49-F238E27FC236}">
                  <a16:creationId xmlns:a16="http://schemas.microsoft.com/office/drawing/2014/main" id="{1D0F3604-0D5C-6FFA-11B0-A9B9458FC0C4}"/>
                </a:ext>
              </a:extLst>
            </p:cNvPr>
            <p:cNvSpPr/>
            <p:nvPr/>
          </p:nvSpPr>
          <p:spPr bwMode="gray">
            <a:xfrm flipH="1">
              <a:off x="457195" y="2419350"/>
              <a:ext cx="11734801" cy="4095750"/>
            </a:xfrm>
            <a:prstGeom prst="rect">
              <a:avLst/>
            </a:prstGeom>
            <a:gradFill>
              <a:gsLst>
                <a:gs pos="100000">
                  <a:schemeClr val="bg1">
                    <a:alpha val="80000"/>
                  </a:schemeClr>
                </a:gs>
                <a:gs pos="0">
                  <a:schemeClr val="bg1">
                    <a:alpha val="25000"/>
                  </a:schemeClr>
                </a:gs>
                <a:gs pos="25000">
                  <a:schemeClr val="bg1">
                    <a:alpha val="70000"/>
                  </a:schemeClr>
                </a:gs>
              </a:gsLst>
              <a:lin ang="0" scaled="1"/>
            </a:gra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de-DE" sz="1400">
                <a:solidFill>
                  <a:srgbClr val="FF0000"/>
                </a:solidFill>
              </a:endParaRPr>
            </a:p>
          </p:txBody>
        </p:sp>
      </p:grpSp>
      <p:cxnSp>
        <p:nvCxnSpPr>
          <p:cNvPr id="32" name="Gerader Verbinder 31">
            <a:extLst>
              <a:ext uri="{FF2B5EF4-FFF2-40B4-BE49-F238E27FC236}">
                <a16:creationId xmlns:a16="http://schemas.microsoft.com/office/drawing/2014/main" id="{93DD32CD-4925-E661-B06C-A28692B2ADF8}"/>
              </a:ext>
            </a:extLst>
          </p:cNvPr>
          <p:cNvCxnSpPr>
            <a:cxnSpLocks/>
          </p:cNvCxnSpPr>
          <p:nvPr/>
        </p:nvCxnSpPr>
        <p:spPr>
          <a:xfrm>
            <a:off x="-1" y="1029159"/>
            <a:ext cx="11740895"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graphicFrame>
        <p:nvGraphicFramePr>
          <p:cNvPr id="3" name="think-cell data - do not delete" hidden="1">
            <a:extLst>
              <a:ext uri="{FF2B5EF4-FFF2-40B4-BE49-F238E27FC236}">
                <a16:creationId xmlns:a16="http://schemas.microsoft.com/office/drawing/2014/main" id="{CD2DE3A4-2A93-5C67-1500-3D744F4252EC}"/>
              </a:ext>
            </a:extLst>
          </p:cNvPr>
          <p:cNvGraphicFramePr>
            <a:graphicFrameLocks noChangeAspect="1"/>
          </p:cNvGraphicFramePr>
          <p:nvPr userDrawn="1">
            <p:custDataLst>
              <p:tags r:id="rId1"/>
            </p:custDataLst>
            <p:extLst>
              <p:ext uri="{D42A27DB-BD31-4B8C-83A1-F6EECF244321}">
                <p14:modId xmlns:p14="http://schemas.microsoft.com/office/powerpoint/2010/main" val="14557864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5" imgH="405" progId="TCLayout.ActiveDocument.1">
                  <p:embed/>
                </p:oleObj>
              </mc:Choice>
              <mc:Fallback>
                <p:oleObj name="think-cell Folie" r:id="rId4" imgW="405" imgH="405" progId="TCLayout.ActiveDocument.1">
                  <p:embed/>
                  <p:pic>
                    <p:nvPicPr>
                      <p:cNvPr id="3" name="think-cell data - do not delete" hidden="1">
                        <a:extLst>
                          <a:ext uri="{FF2B5EF4-FFF2-40B4-BE49-F238E27FC236}">
                            <a16:creationId xmlns:a16="http://schemas.microsoft.com/office/drawing/2014/main" id="{CD2DE3A4-2A93-5C67-1500-3D744F4252E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266617"/>
            <a:ext cx="11277600" cy="334099"/>
          </a:xfrm>
          <a:prstGeom prst="rect">
            <a:avLst/>
          </a:prstGeom>
        </p:spPr>
        <p:txBody>
          <a:bodyPr vert="horz" lIns="0" tIns="0" rIns="0" bIns="0" rtlCol="0" anchor="t" anchorCtr="0">
            <a:noAutofit/>
          </a:bodyPr>
          <a:lstStyle>
            <a:lvl1pPr rtl="0">
              <a:defRPr lang="en-US" sz="2400" b="1" kern="1200" dirty="0">
                <a:solidFill>
                  <a:srgbClr val="009A44"/>
                </a:solidFill>
                <a:latin typeface="+mn-lt"/>
                <a:ea typeface="+mj-ea"/>
                <a:cs typeface="+mj-cs"/>
              </a:defRPr>
            </a:lvl1pPr>
          </a:lstStyle>
          <a:p>
            <a:r>
              <a:rPr lang="en-US"/>
              <a:t>Click to add title</a:t>
            </a:r>
          </a:p>
        </p:txBody>
      </p:sp>
      <p:sp>
        <p:nvSpPr>
          <p:cNvPr id="4" name="Bildplatzhalter 3">
            <a:extLst>
              <a:ext uri="{FF2B5EF4-FFF2-40B4-BE49-F238E27FC236}">
                <a16:creationId xmlns:a16="http://schemas.microsoft.com/office/drawing/2014/main" id="{0038EEE6-AFB8-F6C4-36D8-0130EA1EFE33}"/>
              </a:ext>
            </a:extLst>
          </p:cNvPr>
          <p:cNvSpPr>
            <a:spLocks noGrp="1" noChangeAspect="1"/>
          </p:cNvSpPr>
          <p:nvPr>
            <p:ph type="pic" sz="quarter" idx="10"/>
          </p:nvPr>
        </p:nvSpPr>
        <p:spPr>
          <a:xfrm>
            <a:off x="850013" y="1350184"/>
            <a:ext cx="2138332" cy="2138332"/>
          </a:xfrm>
          <a:prstGeom prst="ellipse">
            <a:avLst/>
          </a:prstGeom>
          <a:blipFill>
            <a:blip r:embed="rId6"/>
            <a:stretch>
              <a:fillRect/>
            </a:stretch>
          </a:blipFill>
          <a:effectLst/>
        </p:spPr>
        <p:txBody>
          <a:bodyPr/>
          <a:lstStyle/>
          <a:p>
            <a:endParaRPr lang="de-DE"/>
          </a:p>
        </p:txBody>
      </p:sp>
      <p:sp>
        <p:nvSpPr>
          <p:cNvPr id="8" name="Textplatzhalter 7">
            <a:extLst>
              <a:ext uri="{FF2B5EF4-FFF2-40B4-BE49-F238E27FC236}">
                <a16:creationId xmlns:a16="http://schemas.microsoft.com/office/drawing/2014/main" id="{70C32D81-E7C8-B3C2-D2EF-4F12DC051DB3}"/>
              </a:ext>
            </a:extLst>
          </p:cNvPr>
          <p:cNvSpPr>
            <a:spLocks noGrp="1"/>
          </p:cNvSpPr>
          <p:nvPr>
            <p:ph type="body" sz="quarter" idx="11"/>
          </p:nvPr>
        </p:nvSpPr>
        <p:spPr>
          <a:xfrm>
            <a:off x="3378273" y="2838450"/>
            <a:ext cx="3996000" cy="2518770"/>
          </a:xfrm>
        </p:spPr>
        <p:txBody>
          <a:bodyPr>
            <a:noAutofit/>
          </a:bodyPr>
          <a:lstStyle>
            <a:lvl1pPr>
              <a:spcAft>
                <a:spcPts val="0"/>
              </a:spcAft>
              <a:defRPr sz="1100">
                <a:latin typeface="+mn-lt"/>
              </a:defRPr>
            </a:lvl1pPr>
            <a:lvl2pPr>
              <a:spcAft>
                <a:spcPts val="0"/>
              </a:spcAft>
              <a:defRPr sz="1100">
                <a:latin typeface="+mn-lt"/>
              </a:defRPr>
            </a:lvl2pPr>
            <a:lvl3pPr>
              <a:spcAft>
                <a:spcPts val="0"/>
              </a:spcAft>
              <a:defRPr sz="1100">
                <a:latin typeface="+mn-lt"/>
              </a:defRPr>
            </a:lvl3pPr>
            <a:lvl4pPr>
              <a:spcAft>
                <a:spcPts val="0"/>
              </a:spcAft>
              <a:defRPr sz="1100">
                <a:latin typeface="+mn-lt"/>
              </a:defRPr>
            </a:lvl4pPr>
            <a:lvl5pPr>
              <a:spcAft>
                <a:spcPts val="0"/>
              </a:spcAft>
              <a:defRPr sz="1100">
                <a:latin typeface="+mn-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7">
            <a:extLst>
              <a:ext uri="{FF2B5EF4-FFF2-40B4-BE49-F238E27FC236}">
                <a16:creationId xmlns:a16="http://schemas.microsoft.com/office/drawing/2014/main" id="{0BEC8854-FAAD-32BC-92C0-D51546FB7D25}"/>
              </a:ext>
            </a:extLst>
          </p:cNvPr>
          <p:cNvSpPr>
            <a:spLocks noGrp="1"/>
          </p:cNvSpPr>
          <p:nvPr>
            <p:ph type="body" sz="quarter" idx="12"/>
          </p:nvPr>
        </p:nvSpPr>
        <p:spPr>
          <a:xfrm>
            <a:off x="7738800" y="2838450"/>
            <a:ext cx="3996000" cy="2518770"/>
          </a:xfrm>
        </p:spPr>
        <p:txBody>
          <a:bodyPr>
            <a:noAutofit/>
          </a:bodyPr>
          <a:lstStyle>
            <a:lvl1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1pPr>
            <a:lvl2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2pPr>
            <a:lvl3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3pPr>
            <a:lvl4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4pPr>
            <a:lvl5pPr>
              <a:spcAft>
                <a:spcPts val="400"/>
              </a:spcAft>
              <a:buFont typeface="Arial" panose="020B0604020202020204" pitchFamily="34" charset="0"/>
              <a:buChar char="•"/>
              <a:defRPr lang="de-DE" sz="1100" b="0" kern="1200" dirty="0">
                <a:solidFill>
                  <a:schemeClr val="tx1"/>
                </a:solidFill>
                <a:latin typeface="+mn-lt"/>
                <a:ea typeface="+mn-ea"/>
                <a:cs typeface="Calibri Light" panose="020F0302020204030204" pitchFamily="34" charset="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Textplatzhalter 7">
            <a:extLst>
              <a:ext uri="{FF2B5EF4-FFF2-40B4-BE49-F238E27FC236}">
                <a16:creationId xmlns:a16="http://schemas.microsoft.com/office/drawing/2014/main" id="{9ADFEACD-EE47-EDB6-B920-818935ADDB78}"/>
              </a:ext>
            </a:extLst>
          </p:cNvPr>
          <p:cNvSpPr>
            <a:spLocks noGrp="1"/>
          </p:cNvSpPr>
          <p:nvPr>
            <p:ph type="body" sz="quarter" idx="13"/>
          </p:nvPr>
        </p:nvSpPr>
        <p:spPr>
          <a:xfrm>
            <a:off x="3378273" y="5764428"/>
            <a:ext cx="3996000" cy="598271"/>
          </a:xfrm>
        </p:spPr>
        <p:txBody>
          <a:bodyPr>
            <a:noAutofit/>
          </a:bodyPr>
          <a:lstStyle>
            <a:lvl1pPr>
              <a:spcAft>
                <a:spcPts val="0"/>
              </a:spcAft>
              <a:defRPr sz="1100">
                <a:latin typeface="+mn-lt"/>
              </a:defRPr>
            </a:lvl1pPr>
            <a:lvl2pPr>
              <a:spcAft>
                <a:spcPts val="0"/>
              </a:spcAft>
              <a:defRPr sz="1100">
                <a:latin typeface="+mn-lt"/>
              </a:defRPr>
            </a:lvl2pPr>
            <a:lvl3pPr>
              <a:spcAft>
                <a:spcPts val="0"/>
              </a:spcAft>
              <a:defRPr sz="1100">
                <a:latin typeface="+mn-lt"/>
              </a:defRPr>
            </a:lvl3pPr>
            <a:lvl4pPr>
              <a:spcAft>
                <a:spcPts val="0"/>
              </a:spcAft>
              <a:defRPr>
                <a:latin typeface="+mn-lt"/>
              </a:defRPr>
            </a:lvl4pPr>
            <a:lvl5pPr>
              <a:spcAft>
                <a:spcPts val="0"/>
              </a:spcAft>
              <a:defRPr>
                <a:latin typeface="+mn-lt"/>
              </a:defRPr>
            </a:lvl5pPr>
          </a:lstStyle>
          <a:p>
            <a:pPr lvl="0"/>
            <a:r>
              <a:rPr lang="de-DE"/>
              <a:t>Mastertextformat bearbeiten</a:t>
            </a:r>
          </a:p>
          <a:p>
            <a:pPr lvl="1"/>
            <a:r>
              <a:rPr lang="de-DE"/>
              <a:t>Zweite Ebene</a:t>
            </a:r>
          </a:p>
          <a:p>
            <a:pPr lvl="2"/>
            <a:r>
              <a:rPr lang="de-DE"/>
              <a:t>Dritte</a:t>
            </a:r>
          </a:p>
        </p:txBody>
      </p:sp>
      <p:sp>
        <p:nvSpPr>
          <p:cNvPr id="14" name="Textplatzhalter 7">
            <a:extLst>
              <a:ext uri="{FF2B5EF4-FFF2-40B4-BE49-F238E27FC236}">
                <a16:creationId xmlns:a16="http://schemas.microsoft.com/office/drawing/2014/main" id="{B698C8D5-A814-94E1-C51F-8D25EDA80D56}"/>
              </a:ext>
            </a:extLst>
          </p:cNvPr>
          <p:cNvSpPr>
            <a:spLocks noGrp="1"/>
          </p:cNvSpPr>
          <p:nvPr>
            <p:ph type="body" sz="quarter" idx="14"/>
          </p:nvPr>
        </p:nvSpPr>
        <p:spPr>
          <a:xfrm>
            <a:off x="7738800" y="5764428"/>
            <a:ext cx="3996000" cy="598271"/>
          </a:xfrm>
        </p:spPr>
        <p:txBody>
          <a:bodyPr>
            <a:noAutofit/>
          </a:bodyPr>
          <a:lstStyle>
            <a:lvl1pPr>
              <a:spcAft>
                <a:spcPts val="0"/>
              </a:spcAft>
              <a:defRPr sz="1100">
                <a:latin typeface="+mn-lt"/>
              </a:defRPr>
            </a:lvl1pPr>
            <a:lvl2pPr>
              <a:spcAft>
                <a:spcPts val="0"/>
              </a:spcAft>
              <a:defRPr sz="1100">
                <a:latin typeface="+mn-lt"/>
              </a:defRPr>
            </a:lvl2pPr>
            <a:lvl3pPr>
              <a:spcAft>
                <a:spcPts val="0"/>
              </a:spcAft>
              <a:defRPr sz="1100">
                <a:latin typeface="+mn-lt"/>
              </a:defRPr>
            </a:lvl3pPr>
            <a:lvl4pPr>
              <a:spcAft>
                <a:spcPts val="0"/>
              </a:spcAft>
              <a:defRPr>
                <a:latin typeface="+mn-lt"/>
              </a:defRPr>
            </a:lvl4pPr>
            <a:lvl5pPr>
              <a:spcAft>
                <a:spcPts val="0"/>
              </a:spcAft>
              <a:defRPr>
                <a:latin typeface="+mn-lt"/>
              </a:defRPr>
            </a:lvl5pPr>
          </a:lstStyle>
          <a:p>
            <a:pPr lvl="0"/>
            <a:r>
              <a:rPr lang="de-DE"/>
              <a:t>Mastertextformat bearbeiten</a:t>
            </a:r>
          </a:p>
          <a:p>
            <a:pPr lvl="1"/>
            <a:r>
              <a:rPr lang="de-DE"/>
              <a:t>Zweite Ebene</a:t>
            </a:r>
          </a:p>
          <a:p>
            <a:pPr lvl="2"/>
            <a:r>
              <a:rPr lang="de-DE"/>
              <a:t>Dritte</a:t>
            </a:r>
          </a:p>
        </p:txBody>
      </p:sp>
      <p:sp>
        <p:nvSpPr>
          <p:cNvPr id="16" name="Textplatzhalter 7">
            <a:extLst>
              <a:ext uri="{FF2B5EF4-FFF2-40B4-BE49-F238E27FC236}">
                <a16:creationId xmlns:a16="http://schemas.microsoft.com/office/drawing/2014/main" id="{A3D1CAA3-0701-FD69-352F-51528CF97B6A}"/>
              </a:ext>
            </a:extLst>
          </p:cNvPr>
          <p:cNvSpPr>
            <a:spLocks noGrp="1"/>
          </p:cNvSpPr>
          <p:nvPr>
            <p:ph type="body" sz="quarter" idx="15" hasCustomPrompt="1"/>
          </p:nvPr>
        </p:nvSpPr>
        <p:spPr>
          <a:xfrm>
            <a:off x="3378272" y="1873466"/>
            <a:ext cx="8356527" cy="445871"/>
          </a:xfrm>
        </p:spPr>
        <p:txBody>
          <a:bodyPr>
            <a:noAutofit/>
          </a:bodyPr>
          <a:lstStyle>
            <a:lvl1pPr>
              <a:spcAft>
                <a:spcPts val="0"/>
              </a:spcAft>
              <a:defRPr sz="2400" b="1">
                <a:solidFill>
                  <a:schemeClr val="bg1"/>
                </a:solidFill>
                <a:latin typeface="+mn-lt"/>
              </a:defRPr>
            </a:lvl1pPr>
            <a:lvl2pPr>
              <a:spcAft>
                <a:spcPts val="0"/>
              </a:spcAft>
              <a:defRPr>
                <a:latin typeface="+mn-lt"/>
              </a:defRPr>
            </a:lvl2pPr>
            <a:lvl3pPr>
              <a:spcAft>
                <a:spcPts val="0"/>
              </a:spcAft>
              <a:defRPr>
                <a:latin typeface="+mn-lt"/>
              </a:defRPr>
            </a:lvl3pPr>
            <a:lvl4pPr>
              <a:spcAft>
                <a:spcPts val="0"/>
              </a:spcAft>
              <a:defRPr>
                <a:latin typeface="+mn-lt"/>
              </a:defRPr>
            </a:lvl4pPr>
            <a:lvl5pPr>
              <a:spcAft>
                <a:spcPts val="0"/>
              </a:spcAft>
              <a:defRPr>
                <a:latin typeface="+mn-lt"/>
              </a:defRPr>
            </a:lvl5pPr>
          </a:lstStyle>
          <a:p>
            <a:pPr lvl="0"/>
            <a:r>
              <a:rPr lang="de-DE"/>
              <a:t>Name</a:t>
            </a:r>
          </a:p>
        </p:txBody>
      </p:sp>
      <p:sp>
        <p:nvSpPr>
          <p:cNvPr id="17" name="Textplatzhalter 7">
            <a:extLst>
              <a:ext uri="{FF2B5EF4-FFF2-40B4-BE49-F238E27FC236}">
                <a16:creationId xmlns:a16="http://schemas.microsoft.com/office/drawing/2014/main" id="{BD88734C-939A-1637-359D-2670DCB932C3}"/>
              </a:ext>
            </a:extLst>
          </p:cNvPr>
          <p:cNvSpPr>
            <a:spLocks noGrp="1"/>
          </p:cNvSpPr>
          <p:nvPr>
            <p:ph type="body" sz="quarter" idx="16"/>
          </p:nvPr>
        </p:nvSpPr>
        <p:spPr>
          <a:xfrm>
            <a:off x="850013" y="3714750"/>
            <a:ext cx="2163733" cy="2647950"/>
          </a:xfrm>
        </p:spPr>
        <p:txBody>
          <a:bodyPr>
            <a:noAutofit/>
          </a:bodyPr>
          <a:lstStyle>
            <a:lvl1pPr algn="ctr">
              <a:spcAft>
                <a:spcPts val="0"/>
              </a:spcAft>
              <a:defRPr sz="1100">
                <a:latin typeface="+mn-lt"/>
              </a:defRPr>
            </a:lvl1pPr>
            <a:lvl2pPr algn="ctr">
              <a:spcAft>
                <a:spcPts val="0"/>
              </a:spcAft>
              <a:defRPr>
                <a:latin typeface="+mn-lt"/>
              </a:defRPr>
            </a:lvl2pPr>
            <a:lvl3pPr algn="ctr">
              <a:spcAft>
                <a:spcPts val="0"/>
              </a:spcAft>
              <a:defRPr>
                <a:latin typeface="+mn-lt"/>
              </a:defRPr>
            </a:lvl3pPr>
            <a:lvl4pPr algn="ctr">
              <a:spcAft>
                <a:spcPts val="0"/>
              </a:spcAft>
              <a:defRPr>
                <a:latin typeface="+mn-lt"/>
              </a:defRPr>
            </a:lvl4pPr>
            <a:lvl5pPr algn="ctr">
              <a:spcAft>
                <a:spcPts val="0"/>
              </a:spcAft>
              <a:defRPr>
                <a:latin typeface="+mn-lt"/>
              </a:defRPr>
            </a:lvl5pPr>
          </a:lstStyle>
          <a:p>
            <a:pPr lvl="0"/>
            <a:r>
              <a:rPr lang="de-DE"/>
              <a:t>Mastertextformat bearbeite</a:t>
            </a:r>
          </a:p>
        </p:txBody>
      </p:sp>
      <p:sp>
        <p:nvSpPr>
          <p:cNvPr id="23" name="Title">
            <a:extLst>
              <a:ext uri="{FF2B5EF4-FFF2-40B4-BE49-F238E27FC236}">
                <a16:creationId xmlns:a16="http://schemas.microsoft.com/office/drawing/2014/main" id="{EF3ED229-E1A1-3C5A-D4BF-29A2FFFCF53F}"/>
              </a:ext>
            </a:extLst>
          </p:cNvPr>
          <p:cNvSpPr txBox="1">
            <a:spLocks/>
          </p:cNvSpPr>
          <p:nvPr userDrawn="1"/>
        </p:nvSpPr>
        <p:spPr bwMode="gray">
          <a:xfrm>
            <a:off x="3378268" y="2601508"/>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SUMMARY OF PROFESSIONAL EXPERIENCE</a:t>
            </a:r>
          </a:p>
        </p:txBody>
      </p:sp>
      <p:sp>
        <p:nvSpPr>
          <p:cNvPr id="24" name="Title">
            <a:extLst>
              <a:ext uri="{FF2B5EF4-FFF2-40B4-BE49-F238E27FC236}">
                <a16:creationId xmlns:a16="http://schemas.microsoft.com/office/drawing/2014/main" id="{BCC352CF-5B55-0EFD-1E2C-761CA54040EF}"/>
              </a:ext>
            </a:extLst>
          </p:cNvPr>
          <p:cNvSpPr txBox="1">
            <a:spLocks/>
          </p:cNvSpPr>
          <p:nvPr userDrawn="1"/>
        </p:nvSpPr>
        <p:spPr bwMode="gray">
          <a:xfrm>
            <a:off x="7738799" y="2601508"/>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RELEVANT EXPERIENCE</a:t>
            </a:r>
          </a:p>
        </p:txBody>
      </p:sp>
      <p:sp>
        <p:nvSpPr>
          <p:cNvPr id="27" name="Title">
            <a:extLst>
              <a:ext uri="{FF2B5EF4-FFF2-40B4-BE49-F238E27FC236}">
                <a16:creationId xmlns:a16="http://schemas.microsoft.com/office/drawing/2014/main" id="{371E3145-77AF-37B0-C605-E33A551769AE}"/>
              </a:ext>
            </a:extLst>
          </p:cNvPr>
          <p:cNvSpPr txBox="1">
            <a:spLocks/>
          </p:cNvSpPr>
          <p:nvPr userDrawn="1"/>
        </p:nvSpPr>
        <p:spPr bwMode="gray">
          <a:xfrm>
            <a:off x="3378268" y="5526679"/>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EDUCATION</a:t>
            </a:r>
          </a:p>
        </p:txBody>
      </p:sp>
      <p:sp>
        <p:nvSpPr>
          <p:cNvPr id="28" name="Title">
            <a:extLst>
              <a:ext uri="{FF2B5EF4-FFF2-40B4-BE49-F238E27FC236}">
                <a16:creationId xmlns:a16="http://schemas.microsoft.com/office/drawing/2014/main" id="{FC256882-609A-3B97-0E2D-E4D737BA38E8}"/>
              </a:ext>
            </a:extLst>
          </p:cNvPr>
          <p:cNvSpPr txBox="1">
            <a:spLocks/>
          </p:cNvSpPr>
          <p:nvPr userDrawn="1"/>
        </p:nvSpPr>
        <p:spPr bwMode="gray">
          <a:xfrm>
            <a:off x="7738799" y="5526679"/>
            <a:ext cx="3575305" cy="211916"/>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2400" b="1" kern="1200" dirty="0">
                <a:solidFill>
                  <a:srgbClr val="009A44"/>
                </a:solidFill>
                <a:latin typeface="+mn-lt"/>
                <a:ea typeface="+mj-ea"/>
                <a:cs typeface="+mj-cs"/>
              </a:defRPr>
            </a:lvl1pPr>
          </a:lstStyle>
          <a:p>
            <a:r>
              <a:rPr lang="de-DE" sz="1100" b="1" kern="1200" cap="all" spc="100" baseline="0">
                <a:solidFill>
                  <a:srgbClr val="009A44"/>
                </a:solidFill>
                <a:latin typeface="+mn-lt"/>
                <a:ea typeface="+mn-ea"/>
                <a:cs typeface="+mn-cs"/>
              </a:rPr>
              <a:t>SELECTED CLIENTS</a:t>
            </a:r>
          </a:p>
        </p:txBody>
      </p:sp>
      <p:sp>
        <p:nvSpPr>
          <p:cNvPr id="29" name="Textplatzhalter 6">
            <a:extLst>
              <a:ext uri="{FF2B5EF4-FFF2-40B4-BE49-F238E27FC236}">
                <a16:creationId xmlns:a16="http://schemas.microsoft.com/office/drawing/2014/main" id="{37771CF1-3CF9-E2C0-3E1A-96923FF01088}"/>
              </a:ext>
            </a:extLst>
          </p:cNvPr>
          <p:cNvSpPr>
            <a:spLocks noGrp="1"/>
          </p:cNvSpPr>
          <p:nvPr>
            <p:ph type="body" sz="quarter" idx="17" hasCustomPrompt="1"/>
          </p:nvPr>
        </p:nvSpPr>
        <p:spPr>
          <a:xfrm>
            <a:off x="463295" y="634917"/>
            <a:ext cx="11277600" cy="277813"/>
          </a:xfrm>
        </p:spPr>
        <p:txBody>
          <a:bodyPr>
            <a:noAutofit/>
          </a:bodyPr>
          <a:lstStyle>
            <a:lvl1pPr>
              <a:defRPr lang="de-DE" sz="1800" b="0" kern="1200" dirty="0" smtClean="0">
                <a:solidFill>
                  <a:schemeClr val="tx1"/>
                </a:solidFill>
                <a:latin typeface="+mn-lt"/>
                <a:ea typeface="+mj-ea"/>
                <a:cs typeface="+mj-cs"/>
              </a:defRPr>
            </a:lvl1pPr>
            <a:lvl2pPr>
              <a:defRPr lang="de-DE" sz="1800" b="0" kern="1200" dirty="0" smtClean="0">
                <a:solidFill>
                  <a:schemeClr val="tx2"/>
                </a:solidFill>
                <a:latin typeface="+mn-lt"/>
                <a:ea typeface="+mj-ea"/>
                <a:cs typeface="+mj-cs"/>
              </a:defRPr>
            </a:lvl2pPr>
            <a:lvl3pPr>
              <a:defRPr lang="de-DE" sz="1800" b="0" kern="1200" dirty="0" smtClean="0">
                <a:solidFill>
                  <a:schemeClr val="tx2"/>
                </a:solidFill>
                <a:latin typeface="+mn-lt"/>
                <a:ea typeface="+mj-ea"/>
                <a:cs typeface="+mj-cs"/>
              </a:defRPr>
            </a:lvl3pPr>
            <a:lvl4pPr>
              <a:defRPr lang="de-DE" sz="1800" b="0" kern="1200" dirty="0" smtClean="0">
                <a:solidFill>
                  <a:schemeClr val="tx2"/>
                </a:solidFill>
                <a:latin typeface="+mn-lt"/>
                <a:ea typeface="+mj-ea"/>
                <a:cs typeface="+mj-cs"/>
              </a:defRPr>
            </a:lvl4pPr>
            <a:lvl5pPr>
              <a:defRPr lang="de-DE" sz="1800" b="0" kern="1200" dirty="0">
                <a:solidFill>
                  <a:schemeClr val="tx2"/>
                </a:solidFill>
                <a:latin typeface="+mn-lt"/>
                <a:ea typeface="+mj-ea"/>
                <a:cs typeface="+mj-cs"/>
              </a:defRPr>
            </a:lvl5pPr>
          </a:lstStyle>
          <a:p>
            <a:r>
              <a:rPr lang="de-DE" sz="1800" b="0"/>
              <a:t>Click </a:t>
            </a:r>
            <a:r>
              <a:rPr lang="de-DE" sz="1800" b="0" err="1"/>
              <a:t>to</a:t>
            </a:r>
            <a:r>
              <a:rPr lang="de-DE" sz="1800" b="0"/>
              <a:t> </a:t>
            </a:r>
            <a:r>
              <a:rPr lang="de-DE" sz="1800" b="0" err="1"/>
              <a:t>add</a:t>
            </a:r>
            <a:r>
              <a:rPr lang="de-DE" sz="1800" b="0"/>
              <a:t> title</a:t>
            </a:r>
          </a:p>
        </p:txBody>
      </p:sp>
      <p:sp>
        <p:nvSpPr>
          <p:cNvPr id="2" name="TextBox 3">
            <a:extLst>
              <a:ext uri="{FF2B5EF4-FFF2-40B4-BE49-F238E27FC236}">
                <a16:creationId xmlns:a16="http://schemas.microsoft.com/office/drawing/2014/main" id="{47A4A257-AEAE-1D23-D7E9-23711A6C95A0}"/>
              </a:ext>
            </a:extLst>
          </p:cNvPr>
          <p:cNvSpPr txBox="1"/>
          <p:nvPr userDrawn="1"/>
        </p:nvSpPr>
        <p:spPr>
          <a:xfrm>
            <a:off x="11479624" y="438203"/>
            <a:ext cx="26127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smtClean="0">
                <a:ln>
                  <a:noFill/>
                </a:ln>
                <a:solidFill>
                  <a:srgbClr val="97999B"/>
                </a:solidFill>
                <a:effectLst/>
                <a:uLnTx/>
                <a:uFillTx/>
                <a:ea typeface="+mn-ea"/>
                <a:cs typeface="Calibri" panose="020F0502020204030204" pitchFamily="34" charset="0"/>
              </a:rPr>
              <a:pPr marL="0" marR="0" lvl="0" indent="0" algn="l" defTabSz="914400" rtl="0" eaLnBrk="1" fontAlgn="auto" latinLnBrk="0" hangingPunct="1">
                <a:lnSpc>
                  <a:spcPct val="100000"/>
                </a:lnSpc>
                <a:spcBef>
                  <a:spcPts val="450"/>
                </a:spcBef>
                <a:spcAft>
                  <a:spcPts val="0"/>
                </a:spcAft>
                <a:buClrTx/>
                <a:buSzPct val="100000"/>
                <a:buFont typeface="Arial"/>
                <a:buNone/>
                <a:tabLst/>
                <a:defRPr/>
              </a:pPr>
              <a:t>‹#›</a:t>
            </a:fld>
            <a:endParaRPr kumimoji="0" lang="de-DE" sz="900" b="0" i="0" u="none" strike="noStrike" kern="1200" cap="none" spc="0" normalizeH="0" baseline="0">
              <a:ln>
                <a:noFill/>
              </a:ln>
              <a:solidFill>
                <a:srgbClr val="97999B"/>
              </a:solidFill>
              <a:effectLst/>
              <a:uLnTx/>
              <a:uFillTx/>
              <a:ea typeface="+mn-ea"/>
              <a:cs typeface="Calibri" panose="020F0502020204030204" pitchFamily="34" charset="0"/>
            </a:endParaRPr>
          </a:p>
        </p:txBody>
      </p:sp>
      <p:sp>
        <p:nvSpPr>
          <p:cNvPr id="6" name="TextBox 3">
            <a:extLst>
              <a:ext uri="{FF2B5EF4-FFF2-40B4-BE49-F238E27FC236}">
                <a16:creationId xmlns:a16="http://schemas.microsoft.com/office/drawing/2014/main" id="{FA7528EC-9E30-A9B4-21A7-B49206DF33A1}"/>
              </a:ext>
            </a:extLst>
          </p:cNvPr>
          <p:cNvSpPr txBox="1"/>
          <p:nvPr userDrawn="1"/>
        </p:nvSpPr>
        <p:spPr>
          <a:xfrm>
            <a:off x="10135650" y="438203"/>
            <a:ext cx="113030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Deloitte </a:t>
            </a:r>
            <a:r>
              <a:rPr kumimoji="0" lang="de-DE" sz="900" b="0" i="0" u="none" strike="noStrike" kern="1200" cap="none" spc="0" normalizeH="0" baseline="0" err="1">
                <a:ln>
                  <a:noFill/>
                </a:ln>
                <a:solidFill>
                  <a:srgbClr val="97999B"/>
                </a:solidFill>
                <a:effectLst/>
                <a:uLnTx/>
                <a:uFillTx/>
                <a:ea typeface="+mn-ea"/>
                <a:cs typeface="Calibri" panose="020F0502020204030204" pitchFamily="34" charset="0"/>
              </a:rPr>
              <a:t>for</a:t>
            </a: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 E.ON</a:t>
            </a:r>
          </a:p>
        </p:txBody>
      </p:sp>
      <p:cxnSp>
        <p:nvCxnSpPr>
          <p:cNvPr id="7" name="Gerader Verbinder 6">
            <a:extLst>
              <a:ext uri="{FF2B5EF4-FFF2-40B4-BE49-F238E27FC236}">
                <a16:creationId xmlns:a16="http://schemas.microsoft.com/office/drawing/2014/main" id="{CC56604D-24B2-ACE5-7F24-CB8E67FDDAD6}"/>
              </a:ext>
            </a:extLst>
          </p:cNvPr>
          <p:cNvCxnSpPr>
            <a:cxnSpLocks/>
          </p:cNvCxnSpPr>
          <p:nvPr userDrawn="1"/>
        </p:nvCxnSpPr>
        <p:spPr>
          <a:xfrm>
            <a:off x="10109200" y="342900"/>
            <a:ext cx="1631694" cy="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FB0076E6-7D8A-F9BC-26D0-C0E5D77B07DC}"/>
              </a:ext>
            </a:extLst>
          </p:cNvPr>
          <p:cNvCxnSpPr>
            <a:cxnSpLocks/>
          </p:cNvCxnSpPr>
          <p:nvPr userDrawn="1"/>
        </p:nvCxnSpPr>
        <p:spPr>
          <a:xfrm>
            <a:off x="11378408" y="438203"/>
            <a:ext cx="0" cy="14400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60738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1588420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19" name="Grafik 18">
            <a:extLst>
              <a:ext uri="{FF2B5EF4-FFF2-40B4-BE49-F238E27FC236}">
                <a16:creationId xmlns:a16="http://schemas.microsoft.com/office/drawing/2014/main" id="{5909BD02-CF5A-1FFA-6134-6577B7D970AD}"/>
              </a:ext>
            </a:extLst>
          </p:cNvPr>
          <p:cNvPicPr>
            <a:picLocks noChangeAspect="1"/>
          </p:cNvPicPr>
          <p:nvPr userDrawn="1"/>
        </p:nvPicPr>
        <p:blipFill>
          <a:blip r:embed="rId2">
            <a:extLst>
              <a:ext uri="{28A0092B-C50C-407E-A947-70E740481C1C}">
                <a14:useLocalDpi xmlns:a14="http://schemas.microsoft.com/office/drawing/2010/main" val="0"/>
              </a:ext>
            </a:extLst>
          </a:blip>
          <a:srcRect l="52699" t="3223" r="3951" b="49993"/>
          <a:stretch>
            <a:fillRect/>
          </a:stretch>
        </p:blipFill>
        <p:spPr>
          <a:xfrm>
            <a:off x="0" y="0"/>
            <a:ext cx="12192000" cy="6858000"/>
          </a:xfrm>
          <a:prstGeom prst="rect">
            <a:avLst/>
          </a:prstGeom>
        </p:spPr>
      </p:pic>
      <p:pic>
        <p:nvPicPr>
          <p:cNvPr id="5" name="Grafik 4">
            <a:extLst>
              <a:ext uri="{FF2B5EF4-FFF2-40B4-BE49-F238E27FC236}">
                <a16:creationId xmlns:a16="http://schemas.microsoft.com/office/drawing/2014/main" id="{020B39F8-35DC-4C84-0B45-BE27D96BB382}"/>
              </a:ext>
            </a:extLst>
          </p:cNvPr>
          <p:cNvPicPr>
            <a:picLocks noChangeAspect="1"/>
          </p:cNvPicPr>
          <p:nvPr userDrawn="1"/>
        </p:nvPicPr>
        <p:blipFill>
          <a:blip r:embed="rId3">
            <a:extLst>
              <a:ext uri="{BEBA8EAE-BF5A-486C-A8C5-ECC9F3942E4B}">
                <a14:imgProps xmlns:a14="http://schemas.microsoft.com/office/drawing/2010/main">
                  <a14:imgLayer r:embed="rId4">
                    <a14:imgEffect>
                      <a14:sharpenSoften amount="-90000"/>
                    </a14:imgEffect>
                  </a14:imgLayer>
                </a14:imgProps>
              </a:ext>
              <a:ext uri="{28A0092B-C50C-407E-A947-70E740481C1C}">
                <a14:useLocalDpi xmlns:a14="http://schemas.microsoft.com/office/drawing/2010/main" val="0"/>
              </a:ext>
            </a:extLst>
          </a:blip>
          <a:srcRect l="73832" t="3223" r="3951" b="49993"/>
          <a:stretch>
            <a:fillRect/>
          </a:stretch>
        </p:blipFill>
        <p:spPr>
          <a:xfrm>
            <a:off x="5943600" y="0"/>
            <a:ext cx="6248400" cy="6858000"/>
          </a:xfrm>
          <a:prstGeom prst="rect">
            <a:avLst/>
          </a:prstGeom>
          <a:effectLst>
            <a:outerShdw blurRad="254000" dist="38100" dir="10800000" algn="r" rotWithShape="0">
              <a:prstClr val="black">
                <a:alpha val="25000"/>
              </a:prstClr>
            </a:outerShdw>
          </a:effectLst>
        </p:spPr>
      </p:pic>
      <p:grpSp>
        <p:nvGrpSpPr>
          <p:cNvPr id="26" name="Gruppieren 25">
            <a:extLst>
              <a:ext uri="{FF2B5EF4-FFF2-40B4-BE49-F238E27FC236}">
                <a16:creationId xmlns:a16="http://schemas.microsoft.com/office/drawing/2014/main" id="{B338B9F0-704F-BF39-C594-599E10D1E822}"/>
              </a:ext>
            </a:extLst>
          </p:cNvPr>
          <p:cNvGrpSpPr/>
          <p:nvPr userDrawn="1"/>
        </p:nvGrpSpPr>
        <p:grpSpPr>
          <a:xfrm>
            <a:off x="5943600" y="3314700"/>
            <a:ext cx="6248400" cy="1369725"/>
            <a:chOff x="0" y="1724660"/>
            <a:chExt cx="7048800" cy="1369725"/>
          </a:xfrm>
        </p:grpSpPr>
        <p:sp>
          <p:nvSpPr>
            <p:cNvPr id="10" name="Rechteck 9">
              <a:extLst>
                <a:ext uri="{FF2B5EF4-FFF2-40B4-BE49-F238E27FC236}">
                  <a16:creationId xmlns:a16="http://schemas.microsoft.com/office/drawing/2014/main" id="{6565B966-1F63-47C7-C54D-7D9FC7017EC9}"/>
                </a:ext>
              </a:extLst>
            </p:cNvPr>
            <p:cNvSpPr/>
            <p:nvPr/>
          </p:nvSpPr>
          <p:spPr bwMode="gray">
            <a:xfrm>
              <a:off x="0" y="1724660"/>
              <a:ext cx="7047414" cy="1369725"/>
            </a:xfrm>
            <a:prstGeom prst="rect">
              <a:avLst/>
            </a:prstGeom>
            <a:solidFill>
              <a:schemeClr val="bg1">
                <a:alpha val="80000"/>
              </a:schemeClr>
            </a:solidFill>
            <a:ln w="19050" algn="ctr">
              <a:noFill/>
              <a:miter lim="800000"/>
              <a:headEnd/>
              <a:tailEnd/>
            </a:ln>
          </p:spPr>
          <p:txBody>
            <a:bodyPr wrap="square" lIns="88900" tIns="88900" rIns="88900" bIns="88900" rtlCol="0" anchor="ctr"/>
            <a:lstStyle/>
            <a:p>
              <a:pPr algn="ctr">
                <a:lnSpc>
                  <a:spcPct val="106000"/>
                </a:lnSpc>
              </a:pPr>
              <a:endParaRPr lang="de-DE" sz="1600" b="1" kern="0">
                <a:solidFill>
                  <a:prstClr val="white"/>
                </a:solidFill>
              </a:endParaRPr>
            </a:p>
          </p:txBody>
        </p:sp>
        <p:cxnSp>
          <p:nvCxnSpPr>
            <p:cNvPr id="23" name="Gerader Verbinder 22">
              <a:extLst>
                <a:ext uri="{FF2B5EF4-FFF2-40B4-BE49-F238E27FC236}">
                  <a16:creationId xmlns:a16="http://schemas.microsoft.com/office/drawing/2014/main" id="{ADC1C4F0-E419-7D5C-77D6-51BAA221DCDB}"/>
                </a:ext>
              </a:extLst>
            </p:cNvPr>
            <p:cNvCxnSpPr>
              <a:cxnSpLocks/>
            </p:cNvCxnSpPr>
            <p:nvPr/>
          </p:nvCxnSpPr>
          <p:spPr>
            <a:xfrm>
              <a:off x="0" y="1724660"/>
              <a:ext cx="7048800"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47884C8-30E5-E880-1802-2172397EAA73}"/>
                </a:ext>
              </a:extLst>
            </p:cNvPr>
            <p:cNvCxnSpPr>
              <a:cxnSpLocks/>
            </p:cNvCxnSpPr>
            <p:nvPr/>
          </p:nvCxnSpPr>
          <p:spPr>
            <a:xfrm>
              <a:off x="0" y="3094385"/>
              <a:ext cx="7048800"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grpSp>
      <p:sp>
        <p:nvSpPr>
          <p:cNvPr id="2" name="TextBox 3">
            <a:extLst>
              <a:ext uri="{FF2B5EF4-FFF2-40B4-BE49-F238E27FC236}">
                <a16:creationId xmlns:a16="http://schemas.microsoft.com/office/drawing/2014/main" id="{9B1B0D57-8D31-EB3F-0613-A4C6AE913102}"/>
              </a:ext>
            </a:extLst>
          </p:cNvPr>
          <p:cNvSpPr txBox="1"/>
          <p:nvPr userDrawn="1"/>
        </p:nvSpPr>
        <p:spPr>
          <a:xfrm>
            <a:off x="11479624" y="438203"/>
            <a:ext cx="26127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smtClean="0">
                <a:ln>
                  <a:noFill/>
                </a:ln>
                <a:solidFill>
                  <a:srgbClr val="97999B"/>
                </a:solidFill>
                <a:effectLst/>
                <a:uLnTx/>
                <a:uFillTx/>
                <a:ea typeface="+mn-ea"/>
                <a:cs typeface="Calibri" panose="020F0502020204030204" pitchFamily="34" charset="0"/>
              </a:rPr>
              <a:pPr marL="0" marR="0" lvl="0" indent="0" algn="l" defTabSz="914400" rtl="0" eaLnBrk="1" fontAlgn="auto" latinLnBrk="0" hangingPunct="1">
                <a:lnSpc>
                  <a:spcPct val="100000"/>
                </a:lnSpc>
                <a:spcBef>
                  <a:spcPts val="450"/>
                </a:spcBef>
                <a:spcAft>
                  <a:spcPts val="0"/>
                </a:spcAft>
                <a:buClrTx/>
                <a:buSzPct val="100000"/>
                <a:buFont typeface="Arial"/>
                <a:buNone/>
                <a:tabLst/>
                <a:defRPr/>
              </a:pPr>
              <a:t>‹#›</a:t>
            </a:fld>
            <a:endParaRPr kumimoji="0" lang="de-DE" sz="900" b="0" i="0" u="none" strike="noStrike" kern="1200" cap="none" spc="0" normalizeH="0" baseline="0">
              <a:ln>
                <a:noFill/>
              </a:ln>
              <a:solidFill>
                <a:srgbClr val="97999B"/>
              </a:solidFill>
              <a:effectLst/>
              <a:uLnTx/>
              <a:uFillTx/>
              <a:ea typeface="+mn-ea"/>
              <a:cs typeface="Calibri" panose="020F0502020204030204" pitchFamily="34" charset="0"/>
            </a:endParaRPr>
          </a:p>
        </p:txBody>
      </p:sp>
      <p:sp>
        <p:nvSpPr>
          <p:cNvPr id="3" name="TextBox 3">
            <a:extLst>
              <a:ext uri="{FF2B5EF4-FFF2-40B4-BE49-F238E27FC236}">
                <a16:creationId xmlns:a16="http://schemas.microsoft.com/office/drawing/2014/main" id="{2F6EA7DD-6ADD-91AE-618E-FFCDC40F8A91}"/>
              </a:ext>
            </a:extLst>
          </p:cNvPr>
          <p:cNvSpPr txBox="1"/>
          <p:nvPr userDrawn="1"/>
        </p:nvSpPr>
        <p:spPr>
          <a:xfrm>
            <a:off x="10135650" y="438203"/>
            <a:ext cx="113030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Deloitte </a:t>
            </a:r>
            <a:r>
              <a:rPr kumimoji="0" lang="de-DE" sz="900" b="0" i="0" u="none" strike="noStrike" kern="1200" cap="none" spc="0" normalizeH="0" baseline="0" err="1">
                <a:ln>
                  <a:noFill/>
                </a:ln>
                <a:solidFill>
                  <a:srgbClr val="97999B"/>
                </a:solidFill>
                <a:effectLst/>
                <a:uLnTx/>
                <a:uFillTx/>
                <a:ea typeface="+mn-ea"/>
                <a:cs typeface="Calibri" panose="020F0502020204030204" pitchFamily="34" charset="0"/>
              </a:rPr>
              <a:t>for</a:t>
            </a: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 E.ON</a:t>
            </a:r>
          </a:p>
        </p:txBody>
      </p:sp>
      <p:cxnSp>
        <p:nvCxnSpPr>
          <p:cNvPr id="6" name="Gerader Verbinder 5">
            <a:extLst>
              <a:ext uri="{FF2B5EF4-FFF2-40B4-BE49-F238E27FC236}">
                <a16:creationId xmlns:a16="http://schemas.microsoft.com/office/drawing/2014/main" id="{960EAE8A-DDC9-376E-E188-DAC1B92CB0E5}"/>
              </a:ext>
            </a:extLst>
          </p:cNvPr>
          <p:cNvCxnSpPr>
            <a:cxnSpLocks/>
          </p:cNvCxnSpPr>
          <p:nvPr userDrawn="1"/>
        </p:nvCxnSpPr>
        <p:spPr>
          <a:xfrm>
            <a:off x="10109200" y="342900"/>
            <a:ext cx="1631694" cy="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4FF324BD-533C-466B-0C2D-A677125CE380}"/>
              </a:ext>
            </a:extLst>
          </p:cNvPr>
          <p:cNvCxnSpPr>
            <a:cxnSpLocks/>
          </p:cNvCxnSpPr>
          <p:nvPr userDrawn="1"/>
        </p:nvCxnSpPr>
        <p:spPr>
          <a:xfrm>
            <a:off x="11378408" y="438203"/>
            <a:ext cx="0" cy="14400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098871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9" name="Grafik 18">
            <a:extLst>
              <a:ext uri="{FF2B5EF4-FFF2-40B4-BE49-F238E27FC236}">
                <a16:creationId xmlns:a16="http://schemas.microsoft.com/office/drawing/2014/main" id="{52AA7153-3C12-A6E8-84D5-095A4F3EAC1D}"/>
              </a:ext>
            </a:extLst>
          </p:cNvPr>
          <p:cNvPicPr>
            <a:picLocks noChangeAspect="1"/>
          </p:cNvPicPr>
          <p:nvPr userDrawn="1"/>
        </p:nvPicPr>
        <p:blipFill>
          <a:blip r:embed="rId2">
            <a:extLst>
              <a:ext uri="{28A0092B-C50C-407E-A947-70E740481C1C}">
                <a14:useLocalDpi xmlns:a14="http://schemas.microsoft.com/office/drawing/2010/main" val="0"/>
              </a:ext>
            </a:extLst>
          </a:blip>
          <a:srcRect l="3065" r="19534" b="16470"/>
          <a:stretch>
            <a:fillRect/>
          </a:stretch>
        </p:blipFill>
        <p:spPr>
          <a:xfrm>
            <a:off x="0" y="0"/>
            <a:ext cx="12192000" cy="6858000"/>
          </a:xfrm>
          <a:prstGeom prst="rect">
            <a:avLst/>
          </a:prstGeom>
        </p:spPr>
      </p:pic>
      <p:pic>
        <p:nvPicPr>
          <p:cNvPr id="21" name="Grafik 20">
            <a:extLst>
              <a:ext uri="{FF2B5EF4-FFF2-40B4-BE49-F238E27FC236}">
                <a16:creationId xmlns:a16="http://schemas.microsoft.com/office/drawing/2014/main" id="{7A68A0C0-D369-2F9C-06EB-E7A8B81145BC}"/>
              </a:ext>
            </a:extLst>
          </p:cNvPr>
          <p:cNvPicPr>
            <a:picLocks noChangeAspect="1"/>
          </p:cNvPicPr>
          <p:nvPr userDrawn="1"/>
        </p:nvPicPr>
        <p:blipFill>
          <a:blip r:embed="rId3">
            <a:extLst>
              <a:ext uri="{BEBA8EAE-BF5A-486C-A8C5-ECC9F3942E4B}">
                <a14:imgProps xmlns:a14="http://schemas.microsoft.com/office/drawing/2010/main">
                  <a14:imgLayer r:embed="rId4">
                    <a14:imgEffect>
                      <a14:sharpenSoften amount="-90000"/>
                    </a14:imgEffect>
                  </a14:imgLayer>
                </a14:imgProps>
              </a:ext>
              <a:ext uri="{28A0092B-C50C-407E-A947-70E740481C1C}">
                <a14:useLocalDpi xmlns:a14="http://schemas.microsoft.com/office/drawing/2010/main" val="0"/>
              </a:ext>
            </a:extLst>
          </a:blip>
          <a:srcRect l="3064" r="52195" b="16470"/>
          <a:stretch>
            <a:fillRect/>
          </a:stretch>
        </p:blipFill>
        <p:spPr>
          <a:xfrm>
            <a:off x="0" y="0"/>
            <a:ext cx="7047414" cy="6858000"/>
          </a:xfrm>
          <a:prstGeom prst="rect">
            <a:avLst/>
          </a:prstGeom>
          <a:effectLst>
            <a:outerShdw blurRad="254000" dist="38100" algn="l" rotWithShape="0">
              <a:schemeClr val="tx1">
                <a:alpha val="25000"/>
              </a:schemeClr>
            </a:outerShdw>
          </a:effectLst>
        </p:spPr>
      </p:pic>
      <p:sp>
        <p:nvSpPr>
          <p:cNvPr id="13" name="Titel 2">
            <a:extLst>
              <a:ext uri="{FF2B5EF4-FFF2-40B4-BE49-F238E27FC236}">
                <a16:creationId xmlns:a16="http://schemas.microsoft.com/office/drawing/2014/main" id="{20137860-19B1-4540-31C0-88486DF4F4EF}"/>
              </a:ext>
            </a:extLst>
          </p:cNvPr>
          <p:cNvSpPr txBox="1">
            <a:spLocks/>
          </p:cNvSpPr>
          <p:nvPr userDrawn="1"/>
        </p:nvSpPr>
        <p:spPr bwMode="gray">
          <a:xfrm>
            <a:off x="466725" y="596367"/>
            <a:ext cx="5426463" cy="452988"/>
          </a:xfrm>
          <a:prstGeom prst="rect">
            <a:avLst/>
          </a:prstGeom>
        </p:spPr>
        <p:txBody>
          <a:bodyPr vert="horz" lIns="0" tIns="0" rIns="0" bIns="0" rtlCol="0" anchor="t" anchorCtr="0">
            <a:noAutofit/>
          </a:bodyPr>
          <a:lstStyle>
            <a:lvl1pPr defTabSz="685800">
              <a:spcBef>
                <a:spcPct val="0"/>
              </a:spcBef>
              <a:buNone/>
              <a:defRPr sz="2100">
                <a:latin typeface="+mj-lt"/>
                <a:ea typeface="+mj-ea"/>
                <a:cs typeface="Calibri Light" panose="020F0302020204030204" pitchFamily="34" charset="0"/>
              </a:defRPr>
            </a:lvl1pPr>
          </a:lstStyle>
          <a:p>
            <a:pPr marL="0" marR="0" lvl="0" indent="0" algn="l" defTabSz="685800" rtl="0" eaLnBrk="1" fontAlgn="auto" latinLnBrk="0" hangingPunct="1">
              <a:spcBef>
                <a:spcPct val="0"/>
              </a:spcBef>
              <a:spcAft>
                <a:spcPts val="0"/>
              </a:spcAft>
              <a:buClrTx/>
              <a:buSzTx/>
              <a:buFontTx/>
              <a:buNone/>
              <a:tabLst/>
              <a:defRPr/>
            </a:pPr>
            <a:r>
              <a:rPr kumimoji="0" lang="de-DE" sz="2800" i="0" u="none" strike="noStrike" kern="1200" cap="all" spc="600" normalizeH="0">
                <a:ln>
                  <a:noFill/>
                </a:ln>
                <a:solidFill>
                  <a:srgbClr val="009A44"/>
                </a:solidFill>
                <a:effectLst/>
                <a:uLnTx/>
                <a:uFillTx/>
                <a:latin typeface="Aptos Light" panose="020B0004020202020204" pitchFamily="34" charset="0"/>
                <a:ea typeface="Open Sans Extrabold" panose="020B0606030504020204" pitchFamily="34" charset="0"/>
                <a:cs typeface="Open Sans Extrabold" panose="020B0606030504020204" pitchFamily="34" charset="0"/>
              </a:rPr>
              <a:t>Agenda </a:t>
            </a:r>
          </a:p>
        </p:txBody>
      </p:sp>
      <p:grpSp>
        <p:nvGrpSpPr>
          <p:cNvPr id="26" name="Gruppieren 25">
            <a:extLst>
              <a:ext uri="{FF2B5EF4-FFF2-40B4-BE49-F238E27FC236}">
                <a16:creationId xmlns:a16="http://schemas.microsoft.com/office/drawing/2014/main" id="{21EF8026-8C0A-70BD-A046-DD0CAEA05F2A}"/>
              </a:ext>
            </a:extLst>
          </p:cNvPr>
          <p:cNvGrpSpPr/>
          <p:nvPr userDrawn="1"/>
        </p:nvGrpSpPr>
        <p:grpSpPr>
          <a:xfrm>
            <a:off x="0" y="1536563"/>
            <a:ext cx="7048800" cy="3316212"/>
            <a:chOff x="0" y="1724660"/>
            <a:chExt cx="7048800" cy="3316212"/>
          </a:xfrm>
        </p:grpSpPr>
        <p:sp>
          <p:nvSpPr>
            <p:cNvPr id="10" name="Rechteck 9">
              <a:extLst>
                <a:ext uri="{FF2B5EF4-FFF2-40B4-BE49-F238E27FC236}">
                  <a16:creationId xmlns:a16="http://schemas.microsoft.com/office/drawing/2014/main" id="{89F107DF-2854-80FE-4651-DA497BAC13A8}"/>
                </a:ext>
              </a:extLst>
            </p:cNvPr>
            <p:cNvSpPr/>
            <p:nvPr/>
          </p:nvSpPr>
          <p:spPr bwMode="gray">
            <a:xfrm>
              <a:off x="0" y="1724660"/>
              <a:ext cx="7047414" cy="3316212"/>
            </a:xfrm>
            <a:prstGeom prst="rect">
              <a:avLst/>
            </a:prstGeom>
            <a:solidFill>
              <a:schemeClr val="bg1">
                <a:alpha val="80000"/>
              </a:schemeClr>
            </a:solidFill>
            <a:ln w="19050" algn="ctr">
              <a:noFill/>
              <a:miter lim="800000"/>
              <a:headEnd/>
              <a:tailEnd/>
            </a:ln>
          </p:spPr>
          <p:txBody>
            <a:bodyPr wrap="square" lIns="88900" tIns="88900" rIns="88900" bIns="88900" rtlCol="0" anchor="ctr"/>
            <a:lstStyle/>
            <a:p>
              <a:pPr algn="ctr">
                <a:lnSpc>
                  <a:spcPct val="106000"/>
                </a:lnSpc>
              </a:pPr>
              <a:endParaRPr lang="de-DE" sz="1600" b="1" kern="0">
                <a:solidFill>
                  <a:prstClr val="white"/>
                </a:solidFill>
              </a:endParaRPr>
            </a:p>
          </p:txBody>
        </p:sp>
        <p:cxnSp>
          <p:nvCxnSpPr>
            <p:cNvPr id="23" name="Gerader Verbinder 22">
              <a:extLst>
                <a:ext uri="{FF2B5EF4-FFF2-40B4-BE49-F238E27FC236}">
                  <a16:creationId xmlns:a16="http://schemas.microsoft.com/office/drawing/2014/main" id="{689ED95B-F8DF-4317-BBBB-25CCC6230DDB}"/>
                </a:ext>
              </a:extLst>
            </p:cNvPr>
            <p:cNvCxnSpPr>
              <a:cxnSpLocks/>
            </p:cNvCxnSpPr>
            <p:nvPr/>
          </p:nvCxnSpPr>
          <p:spPr>
            <a:xfrm>
              <a:off x="0" y="1724660"/>
              <a:ext cx="7048800"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3886815-19E1-1B37-7FBA-0A67E9D2473D}"/>
                </a:ext>
              </a:extLst>
            </p:cNvPr>
            <p:cNvCxnSpPr>
              <a:cxnSpLocks/>
            </p:cNvCxnSpPr>
            <p:nvPr/>
          </p:nvCxnSpPr>
          <p:spPr>
            <a:xfrm>
              <a:off x="0" y="5040872"/>
              <a:ext cx="7048800"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grpSp>
      <p:sp>
        <p:nvSpPr>
          <p:cNvPr id="2" name="TextBox 3">
            <a:extLst>
              <a:ext uri="{FF2B5EF4-FFF2-40B4-BE49-F238E27FC236}">
                <a16:creationId xmlns:a16="http://schemas.microsoft.com/office/drawing/2014/main" id="{72ED07B7-A5EF-CB99-8824-3D5208DF6CD2}"/>
              </a:ext>
            </a:extLst>
          </p:cNvPr>
          <p:cNvSpPr txBox="1"/>
          <p:nvPr userDrawn="1"/>
        </p:nvSpPr>
        <p:spPr>
          <a:xfrm>
            <a:off x="11479624" y="438203"/>
            <a:ext cx="26127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smtClean="0">
                <a:ln>
                  <a:noFill/>
                </a:ln>
                <a:solidFill>
                  <a:srgbClr val="97999B"/>
                </a:solidFill>
                <a:effectLst/>
                <a:uLnTx/>
                <a:uFillTx/>
                <a:ea typeface="+mn-ea"/>
                <a:cs typeface="Calibri" panose="020F0502020204030204" pitchFamily="34" charset="0"/>
              </a:rPr>
              <a:pPr marL="0" marR="0" lvl="0" indent="0" algn="l" defTabSz="914400" rtl="0" eaLnBrk="1" fontAlgn="auto" latinLnBrk="0" hangingPunct="1">
                <a:lnSpc>
                  <a:spcPct val="100000"/>
                </a:lnSpc>
                <a:spcBef>
                  <a:spcPts val="450"/>
                </a:spcBef>
                <a:spcAft>
                  <a:spcPts val="0"/>
                </a:spcAft>
                <a:buClrTx/>
                <a:buSzPct val="100000"/>
                <a:buFont typeface="Arial"/>
                <a:buNone/>
                <a:tabLst/>
                <a:defRPr/>
              </a:pPr>
              <a:t>‹#›</a:t>
            </a:fld>
            <a:endParaRPr kumimoji="0" lang="de-DE" sz="900" b="0" i="0" u="none" strike="noStrike" kern="1200" cap="none" spc="0" normalizeH="0" baseline="0">
              <a:ln>
                <a:noFill/>
              </a:ln>
              <a:solidFill>
                <a:srgbClr val="97999B"/>
              </a:solidFill>
              <a:effectLst/>
              <a:uLnTx/>
              <a:uFillTx/>
              <a:ea typeface="+mn-ea"/>
              <a:cs typeface="Calibri" panose="020F0502020204030204" pitchFamily="34" charset="0"/>
            </a:endParaRPr>
          </a:p>
        </p:txBody>
      </p:sp>
      <p:sp>
        <p:nvSpPr>
          <p:cNvPr id="3" name="TextBox 3">
            <a:extLst>
              <a:ext uri="{FF2B5EF4-FFF2-40B4-BE49-F238E27FC236}">
                <a16:creationId xmlns:a16="http://schemas.microsoft.com/office/drawing/2014/main" id="{AACE04F2-F18D-D3B2-F478-134AB078103A}"/>
              </a:ext>
            </a:extLst>
          </p:cNvPr>
          <p:cNvSpPr txBox="1"/>
          <p:nvPr userDrawn="1"/>
        </p:nvSpPr>
        <p:spPr>
          <a:xfrm>
            <a:off x="10135650" y="438203"/>
            <a:ext cx="113030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Deloitte </a:t>
            </a:r>
            <a:r>
              <a:rPr kumimoji="0" lang="de-DE" sz="900" b="0" i="0" u="none" strike="noStrike" kern="1200" cap="none" spc="0" normalizeH="0" baseline="0" err="1">
                <a:ln>
                  <a:noFill/>
                </a:ln>
                <a:solidFill>
                  <a:srgbClr val="97999B"/>
                </a:solidFill>
                <a:effectLst/>
                <a:uLnTx/>
                <a:uFillTx/>
                <a:ea typeface="+mn-ea"/>
                <a:cs typeface="Calibri" panose="020F0502020204030204" pitchFamily="34" charset="0"/>
              </a:rPr>
              <a:t>for</a:t>
            </a:r>
            <a:r>
              <a:rPr kumimoji="0" lang="de-DE" sz="900" b="0" i="0" u="none" strike="noStrike" kern="1200" cap="none" spc="0" normalizeH="0" baseline="0">
                <a:ln>
                  <a:noFill/>
                </a:ln>
                <a:solidFill>
                  <a:srgbClr val="97999B"/>
                </a:solidFill>
                <a:effectLst/>
                <a:uLnTx/>
                <a:uFillTx/>
                <a:ea typeface="+mn-ea"/>
                <a:cs typeface="Calibri" panose="020F0502020204030204" pitchFamily="34" charset="0"/>
              </a:rPr>
              <a:t> E.ON</a:t>
            </a:r>
          </a:p>
        </p:txBody>
      </p:sp>
      <p:cxnSp>
        <p:nvCxnSpPr>
          <p:cNvPr id="4" name="Gerader Verbinder 3">
            <a:extLst>
              <a:ext uri="{FF2B5EF4-FFF2-40B4-BE49-F238E27FC236}">
                <a16:creationId xmlns:a16="http://schemas.microsoft.com/office/drawing/2014/main" id="{F3727168-7F43-385D-CAA4-606E0DF42F9C}"/>
              </a:ext>
            </a:extLst>
          </p:cNvPr>
          <p:cNvCxnSpPr>
            <a:cxnSpLocks/>
          </p:cNvCxnSpPr>
          <p:nvPr userDrawn="1"/>
        </p:nvCxnSpPr>
        <p:spPr>
          <a:xfrm>
            <a:off x="10109200" y="342900"/>
            <a:ext cx="1631694" cy="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01960F6E-CCF7-D5CF-9AC7-79CABF0E233A}"/>
              </a:ext>
            </a:extLst>
          </p:cNvPr>
          <p:cNvCxnSpPr>
            <a:cxnSpLocks/>
          </p:cNvCxnSpPr>
          <p:nvPr userDrawn="1"/>
        </p:nvCxnSpPr>
        <p:spPr>
          <a:xfrm>
            <a:off x="11378408" y="438203"/>
            <a:ext cx="0" cy="14400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1013409"/>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D Agency -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984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slide">
    <p:bg bwMode="gray">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A58666E-2EB0-064E-C868-85E4C5213261}"/>
              </a:ext>
            </a:extLst>
          </p:cNvPr>
          <p:cNvPicPr>
            <a:picLocks noChangeAspect="1"/>
          </p:cNvPicPr>
          <p:nvPr userDrawn="1"/>
        </p:nvPicPr>
        <p:blipFill>
          <a:blip r:embed="rId3">
            <a:grayscl/>
            <a:extLst>
              <a:ext uri="{28A0092B-C50C-407E-A947-70E740481C1C}">
                <a14:useLocalDpi xmlns:a14="http://schemas.microsoft.com/office/drawing/2010/main" val="0"/>
              </a:ext>
            </a:extLst>
          </a:blip>
          <a:srcRect l="966" t="9195" r="13096"/>
          <a:stretch>
            <a:fillRect/>
          </a:stretch>
        </p:blipFill>
        <p:spPr>
          <a:xfrm>
            <a:off x="0" y="0"/>
            <a:ext cx="12192000" cy="6858000"/>
          </a:xfrm>
          <a:prstGeom prst="rect">
            <a:avLst/>
          </a:prstGeom>
        </p:spPr>
      </p:pic>
      <p:sp>
        <p:nvSpPr>
          <p:cNvPr id="2" name="Rechteck 1">
            <a:extLst>
              <a:ext uri="{FF2B5EF4-FFF2-40B4-BE49-F238E27FC236}">
                <a16:creationId xmlns:a16="http://schemas.microsoft.com/office/drawing/2014/main" id="{AD049254-5EF7-C6C8-1078-2E94F72C7BAA}"/>
              </a:ext>
            </a:extLst>
          </p:cNvPr>
          <p:cNvSpPr/>
          <p:nvPr userDrawn="1"/>
        </p:nvSpPr>
        <p:spPr bwMode="gray">
          <a:xfrm>
            <a:off x="0" y="0"/>
            <a:ext cx="12192000" cy="6858000"/>
          </a:xfrm>
          <a:prstGeom prst="rect">
            <a:avLst/>
          </a:prstGeom>
          <a:gradFill flip="none" rotWithShape="1">
            <a:gsLst>
              <a:gs pos="84000">
                <a:schemeClr val="tx1">
                  <a:alpha val="80000"/>
                </a:schemeClr>
              </a:gs>
              <a:gs pos="36000">
                <a:schemeClr val="tx1"/>
              </a:gs>
              <a:gs pos="54000">
                <a:schemeClr val="tx1">
                  <a:alpha val="90000"/>
                </a:schemeClr>
              </a:gs>
              <a:gs pos="100000">
                <a:schemeClr val="tx1">
                  <a:alpha val="80000"/>
                </a:schemeClr>
              </a:gs>
            </a:gsLst>
            <a:lin ang="1800000" scaled="0"/>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a:solidFill>
                <a:schemeClr val="bg1"/>
              </a:solidFill>
            </a:endParaRPr>
          </a:p>
        </p:txBody>
      </p:sp>
      <p:graphicFrame>
        <p:nvGraphicFramePr>
          <p:cNvPr id="4" name="think-cell data - do not delete" hidden="1">
            <a:extLst>
              <a:ext uri="{FF2B5EF4-FFF2-40B4-BE49-F238E27FC236}">
                <a16:creationId xmlns:a16="http://schemas.microsoft.com/office/drawing/2014/main" id="{4997F63C-ED3F-AE66-8669-D85F2517B8AE}"/>
              </a:ext>
            </a:extLst>
          </p:cNvPr>
          <p:cNvGraphicFramePr>
            <a:graphicFrameLocks noChangeAspect="1"/>
          </p:cNvGraphicFramePr>
          <p:nvPr userDrawn="1">
            <p:custDataLst>
              <p:tags r:id="rId1"/>
            </p:custDataLst>
            <p:extLst>
              <p:ext uri="{D42A27DB-BD31-4B8C-83A1-F6EECF244321}">
                <p14:modId xmlns:p14="http://schemas.microsoft.com/office/powerpoint/2010/main" val="1894861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5" imgH="405" progId="TCLayout.ActiveDocument.1">
                  <p:embed/>
                </p:oleObj>
              </mc:Choice>
              <mc:Fallback>
                <p:oleObj name="think-cell Folie" r:id="rId4" imgW="405" imgH="405" progId="TCLayout.ActiveDocument.1">
                  <p:embed/>
                  <p:pic>
                    <p:nvPicPr>
                      <p:cNvPr id="4" name="think-cell data - do not delete" hidden="1">
                        <a:extLst>
                          <a:ext uri="{FF2B5EF4-FFF2-40B4-BE49-F238E27FC236}">
                            <a16:creationId xmlns:a16="http://schemas.microsoft.com/office/drawing/2014/main" id="{4997F63C-ED3F-AE66-8669-D85F2517B8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MIO_AGENDA_IGNORE_NAVIGATION" hidden="1">
            <a:extLst>
              <a:ext uri="{FF2B5EF4-FFF2-40B4-BE49-F238E27FC236}">
                <a16:creationId xmlns:a16="http://schemas.microsoft.com/office/drawing/2014/main" id="{D35CEE80-9913-49B6-AD2D-CD6015DCEA12}"/>
              </a:ext>
            </a:extLst>
          </p:cNvPr>
          <p:cNvSpPr/>
          <p:nvPr/>
        </p:nvSpPr>
        <p:spPr>
          <a:xfrm>
            <a:off x="1134480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sp>
        <p:nvSpPr>
          <p:cNvPr id="17" name="MIO_AGENDA_IGNORE_CHAPTER_REFERENCE" hidden="1">
            <a:extLst>
              <a:ext uri="{FF2B5EF4-FFF2-40B4-BE49-F238E27FC236}">
                <a16:creationId xmlns:a16="http://schemas.microsoft.com/office/drawing/2014/main" id="{6BB5887F-93D5-475B-917E-FCC7B89F3723}"/>
              </a:ext>
            </a:extLst>
          </p:cNvPr>
          <p:cNvSpPr/>
          <p:nvPr/>
        </p:nvSpPr>
        <p:spPr>
          <a:xfrm>
            <a:off x="1105395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grpSp>
        <p:nvGrpSpPr>
          <p:cNvPr id="5" name="Group 26">
            <a:extLst>
              <a:ext uri="{FF2B5EF4-FFF2-40B4-BE49-F238E27FC236}">
                <a16:creationId xmlns:a16="http://schemas.microsoft.com/office/drawing/2014/main" id="{C3E8AEA2-FF13-75CC-CC6E-8336DB7DE4D4}"/>
              </a:ext>
            </a:extLst>
          </p:cNvPr>
          <p:cNvGrpSpPr/>
          <p:nvPr userDrawn="1"/>
        </p:nvGrpSpPr>
        <p:grpSpPr>
          <a:xfrm>
            <a:off x="458636" y="342232"/>
            <a:ext cx="1819656" cy="347472"/>
            <a:chOff x="398463" y="404813"/>
            <a:chExt cx="1627187" cy="307976"/>
          </a:xfrm>
          <a:solidFill>
            <a:schemeClr val="bg1"/>
          </a:solidFill>
        </p:grpSpPr>
        <p:sp>
          <p:nvSpPr>
            <p:cNvPr id="6" name="Oval 5">
              <a:extLst>
                <a:ext uri="{FF2B5EF4-FFF2-40B4-BE49-F238E27FC236}">
                  <a16:creationId xmlns:a16="http://schemas.microsoft.com/office/drawing/2014/main" id="{95D9FD8C-ABE6-39AA-5F2E-98083606B3D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7" name="Freeform 6">
              <a:extLst>
                <a:ext uri="{FF2B5EF4-FFF2-40B4-BE49-F238E27FC236}">
                  <a16:creationId xmlns:a16="http://schemas.microsoft.com/office/drawing/2014/main" id="{2D02D30F-611C-4768-BBCE-3444E8062AC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8" name="Rectangle 7">
              <a:extLst>
                <a:ext uri="{FF2B5EF4-FFF2-40B4-BE49-F238E27FC236}">
                  <a16:creationId xmlns:a16="http://schemas.microsoft.com/office/drawing/2014/main" id="{81ED1758-9AD0-A0EF-D25A-813C5AC44ACD}"/>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9" name="Freeform 8">
              <a:extLst>
                <a:ext uri="{FF2B5EF4-FFF2-40B4-BE49-F238E27FC236}">
                  <a16:creationId xmlns:a16="http://schemas.microsoft.com/office/drawing/2014/main" id="{0E3C5091-80E6-5884-530A-AA044D90D524}"/>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0" name="Rectangle 9">
              <a:extLst>
                <a:ext uri="{FF2B5EF4-FFF2-40B4-BE49-F238E27FC236}">
                  <a16:creationId xmlns:a16="http://schemas.microsoft.com/office/drawing/2014/main" id="{C902363E-ACA5-8851-A889-143A61CE876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1" name="Rectangle 10">
              <a:extLst>
                <a:ext uri="{FF2B5EF4-FFF2-40B4-BE49-F238E27FC236}">
                  <a16:creationId xmlns:a16="http://schemas.microsoft.com/office/drawing/2014/main" id="{2DE4EF9D-B447-C8A4-1649-06E2B0E0583D}"/>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2" name="Freeform 11">
              <a:extLst>
                <a:ext uri="{FF2B5EF4-FFF2-40B4-BE49-F238E27FC236}">
                  <a16:creationId xmlns:a16="http://schemas.microsoft.com/office/drawing/2014/main" id="{F0A4476D-CD6C-4F89-8775-0F0DB6FAA9F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3" name="Freeform 12">
              <a:extLst>
                <a:ext uri="{FF2B5EF4-FFF2-40B4-BE49-F238E27FC236}">
                  <a16:creationId xmlns:a16="http://schemas.microsoft.com/office/drawing/2014/main" id="{310B8BBE-263D-BEF2-3523-90E04EB41534}"/>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4" name="Freeform 13">
              <a:extLst>
                <a:ext uri="{FF2B5EF4-FFF2-40B4-BE49-F238E27FC236}">
                  <a16:creationId xmlns:a16="http://schemas.microsoft.com/office/drawing/2014/main" id="{D144ACF2-EDB3-593E-F29E-FD5DB56EA70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5" name="Freeform 14">
              <a:extLst>
                <a:ext uri="{FF2B5EF4-FFF2-40B4-BE49-F238E27FC236}">
                  <a16:creationId xmlns:a16="http://schemas.microsoft.com/office/drawing/2014/main" id="{35B546C6-D3C5-7A8F-1B6D-DB9C3964996F}"/>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18" name="Text Placeholder 2">
            <a:extLst>
              <a:ext uri="{FF2B5EF4-FFF2-40B4-BE49-F238E27FC236}">
                <a16:creationId xmlns:a16="http://schemas.microsoft.com/office/drawing/2014/main" id="{70D600BF-82D9-B3FF-A779-7A25A678BD34}"/>
              </a:ext>
            </a:extLst>
          </p:cNvPr>
          <p:cNvSpPr txBox="1">
            <a:spLocks/>
          </p:cNvSpPr>
          <p:nvPr userDrawn="1"/>
        </p:nvSpPr>
        <p:spPr>
          <a:xfrm>
            <a:off x="466256" y="4706676"/>
            <a:ext cx="7407744" cy="1763085"/>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SzPct val="100000"/>
              <a:buFont typeface="Arial" panose="020B0604020202020204" pitchFamily="34" charset="0"/>
              <a:buNone/>
              <a:defRPr sz="1400" b="1" kern="1200">
                <a:solidFill>
                  <a:schemeClr val="tx1"/>
                </a:solidFill>
                <a:latin typeface="+mj-lt"/>
                <a:ea typeface="+mn-ea"/>
                <a:cs typeface="Calibri Light" panose="020F0302020204030204" pitchFamily="34" charset="0"/>
              </a:defRPr>
            </a:lvl1pPr>
            <a:lvl2pPr marL="0" indent="0" algn="l" defTabSz="914400" rtl="0" eaLnBrk="1" latinLnBrk="0" hangingPunct="1">
              <a:lnSpc>
                <a:spcPct val="100000"/>
              </a:lnSpc>
              <a:spcBef>
                <a:spcPts val="0"/>
              </a:spcBef>
              <a:spcAft>
                <a:spcPts val="600"/>
              </a:spcAft>
              <a:buClrTx/>
              <a:buSzPct val="100000"/>
              <a:buFont typeface="Arial"/>
              <a:buNone/>
              <a:defRPr lang="en-US" sz="1200" b="1" i="0" kern="1200" dirty="0">
                <a:solidFill>
                  <a:schemeClr val="accent6"/>
                </a:solidFill>
                <a:latin typeface="+mj-lt"/>
                <a:ea typeface="+mn-ea"/>
                <a:cs typeface="Calibri Light" panose="020F0302020204030204" pitchFamily="34" charset="0"/>
              </a:defRPr>
            </a:lvl2pPr>
            <a:lvl3pPr marL="0" indent="0" algn="l" defTabSz="914400" rtl="0" eaLnBrk="1" latinLnBrk="0" hangingPunct="1">
              <a:lnSpc>
                <a:spcPct val="100000"/>
              </a:lnSpc>
              <a:spcBef>
                <a:spcPts val="0"/>
              </a:spcBef>
              <a:spcAft>
                <a:spcPts val="600"/>
              </a:spcAft>
              <a:buClrTx/>
              <a:buSzPct val="100000"/>
              <a:buFont typeface="Arial" panose="020B0604020202020204" pitchFamily="34" charset="0"/>
              <a:buNone/>
              <a:defRPr lang="en-US" sz="1200" kern="1200" dirty="0">
                <a:solidFill>
                  <a:schemeClr val="tx1"/>
                </a:solidFill>
                <a:latin typeface="+mn-lt"/>
                <a:ea typeface="+mn-ea"/>
                <a:cs typeface="Calibri Light" panose="020F0302020204030204" pitchFamily="34" charset="0"/>
              </a:defRPr>
            </a:lvl3pPr>
            <a:lvl4pPr marL="176213" indent="-176213"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1200" kern="1200" baseline="0" dirty="0">
                <a:solidFill>
                  <a:schemeClr val="tx1"/>
                </a:solidFill>
                <a:latin typeface="+mn-lt"/>
                <a:ea typeface="+mn-ea"/>
                <a:cs typeface="Calibri Light" panose="020F0302020204030204" pitchFamily="34" charset="0"/>
              </a:defRPr>
            </a:lvl4pPr>
            <a:lvl5pPr marL="361950" indent="-176213" algn="l" defTabSz="798513" rtl="0" eaLnBrk="1" latinLnBrk="0" hangingPunct="1">
              <a:lnSpc>
                <a:spcPct val="100000"/>
              </a:lnSpc>
              <a:spcBef>
                <a:spcPts val="0"/>
              </a:spcBef>
              <a:spcAft>
                <a:spcPts val="600"/>
              </a:spcAft>
              <a:buClrTx/>
              <a:buSzPct val="100000"/>
              <a:buFont typeface="Verdana" panose="020B0604030504040204" pitchFamily="34" charset="0"/>
              <a:buChar char="−"/>
              <a:tabLst/>
              <a:defRPr lang="en-US" sz="1200" kern="1200" baseline="0" dirty="0">
                <a:solidFill>
                  <a:schemeClr val="tx1"/>
                </a:solidFill>
                <a:latin typeface="+mn-lt"/>
                <a:ea typeface="+mn-ea"/>
                <a:cs typeface="Calibri Light" panose="020F0302020204030204" pitchFamily="34" charset="0"/>
              </a:defRPr>
            </a:lvl5pPr>
            <a:lvl6pPr marL="361950" indent="-176213" algn="l" defTabSz="914400" rtl="0" eaLnBrk="1" latinLnBrk="0" hangingPunct="1">
              <a:lnSpc>
                <a:spcPct val="100000"/>
              </a:lnSpc>
              <a:spcBef>
                <a:spcPts val="0"/>
              </a:spcBef>
              <a:spcAft>
                <a:spcPts val="600"/>
              </a:spcAft>
              <a:buFont typeface="Verdana" panose="020B0604030504040204" pitchFamily="34" charset="0"/>
              <a:buChar char="−"/>
              <a:tabLst/>
              <a:defRPr sz="1200" kern="1200" baseline="0">
                <a:solidFill>
                  <a:schemeClr val="tx1"/>
                </a:solidFill>
                <a:latin typeface="+mn-lt"/>
                <a:ea typeface="+mn-ea"/>
                <a:cs typeface="+mn-cs"/>
              </a:defRPr>
            </a:lvl6pPr>
            <a:lvl7pPr marL="361950" indent="-176213" algn="l" defTabSz="914400" rtl="0" eaLnBrk="1" latinLnBrk="0" hangingPunct="1">
              <a:lnSpc>
                <a:spcPct val="100000"/>
              </a:lnSpc>
              <a:spcBef>
                <a:spcPts val="0"/>
              </a:spcBef>
              <a:spcAft>
                <a:spcPts val="600"/>
              </a:spcAft>
              <a:buFont typeface="Verdana" panose="020B0604030504040204" pitchFamily="34" charset="0"/>
              <a:buChar char="−"/>
              <a:tabLst/>
              <a:defRPr sz="1200" kern="1200">
                <a:solidFill>
                  <a:schemeClr val="tx1"/>
                </a:solidFill>
                <a:latin typeface="+mn-lt"/>
                <a:ea typeface="+mn-ea"/>
                <a:cs typeface="+mn-cs"/>
              </a:defRPr>
            </a:lvl7pPr>
            <a:lvl8pPr marL="361950" indent="-176213" algn="l" defTabSz="914400" rtl="0" eaLnBrk="1" latinLnBrk="0" hangingPunct="1">
              <a:lnSpc>
                <a:spcPct val="100000"/>
              </a:lnSpc>
              <a:spcBef>
                <a:spcPts val="0"/>
              </a:spcBef>
              <a:spcAft>
                <a:spcPts val="600"/>
              </a:spcAft>
              <a:buFont typeface="Verdana" panose="020B0604030504040204" pitchFamily="34" charset="0"/>
              <a:buChar char="−"/>
              <a:tabLst/>
              <a:defRPr sz="1200" kern="1200" baseline="0">
                <a:solidFill>
                  <a:schemeClr val="tx1"/>
                </a:solidFill>
                <a:latin typeface="+mn-lt"/>
                <a:ea typeface="+mn-ea"/>
                <a:cs typeface="+mn-cs"/>
              </a:defRPr>
            </a:lvl8pPr>
            <a:lvl9pPr marL="361950" indent="-176213" algn="l" defTabSz="914400" rtl="0" eaLnBrk="1" latinLnBrk="0" hangingPunct="1">
              <a:lnSpc>
                <a:spcPct val="100000"/>
              </a:lnSpc>
              <a:spcBef>
                <a:spcPts val="0"/>
              </a:spcBef>
              <a:spcAft>
                <a:spcPts val="600"/>
              </a:spcAft>
              <a:buFont typeface="Verdana" panose="020B0604030504040204" pitchFamily="34" charset="0"/>
              <a:buChar char="−"/>
              <a:tabLst/>
              <a:defRPr sz="1200" kern="1200" baseline="0">
                <a:solidFill>
                  <a:schemeClr val="tx1"/>
                </a:solidFill>
                <a:latin typeface="+mn-lt"/>
                <a:ea typeface="+mn-ea"/>
                <a:cs typeface="+mn-cs"/>
              </a:defRPr>
            </a:lvl9pPr>
          </a:lstStyle>
          <a:p>
            <a:r>
              <a:rPr lang="en-US" sz="800" b="0">
                <a:solidFill>
                  <a:schemeClr val="bg1"/>
                </a:solidFill>
                <a:latin typeface="Aptos" panose="020B0004020202020204" pitchFamily="34" charset="0"/>
              </a:rPr>
              <a:t>Deloitte refers to one or more of Deloitte Touche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does not provide services to clients. Please see www.deloitte.com/de/UeberUns to learn more.</a:t>
            </a:r>
          </a:p>
          <a:p>
            <a:r>
              <a:rPr lang="en-US" sz="800" b="0">
                <a:solidFill>
                  <a:schemeClr val="bg1"/>
                </a:solidFill>
                <a:latin typeface="Aptos" panose="020B0004020202020204" pitchFamily="34" charset="0"/>
              </a:rPr>
              <a:t>Deloitte provides leading professional services to nearly 90% of the Fortune Global 500® and thousands of private companies. Legal advisory services in Germany are provided by Deloitte Legal. Our people deliver measurable and lasting results that help reinforce public trust in capital markets and enable clients to transform and thrive. Building on its 180+-year history, Deloitte spans more than 150 countries and territories. Learn how Deloitte’s over 470,000 people worldwide work together every day to make an impact that matters at www.deloitte.com/de. </a:t>
            </a:r>
          </a:p>
          <a:p>
            <a:r>
              <a:rPr lang="en-US" sz="800" b="0">
                <a:solidFill>
                  <a:schemeClr val="bg1"/>
                </a:solidFill>
                <a:latin typeface="Aptos" panose="020B0004020202020204" pitchFamily="34" charset="0"/>
              </a:rPr>
              <a:t>This proposal has been solely prepared for the internal use of the company/companies named in the proposal. Any disclosure to third parties – in whole or in part – is subject to our prior written consent.</a:t>
            </a:r>
          </a:p>
          <a:p>
            <a:r>
              <a:rPr lang="en-US" sz="800" b="0">
                <a:solidFill>
                  <a:schemeClr val="bg1"/>
                </a:solidFill>
                <a:latin typeface="Aptos" panose="020B0004020202020204" pitchFamily="34" charset="0"/>
              </a:rPr>
              <a:t>In the event of Deloitte being commissioned to provide IFRS 20 implementation support within the E.ON Group, the exact scope of our support services needs to be coordinated and defined, taking into account the future audit rotation.</a:t>
            </a:r>
            <a:endParaRPr lang="de-DE" sz="800" b="0">
              <a:solidFill>
                <a:schemeClr val="bg1"/>
              </a:solidFill>
              <a:latin typeface="Aptos" panose="020B0004020202020204" pitchFamily="34" charset="0"/>
            </a:endParaRPr>
          </a:p>
        </p:txBody>
      </p:sp>
    </p:spTree>
    <p:extLst>
      <p:ext uri="{BB962C8B-B14F-4D97-AF65-F5344CB8AC3E}">
        <p14:creationId xmlns:p14="http://schemas.microsoft.com/office/powerpoint/2010/main" val="3982189399"/>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Title Slide - White">
    <p:bg bwMode="gray">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997F63C-ED3F-AE66-8669-D85F2517B8AE}"/>
              </a:ext>
            </a:extLst>
          </p:cNvPr>
          <p:cNvGraphicFramePr>
            <a:graphicFrameLocks noChangeAspect="1"/>
          </p:cNvGraphicFramePr>
          <p:nvPr userDrawn="1">
            <p:custDataLst>
              <p:tags r:id="rId1"/>
            </p:custDataLst>
            <p:extLst>
              <p:ext uri="{D42A27DB-BD31-4B8C-83A1-F6EECF244321}">
                <p14:modId xmlns:p14="http://schemas.microsoft.com/office/powerpoint/2010/main" val="1894861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05" imgH="405" progId="TCLayout.ActiveDocument.1">
                  <p:embed/>
                </p:oleObj>
              </mc:Choice>
              <mc:Fallback>
                <p:oleObj name="think-cell Folie" r:id="rId3" imgW="405" imgH="405" progId="TCLayout.ActiveDocument.1">
                  <p:embed/>
                  <p:pic>
                    <p:nvPicPr>
                      <p:cNvPr id="4" name="think-cell data - do not delete" hidden="1">
                        <a:extLst>
                          <a:ext uri="{FF2B5EF4-FFF2-40B4-BE49-F238E27FC236}">
                            <a16:creationId xmlns:a16="http://schemas.microsoft.com/office/drawing/2014/main" id="{4997F63C-ED3F-AE66-8669-D85F2517B8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E9B5A663-392C-5BA7-EDD8-44ED0DFE27AC}"/>
              </a:ext>
            </a:extLst>
          </p:cNvPr>
          <p:cNvPicPr>
            <a:picLocks noChangeAspect="1"/>
          </p:cNvPicPr>
          <p:nvPr userDrawn="1"/>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43750"/>
          <a:stretch/>
        </p:blipFill>
        <p:spPr>
          <a:xfrm>
            <a:off x="0" y="0"/>
            <a:ext cx="12192000" cy="6858000"/>
          </a:xfrm>
          <a:prstGeom prst="rect">
            <a:avLst/>
          </a:prstGeom>
        </p:spPr>
      </p:pic>
      <p:sp>
        <p:nvSpPr>
          <p:cNvPr id="16" name="MIO_AGENDA_IGNORE_NAVIGATION" hidden="1">
            <a:extLst>
              <a:ext uri="{FF2B5EF4-FFF2-40B4-BE49-F238E27FC236}">
                <a16:creationId xmlns:a16="http://schemas.microsoft.com/office/drawing/2014/main" id="{D35CEE80-9913-49B6-AD2D-CD6015DCEA12}"/>
              </a:ext>
            </a:extLst>
          </p:cNvPr>
          <p:cNvSpPr/>
          <p:nvPr/>
        </p:nvSpPr>
        <p:spPr>
          <a:xfrm>
            <a:off x="1134480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sp>
        <p:nvSpPr>
          <p:cNvPr id="17" name="MIO_AGENDA_IGNORE_CHAPTER_REFERENCE" hidden="1">
            <a:extLst>
              <a:ext uri="{FF2B5EF4-FFF2-40B4-BE49-F238E27FC236}">
                <a16:creationId xmlns:a16="http://schemas.microsoft.com/office/drawing/2014/main" id="{6BB5887F-93D5-475B-917E-FCC7B89F3723}"/>
              </a:ext>
            </a:extLst>
          </p:cNvPr>
          <p:cNvSpPr/>
          <p:nvPr/>
        </p:nvSpPr>
        <p:spPr>
          <a:xfrm>
            <a:off x="1105395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sp>
        <p:nvSpPr>
          <p:cNvPr id="3" name="Rectangle 2">
            <a:extLst>
              <a:ext uri="{FF2B5EF4-FFF2-40B4-BE49-F238E27FC236}">
                <a16:creationId xmlns:a16="http://schemas.microsoft.com/office/drawing/2014/main" id="{6A457A48-14A8-029B-BF4F-EEC500CCCB1C}"/>
              </a:ext>
            </a:extLst>
          </p:cNvPr>
          <p:cNvSpPr>
            <a:spLocks/>
          </p:cNvSpPr>
          <p:nvPr userDrawn="1"/>
        </p:nvSpPr>
        <p:spPr bwMode="gray">
          <a:xfrm>
            <a:off x="0" y="0"/>
            <a:ext cx="12192000" cy="6858000"/>
          </a:xfrm>
          <a:prstGeom prst="rect">
            <a:avLst/>
          </a:prstGeom>
          <a:solidFill>
            <a:schemeClr val="bg1">
              <a:alpha val="32000"/>
            </a:schemeClr>
          </a:solidFill>
          <a:ln w="19050" algn="ctr">
            <a:noFill/>
            <a:miter lim="800000"/>
            <a:headEnd/>
            <a:tailEnd/>
          </a:ln>
        </p:spPr>
        <p:txBody>
          <a:bodyPr wrap="square" lIns="88900" tIns="88900" rIns="88900" bIns="88900" rtlCol="0" anchor="ctr"/>
          <a:lstStyle/>
          <a:p>
            <a:pPr algn="ctr" rtl="0">
              <a:lnSpc>
                <a:spcPct val="106000"/>
              </a:lnSpc>
              <a:buFont typeface="Wingdings 2" pitchFamily="18" charset="2"/>
              <a:buNone/>
            </a:pPr>
            <a:endParaRPr lang="en-US" sz="1600" b="1">
              <a:solidFill>
                <a:schemeClr val="bg1"/>
              </a:solidFill>
            </a:endParaRPr>
          </a:p>
        </p:txBody>
      </p:sp>
      <p:pic>
        <p:nvPicPr>
          <p:cNvPr id="19" name="Grafik 18">
            <a:extLst>
              <a:ext uri="{FF2B5EF4-FFF2-40B4-BE49-F238E27FC236}">
                <a16:creationId xmlns:a16="http://schemas.microsoft.com/office/drawing/2014/main" id="{010A447C-065D-4CFB-831F-3E79529AAB3A}"/>
              </a:ext>
            </a:extLst>
          </p:cNvPr>
          <p:cNvPicPr>
            <a:picLocks noChangeAspect="1"/>
          </p:cNvPicPr>
          <p:nvPr userDrawn="1"/>
        </p:nvPicPr>
        <p:blipFill>
          <a:blip r:embed="rId7" cstate="hqprint">
            <a:extLst>
              <a:ext uri="{28A0092B-C50C-407E-A947-70E740481C1C}">
                <a14:useLocalDpi xmlns:a14="http://schemas.microsoft.com/office/drawing/2010/main"/>
              </a:ext>
            </a:extLst>
          </a:blip>
          <a:stretch>
            <a:fillRect/>
          </a:stretch>
        </p:blipFill>
        <p:spPr>
          <a:xfrm>
            <a:off x="458636" y="342232"/>
            <a:ext cx="1818000" cy="339914"/>
          </a:xfrm>
          <a:prstGeom prst="rect">
            <a:avLst/>
          </a:prstGeom>
        </p:spPr>
      </p:pic>
    </p:spTree>
    <p:extLst>
      <p:ext uri="{BB962C8B-B14F-4D97-AF65-F5344CB8AC3E}">
        <p14:creationId xmlns:p14="http://schemas.microsoft.com/office/powerpoint/2010/main" val="2030477771"/>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Title Slide - White">
    <p:bg bwMode="gray">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997F63C-ED3F-AE66-8669-D85F2517B8AE}"/>
              </a:ext>
            </a:extLst>
          </p:cNvPr>
          <p:cNvGraphicFramePr>
            <a:graphicFrameLocks noChangeAspect="1"/>
          </p:cNvGraphicFramePr>
          <p:nvPr userDrawn="1">
            <p:custDataLst>
              <p:tags r:id="rId1"/>
            </p:custDataLst>
            <p:extLst>
              <p:ext uri="{D42A27DB-BD31-4B8C-83A1-F6EECF244321}">
                <p14:modId xmlns:p14="http://schemas.microsoft.com/office/powerpoint/2010/main" val="18357091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05" imgH="405" progId="TCLayout.ActiveDocument.1">
                  <p:embed/>
                </p:oleObj>
              </mc:Choice>
              <mc:Fallback>
                <p:oleObj name="think-cell Folie" r:id="rId3" imgW="405" imgH="405" progId="TCLayout.ActiveDocument.1">
                  <p:embed/>
                  <p:pic>
                    <p:nvPicPr>
                      <p:cNvPr id="4" name="think-cell data - do not delete" hidden="1">
                        <a:extLst>
                          <a:ext uri="{FF2B5EF4-FFF2-40B4-BE49-F238E27FC236}">
                            <a16:creationId xmlns:a16="http://schemas.microsoft.com/office/drawing/2014/main" id="{4997F63C-ED3F-AE66-8669-D85F2517B8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E9B5A663-392C-5BA7-EDD8-44ED0DFE27AC}"/>
              </a:ext>
            </a:extLst>
          </p:cNvPr>
          <p:cNvPicPr>
            <a:picLocks noChangeAspect="1"/>
          </p:cNvPicPr>
          <p:nvPr userDrawn="1"/>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2575" b="11175"/>
          <a:stretch/>
        </p:blipFill>
        <p:spPr>
          <a:xfrm>
            <a:off x="0" y="0"/>
            <a:ext cx="12192000" cy="6858000"/>
          </a:xfrm>
          <a:prstGeom prst="rect">
            <a:avLst/>
          </a:prstGeom>
        </p:spPr>
      </p:pic>
      <p:sp>
        <p:nvSpPr>
          <p:cNvPr id="16" name="MIO_AGENDA_IGNORE_NAVIGATION" hidden="1">
            <a:extLst>
              <a:ext uri="{FF2B5EF4-FFF2-40B4-BE49-F238E27FC236}">
                <a16:creationId xmlns:a16="http://schemas.microsoft.com/office/drawing/2014/main" id="{D35CEE80-9913-49B6-AD2D-CD6015DCEA12}"/>
              </a:ext>
            </a:extLst>
          </p:cNvPr>
          <p:cNvSpPr/>
          <p:nvPr/>
        </p:nvSpPr>
        <p:spPr>
          <a:xfrm>
            <a:off x="1134480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sp>
        <p:nvSpPr>
          <p:cNvPr id="17" name="MIO_AGENDA_IGNORE_CHAPTER_REFERENCE" hidden="1">
            <a:extLst>
              <a:ext uri="{FF2B5EF4-FFF2-40B4-BE49-F238E27FC236}">
                <a16:creationId xmlns:a16="http://schemas.microsoft.com/office/drawing/2014/main" id="{6BB5887F-93D5-475B-917E-FCC7B89F3723}"/>
              </a:ext>
            </a:extLst>
          </p:cNvPr>
          <p:cNvSpPr/>
          <p:nvPr/>
        </p:nvSpPr>
        <p:spPr>
          <a:xfrm>
            <a:off x="11053950" y="513625"/>
            <a:ext cx="194400" cy="194400"/>
          </a:xfrm>
          <a:prstGeom prst="noSmoking">
            <a:avLst/>
          </a:prstGeom>
          <a:solidFill>
            <a:srgbClr val="FF0000"/>
          </a:solidFill>
          <a:ln>
            <a:noFill/>
          </a:ln>
        </p:spPr>
        <p:style>
          <a:lnRef idx="3">
            <a:schemeClr val="lt1"/>
          </a:lnRef>
          <a:fillRef idx="1">
            <a:schemeClr val="accent1"/>
          </a:fillRef>
          <a:effectRef idx="2">
            <a:schemeClr val="accent1"/>
          </a:effectRef>
          <a:fontRef idx="minor">
            <a:schemeClr val="lt1"/>
          </a:fontRef>
        </p:style>
        <p:txBody>
          <a:bodyPr lIns="97200" tIns="97200" rIns="97200" bIns="97200" rtlCol="0" anchor="ctr"/>
          <a:lstStyle/>
          <a:p>
            <a:pPr algn="ctr" defTabSz="972000" rtl="0"/>
            <a:endParaRPr lang="en-US">
              <a:solidFill>
                <a:schemeClr val="tx1"/>
              </a:solidFill>
            </a:endParaRPr>
          </a:p>
        </p:txBody>
      </p:sp>
      <p:sp>
        <p:nvSpPr>
          <p:cNvPr id="3" name="Rectangle 2">
            <a:extLst>
              <a:ext uri="{FF2B5EF4-FFF2-40B4-BE49-F238E27FC236}">
                <a16:creationId xmlns:a16="http://schemas.microsoft.com/office/drawing/2014/main" id="{6A457A48-14A8-029B-BF4F-EEC500CCCB1C}"/>
              </a:ext>
            </a:extLst>
          </p:cNvPr>
          <p:cNvSpPr>
            <a:spLocks/>
          </p:cNvSpPr>
          <p:nvPr userDrawn="1"/>
        </p:nvSpPr>
        <p:spPr bwMode="gray">
          <a:xfrm>
            <a:off x="0" y="0"/>
            <a:ext cx="12192000" cy="6858000"/>
          </a:xfrm>
          <a:prstGeom prst="rect">
            <a:avLst/>
          </a:prstGeom>
          <a:solidFill>
            <a:schemeClr val="bg1">
              <a:alpha val="32000"/>
            </a:schemeClr>
          </a:solidFill>
          <a:ln w="19050" algn="ctr">
            <a:noFill/>
            <a:miter lim="800000"/>
            <a:headEnd/>
            <a:tailEnd/>
          </a:ln>
        </p:spPr>
        <p:txBody>
          <a:bodyPr wrap="square" lIns="88900" tIns="88900" rIns="88900" bIns="88900" rtlCol="0" anchor="ctr"/>
          <a:lstStyle/>
          <a:p>
            <a:pPr algn="ctr" rtl="0">
              <a:lnSpc>
                <a:spcPct val="106000"/>
              </a:lnSpc>
              <a:buFont typeface="Wingdings 2" pitchFamily="18" charset="2"/>
              <a:buNone/>
            </a:pPr>
            <a:endParaRPr lang="en-US" sz="1600" b="1">
              <a:solidFill>
                <a:schemeClr val="bg1"/>
              </a:solidFill>
            </a:endParaRPr>
          </a:p>
        </p:txBody>
      </p:sp>
      <p:pic>
        <p:nvPicPr>
          <p:cNvPr id="19" name="Grafik 18">
            <a:extLst>
              <a:ext uri="{FF2B5EF4-FFF2-40B4-BE49-F238E27FC236}">
                <a16:creationId xmlns:a16="http://schemas.microsoft.com/office/drawing/2014/main" id="{010A447C-065D-4CFB-831F-3E79529AAB3A}"/>
              </a:ext>
            </a:extLst>
          </p:cNvPr>
          <p:cNvPicPr>
            <a:picLocks noChangeAspect="1"/>
          </p:cNvPicPr>
          <p:nvPr userDrawn="1"/>
        </p:nvPicPr>
        <p:blipFill>
          <a:blip r:embed="rId7" cstate="hqprint">
            <a:extLst>
              <a:ext uri="{28A0092B-C50C-407E-A947-70E740481C1C}">
                <a14:useLocalDpi xmlns:a14="http://schemas.microsoft.com/office/drawing/2010/main"/>
              </a:ext>
            </a:extLst>
          </a:blip>
          <a:stretch>
            <a:fillRect/>
          </a:stretch>
        </p:blipFill>
        <p:spPr>
          <a:xfrm>
            <a:off x="458636" y="342232"/>
            <a:ext cx="1818000" cy="339914"/>
          </a:xfrm>
          <a:prstGeom prst="rect">
            <a:avLst/>
          </a:prstGeom>
        </p:spPr>
      </p:pic>
    </p:spTree>
    <p:extLst>
      <p:ext uri="{BB962C8B-B14F-4D97-AF65-F5344CB8AC3E}">
        <p14:creationId xmlns:p14="http://schemas.microsoft.com/office/powerpoint/2010/main" val="3681173234"/>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4_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p:cNvGraphicFramePr>
          <p:nvPr>
            <p:custDataLst>
              <p:tags r:id="rId1"/>
            </p:custDataLst>
            <p:extLst>
              <p:ext uri="{D42A27DB-BD31-4B8C-83A1-F6EECF244321}">
                <p14:modId xmlns:p14="http://schemas.microsoft.com/office/powerpoint/2010/main" val="2528699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5" imgH="425" progId="TCLayout.ActiveDocument.1">
                  <p:embed/>
                </p:oleObj>
              </mc:Choice>
              <mc:Fallback>
                <p:oleObj name="think-cell Slide" r:id="rId7"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0" name="Title 9" hidden="1">
            <a:extLst>
              <a:ext uri="{FF2B5EF4-FFF2-40B4-BE49-F238E27FC236}">
                <a16:creationId xmlns:a16="http://schemas.microsoft.com/office/drawing/2014/main" id="{FE2BF700-F4B6-7F36-9D6F-BEB7248B76B1}"/>
              </a:ext>
            </a:extLst>
          </p:cNvPr>
          <p:cNvSpPr>
            <a:spLocks noGrp="1"/>
          </p:cNvSpPr>
          <p:nvPr>
            <p:ph type="title" hasCustomPrompt="1"/>
            <p:custDataLst>
              <p:tags r:id="rId2"/>
            </p:custDataLst>
          </p:nvPr>
        </p:nvSpPr>
        <p:spPr/>
        <p:txBody>
          <a:bodyPr vert="horz" rIns="0"/>
          <a:lstStyle>
            <a:lvl1pPr rtl="0">
              <a:defRPr sz="2800"/>
            </a:lvl1pPr>
          </a:lstStyle>
          <a:p>
            <a:r>
              <a:rPr lang="en-GB"/>
              <a:t>Click to edit action title</a:t>
            </a:r>
            <a:br>
              <a:rPr lang="en-GB"/>
            </a:br>
            <a:r>
              <a:rPr lang="en-GB"/>
              <a:t>(max to lines)</a:t>
            </a:r>
          </a:p>
        </p:txBody>
      </p:sp>
      <p:sp>
        <p:nvSpPr>
          <p:cNvPr id="4" name="Text Placeholder 18" hidden="1">
            <a:extLst>
              <a:ext uri="{FF2B5EF4-FFF2-40B4-BE49-F238E27FC236}">
                <a16:creationId xmlns:a16="http://schemas.microsoft.com/office/drawing/2014/main" id="{A77A77B2-8BC4-98A8-4047-BF7BDA38CE43}"/>
              </a:ext>
            </a:extLst>
          </p:cNvPr>
          <p:cNvSpPr>
            <a:spLocks noGrp="1"/>
          </p:cNvSpPr>
          <p:nvPr>
            <p:ph idx="1" hasCustomPrompt="1"/>
            <p:custDataLst>
              <p:tags r:id="rId3"/>
            </p:custDataLst>
          </p:nvPr>
        </p:nvSpPr>
        <p:spPr>
          <a:xfrm>
            <a:off x="457200" y="1385316"/>
            <a:ext cx="11274552" cy="4680204"/>
          </a:xfrm>
          <a:prstGeom prst="rect">
            <a:avLst/>
          </a:prstGeom>
        </p:spPr>
        <p:txBody>
          <a:bodyPr vert="horz" lIns="0" tIns="0" rIns="0" bIns="0" rtlCol="0">
            <a:noAutofit/>
          </a:bodyPr>
          <a:lstStyle>
            <a:lvl1pPr rtl="0">
              <a:spcBef>
                <a:spcPts val="200"/>
              </a:spcBef>
              <a:spcAft>
                <a:spcPts val="200"/>
              </a:spcAft>
              <a:defRPr>
                <a:latin typeface="Aptos" panose="020B0004020202020204" pitchFamily="34" charset="0"/>
              </a:defRPr>
            </a:lvl1pPr>
            <a:lvl2pPr rtl="0">
              <a:spcBef>
                <a:spcPts val="200"/>
              </a:spcBef>
              <a:spcAft>
                <a:spcPts val="200"/>
              </a:spcAft>
              <a:defRPr>
                <a:latin typeface="Aptos" panose="020B0004020202020204" pitchFamily="34" charset="0"/>
              </a:defRPr>
            </a:lvl2pPr>
            <a:lvl3pPr marL="360000" rtl="0">
              <a:spcBef>
                <a:spcPts val="200"/>
              </a:spcBef>
              <a:spcAft>
                <a:spcPts val="200"/>
              </a:spcAft>
              <a:defRPr>
                <a:latin typeface="Aptos" panose="020B0004020202020204" pitchFamily="34" charset="0"/>
              </a:defRPr>
            </a:lvl3pPr>
            <a:lvl4pPr marL="540000" indent="-180000" rtl="0">
              <a:spcBef>
                <a:spcPts val="200"/>
              </a:spcBef>
              <a:spcAft>
                <a:spcPts val="200"/>
              </a:spcAft>
              <a:defRPr>
                <a:latin typeface="Aptos" panose="020B0004020202020204" pitchFamily="34" charset="0"/>
              </a:defRPr>
            </a:lvl4pPr>
            <a:lvl5pPr marL="720000" rtl="0">
              <a:spcBef>
                <a:spcPts val="200"/>
              </a:spcBef>
              <a:spcAft>
                <a:spcPts val="200"/>
              </a:spcAft>
              <a:defRPr>
                <a:latin typeface="Aptos" panose="020B0004020202020204" pitchFamily="34" charset="0"/>
              </a:defRPr>
            </a:lvl5pPr>
          </a:lstStyle>
          <a:p>
            <a:pPr lvl="0"/>
            <a:r>
              <a:rPr lang="en-GB" noProof="0"/>
              <a:t>Click to add 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9" name="Rectangle 18">
            <a:extLst>
              <a:ext uri="{FF2B5EF4-FFF2-40B4-BE49-F238E27FC236}">
                <a16:creationId xmlns:a16="http://schemas.microsoft.com/office/drawing/2014/main" id="{5EB34207-D67D-96F9-4B56-CC73A34301BB}"/>
              </a:ext>
            </a:extLst>
          </p:cNvPr>
          <p:cNvSpPr/>
          <p:nvPr userDrawn="1"/>
        </p:nvSpPr>
        <p:spPr bwMode="gray">
          <a:xfrm>
            <a:off x="10888980" y="6519672"/>
            <a:ext cx="842772" cy="138499"/>
          </a:xfrm>
          <a:prstGeom prst="rect">
            <a:avLst/>
          </a:prstGeom>
          <a:noFill/>
          <a:ln w="19050" algn="ctr">
            <a:noFill/>
            <a:miter lim="800000"/>
            <a:headEnd/>
            <a:tailEnd/>
          </a:ln>
        </p:spPr>
        <p:txBody>
          <a:bodyPr wrap="square" lIns="0" tIns="0" rIns="0" bIns="0" rtlCol="0" anchor="ctr"/>
          <a:lstStyle/>
          <a:p>
            <a:pPr algn="r" rtl="0">
              <a:lnSpc>
                <a:spcPct val="106000"/>
              </a:lnSpc>
              <a:buFont typeface="Wingdings 2" pitchFamily="18" charset="2"/>
              <a:buNone/>
            </a:pPr>
            <a:fld id="{6114698B-43CF-4CBF-A8FA-0EDE8F950CEF}" type="slidenum">
              <a:rPr lang="en-GB" sz="900" noProof="0" smtClean="0">
                <a:solidFill>
                  <a:schemeClr val="tx1">
                    <a:lumMod val="50000"/>
                    <a:lumOff val="50000"/>
                  </a:schemeClr>
                </a:solidFill>
              </a:rPr>
              <a:pPr algn="r" rtl="0">
                <a:lnSpc>
                  <a:spcPct val="106000"/>
                </a:lnSpc>
                <a:buFont typeface="Wingdings 2" pitchFamily="18" charset="2"/>
                <a:buNone/>
              </a:pPr>
              <a:t>‹#›</a:t>
            </a:fld>
            <a:endParaRPr lang="en-GB" sz="900" noProof="0">
              <a:solidFill>
                <a:schemeClr val="tx1">
                  <a:lumMod val="50000"/>
                  <a:lumOff val="50000"/>
                </a:schemeClr>
              </a:solidFill>
            </a:endParaRPr>
          </a:p>
        </p:txBody>
      </p:sp>
      <p:sp>
        <p:nvSpPr>
          <p:cNvPr id="21" name="Copyright" hidden="1">
            <a:extLst>
              <a:ext uri="{FF2B5EF4-FFF2-40B4-BE49-F238E27FC236}">
                <a16:creationId xmlns:a16="http://schemas.microsoft.com/office/drawing/2014/main" id="{184A4D32-5E54-A611-264F-55A8AD7999CB}"/>
              </a:ext>
            </a:extLst>
          </p:cNvPr>
          <p:cNvSpPr txBox="1"/>
          <p:nvPr userDrawn="1">
            <p:custDataLst>
              <p:tags r:id="rId4"/>
            </p:custDataLst>
          </p:nvPr>
        </p:nvSpPr>
        <p:spPr>
          <a:xfrm>
            <a:off x="457200" y="6519672"/>
            <a:ext cx="5355168" cy="138499"/>
          </a:xfrm>
          <a:prstGeom prst="rect">
            <a:avLst/>
          </a:prstGeom>
          <a:noFill/>
        </p:spPr>
        <p:txBody>
          <a:bodyPr wrap="square" lIns="0" tIns="0" rIns="0" bIns="0" rtlCol="0">
            <a:spAutoFit/>
          </a:bodyPr>
          <a:lstStyle/>
          <a:p>
            <a:pPr marL="0" indent="0" rtl="0">
              <a:spcBef>
                <a:spcPts val="450"/>
              </a:spcBef>
              <a:buSzPct val="100000"/>
              <a:buFont typeface="Arial"/>
              <a:buNone/>
            </a:pPr>
            <a:r>
              <a:rPr lang="en-GB" sz="900" noProof="0">
                <a:solidFill>
                  <a:schemeClr val="tx1">
                    <a:lumMod val="50000"/>
                    <a:lumOff val="50000"/>
                  </a:schemeClr>
                </a:solidFill>
                <a:latin typeface="Aptos" panose="020B0004020202020204" pitchFamily="34" charset="0"/>
                <a:cs typeface="Calibri" panose="020F0502020204030204" pitchFamily="34" charset="0"/>
              </a:rPr>
              <a:t>Deloitte 2026  |  Precious Metal Financing and Precious Metals Trading Health Check</a:t>
            </a:r>
          </a:p>
        </p:txBody>
      </p:sp>
      <p:sp>
        <p:nvSpPr>
          <p:cNvPr id="5" name="Content Placeholder 13" hidden="1">
            <a:extLst>
              <a:ext uri="{FF2B5EF4-FFF2-40B4-BE49-F238E27FC236}">
                <a16:creationId xmlns:a16="http://schemas.microsoft.com/office/drawing/2014/main" id="{19C7EE85-C05B-B265-2242-EA94FD14EDE0}"/>
              </a:ext>
            </a:extLst>
          </p:cNvPr>
          <p:cNvSpPr>
            <a:spLocks noGrp="1"/>
          </p:cNvSpPr>
          <p:nvPr>
            <p:ph sz="quarter" idx="15" hasCustomPrompt="1"/>
            <p:custDataLst>
              <p:tags r:id="rId5"/>
            </p:custDataLst>
          </p:nvPr>
        </p:nvSpPr>
        <p:spPr>
          <a:xfrm>
            <a:off x="457200" y="6307256"/>
            <a:ext cx="10523220" cy="137099"/>
          </a:xfrm>
        </p:spPr>
        <p:txBody>
          <a:bodyPr/>
          <a:lstStyle>
            <a:lvl1pPr rtl="0">
              <a:defRPr sz="900">
                <a:solidFill>
                  <a:schemeClr val="tx1">
                    <a:lumMod val="50000"/>
                    <a:lumOff val="50000"/>
                  </a:schemeClr>
                </a:solidFill>
              </a:defRPr>
            </a:lvl1pPr>
            <a:lvl2pPr>
              <a:defRPr sz="900"/>
            </a:lvl2pPr>
            <a:lvl3pPr>
              <a:defRPr sz="900"/>
            </a:lvl3pPr>
            <a:lvl4pPr>
              <a:defRPr sz="900"/>
            </a:lvl4pPr>
            <a:lvl5pPr>
              <a:defRPr sz="900"/>
            </a:lvl5pPr>
          </a:lstStyle>
          <a:p>
            <a:pPr lvl="0" defTabSz="914400">
              <a:spcBef>
                <a:spcPts val="450"/>
              </a:spcBef>
            </a:pPr>
            <a:r>
              <a:rPr lang="en-GB" sz="900" noProof="0">
                <a:solidFill>
                  <a:srgbClr val="75787B"/>
                </a:solidFill>
                <a:latin typeface="Aptos" panose="020B0004020202020204" pitchFamily="34" charset="0"/>
                <a:cs typeface="Calibri" panose="020F0502020204030204" pitchFamily="34" charset="0"/>
              </a:rPr>
              <a:t>1. Footnote  2. Footnote  3. …</a:t>
            </a:r>
          </a:p>
        </p:txBody>
      </p:sp>
      <p:sp>
        <p:nvSpPr>
          <p:cNvPr id="8" name="Copyright">
            <a:extLst>
              <a:ext uri="{FF2B5EF4-FFF2-40B4-BE49-F238E27FC236}">
                <a16:creationId xmlns:a16="http://schemas.microsoft.com/office/drawing/2014/main" id="{51E1CD18-2EF0-607E-86F7-E6B0D2579D46}"/>
              </a:ext>
            </a:extLst>
          </p:cNvPr>
          <p:cNvSpPr txBox="1"/>
          <p:nvPr userDrawn="1"/>
        </p:nvSpPr>
        <p:spPr>
          <a:xfrm>
            <a:off x="457200" y="6672072"/>
            <a:ext cx="5364693" cy="138499"/>
          </a:xfrm>
          <a:prstGeom prst="rect">
            <a:avLst/>
          </a:prstGeom>
          <a:noFill/>
        </p:spPr>
        <p:txBody>
          <a:bodyPr wrap="square" lIns="0" tIns="0" rIns="0" bIns="0" rtlCol="0">
            <a:spAutoFit/>
          </a:bodyPr>
          <a:lstStyle/>
          <a:p>
            <a:pPr marL="0" indent="0" rtl="0">
              <a:spcBef>
                <a:spcPts val="450"/>
              </a:spcBef>
              <a:buSzPct val="100000"/>
              <a:buFont typeface="Arial"/>
              <a:buNone/>
            </a:pPr>
            <a:r>
              <a:rPr lang="en-US" sz="900" noProof="0">
                <a:solidFill>
                  <a:schemeClr val="tx1">
                    <a:lumMod val="50000"/>
                    <a:lumOff val="50000"/>
                  </a:schemeClr>
                </a:solidFill>
                <a:latin typeface="Aptos" panose="020B0004020202020204" pitchFamily="34" charset="0"/>
                <a:cs typeface="Calibri" panose="020F0502020204030204" pitchFamily="34" charset="0"/>
              </a:rPr>
              <a:t>Deloitte 2026  | </a:t>
            </a:r>
            <a:r>
              <a:rPr lang="en-US" sz="900" noProof="0" err="1">
                <a:solidFill>
                  <a:schemeClr val="tx1">
                    <a:lumMod val="50000"/>
                    <a:lumOff val="50000"/>
                  </a:schemeClr>
                </a:solidFill>
                <a:latin typeface="Aptos" panose="020B0004020202020204" pitchFamily="34" charset="0"/>
                <a:cs typeface="Calibri" panose="020F0502020204030204" pitchFamily="34" charset="0"/>
              </a:rPr>
              <a:t>Axpo</a:t>
            </a:r>
            <a:r>
              <a:rPr lang="en-US" sz="900" noProof="0">
                <a:solidFill>
                  <a:schemeClr val="tx1">
                    <a:lumMod val="50000"/>
                    <a:lumOff val="50000"/>
                  </a:schemeClr>
                </a:solidFill>
                <a:latin typeface="Aptos" panose="020B0004020202020204" pitchFamily="34" charset="0"/>
                <a:cs typeface="Calibri" panose="020F0502020204030204" pitchFamily="34" charset="0"/>
              </a:rPr>
              <a:t> – Project ORBIT – Pitch Presentation – 21</a:t>
            </a:r>
            <a:r>
              <a:rPr lang="en-US" sz="900" baseline="30000" noProof="0">
                <a:solidFill>
                  <a:schemeClr val="tx1">
                    <a:lumMod val="50000"/>
                    <a:lumOff val="50000"/>
                  </a:schemeClr>
                </a:solidFill>
                <a:latin typeface="Aptos" panose="020B0004020202020204" pitchFamily="34" charset="0"/>
                <a:cs typeface="Calibri" panose="020F0502020204030204" pitchFamily="34" charset="0"/>
              </a:rPr>
              <a:t>st</a:t>
            </a:r>
            <a:r>
              <a:rPr lang="en-US" sz="900" noProof="0">
                <a:solidFill>
                  <a:schemeClr val="tx1">
                    <a:lumMod val="50000"/>
                    <a:lumOff val="50000"/>
                  </a:schemeClr>
                </a:solidFill>
                <a:latin typeface="Aptos" panose="020B0004020202020204" pitchFamily="34" charset="0"/>
                <a:cs typeface="Calibri" panose="020F0502020204030204" pitchFamily="34" charset="0"/>
              </a:rPr>
              <a:t> August 2026</a:t>
            </a:r>
          </a:p>
        </p:txBody>
      </p:sp>
    </p:spTree>
    <p:extLst>
      <p:ext uri="{BB962C8B-B14F-4D97-AF65-F5344CB8AC3E}">
        <p14:creationId xmlns:p14="http://schemas.microsoft.com/office/powerpoint/2010/main" val="362035544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ags" Target="../tags/tag1.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3F18DDE-1458-4C7E-BF19-81EAECF81611}"/>
              </a:ext>
            </a:extLst>
          </p:cNvPr>
          <p:cNvGraphicFramePr>
            <a:graphicFrameLocks noChangeAspect="1"/>
          </p:cNvGraphicFramePr>
          <p:nvPr userDrawn="1">
            <p:custDataLst>
              <p:tags r:id="rId16"/>
            </p:custDataLst>
            <p:extLst>
              <p:ext uri="{D42A27DB-BD31-4B8C-83A1-F6EECF244321}">
                <p14:modId xmlns:p14="http://schemas.microsoft.com/office/powerpoint/2010/main" val="630315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9" imgW="622" imgH="623" progId="TCLayout.ActiveDocument.1">
                  <p:embed/>
                </p:oleObj>
              </mc:Choice>
              <mc:Fallback>
                <p:oleObj name="think-cell Folie" r:id="rId19" imgW="622" imgH="623" progId="TCLayout.ActiveDocument.1">
                  <p:embed/>
                  <p:pic>
                    <p:nvPicPr>
                      <p:cNvPr id="7" name="Object 6" hidden="1">
                        <a:extLst>
                          <a:ext uri="{FF2B5EF4-FFF2-40B4-BE49-F238E27FC236}">
                            <a16:creationId xmlns:a16="http://schemas.microsoft.com/office/drawing/2014/main" id="{A3F18DDE-1458-4C7E-BF19-81EAECF81611}"/>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empower - DO NOT DELETE!!!">
            <a:extLst>
              <a:ext uri="{FF2B5EF4-FFF2-40B4-BE49-F238E27FC236}">
                <a16:creationId xmlns:a16="http://schemas.microsoft.com/office/drawing/2014/main" id="{AF3F685E-75BA-4AAC-8247-5B8C55DC34A1}"/>
              </a:ext>
            </a:extLst>
          </p:cNvPr>
          <p:cNvSpPr/>
          <p:nvPr>
            <p:custDataLst>
              <p:tags r:id="rId17"/>
            </p:custDataLst>
          </p:nvPr>
        </p:nvSpPr>
        <p:spPr bwMode="gray">
          <a:xfrm>
            <a:off x="0" y="0"/>
            <a:ext cx="0" cy="0"/>
          </a:xfrm>
          <a:prstGeom prst="ellipse">
            <a:avLst/>
          </a:prstGeom>
          <a:solidFill>
            <a:schemeClr val="accent3"/>
          </a:solidFill>
          <a:ln w="19050" algn="ctr">
            <a:noFill/>
            <a:miter lim="800000"/>
            <a:headEnd/>
            <a:tailEnd/>
          </a:ln>
        </p:spPr>
        <p:txBody>
          <a:bodyPr wrap="square" lIns="88900" tIns="88900" rIns="88900" bIns="88900" rtlCol="0" anchor="ctr"/>
          <a:lstStyle/>
          <a:p>
            <a:pPr lvl="0" algn="ctr" rtl="0">
              <a:lnSpc>
                <a:spcPct val="106000"/>
              </a:lnSpc>
              <a:buFont typeface="Wingdings 2" pitchFamily="18" charset="2"/>
              <a:buNone/>
            </a:pPr>
            <a:endParaRPr lang="en-US" sz="1600" b="1">
              <a:solidFill>
                <a:schemeClr val="bg1"/>
              </a:solidFill>
            </a:endParaRPr>
          </a:p>
        </p:txBody>
      </p:sp>
      <p:sp>
        <p:nvSpPr>
          <p:cNvPr id="4" name="empower - DO NOT DELETE!!!" hidden="1">
            <a:extLst>
              <a:ext uri="{FF2B5EF4-FFF2-40B4-BE49-F238E27FC236}">
                <a16:creationId xmlns:a16="http://schemas.microsoft.com/office/drawing/2014/main" id="{010D3BDB-9505-4DFA-9DF5-8ABBE694D4C1}"/>
              </a:ext>
            </a:extLst>
          </p:cNvPr>
          <p:cNvSpPr/>
          <p:nvPr>
            <p:custDataLst>
              <p:tags r:id="rId18"/>
            </p:custDataLst>
          </p:nvPr>
        </p:nvSpPr>
        <p:spPr bwMode="gray">
          <a:xfrm>
            <a:off x="0" y="0"/>
            <a:ext cx="0" cy="0"/>
          </a:xfrm>
          <a:prstGeom prst="ellipse">
            <a:avLst/>
          </a:prstGeom>
          <a:solidFill>
            <a:schemeClr val="accent3"/>
          </a:solidFill>
          <a:ln w="19050" algn="ctr">
            <a:noFill/>
            <a:miter lim="800000"/>
            <a:headEnd/>
            <a:tailEnd/>
          </a:ln>
        </p:spPr>
        <p:txBody>
          <a:bodyPr wrap="square" lIns="88900" tIns="88900" rIns="88900" bIns="88900" rtlCol="0" anchor="ctr"/>
          <a:lstStyle/>
          <a:p>
            <a:pPr lvl="0" algn="ctr" rtl="0">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141004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p:fade/>
  </p:transition>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267300" indent="0" algn="l" defTabSz="685800" rtl="0" eaLnBrk="1" latinLnBrk="0" hangingPunct="1">
        <a:spcBef>
          <a:spcPts val="0"/>
        </a:spcBef>
        <a:spcAft>
          <a:spcPts val="750"/>
        </a:spcAft>
        <a:buFont typeface="Verdana" panose="020B0604030504040204" pitchFamily="34" charset="0"/>
        <a:buNone/>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6">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5" pos="4960">
          <p15:clr>
            <a:srgbClr val="F26B43"/>
          </p15:clr>
        </p15:guide>
        <p15:guide id="76" pos="3744">
          <p15:clr>
            <a:srgbClr val="F26B43"/>
          </p15:clr>
        </p15:guide>
        <p15:guide id="77" pos="2720">
          <p15:clr>
            <a:srgbClr val="F26B43"/>
          </p15:clr>
        </p15:guide>
        <p15:guide id="78" pos="2528">
          <p15:clr>
            <a:srgbClr val="F26B43"/>
          </p15:clr>
        </p15:guide>
        <p15:guide id="79" pos="1312">
          <p15:clr>
            <a:srgbClr val="F26B43"/>
          </p15:clr>
        </p15:guide>
        <p15:guide id="80" pos="1504">
          <p15:clr>
            <a:srgbClr val="F26B43"/>
          </p15:clr>
        </p15:guide>
        <p15:guide id="81" pos="5152">
          <p15:clr>
            <a:srgbClr val="F26B43"/>
          </p15:clr>
        </p15:guide>
        <p15:guide id="82" pos="6176">
          <p15:clr>
            <a:srgbClr val="F26B43"/>
          </p15:clr>
        </p15:guide>
        <p15:guide id="83" pos="6368">
          <p15:clr>
            <a:srgbClr val="F26B43"/>
          </p15:clr>
        </p15:guide>
        <p15:guide id="84" pos="7392">
          <p15:clr>
            <a:srgbClr val="F26B43"/>
          </p15:clr>
        </p15:guide>
        <p15:guide id="85" orient="horz" pos="21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9.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23.xml"/><Relationship Id="rId7" Type="http://schemas.openxmlformats.org/officeDocument/2006/relationships/image" Target="../media/image3.emf"/><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oleObject" Target="../embeddings/oleObject11.bin"/><Relationship Id="rId5" Type="http://schemas.openxmlformats.org/officeDocument/2006/relationships/notesSlide" Target="../notesSlides/notesSlide4.xml"/><Relationship Id="rId4"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3.svg"/><Relationship Id="rId2" Type="http://schemas.openxmlformats.org/officeDocument/2006/relationships/slideLayout" Target="../slideLayouts/slideLayout4.xml"/><Relationship Id="rId1" Type="http://schemas.openxmlformats.org/officeDocument/2006/relationships/tags" Target="../tags/tag24.xml"/><Relationship Id="rId6" Type="http://schemas.openxmlformats.org/officeDocument/2006/relationships/image" Target="../media/image11.emf"/><Relationship Id="rId5" Type="http://schemas.openxmlformats.org/officeDocument/2006/relationships/oleObject" Target="../embeddings/oleObject12.bin"/><Relationship Id="rId4" Type="http://schemas.microsoft.com/office/2018/10/relationships/comments" Target="../comments/modernComment_10A_BE63696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25.xml"/><Relationship Id="rId6" Type="http://schemas.openxmlformats.org/officeDocument/2006/relationships/image" Target="../media/image11.emf"/><Relationship Id="rId5" Type="http://schemas.openxmlformats.org/officeDocument/2006/relationships/oleObject" Target="../embeddings/oleObject12.bin"/><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13" Type="http://schemas.openxmlformats.org/officeDocument/2006/relationships/tags" Target="../tags/tag38.xml"/><Relationship Id="rId18" Type="http://schemas.openxmlformats.org/officeDocument/2006/relationships/tags" Target="../tags/tag43.xml"/><Relationship Id="rId26" Type="http://schemas.openxmlformats.org/officeDocument/2006/relationships/tags" Target="../tags/tag51.xml"/><Relationship Id="rId39" Type="http://schemas.openxmlformats.org/officeDocument/2006/relationships/image" Target="../media/image11.emf"/><Relationship Id="rId21" Type="http://schemas.openxmlformats.org/officeDocument/2006/relationships/tags" Target="../tags/tag46.xml"/><Relationship Id="rId34" Type="http://schemas.openxmlformats.org/officeDocument/2006/relationships/tags" Target="../tags/tag59.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5" Type="http://schemas.openxmlformats.org/officeDocument/2006/relationships/tags" Target="../tags/tag50.xml"/><Relationship Id="rId33" Type="http://schemas.openxmlformats.org/officeDocument/2006/relationships/tags" Target="../tags/tag58.xml"/><Relationship Id="rId38" Type="http://schemas.openxmlformats.org/officeDocument/2006/relationships/oleObject" Target="../embeddings/oleObject12.bin"/><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tags" Target="../tags/tag45.xml"/><Relationship Id="rId29" Type="http://schemas.openxmlformats.org/officeDocument/2006/relationships/tags" Target="../tags/tag54.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24" Type="http://schemas.openxmlformats.org/officeDocument/2006/relationships/tags" Target="../tags/tag49.xml"/><Relationship Id="rId32" Type="http://schemas.openxmlformats.org/officeDocument/2006/relationships/tags" Target="../tags/tag57.xml"/><Relationship Id="rId37" Type="http://schemas.openxmlformats.org/officeDocument/2006/relationships/notesSlide" Target="../notesSlides/notesSlide7.xml"/><Relationship Id="rId5" Type="http://schemas.openxmlformats.org/officeDocument/2006/relationships/tags" Target="../tags/tag30.xml"/><Relationship Id="rId15" Type="http://schemas.openxmlformats.org/officeDocument/2006/relationships/tags" Target="../tags/tag40.xml"/><Relationship Id="rId23" Type="http://schemas.openxmlformats.org/officeDocument/2006/relationships/tags" Target="../tags/tag48.xml"/><Relationship Id="rId28" Type="http://schemas.openxmlformats.org/officeDocument/2006/relationships/tags" Target="../tags/tag53.xml"/><Relationship Id="rId36" Type="http://schemas.openxmlformats.org/officeDocument/2006/relationships/slideLayout" Target="../slideLayouts/slideLayout4.xml"/><Relationship Id="rId10" Type="http://schemas.openxmlformats.org/officeDocument/2006/relationships/tags" Target="../tags/tag35.xml"/><Relationship Id="rId19" Type="http://schemas.openxmlformats.org/officeDocument/2006/relationships/tags" Target="../tags/tag44.xml"/><Relationship Id="rId31" Type="http://schemas.openxmlformats.org/officeDocument/2006/relationships/tags" Target="../tags/tag56.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tags" Target="../tags/tag47.xml"/><Relationship Id="rId27" Type="http://schemas.openxmlformats.org/officeDocument/2006/relationships/tags" Target="../tags/tag52.xml"/><Relationship Id="rId30" Type="http://schemas.openxmlformats.org/officeDocument/2006/relationships/tags" Target="../tags/tag55.xml"/><Relationship Id="rId35" Type="http://schemas.openxmlformats.org/officeDocument/2006/relationships/tags" Target="../tags/tag60.xml"/><Relationship Id="rId8" Type="http://schemas.openxmlformats.org/officeDocument/2006/relationships/tags" Target="../tags/tag33.xml"/><Relationship Id="rId3" Type="http://schemas.openxmlformats.org/officeDocument/2006/relationships/tags" Target="../tags/tag28.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tags" Target="../tags/tag61.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tags" Target="../tags/tag62.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4.xml"/><Relationship Id="rId1" Type="http://schemas.openxmlformats.org/officeDocument/2006/relationships/tags" Target="../tags/tag63.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oleObject" Target="../embeddings/oleObject15.bin"/><Relationship Id="rId18" Type="http://schemas.openxmlformats.org/officeDocument/2006/relationships/image" Target="../media/image17.png"/><Relationship Id="rId3" Type="http://schemas.openxmlformats.org/officeDocument/2006/relationships/tags" Target="../tags/tag66.xml"/><Relationship Id="rId21" Type="http://schemas.openxmlformats.org/officeDocument/2006/relationships/image" Target="../media/image20.png"/><Relationship Id="rId7" Type="http://schemas.openxmlformats.org/officeDocument/2006/relationships/tags" Target="../tags/tag70.xml"/><Relationship Id="rId12" Type="http://schemas.openxmlformats.org/officeDocument/2006/relationships/image" Target="../media/image2.jpeg"/><Relationship Id="rId17" Type="http://schemas.openxmlformats.org/officeDocument/2006/relationships/image" Target="../media/image16.png"/><Relationship Id="rId2" Type="http://schemas.openxmlformats.org/officeDocument/2006/relationships/tags" Target="../tags/tag65.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slideLayout" Target="../slideLayouts/slideLayout4.xml"/><Relationship Id="rId5" Type="http://schemas.openxmlformats.org/officeDocument/2006/relationships/tags" Target="../tags/tag68.xml"/><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tags" Target="../tags/tag73.xml"/><Relationship Id="rId19" Type="http://schemas.openxmlformats.org/officeDocument/2006/relationships/image" Target="../media/image18.png"/><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image" Target="../media/image1.emf"/><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CAEEA-A2B0-0F24-F5B6-A573A9FC43B9}"/>
            </a:ext>
          </a:extLst>
        </p:cNvPr>
        <p:cNvGrpSpPr/>
        <p:nvPr/>
      </p:nvGrpSpPr>
      <p:grpSpPr>
        <a:xfrm>
          <a:off x="0" y="0"/>
          <a:ext cx="0" cy="0"/>
          <a:chOff x="0" y="0"/>
          <a:chExt cx="0" cy="0"/>
        </a:xfrm>
      </p:grpSpPr>
      <p:sp>
        <p:nvSpPr>
          <p:cNvPr id="9" name="Titel 3">
            <a:extLst>
              <a:ext uri="{FF2B5EF4-FFF2-40B4-BE49-F238E27FC236}">
                <a16:creationId xmlns:a16="http://schemas.microsoft.com/office/drawing/2014/main" id="{0ACB3470-D24F-0649-CD23-9CA90057CBE5}"/>
              </a:ext>
            </a:extLst>
          </p:cNvPr>
          <p:cNvSpPr txBox="1">
            <a:spLocks/>
          </p:cNvSpPr>
          <p:nvPr/>
        </p:nvSpPr>
        <p:spPr bwMode="gray">
          <a:xfrm>
            <a:off x="4896465" y="4619626"/>
            <a:ext cx="7295535" cy="1745588"/>
          </a:xfrm>
          <a:prstGeom prst="rect">
            <a:avLst/>
          </a:prstGeom>
          <a:gradFill flip="none" rotWithShape="1">
            <a:gsLst>
              <a:gs pos="24000">
                <a:srgbClr val="19624A">
                  <a:alpha val="65000"/>
                </a:srgbClr>
              </a:gs>
              <a:gs pos="91000">
                <a:srgbClr val="19624A">
                  <a:alpha val="0"/>
                </a:srgbClr>
              </a:gs>
            </a:gsLst>
            <a:lin ang="0" scaled="1"/>
            <a:tileRect/>
          </a:gradFill>
          <a:effectLst/>
        </p:spPr>
        <p:txBody>
          <a:bodyPr vert="horz" lIns="288000" tIns="648000" rIns="0" bIns="0" rtlCol="0" anchor="ctr" anchorCtr="0">
            <a:noAutofit/>
          </a:bodyPr>
          <a:lstStyle>
            <a:lvl1pPr algn="l" defTabSz="685800" rtl="0" eaLnBrk="1" latinLnBrk="0" hangingPunct="1">
              <a:lnSpc>
                <a:spcPts val="3200"/>
              </a:lnSpc>
              <a:spcBef>
                <a:spcPct val="0"/>
              </a:spcBef>
              <a:buNone/>
              <a:defRPr sz="3200" b="0" kern="120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pPr marL="0" marR="0" lvl="0" indent="0" algn="l" defTabSz="685800" rtl="0" eaLnBrk="1" fontAlgn="auto" latinLnBrk="0" hangingPunct="1">
              <a:lnSpc>
                <a:spcPts val="3200"/>
              </a:lnSpc>
              <a:spcBef>
                <a:spcPct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Calibri Light" panose="020F0302020204030204" pitchFamily="34" charset="0"/>
            </a:endParaRPr>
          </a:p>
        </p:txBody>
      </p:sp>
      <p:graphicFrame>
        <p:nvGraphicFramePr>
          <p:cNvPr id="6" name="Object 5" hidden="1">
            <a:extLst>
              <a:ext uri="{FF2B5EF4-FFF2-40B4-BE49-F238E27FC236}">
                <a16:creationId xmlns:a16="http://schemas.microsoft.com/office/drawing/2014/main" id="{527ED087-36AC-2449-093E-7F75AA1DAF2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16" imgH="416" progId="TCLayout.ActiveDocument.1">
                  <p:embed/>
                </p:oleObj>
              </mc:Choice>
              <mc:Fallback>
                <p:oleObj name="think-cell Folie" r:id="rId4" imgW="416" imgH="416" progId="TCLayout.ActiveDocument.1">
                  <p:embed/>
                  <p:pic>
                    <p:nvPicPr>
                      <p:cNvPr id="6" name="Object 5" hidden="1">
                        <a:extLst>
                          <a:ext uri="{FF2B5EF4-FFF2-40B4-BE49-F238E27FC236}">
                            <a16:creationId xmlns:a16="http://schemas.microsoft.com/office/drawing/2014/main" id="{527ED087-36AC-2449-093E-7F75AA1DAF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el 3">
            <a:extLst>
              <a:ext uri="{FF2B5EF4-FFF2-40B4-BE49-F238E27FC236}">
                <a16:creationId xmlns:a16="http://schemas.microsoft.com/office/drawing/2014/main" id="{488CF9E6-4B0B-EDA7-823F-AFD0BA065A24}"/>
              </a:ext>
            </a:extLst>
          </p:cNvPr>
          <p:cNvSpPr txBox="1">
            <a:spLocks/>
          </p:cNvSpPr>
          <p:nvPr/>
        </p:nvSpPr>
        <p:spPr bwMode="gray">
          <a:xfrm>
            <a:off x="-502921" y="4619626"/>
            <a:ext cx="6947264" cy="1745588"/>
          </a:xfrm>
          <a:prstGeom prst="parallelogram">
            <a:avLst/>
          </a:prstGeom>
          <a:solidFill>
            <a:srgbClr val="19624A"/>
          </a:solidFill>
          <a:effectLst>
            <a:outerShdw blurRad="63500" sx="102000" sy="102000" algn="ctr" rotWithShape="0">
              <a:prstClr val="black">
                <a:alpha val="40000"/>
              </a:prstClr>
            </a:outerShdw>
          </a:effectLst>
        </p:spPr>
        <p:txBody>
          <a:bodyPr vert="horz" lIns="180000" tIns="576000" rIns="0" bIns="0" rtlCol="0" anchor="ctr" anchorCtr="0">
            <a:noAutofit/>
          </a:bodyPr>
          <a:lstStyle>
            <a:lvl1pPr algn="l" defTabSz="685800" rtl="0" eaLnBrk="1" latinLnBrk="0" hangingPunct="1">
              <a:lnSpc>
                <a:spcPts val="3200"/>
              </a:lnSpc>
              <a:spcBef>
                <a:spcPct val="0"/>
              </a:spcBef>
              <a:buNone/>
              <a:defRPr sz="3200" b="0" kern="120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pPr marL="0" marR="0" lvl="0" indent="0" algn="l" defTabSz="685800" rtl="0" eaLnBrk="1" fontAlgn="auto" latinLnBrk="0" hangingPunct="1">
              <a:lnSpc>
                <a:spcPts val="3200"/>
              </a:lnSpc>
              <a:spcBef>
                <a:spcPct val="0"/>
              </a:spcBef>
              <a:spcAft>
                <a:spcPts val="0"/>
              </a:spcAft>
              <a:buClrTx/>
              <a:buSzTx/>
              <a:buFontTx/>
              <a:buNone/>
              <a:tabLst/>
              <a:defRPr/>
            </a:pPr>
            <a:br>
              <a:rPr kumimoji="0" lang="en-US" sz="3400" b="1" i="0" u="none" strike="noStrike" kern="1200" cap="none" spc="0" normalizeH="0" baseline="0" noProof="0">
                <a:ln>
                  <a:noFill/>
                </a:ln>
                <a:solidFill>
                  <a:srgbClr val="F21C0A"/>
                </a:solidFill>
                <a:effectLst/>
                <a:uLnTx/>
                <a:uFillTx/>
                <a:latin typeface="Aptos" panose="020B0004020202020204" pitchFamily="34" charset="0"/>
                <a:ea typeface="Open Sans" panose="020B0606030504020204" pitchFamily="34" charset="0"/>
                <a:cs typeface="Calibri Light" panose="020F0302020204030204" pitchFamily="34" charset="0"/>
              </a:rPr>
            </a:br>
            <a:r>
              <a:rPr kumimoji="0" lang="en-US" sz="3400" b="1" i="0" u="none" strike="noStrike" kern="1200" cap="none" spc="0" normalizeH="0" baseline="0" noProof="0">
                <a:ln>
                  <a:noFill/>
                </a:ln>
                <a:solidFill>
                  <a:prstClr val="white"/>
                </a:solidFill>
                <a:effectLst/>
                <a:uLnTx/>
                <a:uFillTx/>
                <a:latin typeface="Aptos"/>
                <a:ea typeface="Open Sans"/>
                <a:cs typeface="Calibri Light"/>
              </a:rPr>
              <a:t>EEM P&amp;L Reconciliation</a:t>
            </a:r>
            <a:br>
              <a:rPr kumimoji="0" lang="en-US" sz="3600" b="1" i="0" u="none" strike="noStrike" kern="1200" cap="none" spc="0" normalizeH="0" baseline="0" noProof="0">
                <a:ln>
                  <a:noFill/>
                </a:ln>
                <a:solidFill>
                  <a:srgbClr val="F21C0A"/>
                </a:solidFill>
                <a:effectLst/>
                <a:uLnTx/>
                <a:uFillTx/>
                <a:latin typeface="Aptos" panose="020B0004020202020204" pitchFamily="34" charset="0"/>
                <a:ea typeface="Open Sans" panose="020B0606030504020204" pitchFamily="34" charset="0"/>
                <a:cs typeface="Calibri Light" panose="020F0302020204030204" pitchFamily="34" charset="0"/>
              </a:rPr>
            </a:br>
            <a:r>
              <a:rPr kumimoji="0" lang="en-US" sz="1400" b="1" i="0" u="none" strike="noStrike" kern="1200" cap="none" spc="0" normalizeH="0" baseline="0" noProof="0">
                <a:ln>
                  <a:noFill/>
                </a:ln>
                <a:solidFill>
                  <a:prstClr val="white"/>
                </a:solidFill>
                <a:effectLst/>
                <a:uLnTx/>
                <a:uFillTx/>
                <a:latin typeface="Aptos"/>
                <a:ea typeface="Open Sans"/>
                <a:cs typeface="Calibri Light"/>
              </a:rPr>
              <a:t>D</a:t>
            </a:r>
            <a:r>
              <a:rPr kumimoji="0" lang="en-US" sz="1400" b="1" i="0" u="none" strike="noStrike" kern="1200" cap="none" spc="0" normalizeH="0" baseline="0" noProof="0" err="1">
                <a:ln>
                  <a:noFill/>
                </a:ln>
                <a:solidFill>
                  <a:prstClr val="white"/>
                </a:solidFill>
                <a:effectLst/>
                <a:uLnTx/>
                <a:uFillTx/>
                <a:latin typeface="Aptos"/>
                <a:ea typeface="Open Sans"/>
                <a:cs typeface="Calibri Light"/>
              </a:rPr>
              <a:t>eloitte</a:t>
            </a:r>
            <a:r>
              <a:rPr kumimoji="0" lang="en-US" sz="1400" b="1" i="0" u="none" strike="noStrike" kern="1200" cap="none" spc="0" normalizeH="0" baseline="0" noProof="0">
                <a:ln>
                  <a:noFill/>
                </a:ln>
                <a:solidFill>
                  <a:prstClr val="white"/>
                </a:solidFill>
                <a:effectLst/>
                <a:uLnTx/>
                <a:uFillTx/>
                <a:latin typeface="Aptos"/>
                <a:ea typeface="Open Sans"/>
                <a:cs typeface="Calibri Light"/>
              </a:rPr>
              <a:t> Proposal – September 2026</a:t>
            </a:r>
            <a:br>
              <a:rPr kumimoji="0" lang="en-US" sz="1400" b="1" i="0" u="none" strike="noStrike" kern="1200" cap="none" spc="0" normalizeH="0" baseline="0" noProof="0">
                <a:ln>
                  <a:noFill/>
                </a:ln>
                <a:solidFill>
                  <a:srgbClr val="F21C0A"/>
                </a:solidFill>
                <a:effectLst/>
                <a:uLnTx/>
                <a:uFillTx/>
                <a:latin typeface="Aptos" panose="020B0004020202020204" pitchFamily="34" charset="0"/>
                <a:ea typeface="Open Sans" panose="020B0606030504020204" pitchFamily="34" charset="0"/>
                <a:cs typeface="Calibri Light" panose="020F0302020204030204" pitchFamily="34" charset="0"/>
              </a:rPr>
            </a:br>
            <a:endParaRPr kumimoji="0" lang="en-US" sz="140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Calibri Light" panose="020F0302020204030204" pitchFamily="34" charset="0"/>
            </a:endParaRPr>
          </a:p>
        </p:txBody>
      </p:sp>
      <p:pic>
        <p:nvPicPr>
          <p:cNvPr id="12" name="Picture 2">
            <a:extLst>
              <a:ext uri="{FF2B5EF4-FFF2-40B4-BE49-F238E27FC236}">
                <a16:creationId xmlns:a16="http://schemas.microsoft.com/office/drawing/2014/main" id="{6A709153-37DC-6192-FBB3-65C7EC5BFE99}"/>
              </a:ext>
            </a:extLst>
          </p:cNvPr>
          <p:cNvPicPr>
            <a:picLocks noChangeAspect="1" noChangeArrowheads="1"/>
          </p:cNvPicPr>
          <p:nvPr/>
        </p:nvPicPr>
        <p:blipFill>
          <a:blip r:embed="rId6" cstate="screen">
            <a:biLevel thresh="25000"/>
            <a:extLst>
              <a:ext uri="{28A0092B-C50C-407E-A947-70E740481C1C}">
                <a14:useLocalDpi xmlns:a14="http://schemas.microsoft.com/office/drawing/2010/main"/>
              </a:ext>
            </a:extLst>
          </a:blip>
          <a:srcRect/>
          <a:stretch>
            <a:fillRect/>
          </a:stretch>
        </p:blipFill>
        <p:spPr bwMode="auto">
          <a:xfrm>
            <a:off x="4976435" y="4842100"/>
            <a:ext cx="1116752" cy="325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476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4A02EB-4FFB-4F51-AC9E-0BFB799A8C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Object 2" hidden="1">
                        <a:extLst>
                          <a:ext uri="{FF2B5EF4-FFF2-40B4-BE49-F238E27FC236}">
                            <a16:creationId xmlns:a16="http://schemas.microsoft.com/office/drawing/2014/main" id="{2E4A02EB-4FFB-4F51-AC9E-0BFB799A8C6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5" name="Tabelle 24">
            <a:extLst>
              <a:ext uri="{FF2B5EF4-FFF2-40B4-BE49-F238E27FC236}">
                <a16:creationId xmlns:a16="http://schemas.microsoft.com/office/drawing/2014/main" id="{DE92FCD7-C0DE-473E-A44A-7B535492BD7B}"/>
              </a:ext>
            </a:extLst>
          </p:cNvPr>
          <p:cNvGraphicFramePr>
            <a:graphicFrameLocks noGrp="1"/>
          </p:cNvGraphicFramePr>
          <p:nvPr/>
        </p:nvGraphicFramePr>
        <p:xfrm>
          <a:off x="1" y="1715287"/>
          <a:ext cx="7620000" cy="3110162"/>
        </p:xfrm>
        <a:graphic>
          <a:graphicData uri="http://schemas.openxmlformats.org/drawingml/2006/table">
            <a:tbl>
              <a:tblPr firstRow="1" bandRow="1">
                <a:tableStyleId>{5C22544A-7EE6-4342-B048-85BDC9FD1C3A}</a:tableStyleId>
              </a:tblPr>
              <a:tblGrid>
                <a:gridCol w="814990">
                  <a:extLst>
                    <a:ext uri="{9D8B030D-6E8A-4147-A177-3AD203B41FA5}">
                      <a16:colId xmlns:a16="http://schemas.microsoft.com/office/drawing/2014/main" val="2895975439"/>
                    </a:ext>
                  </a:extLst>
                </a:gridCol>
                <a:gridCol w="6805010">
                  <a:extLst>
                    <a:ext uri="{9D8B030D-6E8A-4147-A177-3AD203B41FA5}">
                      <a16:colId xmlns:a16="http://schemas.microsoft.com/office/drawing/2014/main" val="4149204398"/>
                    </a:ext>
                  </a:extLst>
                </a:gridCol>
              </a:tblGrid>
              <a:tr h="565484">
                <a:tc>
                  <a:txBody>
                    <a:bodyPr/>
                    <a:lstStyle/>
                    <a:p>
                      <a:pPr algn="r"/>
                      <a:r>
                        <a:rPr lang="de-DE" sz="2800">
                          <a:solidFill>
                            <a:srgbClr val="009A44"/>
                          </a:solidFill>
                        </a:rPr>
                        <a:t>01.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de-DE" sz="2800">
                          <a:solidFill>
                            <a:srgbClr val="009A44"/>
                          </a:solidFill>
                        </a:rPr>
                        <a:t>Executive Summary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215911"/>
                  </a:ext>
                </a:extLst>
              </a:tr>
              <a:tr h="424113">
                <a:tc>
                  <a:txBody>
                    <a:bodyPr/>
                    <a:lstStyle/>
                    <a:p>
                      <a:pPr algn="r"/>
                      <a:r>
                        <a:rPr lang="de-DE" sz="1400">
                          <a:solidFill>
                            <a:schemeClr val="tx1"/>
                          </a:solidFill>
                        </a:rPr>
                        <a:t>02.</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Solution Approach</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4656217"/>
                  </a:ext>
                </a:extLst>
              </a:tr>
              <a:tr h="424113">
                <a:tc>
                  <a:txBody>
                    <a:bodyPr/>
                    <a:lstStyle/>
                    <a:p>
                      <a:pPr algn="r"/>
                      <a:r>
                        <a:rPr lang="de-DE" sz="1400">
                          <a:solidFill>
                            <a:schemeClr val="tx1"/>
                          </a:solidFill>
                        </a:rPr>
                        <a:t>03.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Project Setup</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8862395"/>
                  </a:ext>
                </a:extLst>
              </a:tr>
              <a:tr h="424113">
                <a:tc>
                  <a:txBody>
                    <a:bodyPr/>
                    <a:lstStyle/>
                    <a:p>
                      <a:pPr algn="r"/>
                      <a:r>
                        <a:rPr lang="de-DE" sz="1400">
                          <a:solidFill>
                            <a:schemeClr val="tx1"/>
                          </a:solidFill>
                        </a:rPr>
                        <a:t>04.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err="1">
                          <a:solidFill>
                            <a:schemeClr val="tx1"/>
                          </a:solidFill>
                        </a:rPr>
                        <a:t>Expected</a:t>
                      </a:r>
                      <a:r>
                        <a:rPr lang="de-DE" sz="1400">
                          <a:solidFill>
                            <a:schemeClr val="tx1"/>
                          </a:solidFill>
                        </a:rPr>
                        <a:t> Challenges and </a:t>
                      </a:r>
                      <a:r>
                        <a:rPr lang="de-DE" sz="1400" err="1">
                          <a:solidFill>
                            <a:schemeClr val="tx1"/>
                          </a:solidFill>
                        </a:rPr>
                        <a:t>Risks</a:t>
                      </a:r>
                      <a:endParaRPr lang="de-DE" sz="140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01333035"/>
                  </a:ext>
                </a:extLst>
              </a:tr>
              <a:tr h="424113">
                <a:tc>
                  <a:txBody>
                    <a:bodyPr/>
                    <a:lstStyle/>
                    <a:p>
                      <a:pPr algn="r"/>
                      <a:r>
                        <a:rPr lang="de-DE" sz="1400">
                          <a:solidFill>
                            <a:schemeClr val="tx1"/>
                          </a:solidFill>
                        </a:rPr>
                        <a:t>05.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Deloitte References &amp; Case </a:t>
                      </a:r>
                      <a:r>
                        <a:rPr lang="de-DE" sz="1400" err="1">
                          <a:solidFill>
                            <a:schemeClr val="tx1"/>
                          </a:solidFill>
                        </a:rPr>
                        <a:t>Examples</a:t>
                      </a:r>
                      <a:endParaRPr lang="de-DE" sz="140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52415278"/>
                  </a:ext>
                </a:extLst>
              </a:tr>
              <a:tr h="424113">
                <a:tc>
                  <a:txBody>
                    <a:bodyPr/>
                    <a:lstStyle/>
                    <a:p>
                      <a:pPr algn="r"/>
                      <a:r>
                        <a:rPr lang="de-DE" sz="1400">
                          <a:solidFill>
                            <a:schemeClr val="tx1"/>
                          </a:solidFill>
                        </a:rPr>
                        <a:t>06.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Commercials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90009748"/>
                  </a:ext>
                </a:extLst>
              </a:tr>
              <a:tr h="424113">
                <a:tc>
                  <a:txBody>
                    <a:bodyPr/>
                    <a:lstStyle/>
                    <a:p>
                      <a:pPr algn="r"/>
                      <a:r>
                        <a:rPr lang="de-DE" sz="1400">
                          <a:solidFill>
                            <a:schemeClr val="tx1"/>
                          </a:solidFill>
                        </a:rPr>
                        <a:t>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Appendix: CVs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8492782"/>
                  </a:ext>
                </a:extLst>
              </a:tr>
            </a:tbl>
          </a:graphicData>
        </a:graphic>
      </p:graphicFrame>
    </p:spTree>
    <p:extLst>
      <p:ext uri="{BB962C8B-B14F-4D97-AF65-F5344CB8AC3E}">
        <p14:creationId xmlns:p14="http://schemas.microsoft.com/office/powerpoint/2010/main" val="196489281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32B21-39D2-9A64-191B-035C3845C507}"/>
            </a:ext>
          </a:extLst>
        </p:cNvPr>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44A8213-96CC-1013-42D1-98902B2EEA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Object 2" hidden="1">
                        <a:extLst>
                          <a:ext uri="{FF2B5EF4-FFF2-40B4-BE49-F238E27FC236}">
                            <a16:creationId xmlns:a16="http://schemas.microsoft.com/office/drawing/2014/main" id="{744A8213-96CC-1013-42D1-98902B2EEA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elle 24">
            <a:extLst>
              <a:ext uri="{FF2B5EF4-FFF2-40B4-BE49-F238E27FC236}">
                <a16:creationId xmlns:a16="http://schemas.microsoft.com/office/drawing/2014/main" id="{8BB092AC-B133-B1D1-EEE1-A3C08BFAB999}"/>
              </a:ext>
            </a:extLst>
          </p:cNvPr>
          <p:cNvGraphicFramePr>
            <a:graphicFrameLocks noGrp="1"/>
          </p:cNvGraphicFramePr>
          <p:nvPr/>
        </p:nvGraphicFramePr>
        <p:xfrm>
          <a:off x="1" y="1715287"/>
          <a:ext cx="7620000" cy="3110160"/>
        </p:xfrm>
        <a:graphic>
          <a:graphicData uri="http://schemas.openxmlformats.org/drawingml/2006/table">
            <a:tbl>
              <a:tblPr firstRow="1" bandRow="1">
                <a:tableStyleId>{5C22544A-7EE6-4342-B048-85BDC9FD1C3A}</a:tableStyleId>
              </a:tblPr>
              <a:tblGrid>
                <a:gridCol w="814990">
                  <a:extLst>
                    <a:ext uri="{9D8B030D-6E8A-4147-A177-3AD203B41FA5}">
                      <a16:colId xmlns:a16="http://schemas.microsoft.com/office/drawing/2014/main" val="2895975439"/>
                    </a:ext>
                  </a:extLst>
                </a:gridCol>
                <a:gridCol w="6805010">
                  <a:extLst>
                    <a:ext uri="{9D8B030D-6E8A-4147-A177-3AD203B41FA5}">
                      <a16:colId xmlns:a16="http://schemas.microsoft.com/office/drawing/2014/main" val="4149204398"/>
                    </a:ext>
                  </a:extLst>
                </a:gridCol>
              </a:tblGrid>
              <a:tr h="432000">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mn-lt"/>
                          <a:ea typeface="+mn-ea"/>
                          <a:cs typeface="+mn-cs"/>
                        </a:rPr>
                        <a:t>01.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mn-lt"/>
                          <a:ea typeface="+mn-ea"/>
                          <a:cs typeface="+mn-cs"/>
                        </a:rPr>
                        <a:t>Executive Summary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215911"/>
                  </a:ext>
                </a:extLst>
              </a:tr>
              <a:tr h="518160">
                <a:tc>
                  <a:txBody>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de-DE" sz="2800" b="1" i="0" u="none" strike="noStrike" kern="1200" cap="none" spc="0" normalizeH="0" baseline="0" noProof="0">
                          <a:ln>
                            <a:noFill/>
                          </a:ln>
                          <a:solidFill>
                            <a:srgbClr val="009A44"/>
                          </a:solidFill>
                          <a:effectLst/>
                          <a:uLnTx/>
                          <a:uFillTx/>
                          <a:latin typeface="+mn-lt"/>
                          <a:ea typeface="+mn-ea"/>
                          <a:cs typeface="+mn-cs"/>
                        </a:rPr>
                        <a:t>02.</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de-DE" sz="2800" b="1" i="0" u="none" strike="noStrike" kern="1200" cap="none" spc="0" normalizeH="0" baseline="0" noProof="0">
                          <a:ln>
                            <a:noFill/>
                          </a:ln>
                          <a:solidFill>
                            <a:srgbClr val="009A44"/>
                          </a:solidFill>
                          <a:effectLst/>
                          <a:uLnTx/>
                          <a:uFillTx/>
                          <a:latin typeface="+mn-lt"/>
                          <a:ea typeface="+mn-ea"/>
                          <a:cs typeface="+mn-cs"/>
                        </a:rPr>
                        <a:t>Solution Approach</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4656217"/>
                  </a:ext>
                </a:extLst>
              </a:tr>
              <a:tr h="432000">
                <a:tc>
                  <a:txBody>
                    <a:bodyPr/>
                    <a:lstStyle/>
                    <a:p>
                      <a:pPr algn="r"/>
                      <a:r>
                        <a:rPr lang="de-DE" sz="1400">
                          <a:solidFill>
                            <a:schemeClr val="tx1"/>
                          </a:solidFill>
                        </a:rPr>
                        <a:t>03.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Project Setup</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8862395"/>
                  </a:ext>
                </a:extLst>
              </a:tr>
              <a:tr h="432000">
                <a:tc>
                  <a:txBody>
                    <a:bodyPr/>
                    <a:lstStyle/>
                    <a:p>
                      <a:pPr algn="r"/>
                      <a:r>
                        <a:rPr lang="de-DE" sz="1400">
                          <a:solidFill>
                            <a:schemeClr val="tx1"/>
                          </a:solidFill>
                        </a:rPr>
                        <a:t>04.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err="1">
                          <a:solidFill>
                            <a:schemeClr val="tx1"/>
                          </a:solidFill>
                        </a:rPr>
                        <a:t>Expected</a:t>
                      </a:r>
                      <a:r>
                        <a:rPr lang="de-DE" sz="1400">
                          <a:solidFill>
                            <a:schemeClr val="tx1"/>
                          </a:solidFill>
                        </a:rPr>
                        <a:t> Challenges and </a:t>
                      </a:r>
                      <a:r>
                        <a:rPr lang="de-DE" sz="1400" err="1">
                          <a:solidFill>
                            <a:schemeClr val="tx1"/>
                          </a:solidFill>
                        </a:rPr>
                        <a:t>Risks</a:t>
                      </a:r>
                      <a:endParaRPr lang="de-DE" sz="140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01333035"/>
                  </a:ext>
                </a:extLst>
              </a:tr>
              <a:tr h="432000">
                <a:tc>
                  <a:txBody>
                    <a:bodyPr/>
                    <a:lstStyle/>
                    <a:p>
                      <a:pPr algn="r"/>
                      <a:r>
                        <a:rPr lang="de-DE" sz="1400">
                          <a:solidFill>
                            <a:schemeClr val="tx1"/>
                          </a:solidFill>
                        </a:rPr>
                        <a:t>05.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Deloitte References &amp; Case </a:t>
                      </a:r>
                      <a:r>
                        <a:rPr lang="de-DE" sz="1400" err="1">
                          <a:solidFill>
                            <a:schemeClr val="tx1"/>
                          </a:solidFill>
                        </a:rPr>
                        <a:t>Examples</a:t>
                      </a:r>
                      <a:endParaRPr lang="de-DE" sz="140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52415278"/>
                  </a:ext>
                </a:extLst>
              </a:tr>
              <a:tr h="432000">
                <a:tc>
                  <a:txBody>
                    <a:bodyPr/>
                    <a:lstStyle/>
                    <a:p>
                      <a:pPr algn="r"/>
                      <a:r>
                        <a:rPr lang="de-DE" sz="1400">
                          <a:solidFill>
                            <a:schemeClr val="tx1"/>
                          </a:solidFill>
                        </a:rPr>
                        <a:t>06.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Commercials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90009748"/>
                  </a:ext>
                </a:extLst>
              </a:tr>
              <a:tr h="432000">
                <a:tc>
                  <a:txBody>
                    <a:bodyPr/>
                    <a:lstStyle/>
                    <a:p>
                      <a:pPr algn="r"/>
                      <a:r>
                        <a:rPr lang="de-DE" sz="1400">
                          <a:solidFill>
                            <a:schemeClr val="tx1"/>
                          </a:solidFill>
                        </a:rPr>
                        <a:t>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de-DE" sz="1400">
                          <a:solidFill>
                            <a:schemeClr val="tx1"/>
                          </a:solidFill>
                        </a:rPr>
                        <a:t>Appendix: CVs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8492782"/>
                  </a:ext>
                </a:extLst>
              </a:tr>
            </a:tbl>
          </a:graphicData>
        </a:graphic>
      </p:graphicFrame>
    </p:spTree>
    <p:extLst>
      <p:ext uri="{BB962C8B-B14F-4D97-AF65-F5344CB8AC3E}">
        <p14:creationId xmlns:p14="http://schemas.microsoft.com/office/powerpoint/2010/main" val="62881015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F9148-EBA5-EBDB-0BAF-098FE7B8A20C}"/>
            </a:ext>
          </a:extLst>
        </p:cNvPr>
        <p:cNvGrpSpPr/>
        <p:nvPr/>
      </p:nvGrpSpPr>
      <p:grpSpPr>
        <a:xfrm>
          <a:off x="0" y="0"/>
          <a:ext cx="0" cy="0"/>
          <a:chOff x="0" y="0"/>
          <a:chExt cx="0" cy="0"/>
        </a:xfrm>
      </p:grpSpPr>
      <p:sp>
        <p:nvSpPr>
          <p:cNvPr id="193" name="Rechteck 192">
            <a:extLst>
              <a:ext uri="{FF2B5EF4-FFF2-40B4-BE49-F238E27FC236}">
                <a16:creationId xmlns:a16="http://schemas.microsoft.com/office/drawing/2014/main" id="{06150519-D048-CBEF-4B4C-11E2321498B2}"/>
              </a:ext>
            </a:extLst>
          </p:cNvPr>
          <p:cNvSpPr/>
          <p:nvPr/>
        </p:nvSpPr>
        <p:spPr bwMode="gray">
          <a:xfrm>
            <a:off x="0" y="1473062"/>
            <a:ext cx="12192000" cy="4120312"/>
          </a:xfrm>
          <a:prstGeom prst="rect">
            <a:avLst/>
          </a:prstGeom>
          <a:gradFill>
            <a:gsLst>
              <a:gs pos="0">
                <a:schemeClr val="bg1"/>
              </a:gs>
              <a:gs pos="50000">
                <a:srgbClr val="19624A">
                  <a:alpha val="15000"/>
                </a:srgbClr>
              </a:gs>
              <a:gs pos="100000">
                <a:schemeClr val="bg1"/>
              </a:gs>
            </a:gsLst>
            <a:lin ang="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6" name="Rechteck 195">
            <a:extLst>
              <a:ext uri="{FF2B5EF4-FFF2-40B4-BE49-F238E27FC236}">
                <a16:creationId xmlns:a16="http://schemas.microsoft.com/office/drawing/2014/main" id="{1741D6D2-2FDE-8F9A-81FE-603DA261CB6A}"/>
              </a:ext>
            </a:extLst>
          </p:cNvPr>
          <p:cNvSpPr/>
          <p:nvPr/>
        </p:nvSpPr>
        <p:spPr bwMode="gray">
          <a:xfrm flipH="1">
            <a:off x="6988735" y="1578620"/>
            <a:ext cx="4860000" cy="3679318"/>
          </a:xfrm>
          <a:prstGeom prst="rect">
            <a:avLst/>
          </a:prstGeom>
          <a:gradFill flip="none" rotWithShape="1">
            <a:gsLst>
              <a:gs pos="0">
                <a:schemeClr val="bg1"/>
              </a:gs>
              <a:gs pos="100000">
                <a:schemeClr val="bg1">
                  <a:alpha val="0"/>
                </a:schemeClr>
              </a:gs>
            </a:gsLst>
            <a:lin ang="0" scaled="1"/>
            <a:tileRect/>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195" name="Rechteck 194">
            <a:extLst>
              <a:ext uri="{FF2B5EF4-FFF2-40B4-BE49-F238E27FC236}">
                <a16:creationId xmlns:a16="http://schemas.microsoft.com/office/drawing/2014/main" id="{02465E00-81EF-9B65-E99F-C9CF01A7E130}"/>
              </a:ext>
            </a:extLst>
          </p:cNvPr>
          <p:cNvSpPr/>
          <p:nvPr/>
        </p:nvSpPr>
        <p:spPr bwMode="gray">
          <a:xfrm>
            <a:off x="350552" y="1578620"/>
            <a:ext cx="4860651" cy="3679318"/>
          </a:xfrm>
          <a:prstGeom prst="rect">
            <a:avLst/>
          </a:prstGeom>
          <a:gradFill flip="none" rotWithShape="1">
            <a:gsLst>
              <a:gs pos="0">
                <a:schemeClr val="bg1"/>
              </a:gs>
              <a:gs pos="100000">
                <a:schemeClr val="bg1">
                  <a:alpha val="0"/>
                </a:schemeClr>
              </a:gs>
            </a:gsLst>
            <a:lin ang="0" scaled="1"/>
            <a:tileRect/>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aphicFrame>
        <p:nvGraphicFramePr>
          <p:cNvPr id="104" name="think-cell data - do not delete" hidden="1">
            <a:extLst>
              <a:ext uri="{FF2B5EF4-FFF2-40B4-BE49-F238E27FC236}">
                <a16:creationId xmlns:a16="http://schemas.microsoft.com/office/drawing/2014/main" id="{C54DAB4C-36CE-D1EF-7F89-66DE85D1E61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86" imgH="486" progId="TCLayout.ActiveDocument.1">
                  <p:embed/>
                </p:oleObj>
              </mc:Choice>
              <mc:Fallback>
                <p:oleObj name="think-cell Slide" r:id="rId6" imgW="486" imgH="486" progId="TCLayout.ActiveDocument.1">
                  <p:embed/>
                  <p:pic>
                    <p:nvPicPr>
                      <p:cNvPr id="104" name="think-cell data - do not delete" hidden="1">
                        <a:extLst>
                          <a:ext uri="{FF2B5EF4-FFF2-40B4-BE49-F238E27FC236}">
                            <a16:creationId xmlns:a16="http://schemas.microsoft.com/office/drawing/2014/main" id="{C54DAB4C-36CE-D1EF-7F89-66DE85D1E6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47CE3EEE-5849-4501-8387-C9BEE36E5A04}"/>
              </a:ext>
            </a:extLst>
          </p:cNvPr>
          <p:cNvSpPr/>
          <p:nvPr/>
        </p:nvSpPr>
        <p:spPr bwMode="gray">
          <a:xfrm>
            <a:off x="469901" y="1505862"/>
            <a:ext cx="3468094" cy="252000"/>
          </a:xfrm>
          <a:prstGeom prst="rect">
            <a:avLst/>
          </a:prstGeom>
          <a:noFill/>
          <a:ln w="19050" algn="ctr">
            <a:noFill/>
            <a:miter lim="800000"/>
            <a:headEnd/>
            <a:tailEnd/>
          </a:ln>
        </p:spPr>
        <p:txBody>
          <a:bodyPr wrap="square" lIns="0" tIns="0" rIns="0" bIns="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500" b="1" i="0" u="none" strike="noStrike" kern="1200" cap="all" spc="200" normalizeH="0" baseline="0" noProof="0">
                <a:ln>
                  <a:noFill/>
                </a:ln>
                <a:solidFill>
                  <a:srgbClr val="009A44"/>
                </a:solidFill>
                <a:effectLst/>
                <a:uLnTx/>
                <a:uFillTx/>
                <a:latin typeface="Aptos" panose="02110004020202020204"/>
                <a:ea typeface="+mn-ea"/>
                <a:cs typeface="+mn-cs"/>
                <a:sym typeface="Aptos" panose="020B0004020202020204" pitchFamily="34" charset="0"/>
              </a:rPr>
              <a:t>Initial Situation</a:t>
            </a:r>
          </a:p>
        </p:txBody>
      </p:sp>
      <p:sp>
        <p:nvSpPr>
          <p:cNvPr id="7" name="Rectangle 6">
            <a:extLst>
              <a:ext uri="{FF2B5EF4-FFF2-40B4-BE49-F238E27FC236}">
                <a16:creationId xmlns:a16="http://schemas.microsoft.com/office/drawing/2014/main" id="{FE1C386E-B475-5BA6-E288-FFC248219DAD}"/>
              </a:ext>
            </a:extLst>
          </p:cNvPr>
          <p:cNvSpPr/>
          <p:nvPr/>
        </p:nvSpPr>
        <p:spPr bwMode="gray">
          <a:xfrm>
            <a:off x="7642459" y="1505862"/>
            <a:ext cx="3243766" cy="252000"/>
          </a:xfrm>
          <a:prstGeom prst="rect">
            <a:avLst/>
          </a:prstGeom>
          <a:noFill/>
          <a:ln w="19050" algn="ctr">
            <a:noFill/>
            <a:miter lim="800000"/>
            <a:headEnd/>
            <a:tailEnd/>
          </a:ln>
        </p:spPr>
        <p:txBody>
          <a:bodyPr wrap="square" lIns="0" tIns="0" rIns="0" bIns="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500" b="1" i="0" u="none" strike="noStrike" kern="1200" cap="all" spc="200" normalizeH="0" baseline="0" noProof="0">
                <a:ln>
                  <a:noFill/>
                </a:ln>
                <a:solidFill>
                  <a:srgbClr val="009A44"/>
                </a:solidFill>
                <a:effectLst/>
                <a:uLnTx/>
                <a:uFillTx/>
                <a:latin typeface="Aptos" panose="02110004020202020204"/>
                <a:ea typeface="+mn-ea"/>
                <a:cs typeface="+mn-cs"/>
                <a:sym typeface="Aptos" panose="020B0004020202020204" pitchFamily="34" charset="0"/>
              </a:rPr>
              <a:t>Objectives</a:t>
            </a:r>
          </a:p>
        </p:txBody>
      </p:sp>
      <p:sp>
        <p:nvSpPr>
          <p:cNvPr id="23" name="Text Placeholder 5">
            <a:extLst>
              <a:ext uri="{FF2B5EF4-FFF2-40B4-BE49-F238E27FC236}">
                <a16:creationId xmlns:a16="http://schemas.microsoft.com/office/drawing/2014/main" id="{96821AEE-3AC1-C66E-5CAD-5065AFA3F104}"/>
              </a:ext>
            </a:extLst>
          </p:cNvPr>
          <p:cNvSpPr txBox="1">
            <a:spLocks/>
          </p:cNvSpPr>
          <p:nvPr>
            <p:custDataLst>
              <p:tags r:id="rId2"/>
            </p:custDataLst>
          </p:nvPr>
        </p:nvSpPr>
        <p:spPr bwMode="ltGray">
          <a:xfrm>
            <a:off x="469901" y="1814297"/>
            <a:ext cx="4132548" cy="3168000"/>
          </a:xfrm>
          <a:prstGeom prst="rect">
            <a:avLst/>
          </a:prstGeom>
          <a:noFill/>
          <a:ln w="6350">
            <a:noFill/>
          </a:ln>
        </p:spPr>
        <p:txBody>
          <a:bodyPr wrap="square" lIns="0" tIns="0" rIns="0" bIns="0" anchor="t" anchorCtr="0"/>
          <a:lstStyle>
            <a:lvl1pPr marL="0" indent="0" algn="l" defTabSz="957263" rtl="0" eaLnBrk="1" fontAlgn="base" hangingPunct="1">
              <a:lnSpc>
                <a:spcPct val="100000"/>
              </a:lnSpc>
              <a:spcBef>
                <a:spcPts val="400"/>
              </a:spcBef>
              <a:spcAft>
                <a:spcPts val="0"/>
              </a:spcAft>
              <a:buClrTx/>
              <a:buSzPct val="100000"/>
              <a:buFont typeface="Arial" panose="020B0604020202020204" pitchFamily="34" charset="0"/>
              <a:buChar char="•"/>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ClrTx/>
              <a:buSzPct val="100000"/>
              <a:buFont typeface="Arial" panose="020B0604020202020204" pitchFamily="34"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ClrTx/>
              <a:buSzPct val="100000"/>
              <a:buFont typeface="Arial" panose="020B0604020202020204" pitchFamily="34"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ClrTx/>
              <a:buSzPct val="100000"/>
              <a:buFont typeface="Arial" panose="020B0604020202020204" pitchFamily="34"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ClrTx/>
              <a:buSzPct val="100000"/>
              <a:buFont typeface="Arial" panose="020B0604020202020204" pitchFamily="34"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Verdana" panose="020B0604030504040204"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Verdana" panose="020B0604030504040204"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Verdana" panose="020B0604030504040204"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Verdana" panose="020B0604030504040204" pitchFamily="34" charset="0"/>
              <a:buChar char="−"/>
              <a:defRPr sz="1200" kern="1200">
                <a:solidFill>
                  <a:schemeClr val="accent1"/>
                </a:solidFill>
                <a:latin typeface="+mn-lt"/>
                <a:ea typeface="+mn-ea"/>
                <a:cs typeface="+mn-cs"/>
              </a:defRPr>
            </a:lvl9pPr>
          </a:lstStyle>
          <a:p>
            <a:pPr marL="171450" marR="0" lvl="0"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E.ON Energy Markets GmbH (EEM), acts as a central interface to the wholesale markets. The main function is to consolidate and optimize E.ON’s commodity positions, to reduce price risks from the distribution business and to diversify and reduce credit and margin risks.</a:t>
            </a:r>
          </a:p>
          <a:p>
            <a:pPr marL="171450" marR="0" lvl="0"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In 2020 EEM’s power and gas portfolio consisted of 500 TWh delivery rights to more than 40 million customers in Europe</a:t>
            </a:r>
          </a:p>
          <a:p>
            <a:pPr marL="171450" marR="0" lvl="0"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 small number of proprietary trading transactions are entered into in separate trading books, which are subject to strict monitoring and limits based on risk metrics and governance. The processes and operational management models within the trading system are monitored by the local market risk teams and centrally managed by the Risk Management department.</a:t>
            </a:r>
          </a:p>
        </p:txBody>
      </p:sp>
      <p:sp>
        <p:nvSpPr>
          <p:cNvPr id="24" name="Text Placeholder 5">
            <a:extLst>
              <a:ext uri="{FF2B5EF4-FFF2-40B4-BE49-F238E27FC236}">
                <a16:creationId xmlns:a16="http://schemas.microsoft.com/office/drawing/2014/main" id="{6161EBAB-1FDE-BEF0-215A-2149B996531A}"/>
              </a:ext>
            </a:extLst>
          </p:cNvPr>
          <p:cNvSpPr txBox="1">
            <a:spLocks/>
          </p:cNvSpPr>
          <p:nvPr>
            <p:custDataLst>
              <p:tags r:id="rId3"/>
            </p:custDataLst>
          </p:nvPr>
        </p:nvSpPr>
        <p:spPr bwMode="ltGray">
          <a:xfrm>
            <a:off x="7642459" y="1814297"/>
            <a:ext cx="4079640" cy="3168000"/>
          </a:xfrm>
          <a:prstGeom prst="rect">
            <a:avLst/>
          </a:prstGeom>
          <a:noFill/>
          <a:ln w="6350">
            <a:noFill/>
          </a:ln>
        </p:spPr>
        <p:txBody>
          <a:bodyPr wrap="square" lIns="0" tIns="0" rIns="0" bIns="0" anchor="t" anchorCtr="0"/>
          <a:lstStyle>
            <a:defPPr>
              <a:defRPr lang="en-US"/>
            </a:defPPr>
            <a:lvl1pPr indent="0" defTabSz="957263" fontAlgn="base">
              <a:lnSpc>
                <a:spcPct val="100000"/>
              </a:lnSpc>
              <a:spcBef>
                <a:spcPts val="400"/>
              </a:spcBef>
              <a:spcAft>
                <a:spcPts val="0"/>
              </a:spcAft>
              <a:buClrTx/>
              <a:buSzPct val="100000"/>
              <a:buFont typeface="Arial" panose="020B0604020202020204" pitchFamily="34" charset="0"/>
              <a:buChar char="•"/>
              <a:defRPr sz="1400">
                <a:solidFill>
                  <a:schemeClr val="tx2"/>
                </a:solidFill>
              </a:defRPr>
            </a:lvl1pPr>
            <a:lvl2pPr marL="143510" marR="0" lvl="1" indent="-143510" defTabSz="957263" fontAlgn="base">
              <a:lnSpc>
                <a:spcPct val="100000"/>
              </a:lnSpc>
              <a:spcBef>
                <a:spcPts val="600"/>
              </a:spcBef>
              <a:spcAft>
                <a:spcPts val="0"/>
              </a:spcAft>
              <a:buClrTx/>
              <a:buSzPct val="100000"/>
              <a:buFont typeface="Arial" panose="020B0604020202020204" pitchFamily="34" charset="0"/>
              <a:buChar char="•"/>
              <a:tabLst/>
              <a:defRPr kumimoji="0" sz="1200" i="0" u="none" strike="noStrike" cap="none" spc="0" normalizeH="0" baseline="0">
                <a:ln>
                  <a:noFill/>
                </a:ln>
                <a:solidFill>
                  <a:prstClr val="black"/>
                </a:solidFill>
                <a:effectLst/>
                <a:uLnTx/>
                <a:uFillTx/>
                <a:latin typeface="Calibri"/>
                <a:ea typeface="+mj-ea"/>
                <a:cs typeface="+mj-cs"/>
              </a:defRPr>
            </a:lvl2pPr>
            <a:lvl3pPr marL="360000" indent="-180000" defTabSz="957263" fontAlgn="base">
              <a:lnSpc>
                <a:spcPct val="100000"/>
              </a:lnSpc>
              <a:spcBef>
                <a:spcPts val="400"/>
              </a:spcBef>
              <a:spcAft>
                <a:spcPts val="0"/>
              </a:spcAft>
              <a:buClrTx/>
              <a:buSzPct val="100000"/>
              <a:buFont typeface="Arial" panose="020B0604020202020204" pitchFamily="34" charset="0"/>
              <a:buChar char="−"/>
              <a:defRPr sz="1200">
                <a:solidFill>
                  <a:schemeClr val="tx2"/>
                </a:solidFill>
                <a:ea typeface="+mj-ea"/>
                <a:cs typeface="+mj-cs"/>
              </a:defRPr>
            </a:lvl3pPr>
            <a:lvl4pPr marL="540000" indent="-180000" defTabSz="957263" fontAlgn="base">
              <a:lnSpc>
                <a:spcPct val="100000"/>
              </a:lnSpc>
              <a:spcBef>
                <a:spcPts val="400"/>
              </a:spcBef>
              <a:spcAft>
                <a:spcPts val="0"/>
              </a:spcAft>
              <a:buClrTx/>
              <a:buSzPct val="100000"/>
              <a:buFont typeface="Arial" panose="020B0604020202020204" pitchFamily="34" charset="0"/>
              <a:buChar char="◦"/>
              <a:defRPr sz="1200">
                <a:solidFill>
                  <a:schemeClr val="tx2"/>
                </a:solidFill>
                <a:ea typeface="+mj-ea"/>
                <a:cs typeface="+mj-cs"/>
              </a:defRPr>
            </a:lvl4pPr>
            <a:lvl5pPr marL="720000" indent="-179388" defTabSz="957263" fontAlgn="base">
              <a:lnSpc>
                <a:spcPct val="100000"/>
              </a:lnSpc>
              <a:spcBef>
                <a:spcPts val="400"/>
              </a:spcBef>
              <a:spcAft>
                <a:spcPts val="0"/>
              </a:spcAft>
              <a:buClrTx/>
              <a:buSzPct val="100000"/>
              <a:buFont typeface="Arial" panose="020B0604020202020204" pitchFamily="34" charset="0"/>
              <a:buChar char="−"/>
              <a:defRPr sz="1200">
                <a:solidFill>
                  <a:schemeClr val="tx2"/>
                </a:solidFill>
                <a:ea typeface="+mj-ea"/>
                <a:cs typeface="+mj-cs"/>
              </a:defRPr>
            </a:lvl5pPr>
            <a:lvl6pPr marL="900000" indent="-180000" defTabSz="859512">
              <a:lnSpc>
                <a:spcPct val="100000"/>
              </a:lnSpc>
              <a:spcBef>
                <a:spcPts val="400"/>
              </a:spcBef>
              <a:spcAft>
                <a:spcPts val="0"/>
              </a:spcAft>
              <a:buFont typeface="Verdana" panose="020B0604030504040204" pitchFamily="34" charset="0"/>
              <a:buChar char="−"/>
              <a:defRPr sz="1200" baseline="0">
                <a:solidFill>
                  <a:schemeClr val="accent1"/>
                </a:solidFill>
              </a:defRPr>
            </a:lvl6pPr>
            <a:lvl7pPr marL="1080000" indent="-180000" defTabSz="859512">
              <a:lnSpc>
                <a:spcPct val="100000"/>
              </a:lnSpc>
              <a:spcBef>
                <a:spcPts val="400"/>
              </a:spcBef>
              <a:spcAft>
                <a:spcPts val="0"/>
              </a:spcAft>
              <a:buFont typeface="Verdana" panose="020B0604030504040204" pitchFamily="34" charset="0"/>
              <a:buChar char="−"/>
              <a:defRPr sz="1200">
                <a:solidFill>
                  <a:schemeClr val="accent1"/>
                </a:solidFill>
              </a:defRPr>
            </a:lvl7pPr>
            <a:lvl8pPr marL="1260000" indent="-180000" defTabSz="859512">
              <a:lnSpc>
                <a:spcPct val="100000"/>
              </a:lnSpc>
              <a:spcBef>
                <a:spcPts val="400"/>
              </a:spcBef>
              <a:spcAft>
                <a:spcPts val="0"/>
              </a:spcAft>
              <a:buFont typeface="Verdana" panose="020B0604030504040204" pitchFamily="34" charset="0"/>
              <a:buChar char="−"/>
              <a:defRPr sz="1200">
                <a:solidFill>
                  <a:schemeClr val="accent1"/>
                </a:solidFill>
              </a:defRPr>
            </a:lvl8pPr>
            <a:lvl9pPr marL="1440000" indent="-180000" defTabSz="859512">
              <a:lnSpc>
                <a:spcPct val="100000"/>
              </a:lnSpc>
              <a:spcBef>
                <a:spcPts val="400"/>
              </a:spcBef>
              <a:spcAft>
                <a:spcPts val="0"/>
              </a:spcAft>
              <a:buFont typeface="Verdana" panose="020B0604030504040204" pitchFamily="34" charset="0"/>
              <a:buChar char="−"/>
              <a:defRPr sz="1200">
                <a:solidFill>
                  <a:schemeClr val="accent1"/>
                </a:solidFill>
              </a:defRPr>
            </a:lvl9pPr>
          </a:lstStyle>
          <a:p>
            <a:pPr marL="0" marR="0" lvl="0" indent="0" algn="l" defTabSz="957263" rtl="0" eaLnBrk="1" fontAlgn="ctr" latinLnBrk="0" hangingPunct="1">
              <a:lnSpc>
                <a:spcPct val="100000"/>
              </a:lnSpc>
              <a:spcBef>
                <a:spcPts val="0"/>
              </a:spcBef>
              <a:spcAft>
                <a:spcPts val="600"/>
              </a:spcAft>
              <a:buClrTx/>
              <a:buSzPct val="100000"/>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Through this project, </a:t>
            </a:r>
            <a:r>
              <a:rPr kumimoji="0" lang="en-US" sz="1200" b="0" i="0" u="none" strike="noStrike" kern="1200" cap="none" spc="0" normalizeH="0" baseline="0" noProof="0" err="1">
                <a:ln>
                  <a:noFill/>
                </a:ln>
                <a:solidFill>
                  <a:prstClr val="black"/>
                </a:solidFill>
                <a:effectLst/>
                <a:uLnTx/>
                <a:uFillTx/>
                <a:latin typeface="Aptos" panose="02110004020202020204"/>
                <a:ea typeface="+mn-ea"/>
                <a:cs typeface="+mn-cs"/>
              </a:rPr>
              <a:t>E.On</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aims to:</a:t>
            </a:r>
          </a:p>
          <a:p>
            <a:pPr marL="171450" marR="0" lvl="0"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As-Is analysis of end-to-end processes and data flows</a:t>
            </a:r>
          </a:p>
          <a:p>
            <a:pPr marL="171450" marR="0" lvl="0"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Recommendations covering systems, data structures, interfaces, and processes as well as detailed to-be-concepts</a:t>
            </a:r>
          </a:p>
          <a:p>
            <a:pPr marL="171450" marR="0" lvl="0"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3 strategic objectives</a:t>
            </a:r>
          </a:p>
          <a:p>
            <a:pPr marL="314960" marR="0" lvl="1"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Calibri"/>
                <a:ea typeface="+mj-ea"/>
                <a:cs typeface="+mj-cs"/>
              </a:rPr>
              <a:t>Standardised</a:t>
            </a:r>
            <a:r>
              <a:rPr kumimoji="0" lang="en-US" sz="1000" b="0" i="0" u="none" strike="noStrike" kern="1200" cap="none" spc="0" normalizeH="0" baseline="0" noProof="0">
                <a:ln>
                  <a:noFill/>
                </a:ln>
                <a:solidFill>
                  <a:prstClr val="black"/>
                </a:solidFill>
                <a:effectLst/>
                <a:uLnTx/>
                <a:uFillTx/>
                <a:latin typeface="Calibri"/>
                <a:ea typeface="+mj-ea"/>
                <a:cs typeface="+mj-cs"/>
              </a:rPr>
              <a:t> P&amp;L Reconciliation Framework</a:t>
            </a:r>
          </a:p>
          <a:p>
            <a:pPr marL="314960" marR="0" lvl="1"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a:ea typeface="+mj-ea"/>
                <a:cs typeface="+mj-cs"/>
              </a:rPr>
              <a:t>Strong Automation of the IFRS Closing Process</a:t>
            </a:r>
          </a:p>
          <a:p>
            <a:pPr marL="314960" marR="0" lvl="1" indent="-171450" algn="l" defTabSz="957263" rtl="0" eaLnBrk="1" fontAlgn="ctr"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a:ea typeface="+mj-ea"/>
                <a:cs typeface="+mj-cs"/>
              </a:rPr>
              <a:t>Monthly IFRS Financial Statements</a:t>
            </a:r>
          </a:p>
          <a:p>
            <a:pPr marL="0" marR="0" lvl="0" indent="0" algn="l" defTabSz="957263" rtl="0" eaLnBrk="1" fontAlgn="ctr" latinLnBrk="0" hangingPunct="1">
              <a:lnSpc>
                <a:spcPct val="100000"/>
              </a:lnSpc>
              <a:spcBef>
                <a:spcPts val="0"/>
              </a:spcBef>
              <a:spcAft>
                <a:spcPts val="600"/>
              </a:spcAft>
              <a:buClrTx/>
              <a:buSzPct val="100000"/>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sym typeface="Wingdings" panose="05000000000000000000" pitchFamily="2" charset="2"/>
              </a:rPr>
              <a:t>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Development of comprehensive target operating model, recon framework blueprint and implementation roadmap</a:t>
            </a:r>
          </a:p>
        </p:txBody>
      </p:sp>
      <p:grpSp>
        <p:nvGrpSpPr>
          <p:cNvPr id="25" name="Gruppieren 2">
            <a:extLst>
              <a:ext uri="{FF2B5EF4-FFF2-40B4-BE49-F238E27FC236}">
                <a16:creationId xmlns:a16="http://schemas.microsoft.com/office/drawing/2014/main" id="{FF36D3D2-28FA-3DB6-3473-73F2A22999C8}"/>
              </a:ext>
            </a:extLst>
          </p:cNvPr>
          <p:cNvGrpSpPr/>
          <p:nvPr/>
        </p:nvGrpSpPr>
        <p:grpSpPr>
          <a:xfrm>
            <a:off x="4549542" y="1825716"/>
            <a:ext cx="3112582" cy="3112582"/>
            <a:chOff x="4371225" y="2509649"/>
            <a:chExt cx="3449552" cy="3449552"/>
          </a:xfrm>
        </p:grpSpPr>
        <p:sp>
          <p:nvSpPr>
            <p:cNvPr id="27" name="Oval 51">
              <a:extLst>
                <a:ext uri="{FF2B5EF4-FFF2-40B4-BE49-F238E27FC236}">
                  <a16:creationId xmlns:a16="http://schemas.microsoft.com/office/drawing/2014/main" id="{5A19CAC7-BF4B-EE15-1C9C-E6F10E17E292}"/>
                </a:ext>
              </a:extLst>
            </p:cNvPr>
            <p:cNvSpPr>
              <a:spLocks noChangeArrowheads="1"/>
            </p:cNvSpPr>
            <p:nvPr/>
          </p:nvSpPr>
          <p:spPr bwMode="gray">
            <a:xfrm>
              <a:off x="4371225" y="2509649"/>
              <a:ext cx="3449552" cy="3449552"/>
            </a:xfrm>
            <a:prstGeom prst="ellipse">
              <a:avLst/>
            </a:prstGeom>
            <a:solidFill>
              <a:schemeClr val="bg1">
                <a:alpha val="80000"/>
              </a:schemeClr>
            </a:solidFill>
            <a:ln w="6350" algn="ctr">
              <a:noFill/>
              <a:round/>
              <a:headEnd/>
              <a:tailEnd/>
            </a:ln>
            <a:effectLst>
              <a:softEdge rad="279400"/>
            </a:effectLst>
          </p:spPr>
          <p:txBody>
            <a:bodyPr lIns="36000" tIns="36000" rIns="36000" bIns="360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a:ln>
                  <a:noFill/>
                </a:ln>
                <a:solidFill>
                  <a:prstClr val="black"/>
                </a:solidFill>
                <a:effectLst/>
                <a:uLnTx/>
                <a:uFillTx/>
                <a:latin typeface="Aptos" panose="02110004020202020204"/>
                <a:ea typeface="ＭＳ Ｐゴシック" pitchFamily="50" charset="-128"/>
                <a:cs typeface="Calibri" panose="020F0502020204030204" pitchFamily="34" charset="0"/>
                <a:sym typeface="Aptos" panose="020B0004020202020204" pitchFamily="34" charset="0"/>
              </a:endParaRPr>
            </a:p>
          </p:txBody>
        </p:sp>
        <p:sp>
          <p:nvSpPr>
            <p:cNvPr id="26" name="Oval 52">
              <a:extLst>
                <a:ext uri="{FF2B5EF4-FFF2-40B4-BE49-F238E27FC236}">
                  <a16:creationId xmlns:a16="http://schemas.microsoft.com/office/drawing/2014/main" id="{B2E3A395-ACE1-FBF9-5BC8-C9F172AB8F69}"/>
                </a:ext>
              </a:extLst>
            </p:cNvPr>
            <p:cNvSpPr>
              <a:spLocks noChangeArrowheads="1"/>
            </p:cNvSpPr>
            <p:nvPr/>
          </p:nvSpPr>
          <p:spPr bwMode="gray">
            <a:xfrm>
              <a:off x="4739641" y="2878065"/>
              <a:ext cx="2712720" cy="2712720"/>
            </a:xfrm>
            <a:prstGeom prst="ellipse">
              <a:avLst/>
            </a:prstGeom>
            <a:solidFill>
              <a:schemeClr val="bg1"/>
            </a:solidFill>
            <a:ln w="12700" algn="ctr">
              <a:solidFill>
                <a:srgbClr val="009A44"/>
              </a:solidFill>
              <a:prstDash val="dash"/>
              <a:round/>
              <a:headEnd/>
              <a:tailEnd/>
            </a:ln>
          </p:spPr>
          <p:txBody>
            <a:bodyPr lIns="36000" tIns="36000" rIns="36000" bIns="360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a:ln>
                  <a:noFill/>
                </a:ln>
                <a:solidFill>
                  <a:prstClr val="black"/>
                </a:solidFill>
                <a:effectLst/>
                <a:uLnTx/>
                <a:uFillTx/>
                <a:latin typeface="Aptos" panose="02110004020202020204"/>
                <a:ea typeface="ＭＳ Ｐゴシック" pitchFamily="50" charset="-128"/>
                <a:cs typeface="Calibri" panose="020F0502020204030204" pitchFamily="34" charset="0"/>
                <a:sym typeface="Aptos" panose="020B0004020202020204" pitchFamily="34" charset="0"/>
              </a:endParaRPr>
            </a:p>
          </p:txBody>
        </p:sp>
        <p:grpSp>
          <p:nvGrpSpPr>
            <p:cNvPr id="28" name="Group 55">
              <a:extLst>
                <a:ext uri="{FF2B5EF4-FFF2-40B4-BE49-F238E27FC236}">
                  <a16:creationId xmlns:a16="http://schemas.microsoft.com/office/drawing/2014/main" id="{47C2CF8E-6A48-E441-78D8-E07024D91915}"/>
                </a:ext>
              </a:extLst>
            </p:cNvPr>
            <p:cNvGrpSpPr/>
            <p:nvPr/>
          </p:nvGrpSpPr>
          <p:grpSpPr>
            <a:xfrm>
              <a:off x="5067913" y="3206347"/>
              <a:ext cx="2056157" cy="2056156"/>
              <a:chOff x="1641591" y="3317608"/>
              <a:chExt cx="1582371" cy="1582369"/>
            </a:xfrm>
          </p:grpSpPr>
          <p:cxnSp>
            <p:nvCxnSpPr>
              <p:cNvPr id="41" name="Straight Connector 57">
                <a:extLst>
                  <a:ext uri="{FF2B5EF4-FFF2-40B4-BE49-F238E27FC236}">
                    <a16:creationId xmlns:a16="http://schemas.microsoft.com/office/drawing/2014/main" id="{6B5B66FD-C7F3-E4D4-8266-1A0588990CB8}"/>
                  </a:ext>
                </a:extLst>
              </p:cNvPr>
              <p:cNvCxnSpPr/>
              <p:nvPr/>
            </p:nvCxnSpPr>
            <p:spPr>
              <a:xfrm flipH="1">
                <a:off x="1641592" y="3317608"/>
                <a:ext cx="463460"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58">
                <a:extLst>
                  <a:ext uri="{FF2B5EF4-FFF2-40B4-BE49-F238E27FC236}">
                    <a16:creationId xmlns:a16="http://schemas.microsoft.com/office/drawing/2014/main" id="{2BF43A84-31EC-0C7F-06E1-552B257614B5}"/>
                  </a:ext>
                </a:extLst>
              </p:cNvPr>
              <p:cNvCxnSpPr/>
              <p:nvPr/>
            </p:nvCxnSpPr>
            <p:spPr>
              <a:xfrm>
                <a:off x="2105051" y="3317609"/>
                <a:ext cx="0" cy="158236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59">
                <a:extLst>
                  <a:ext uri="{FF2B5EF4-FFF2-40B4-BE49-F238E27FC236}">
                    <a16:creationId xmlns:a16="http://schemas.microsoft.com/office/drawing/2014/main" id="{9ADD837C-C614-E432-FAC7-C51C4C0158A0}"/>
                  </a:ext>
                </a:extLst>
              </p:cNvPr>
              <p:cNvCxnSpPr/>
              <p:nvPr/>
            </p:nvCxnSpPr>
            <p:spPr>
              <a:xfrm>
                <a:off x="2105052" y="3317609"/>
                <a:ext cx="655448" cy="158236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60">
                <a:extLst>
                  <a:ext uri="{FF2B5EF4-FFF2-40B4-BE49-F238E27FC236}">
                    <a16:creationId xmlns:a16="http://schemas.microsoft.com/office/drawing/2014/main" id="{378AB185-D540-05C4-F49B-C290F7C73D86}"/>
                  </a:ext>
                </a:extLst>
              </p:cNvPr>
              <p:cNvCxnSpPr/>
              <p:nvPr/>
            </p:nvCxnSpPr>
            <p:spPr>
              <a:xfrm>
                <a:off x="2105051" y="3317608"/>
                <a:ext cx="1118908"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61">
                <a:extLst>
                  <a:ext uri="{FF2B5EF4-FFF2-40B4-BE49-F238E27FC236}">
                    <a16:creationId xmlns:a16="http://schemas.microsoft.com/office/drawing/2014/main" id="{9A6DB3C6-163C-EE8C-BE32-31E4AFE83C45}"/>
                  </a:ext>
                </a:extLst>
              </p:cNvPr>
              <p:cNvCxnSpPr/>
              <p:nvPr/>
            </p:nvCxnSpPr>
            <p:spPr>
              <a:xfrm>
                <a:off x="2105051" y="3317612"/>
                <a:ext cx="1118908" cy="463460"/>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62">
                <a:extLst>
                  <a:ext uri="{FF2B5EF4-FFF2-40B4-BE49-F238E27FC236}">
                    <a16:creationId xmlns:a16="http://schemas.microsoft.com/office/drawing/2014/main" id="{226925CB-1D01-AC9C-A750-CDFC69F555EC}"/>
                  </a:ext>
                </a:extLst>
              </p:cNvPr>
              <p:cNvCxnSpPr/>
              <p:nvPr/>
            </p:nvCxnSpPr>
            <p:spPr>
              <a:xfrm flipH="1">
                <a:off x="1641591" y="3317612"/>
                <a:ext cx="1118908" cy="463460"/>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63">
                <a:extLst>
                  <a:ext uri="{FF2B5EF4-FFF2-40B4-BE49-F238E27FC236}">
                    <a16:creationId xmlns:a16="http://schemas.microsoft.com/office/drawing/2014/main" id="{49FAF01C-4293-AB16-7379-F549F42F1381}"/>
                  </a:ext>
                </a:extLst>
              </p:cNvPr>
              <p:cNvCxnSpPr/>
              <p:nvPr/>
            </p:nvCxnSpPr>
            <p:spPr>
              <a:xfrm flipH="1">
                <a:off x="1641591" y="3317608"/>
                <a:ext cx="1118908"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4">
                <a:extLst>
                  <a:ext uri="{FF2B5EF4-FFF2-40B4-BE49-F238E27FC236}">
                    <a16:creationId xmlns:a16="http://schemas.microsoft.com/office/drawing/2014/main" id="{F2D6153E-457A-F390-8595-2A33B38165DC}"/>
                  </a:ext>
                </a:extLst>
              </p:cNvPr>
              <p:cNvCxnSpPr/>
              <p:nvPr/>
            </p:nvCxnSpPr>
            <p:spPr>
              <a:xfrm flipH="1">
                <a:off x="2105052" y="3317609"/>
                <a:ext cx="655448" cy="158236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5">
                <a:extLst>
                  <a:ext uri="{FF2B5EF4-FFF2-40B4-BE49-F238E27FC236}">
                    <a16:creationId xmlns:a16="http://schemas.microsoft.com/office/drawing/2014/main" id="{E368A179-D9F3-DA84-BF76-8FD1B5FDD697}"/>
                  </a:ext>
                </a:extLst>
              </p:cNvPr>
              <p:cNvCxnSpPr/>
              <p:nvPr/>
            </p:nvCxnSpPr>
            <p:spPr>
              <a:xfrm>
                <a:off x="2760499" y="3317609"/>
                <a:ext cx="0" cy="158236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6">
                <a:extLst>
                  <a:ext uri="{FF2B5EF4-FFF2-40B4-BE49-F238E27FC236}">
                    <a16:creationId xmlns:a16="http://schemas.microsoft.com/office/drawing/2014/main" id="{EB1CD36C-4079-716C-01EC-17A4B2A5F9C2}"/>
                  </a:ext>
                </a:extLst>
              </p:cNvPr>
              <p:cNvCxnSpPr/>
              <p:nvPr/>
            </p:nvCxnSpPr>
            <p:spPr>
              <a:xfrm>
                <a:off x="2760502" y="3317608"/>
                <a:ext cx="463460"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7">
                <a:extLst>
                  <a:ext uri="{FF2B5EF4-FFF2-40B4-BE49-F238E27FC236}">
                    <a16:creationId xmlns:a16="http://schemas.microsoft.com/office/drawing/2014/main" id="{DD479CD2-B13A-910A-3D3B-284D5AD978B8}"/>
                  </a:ext>
                </a:extLst>
              </p:cNvPr>
              <p:cNvCxnSpPr/>
              <p:nvPr/>
            </p:nvCxnSpPr>
            <p:spPr>
              <a:xfrm flipH="1">
                <a:off x="1641592" y="3781068"/>
                <a:ext cx="1582368" cy="0"/>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8">
                <a:extLst>
                  <a:ext uri="{FF2B5EF4-FFF2-40B4-BE49-F238E27FC236}">
                    <a16:creationId xmlns:a16="http://schemas.microsoft.com/office/drawing/2014/main" id="{591A5F2E-501F-E227-9E6D-4BA3D1CD3430}"/>
                  </a:ext>
                </a:extLst>
              </p:cNvPr>
              <p:cNvCxnSpPr/>
              <p:nvPr/>
            </p:nvCxnSpPr>
            <p:spPr>
              <a:xfrm flipH="1">
                <a:off x="1641592" y="3781069"/>
                <a:ext cx="1582368" cy="65544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6" name="Straight Connector 69">
                <a:extLst>
                  <a:ext uri="{FF2B5EF4-FFF2-40B4-BE49-F238E27FC236}">
                    <a16:creationId xmlns:a16="http://schemas.microsoft.com/office/drawing/2014/main" id="{4EC64F27-80D6-9E7F-E17C-A28E3EDC6472}"/>
                  </a:ext>
                </a:extLst>
              </p:cNvPr>
              <p:cNvCxnSpPr/>
              <p:nvPr/>
            </p:nvCxnSpPr>
            <p:spPr>
              <a:xfrm flipH="1">
                <a:off x="1641592" y="4436516"/>
                <a:ext cx="1582368" cy="0"/>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70">
                <a:extLst>
                  <a:ext uri="{FF2B5EF4-FFF2-40B4-BE49-F238E27FC236}">
                    <a16:creationId xmlns:a16="http://schemas.microsoft.com/office/drawing/2014/main" id="{71626EE3-8DA5-BC7A-8821-AACE2116B33C}"/>
                  </a:ext>
                </a:extLst>
              </p:cNvPr>
              <p:cNvCxnSpPr/>
              <p:nvPr/>
            </p:nvCxnSpPr>
            <p:spPr>
              <a:xfrm flipH="1">
                <a:off x="2105051" y="4436516"/>
                <a:ext cx="1118908" cy="463460"/>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71">
                <a:extLst>
                  <a:ext uri="{FF2B5EF4-FFF2-40B4-BE49-F238E27FC236}">
                    <a16:creationId xmlns:a16="http://schemas.microsoft.com/office/drawing/2014/main" id="{9C023425-25C6-1923-E66C-301C387A8CE4}"/>
                  </a:ext>
                </a:extLst>
              </p:cNvPr>
              <p:cNvCxnSpPr/>
              <p:nvPr/>
            </p:nvCxnSpPr>
            <p:spPr>
              <a:xfrm flipH="1" flipV="1">
                <a:off x="1641592" y="3781069"/>
                <a:ext cx="1582368" cy="65544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72">
                <a:extLst>
                  <a:ext uri="{FF2B5EF4-FFF2-40B4-BE49-F238E27FC236}">
                    <a16:creationId xmlns:a16="http://schemas.microsoft.com/office/drawing/2014/main" id="{DC483AAF-28D7-686E-74A3-A495D928C4BF}"/>
                  </a:ext>
                </a:extLst>
              </p:cNvPr>
              <p:cNvCxnSpPr/>
              <p:nvPr/>
            </p:nvCxnSpPr>
            <p:spPr>
              <a:xfrm flipH="1" flipV="1">
                <a:off x="1641591" y="3781068"/>
                <a:ext cx="1118908"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0" name="Straight Connector 73">
                <a:extLst>
                  <a:ext uri="{FF2B5EF4-FFF2-40B4-BE49-F238E27FC236}">
                    <a16:creationId xmlns:a16="http://schemas.microsoft.com/office/drawing/2014/main" id="{6DC195E0-6B60-6D63-1F67-053AE669FD31}"/>
                  </a:ext>
                </a:extLst>
              </p:cNvPr>
              <p:cNvCxnSpPr/>
              <p:nvPr/>
            </p:nvCxnSpPr>
            <p:spPr>
              <a:xfrm flipV="1">
                <a:off x="2760502" y="3781068"/>
                <a:ext cx="463460"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1" name="Straight Connector 74">
                <a:extLst>
                  <a:ext uri="{FF2B5EF4-FFF2-40B4-BE49-F238E27FC236}">
                    <a16:creationId xmlns:a16="http://schemas.microsoft.com/office/drawing/2014/main" id="{EC42969F-0C92-3909-FC09-DB9A73B621CA}"/>
                  </a:ext>
                </a:extLst>
              </p:cNvPr>
              <p:cNvCxnSpPr/>
              <p:nvPr/>
            </p:nvCxnSpPr>
            <p:spPr>
              <a:xfrm flipH="1" flipV="1">
                <a:off x="1641591" y="4436516"/>
                <a:ext cx="1118908" cy="463460"/>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2" name="Straight Connector 75">
                <a:extLst>
                  <a:ext uri="{FF2B5EF4-FFF2-40B4-BE49-F238E27FC236}">
                    <a16:creationId xmlns:a16="http://schemas.microsoft.com/office/drawing/2014/main" id="{CFB0DE7E-D846-8A8C-81E6-369251F210F0}"/>
                  </a:ext>
                </a:extLst>
              </p:cNvPr>
              <p:cNvCxnSpPr/>
              <p:nvPr/>
            </p:nvCxnSpPr>
            <p:spPr>
              <a:xfrm flipV="1">
                <a:off x="2105051" y="3781068"/>
                <a:ext cx="1118908"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6">
                <a:extLst>
                  <a:ext uri="{FF2B5EF4-FFF2-40B4-BE49-F238E27FC236}">
                    <a16:creationId xmlns:a16="http://schemas.microsoft.com/office/drawing/2014/main" id="{DEE9FCFF-9F64-F646-B9E5-76D921DFF9E4}"/>
                  </a:ext>
                </a:extLst>
              </p:cNvPr>
              <p:cNvCxnSpPr/>
              <p:nvPr/>
            </p:nvCxnSpPr>
            <p:spPr>
              <a:xfrm flipH="1" flipV="1">
                <a:off x="1641592" y="3781068"/>
                <a:ext cx="463460" cy="1118908"/>
              </a:xfrm>
              <a:prstGeom prst="line">
                <a:avLst/>
              </a:prstGeom>
              <a:ln w="12700" cmpd="sng">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
          <p:nvSpPr>
            <p:cNvPr id="194" name="Oval 51">
              <a:extLst>
                <a:ext uri="{FF2B5EF4-FFF2-40B4-BE49-F238E27FC236}">
                  <a16:creationId xmlns:a16="http://schemas.microsoft.com/office/drawing/2014/main" id="{6CE5A76F-81F8-D4ED-2E25-DA40F762FE66}"/>
                </a:ext>
              </a:extLst>
            </p:cNvPr>
            <p:cNvSpPr>
              <a:spLocks noChangeArrowheads="1"/>
            </p:cNvSpPr>
            <p:nvPr/>
          </p:nvSpPr>
          <p:spPr bwMode="gray">
            <a:xfrm>
              <a:off x="4892839" y="3031263"/>
              <a:ext cx="2406324" cy="2406324"/>
            </a:xfrm>
            <a:prstGeom prst="ellipse">
              <a:avLst/>
            </a:prstGeom>
            <a:noFill/>
            <a:ln w="6350" algn="ctr">
              <a:solidFill>
                <a:srgbClr val="009A44"/>
              </a:solidFill>
              <a:round/>
              <a:headEnd/>
              <a:tailEnd/>
            </a:ln>
          </p:spPr>
          <p:txBody>
            <a:bodyPr lIns="36000" tIns="36000" rIns="36000" bIns="360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a:ln>
                  <a:noFill/>
                </a:ln>
                <a:solidFill>
                  <a:prstClr val="black"/>
                </a:solidFill>
                <a:effectLst/>
                <a:uLnTx/>
                <a:uFillTx/>
                <a:latin typeface="Aptos" panose="02110004020202020204"/>
                <a:ea typeface="ＭＳ Ｐゴシック" pitchFamily="50" charset="-128"/>
                <a:cs typeface="Calibri" panose="020F0502020204030204" pitchFamily="34" charset="0"/>
                <a:sym typeface="Aptos" panose="020B0004020202020204" pitchFamily="34" charset="0"/>
              </a:endParaRPr>
            </a:p>
          </p:txBody>
        </p:sp>
      </p:grpSp>
      <p:grpSp>
        <p:nvGrpSpPr>
          <p:cNvPr id="83" name="Group 82">
            <a:extLst>
              <a:ext uri="{FF2B5EF4-FFF2-40B4-BE49-F238E27FC236}">
                <a16:creationId xmlns:a16="http://schemas.microsoft.com/office/drawing/2014/main" id="{4A431D81-1344-DDC9-A5D6-295B499A245E}"/>
              </a:ext>
            </a:extLst>
          </p:cNvPr>
          <p:cNvGrpSpPr>
            <a:grpSpLocks noChangeAspect="1"/>
          </p:cNvGrpSpPr>
          <p:nvPr/>
        </p:nvGrpSpPr>
        <p:grpSpPr>
          <a:xfrm>
            <a:off x="5437959" y="3492694"/>
            <a:ext cx="1335765" cy="250305"/>
            <a:chOff x="398463" y="914286"/>
            <a:chExt cx="1627187" cy="307983"/>
          </a:xfrm>
          <a:solidFill>
            <a:sysClr val="windowText" lastClr="000000"/>
          </a:solidFill>
        </p:grpSpPr>
        <p:sp>
          <p:nvSpPr>
            <p:cNvPr id="84" name="Oval 5">
              <a:extLst>
                <a:ext uri="{FF2B5EF4-FFF2-40B4-BE49-F238E27FC236}">
                  <a16:creationId xmlns:a16="http://schemas.microsoft.com/office/drawing/2014/main" id="{2A8C48CC-93AA-F020-DF25-A6FE9A14A22A}"/>
                </a:ext>
              </a:extLst>
            </p:cNvPr>
            <p:cNvSpPr>
              <a:spLocks noChangeArrowheads="1"/>
            </p:cNvSpPr>
            <p:nvPr userDrawn="1"/>
          </p:nvSpPr>
          <p:spPr bwMode="auto">
            <a:xfrm>
              <a:off x="1938339" y="1134955"/>
              <a:ext cx="87311" cy="87314"/>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85" name="Freeform 6">
              <a:extLst>
                <a:ext uri="{FF2B5EF4-FFF2-40B4-BE49-F238E27FC236}">
                  <a16:creationId xmlns:a16="http://schemas.microsoft.com/office/drawing/2014/main" id="{75CEFF5C-F1AF-5125-DFA4-99169B1516FE}"/>
                </a:ext>
              </a:extLst>
            </p:cNvPr>
            <p:cNvSpPr>
              <a:spLocks noEditPoints="1"/>
            </p:cNvSpPr>
            <p:nvPr userDrawn="1"/>
          </p:nvSpPr>
          <p:spPr bwMode="auto">
            <a:xfrm>
              <a:off x="398463" y="915874"/>
              <a:ext cx="247650" cy="30162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86" name="Rectangle 7">
              <a:extLst>
                <a:ext uri="{FF2B5EF4-FFF2-40B4-BE49-F238E27FC236}">
                  <a16:creationId xmlns:a16="http://schemas.microsoft.com/office/drawing/2014/main" id="{EFB632BA-D3B7-38AA-F853-98962E5641FF}"/>
                </a:ext>
              </a:extLst>
            </p:cNvPr>
            <p:cNvSpPr>
              <a:spLocks noChangeArrowheads="1"/>
            </p:cNvSpPr>
            <p:nvPr userDrawn="1"/>
          </p:nvSpPr>
          <p:spPr bwMode="auto">
            <a:xfrm>
              <a:off x="906464" y="914287"/>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87" name="Freeform 8">
              <a:extLst>
                <a:ext uri="{FF2B5EF4-FFF2-40B4-BE49-F238E27FC236}">
                  <a16:creationId xmlns:a16="http://schemas.microsoft.com/office/drawing/2014/main" id="{F68BF9A0-1969-9D29-EE01-75D677BF209F}"/>
                </a:ext>
              </a:extLst>
            </p:cNvPr>
            <p:cNvSpPr>
              <a:spLocks noEditPoints="1"/>
            </p:cNvSpPr>
            <p:nvPr userDrawn="1"/>
          </p:nvSpPr>
          <p:spPr bwMode="auto">
            <a:xfrm>
              <a:off x="1011237" y="988897"/>
              <a:ext cx="215899" cy="231777"/>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89" name="Rectangle 9">
              <a:extLst>
                <a:ext uri="{FF2B5EF4-FFF2-40B4-BE49-F238E27FC236}">
                  <a16:creationId xmlns:a16="http://schemas.microsoft.com/office/drawing/2014/main" id="{4AB727B3-4140-636E-7990-4824AF1F8732}"/>
                </a:ext>
              </a:extLst>
            </p:cNvPr>
            <p:cNvSpPr>
              <a:spLocks noChangeArrowheads="1"/>
            </p:cNvSpPr>
            <p:nvPr userDrawn="1"/>
          </p:nvSpPr>
          <p:spPr bwMode="auto">
            <a:xfrm>
              <a:off x="1257300" y="992074"/>
              <a:ext cx="74612" cy="2254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90" name="Rectangle 10">
              <a:extLst>
                <a:ext uri="{FF2B5EF4-FFF2-40B4-BE49-F238E27FC236}">
                  <a16:creationId xmlns:a16="http://schemas.microsoft.com/office/drawing/2014/main" id="{A8B832E3-99AE-4647-420E-2B9DDAEB2C12}"/>
                </a:ext>
              </a:extLst>
            </p:cNvPr>
            <p:cNvSpPr>
              <a:spLocks noChangeArrowheads="1"/>
            </p:cNvSpPr>
            <p:nvPr userDrawn="1"/>
          </p:nvSpPr>
          <p:spPr bwMode="auto">
            <a:xfrm>
              <a:off x="1257300" y="914286"/>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93" name="Freeform 11">
              <a:extLst>
                <a:ext uri="{FF2B5EF4-FFF2-40B4-BE49-F238E27FC236}">
                  <a16:creationId xmlns:a16="http://schemas.microsoft.com/office/drawing/2014/main" id="{BE15846C-2AF3-E2E8-95C6-A6CF6B0FDA99}"/>
                </a:ext>
              </a:extLst>
            </p:cNvPr>
            <p:cNvSpPr>
              <a:spLocks/>
            </p:cNvSpPr>
            <p:nvPr userDrawn="1"/>
          </p:nvSpPr>
          <p:spPr bwMode="auto">
            <a:xfrm>
              <a:off x="1362075" y="920636"/>
              <a:ext cx="158750" cy="300037"/>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94" name="Freeform 12">
              <a:extLst>
                <a:ext uri="{FF2B5EF4-FFF2-40B4-BE49-F238E27FC236}">
                  <a16:creationId xmlns:a16="http://schemas.microsoft.com/office/drawing/2014/main" id="{EB69E4DA-BE79-E5F7-702D-085FE591759D}"/>
                </a:ext>
              </a:extLst>
            </p:cNvPr>
            <p:cNvSpPr>
              <a:spLocks/>
            </p:cNvSpPr>
            <p:nvPr userDrawn="1"/>
          </p:nvSpPr>
          <p:spPr bwMode="auto">
            <a:xfrm>
              <a:off x="1535113" y="920636"/>
              <a:ext cx="158750" cy="300037"/>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95" name="Freeform 13">
              <a:extLst>
                <a:ext uri="{FF2B5EF4-FFF2-40B4-BE49-F238E27FC236}">
                  <a16:creationId xmlns:a16="http://schemas.microsoft.com/office/drawing/2014/main" id="{E9D6EC20-6DD3-5DAC-217A-07C4EB2F416A}"/>
                </a:ext>
              </a:extLst>
            </p:cNvPr>
            <p:cNvSpPr>
              <a:spLocks noEditPoints="1"/>
            </p:cNvSpPr>
            <p:nvPr userDrawn="1"/>
          </p:nvSpPr>
          <p:spPr bwMode="auto">
            <a:xfrm>
              <a:off x="1709738" y="988897"/>
              <a:ext cx="211138" cy="231777"/>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sp>
          <p:nvSpPr>
            <p:cNvPr id="96" name="Freeform 14">
              <a:extLst>
                <a:ext uri="{FF2B5EF4-FFF2-40B4-BE49-F238E27FC236}">
                  <a16:creationId xmlns:a16="http://schemas.microsoft.com/office/drawing/2014/main" id="{11D5E853-1B66-2874-3A22-32DE41252049}"/>
                </a:ext>
              </a:extLst>
            </p:cNvPr>
            <p:cNvSpPr>
              <a:spLocks noEditPoints="1"/>
            </p:cNvSpPr>
            <p:nvPr userDrawn="1"/>
          </p:nvSpPr>
          <p:spPr bwMode="auto">
            <a:xfrm>
              <a:off x="668339" y="988897"/>
              <a:ext cx="209550" cy="231781"/>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a:ln>
                  <a:noFill/>
                </a:ln>
                <a:solidFill>
                  <a:prstClr val="white"/>
                </a:solidFill>
                <a:effectLst/>
                <a:uLnTx/>
                <a:uFillTx/>
                <a:latin typeface="Aptos" panose="02110004020202020204"/>
                <a:ea typeface="+mn-ea"/>
                <a:cs typeface="Calibri" panose="020F0502020204030204" pitchFamily="34" charset="0"/>
                <a:sym typeface="Calibri" panose="020F0502020204030204" pitchFamily="34" charset="0"/>
              </a:endParaRPr>
            </a:p>
          </p:txBody>
        </p:sp>
      </p:grpSp>
      <p:pic>
        <p:nvPicPr>
          <p:cNvPr id="3" name="Picture 2">
            <a:extLst>
              <a:ext uri="{FF2B5EF4-FFF2-40B4-BE49-F238E27FC236}">
                <a16:creationId xmlns:a16="http://schemas.microsoft.com/office/drawing/2014/main" id="{6F69AD08-1AF0-7217-9907-F3B92F8AC186}"/>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460983" y="3004915"/>
            <a:ext cx="1241477" cy="361774"/>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B5D3D331-924B-BB82-9FE9-25B90605EF8C}"/>
              </a:ext>
            </a:extLst>
          </p:cNvPr>
          <p:cNvSpPr>
            <a:spLocks noGrp="1"/>
          </p:cNvSpPr>
          <p:nvPr>
            <p:ph type="title"/>
          </p:nvPr>
        </p:nvSpPr>
        <p:spPr/>
        <p:txBody>
          <a:bodyPr vert="horz" rIns="0"/>
          <a:lstStyle/>
          <a:p>
            <a:r>
              <a:rPr lang="en-US" noProof="0"/>
              <a:t>E.ON’s current situation and project objectives</a:t>
            </a:r>
          </a:p>
        </p:txBody>
      </p:sp>
      <p:sp>
        <p:nvSpPr>
          <p:cNvPr id="4" name="Textplatzhalter 3">
            <a:extLst>
              <a:ext uri="{FF2B5EF4-FFF2-40B4-BE49-F238E27FC236}">
                <a16:creationId xmlns:a16="http://schemas.microsoft.com/office/drawing/2014/main" id="{EA3E4891-6E02-42CD-2820-E224E3EAC7CC}"/>
              </a:ext>
            </a:extLst>
          </p:cNvPr>
          <p:cNvSpPr>
            <a:spLocks noGrp="1"/>
          </p:cNvSpPr>
          <p:nvPr>
            <p:ph type="body" sz="quarter" idx="10"/>
          </p:nvPr>
        </p:nvSpPr>
        <p:spPr/>
        <p:txBody>
          <a:bodyPr>
            <a:normAutofit/>
          </a:bodyPr>
          <a:lstStyle/>
          <a:p>
            <a:r>
              <a:rPr lang="en-US" noProof="0"/>
              <a:t>Increasing </a:t>
            </a:r>
            <a:r>
              <a:rPr lang="en-US" noProof="0" err="1"/>
              <a:t>complexit</a:t>
            </a:r>
            <a:r>
              <a:rPr lang="en-US"/>
              <a:t>y, margin pressure and acquisition activity stress the importance of seamless dataflows</a:t>
            </a:r>
            <a:endParaRPr lang="en-US" noProof="0">
              <a:solidFill>
                <a:schemeClr val="tx1"/>
              </a:solidFill>
            </a:endParaRPr>
          </a:p>
        </p:txBody>
      </p:sp>
    </p:spTree>
    <p:extLst>
      <p:ext uri="{BB962C8B-B14F-4D97-AF65-F5344CB8AC3E}">
        <p14:creationId xmlns:p14="http://schemas.microsoft.com/office/powerpoint/2010/main" val="320558358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1CB4A-3644-71BB-4F8E-60554FAC8194}"/>
            </a:ext>
          </a:extLst>
        </p:cNvPr>
        <p:cNvGrpSpPr/>
        <p:nvPr/>
      </p:nvGrpSpPr>
      <p:grpSpPr>
        <a:xfrm>
          <a:off x="0" y="0"/>
          <a:ext cx="0" cy="0"/>
          <a:chOff x="0" y="0"/>
          <a:chExt cx="0" cy="0"/>
        </a:xfrm>
      </p:grpSpPr>
      <p:sp>
        <p:nvSpPr>
          <p:cNvPr id="83" name="Rectangle 82">
            <a:extLst>
              <a:ext uri="{FF2B5EF4-FFF2-40B4-BE49-F238E27FC236}">
                <a16:creationId xmlns:a16="http://schemas.microsoft.com/office/drawing/2014/main" id="{9E2CD188-659C-D69C-0001-AAAC244B60C4}"/>
              </a:ext>
            </a:extLst>
          </p:cNvPr>
          <p:cNvSpPr/>
          <p:nvPr/>
        </p:nvSpPr>
        <p:spPr bwMode="gray">
          <a:xfrm>
            <a:off x="5472635" y="1096893"/>
            <a:ext cx="6296640" cy="195259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400" b="0" i="0" u="sng" strike="noStrike" kern="1200" cap="none" spc="0" normalizeH="0" baseline="0" noProof="0" err="1">
                <a:ln>
                  <a:noFill/>
                </a:ln>
                <a:solidFill>
                  <a:srgbClr val="FF0000"/>
                </a:solidFill>
                <a:effectLst/>
                <a:uLnTx/>
                <a:uFillTx/>
                <a:latin typeface="Aptos" panose="02110004020202020204"/>
                <a:ea typeface="+mn-ea"/>
                <a:cs typeface="+mn-cs"/>
              </a:rPr>
              <a:t>Realized</a:t>
            </a:r>
            <a:r>
              <a:rPr kumimoji="0" lang="de-DE" sz="1400" b="0" i="0" u="sng" strike="noStrike" kern="1200" cap="none" spc="0" normalizeH="0" baseline="0" noProof="0">
                <a:ln>
                  <a:noFill/>
                </a:ln>
                <a:solidFill>
                  <a:srgbClr val="FF0000"/>
                </a:solidFill>
                <a:effectLst/>
                <a:uLnTx/>
                <a:uFillTx/>
                <a:latin typeface="Aptos" panose="02110004020202020204"/>
                <a:ea typeface="+mn-ea"/>
                <a:cs typeface="+mn-cs"/>
              </a:rPr>
              <a:t> </a:t>
            </a:r>
            <a:r>
              <a:rPr kumimoji="0" lang="de-DE" sz="1400" b="0" i="0" u="sng" strike="noStrike" kern="1200" cap="none" spc="0" normalizeH="0" baseline="0" noProof="0" err="1">
                <a:ln>
                  <a:noFill/>
                </a:ln>
                <a:solidFill>
                  <a:srgbClr val="FF0000"/>
                </a:solidFill>
                <a:effectLst/>
                <a:uLnTx/>
                <a:uFillTx/>
                <a:latin typeface="Aptos" panose="02110004020202020204"/>
                <a:ea typeface="+mn-ea"/>
                <a:cs typeface="+mn-cs"/>
              </a:rPr>
              <a:t>Process</a:t>
            </a:r>
            <a:endParaRPr kumimoji="0" lang="de-DE" sz="1400" b="0" i="0" u="sng" strike="noStrike" kern="1200" cap="none" spc="0" normalizeH="0" baseline="0" noProof="0">
              <a:ln>
                <a:noFill/>
              </a:ln>
              <a:solidFill>
                <a:srgbClr val="FF0000"/>
              </a:solidFill>
              <a:effectLst/>
              <a:uLnTx/>
              <a:uFillTx/>
              <a:latin typeface="Aptos" panose="02110004020202020204"/>
              <a:ea typeface="+mn-ea"/>
              <a:cs typeface="+mn-cs"/>
            </a:endParaRPr>
          </a:p>
        </p:txBody>
      </p:sp>
      <p:graphicFrame>
        <p:nvGraphicFramePr>
          <p:cNvPr id="4" name="think-cell data - do not delete" hidden="1">
            <a:extLst>
              <a:ext uri="{FF2B5EF4-FFF2-40B4-BE49-F238E27FC236}">
                <a16:creationId xmlns:a16="http://schemas.microsoft.com/office/drawing/2014/main" id="{77CD5D25-828A-D325-1C93-C1796AFDE7C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24" imgH="623" progId="TCLayout.ActiveDocument.1">
                  <p:embed/>
                </p:oleObj>
              </mc:Choice>
              <mc:Fallback>
                <p:oleObj name="think-cell Slide" r:id="rId5" imgW="624" imgH="623" progId="TCLayout.ActiveDocument.1">
                  <p:embed/>
                  <p:pic>
                    <p:nvPicPr>
                      <p:cNvPr id="4" name="think-cell data - do not delete" hidden="1">
                        <a:extLst>
                          <a:ext uri="{FF2B5EF4-FFF2-40B4-BE49-F238E27FC236}">
                            <a16:creationId xmlns:a16="http://schemas.microsoft.com/office/drawing/2014/main" id="{77CD5D25-828A-D325-1C93-C1796AFDE7C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el 4">
            <a:extLst>
              <a:ext uri="{FF2B5EF4-FFF2-40B4-BE49-F238E27FC236}">
                <a16:creationId xmlns:a16="http://schemas.microsoft.com/office/drawing/2014/main" id="{AE2B6075-B715-E475-D60E-8770E2219FE9}"/>
              </a:ext>
            </a:extLst>
          </p:cNvPr>
          <p:cNvSpPr>
            <a:spLocks noGrp="1"/>
          </p:cNvSpPr>
          <p:nvPr>
            <p:ph type="title"/>
          </p:nvPr>
        </p:nvSpPr>
        <p:spPr/>
        <p:txBody>
          <a:bodyPr/>
          <a:lstStyle/>
          <a:p>
            <a:r>
              <a:rPr lang="en-US"/>
              <a:t>Our understanding of energy trading data flows</a:t>
            </a:r>
            <a:endParaRPr lang="de-DE"/>
          </a:p>
        </p:txBody>
      </p:sp>
      <p:sp>
        <p:nvSpPr>
          <p:cNvPr id="6" name="Textplatzhalter 5">
            <a:extLst>
              <a:ext uri="{FF2B5EF4-FFF2-40B4-BE49-F238E27FC236}">
                <a16:creationId xmlns:a16="http://schemas.microsoft.com/office/drawing/2014/main" id="{2D3E0EF0-3D58-D31B-5D62-39D11DA04C04}"/>
              </a:ext>
            </a:extLst>
          </p:cNvPr>
          <p:cNvSpPr>
            <a:spLocks noGrp="1"/>
          </p:cNvSpPr>
          <p:nvPr>
            <p:ph type="body" sz="quarter" idx="10"/>
          </p:nvPr>
        </p:nvSpPr>
        <p:spPr/>
        <p:txBody>
          <a:bodyPr/>
          <a:lstStyle/>
          <a:p>
            <a:r>
              <a:rPr lang="en-US"/>
              <a:t>Processing data from ETRM system through to ERP system can be complex</a:t>
            </a:r>
          </a:p>
        </p:txBody>
      </p:sp>
      <p:sp>
        <p:nvSpPr>
          <p:cNvPr id="2" name="TextBox 1">
            <a:extLst>
              <a:ext uri="{FF2B5EF4-FFF2-40B4-BE49-F238E27FC236}">
                <a16:creationId xmlns:a16="http://schemas.microsoft.com/office/drawing/2014/main" id="{2148DA1C-3F58-55F5-6592-7B51BDFC72F1}"/>
              </a:ext>
            </a:extLst>
          </p:cNvPr>
          <p:cNvSpPr txBox="1"/>
          <p:nvPr/>
        </p:nvSpPr>
        <p:spPr>
          <a:xfrm>
            <a:off x="439871" y="1575391"/>
            <a:ext cx="1066800"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de-DE" sz="1200" b="1" i="0" u="none" strike="noStrike" kern="1200" cap="none" spc="0" normalizeH="0" baseline="0" noProof="0">
                <a:ln>
                  <a:noFill/>
                </a:ln>
                <a:solidFill>
                  <a:prstClr val="black"/>
                </a:solidFill>
                <a:effectLst/>
                <a:uLnTx/>
                <a:uFillTx/>
                <a:latin typeface="Aptos" panose="02110004020202020204"/>
                <a:ea typeface="+mn-ea"/>
                <a:cs typeface="+mn-cs"/>
              </a:rPr>
              <a:t>Data Input</a:t>
            </a:r>
          </a:p>
        </p:txBody>
      </p:sp>
      <p:sp>
        <p:nvSpPr>
          <p:cNvPr id="3" name="Flowchart: Alternate Process 2">
            <a:extLst>
              <a:ext uri="{FF2B5EF4-FFF2-40B4-BE49-F238E27FC236}">
                <a16:creationId xmlns:a16="http://schemas.microsoft.com/office/drawing/2014/main" id="{7A364B9A-0B97-8260-A2D6-6C04A0B4FE14}"/>
              </a:ext>
            </a:extLst>
          </p:cNvPr>
          <p:cNvSpPr/>
          <p:nvPr/>
        </p:nvSpPr>
        <p:spPr bwMode="gray">
          <a:xfrm>
            <a:off x="564776" y="2193614"/>
            <a:ext cx="1380565" cy="417667"/>
          </a:xfrm>
          <a:prstGeom prst="flowChartAlternateProcess">
            <a:avLst/>
          </a:prstGeom>
          <a:noFill/>
          <a:ln w="19050" algn="ctr">
            <a:solidFill>
              <a:schemeClr val="accent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black"/>
                </a:solidFill>
                <a:effectLst/>
                <a:uLnTx/>
                <a:uFillTx/>
                <a:latin typeface="Aptos" panose="02110004020202020204"/>
                <a:ea typeface="+mn-ea"/>
                <a:cs typeface="+mn-cs"/>
              </a:rPr>
              <a:t>Exchange </a:t>
            </a:r>
            <a:r>
              <a:rPr kumimoji="0" lang="de-DE" sz="1200" b="1" i="0" u="none" strike="noStrike" kern="1200" cap="none" spc="0" normalizeH="0" baseline="0" noProof="0" err="1">
                <a:ln>
                  <a:noFill/>
                </a:ln>
                <a:solidFill>
                  <a:prstClr val="black"/>
                </a:solidFill>
                <a:effectLst/>
                <a:uLnTx/>
                <a:uFillTx/>
                <a:latin typeface="Aptos" panose="02110004020202020204"/>
                <a:ea typeface="+mn-ea"/>
                <a:cs typeface="+mn-cs"/>
              </a:rPr>
              <a:t>trades</a:t>
            </a:r>
            <a:endParaRPr kumimoji="0" lang="de-DE" sz="12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Flowchart: Alternate Process 12">
            <a:extLst>
              <a:ext uri="{FF2B5EF4-FFF2-40B4-BE49-F238E27FC236}">
                <a16:creationId xmlns:a16="http://schemas.microsoft.com/office/drawing/2014/main" id="{060BECD2-D210-C485-1A76-693F4F9FEC94}"/>
              </a:ext>
            </a:extLst>
          </p:cNvPr>
          <p:cNvSpPr/>
          <p:nvPr/>
        </p:nvSpPr>
        <p:spPr bwMode="gray">
          <a:xfrm>
            <a:off x="286871" y="2944726"/>
            <a:ext cx="1380565" cy="417667"/>
          </a:xfrm>
          <a:prstGeom prst="flowChartAlternateProcess">
            <a:avLst/>
          </a:prstGeom>
          <a:noFill/>
          <a:ln w="19050" algn="ctr">
            <a:solidFill>
              <a:schemeClr val="accent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black"/>
                </a:solidFill>
                <a:effectLst/>
                <a:uLnTx/>
                <a:uFillTx/>
                <a:latin typeface="Aptos" panose="02110004020202020204"/>
                <a:ea typeface="+mn-ea"/>
                <a:cs typeface="+mn-cs"/>
              </a:rPr>
              <a:t>Broker </a:t>
            </a:r>
            <a:r>
              <a:rPr kumimoji="0" lang="de-DE" sz="1200" b="1" i="0" u="none" strike="noStrike" kern="1200" cap="none" spc="0" normalizeH="0" baseline="0" noProof="0" err="1">
                <a:ln>
                  <a:noFill/>
                </a:ln>
                <a:solidFill>
                  <a:prstClr val="black"/>
                </a:solidFill>
                <a:effectLst/>
                <a:uLnTx/>
                <a:uFillTx/>
                <a:latin typeface="Aptos" panose="02110004020202020204"/>
                <a:ea typeface="+mn-ea"/>
                <a:cs typeface="+mn-cs"/>
              </a:rPr>
              <a:t>feeds</a:t>
            </a:r>
            <a:endParaRPr kumimoji="0" lang="de-DE" sz="12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Flowchart: Alternate Process 13">
            <a:extLst>
              <a:ext uri="{FF2B5EF4-FFF2-40B4-BE49-F238E27FC236}">
                <a16:creationId xmlns:a16="http://schemas.microsoft.com/office/drawing/2014/main" id="{94E34BC4-5E4C-59E2-8536-8695743EB87A}"/>
              </a:ext>
            </a:extLst>
          </p:cNvPr>
          <p:cNvSpPr/>
          <p:nvPr/>
        </p:nvSpPr>
        <p:spPr bwMode="gray">
          <a:xfrm>
            <a:off x="564775" y="3695838"/>
            <a:ext cx="1380565" cy="417667"/>
          </a:xfrm>
          <a:prstGeom prst="flowChartAlternateProcess">
            <a:avLst/>
          </a:prstGeom>
          <a:noFill/>
          <a:ln w="19050" algn="ctr">
            <a:solidFill>
              <a:schemeClr val="accent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black"/>
                </a:solidFill>
                <a:effectLst/>
                <a:uLnTx/>
                <a:uFillTx/>
                <a:latin typeface="Aptos" panose="02110004020202020204"/>
                <a:ea typeface="+mn-ea"/>
                <a:cs typeface="+mn-cs"/>
              </a:rPr>
              <a:t>Other OTC</a:t>
            </a:r>
          </a:p>
        </p:txBody>
      </p:sp>
      <p:sp>
        <p:nvSpPr>
          <p:cNvPr id="87" name="Rectangle 86">
            <a:extLst>
              <a:ext uri="{FF2B5EF4-FFF2-40B4-BE49-F238E27FC236}">
                <a16:creationId xmlns:a16="http://schemas.microsoft.com/office/drawing/2014/main" id="{2CE5AECD-40B0-5979-029A-165CF9703332}"/>
              </a:ext>
            </a:extLst>
          </p:cNvPr>
          <p:cNvSpPr/>
          <p:nvPr/>
        </p:nvSpPr>
        <p:spPr bwMode="gray">
          <a:xfrm>
            <a:off x="5472635" y="3091445"/>
            <a:ext cx="6296640" cy="2846795"/>
          </a:xfrm>
          <a:prstGeom prst="rect">
            <a:avLst/>
          </a:prstGeom>
          <a:solidFill>
            <a:schemeClr val="bg2"/>
          </a:solidFill>
          <a:ln>
            <a:solidFill>
              <a:schemeClr val="bg2"/>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b"/>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400" b="0" i="0" u="sng" strike="noStrike" kern="1200" cap="none" spc="0" normalizeH="0" baseline="0" noProof="0" err="1">
                <a:ln>
                  <a:noFill/>
                </a:ln>
                <a:solidFill>
                  <a:srgbClr val="FF0000"/>
                </a:solidFill>
                <a:effectLst/>
                <a:uLnTx/>
                <a:uFillTx/>
                <a:latin typeface="Aptos" panose="02110004020202020204"/>
                <a:ea typeface="+mn-ea"/>
                <a:cs typeface="+mn-cs"/>
              </a:rPr>
              <a:t>Unrealized</a:t>
            </a:r>
            <a:r>
              <a:rPr kumimoji="0" lang="de-DE" sz="1400" b="0" i="0" u="sng" strike="noStrike" kern="1200" cap="none" spc="0" normalizeH="0" baseline="0" noProof="0">
                <a:ln>
                  <a:noFill/>
                </a:ln>
                <a:solidFill>
                  <a:srgbClr val="FF0000"/>
                </a:solidFill>
                <a:effectLst/>
                <a:uLnTx/>
                <a:uFillTx/>
                <a:latin typeface="Aptos" panose="02110004020202020204"/>
                <a:ea typeface="+mn-ea"/>
                <a:cs typeface="+mn-cs"/>
              </a:rPr>
              <a:t> </a:t>
            </a:r>
            <a:r>
              <a:rPr kumimoji="0" lang="de-DE" sz="1400" b="0" i="0" u="sng" strike="noStrike" kern="1200" cap="none" spc="0" normalizeH="0" baseline="0" noProof="0" err="1">
                <a:ln>
                  <a:noFill/>
                </a:ln>
                <a:solidFill>
                  <a:srgbClr val="FF0000"/>
                </a:solidFill>
                <a:effectLst/>
                <a:uLnTx/>
                <a:uFillTx/>
                <a:latin typeface="Aptos" panose="02110004020202020204"/>
                <a:ea typeface="+mn-ea"/>
                <a:cs typeface="+mn-cs"/>
              </a:rPr>
              <a:t>Process</a:t>
            </a:r>
            <a:endParaRPr kumimoji="0" lang="de-DE" sz="1400" b="0" i="0" u="sng"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17" name="Flowchart: Magnetic Disk 16">
            <a:extLst>
              <a:ext uri="{FF2B5EF4-FFF2-40B4-BE49-F238E27FC236}">
                <a16:creationId xmlns:a16="http://schemas.microsoft.com/office/drawing/2014/main" id="{36A8DD7F-77E2-702B-2CBE-4C160725E4CB}"/>
              </a:ext>
            </a:extLst>
          </p:cNvPr>
          <p:cNvSpPr/>
          <p:nvPr/>
        </p:nvSpPr>
        <p:spPr bwMode="gray">
          <a:xfrm>
            <a:off x="2985247" y="2664982"/>
            <a:ext cx="1559859" cy="977153"/>
          </a:xfrm>
          <a:prstGeom prst="flowChartMagneticDisk">
            <a:avLst/>
          </a:prstGeom>
          <a:solidFill>
            <a:schemeClr val="accent1"/>
          </a:solidFill>
          <a:ln w="19050" algn="ctr">
            <a:solidFill>
              <a:schemeClr val="bg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white"/>
                </a:solidFill>
                <a:effectLst/>
                <a:uLnTx/>
                <a:uFillTx/>
                <a:latin typeface="Aptos" panose="02110004020202020204"/>
                <a:ea typeface="+mn-ea"/>
                <a:cs typeface="+mn-cs"/>
              </a:rPr>
              <a:t>ETRM</a:t>
            </a:r>
            <a:endParaRPr kumimoji="0" lang="de-DE" sz="1400" b="1"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000" b="0" i="0" u="none" strike="noStrike" kern="1200" cap="none" spc="0" normalizeH="0" baseline="0" noProof="0">
                <a:ln>
                  <a:noFill/>
                </a:ln>
                <a:solidFill>
                  <a:prstClr val="white"/>
                </a:solidFill>
                <a:effectLst/>
                <a:uLnTx/>
                <a:uFillTx/>
                <a:latin typeface="Aptos" panose="02110004020202020204"/>
                <a:ea typeface="+mn-ea"/>
                <a:cs typeface="+mn-cs"/>
              </a:rPr>
              <a:t>(e.g., Allegro)</a:t>
            </a:r>
          </a:p>
        </p:txBody>
      </p:sp>
      <p:grpSp>
        <p:nvGrpSpPr>
          <p:cNvPr id="24" name="Group 23">
            <a:extLst>
              <a:ext uri="{FF2B5EF4-FFF2-40B4-BE49-F238E27FC236}">
                <a16:creationId xmlns:a16="http://schemas.microsoft.com/office/drawing/2014/main" id="{74E3E27E-E3FD-2F31-670A-5DA2D958490F}"/>
              </a:ext>
            </a:extLst>
          </p:cNvPr>
          <p:cNvGrpSpPr>
            <a:grpSpLocks noChangeAspect="1"/>
          </p:cNvGrpSpPr>
          <p:nvPr/>
        </p:nvGrpSpPr>
        <p:grpSpPr>
          <a:xfrm rot="972511">
            <a:off x="2277938" y="2472374"/>
            <a:ext cx="510464" cy="277813"/>
            <a:chOff x="4867835" y="1739153"/>
            <a:chExt cx="955382" cy="519953"/>
          </a:xfrm>
        </p:grpSpPr>
        <p:sp>
          <p:nvSpPr>
            <p:cNvPr id="19" name="Oval 18">
              <a:extLst>
                <a:ext uri="{FF2B5EF4-FFF2-40B4-BE49-F238E27FC236}">
                  <a16:creationId xmlns:a16="http://schemas.microsoft.com/office/drawing/2014/main" id="{53CED61C-CD9C-61B0-7FB9-B28366147B23}"/>
                </a:ext>
              </a:extLst>
            </p:cNvPr>
            <p:cNvSpPr/>
            <p:nvPr/>
          </p:nvSpPr>
          <p:spPr bwMode="gray">
            <a:xfrm>
              <a:off x="4867835" y="1739153"/>
              <a:ext cx="645459" cy="519953"/>
            </a:xfrm>
            <a:prstGeom prst="ellipse">
              <a:avLst/>
            </a:prstGeom>
            <a:noFill/>
            <a:ln w="19050" algn="ctr">
              <a:solidFill>
                <a:schemeClr val="tx1"/>
              </a:solid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3" name="Oval 22">
              <a:extLst>
                <a:ext uri="{FF2B5EF4-FFF2-40B4-BE49-F238E27FC236}">
                  <a16:creationId xmlns:a16="http://schemas.microsoft.com/office/drawing/2014/main" id="{B1FC55FD-4720-C593-FB38-9CB6568F7E72}"/>
                </a:ext>
              </a:extLst>
            </p:cNvPr>
            <p:cNvSpPr/>
            <p:nvPr/>
          </p:nvSpPr>
          <p:spPr bwMode="gray">
            <a:xfrm>
              <a:off x="5177758" y="1739153"/>
              <a:ext cx="645459" cy="519953"/>
            </a:xfrm>
            <a:prstGeom prst="ellipse">
              <a:avLst/>
            </a:prstGeom>
            <a:noFill/>
            <a:ln w="19050" algn="ctr">
              <a:solidFill>
                <a:schemeClr val="tx1"/>
              </a:solid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pSp>
      <p:grpSp>
        <p:nvGrpSpPr>
          <p:cNvPr id="25" name="Group 24">
            <a:extLst>
              <a:ext uri="{FF2B5EF4-FFF2-40B4-BE49-F238E27FC236}">
                <a16:creationId xmlns:a16="http://schemas.microsoft.com/office/drawing/2014/main" id="{9EBF6255-DB53-7FB5-3066-B7DE5E4B4ACA}"/>
              </a:ext>
            </a:extLst>
          </p:cNvPr>
          <p:cNvGrpSpPr>
            <a:grpSpLocks noChangeAspect="1"/>
          </p:cNvGrpSpPr>
          <p:nvPr/>
        </p:nvGrpSpPr>
        <p:grpSpPr>
          <a:xfrm>
            <a:off x="2153088" y="3085464"/>
            <a:ext cx="510464" cy="277813"/>
            <a:chOff x="4867835" y="1739153"/>
            <a:chExt cx="955382" cy="519953"/>
          </a:xfrm>
        </p:grpSpPr>
        <p:sp>
          <p:nvSpPr>
            <p:cNvPr id="26" name="Oval 25">
              <a:extLst>
                <a:ext uri="{FF2B5EF4-FFF2-40B4-BE49-F238E27FC236}">
                  <a16:creationId xmlns:a16="http://schemas.microsoft.com/office/drawing/2014/main" id="{9D73997D-FDB9-FECE-0A2A-5707DEF1C321}"/>
                </a:ext>
              </a:extLst>
            </p:cNvPr>
            <p:cNvSpPr/>
            <p:nvPr/>
          </p:nvSpPr>
          <p:spPr bwMode="gray">
            <a:xfrm>
              <a:off x="4867835" y="1739153"/>
              <a:ext cx="645459" cy="519953"/>
            </a:xfrm>
            <a:prstGeom prst="ellipse">
              <a:avLst/>
            </a:prstGeom>
            <a:noFill/>
            <a:ln w="19050" algn="ctr">
              <a:solidFill>
                <a:schemeClr val="tx1"/>
              </a:solid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3552DA15-09B3-188B-EE09-B3A9BD4CEEF5}"/>
                </a:ext>
              </a:extLst>
            </p:cNvPr>
            <p:cNvSpPr/>
            <p:nvPr/>
          </p:nvSpPr>
          <p:spPr bwMode="gray">
            <a:xfrm>
              <a:off x="5177758" y="1739153"/>
              <a:ext cx="645459" cy="519953"/>
            </a:xfrm>
            <a:prstGeom prst="ellipse">
              <a:avLst/>
            </a:prstGeom>
            <a:noFill/>
            <a:ln w="19050" algn="ctr">
              <a:solidFill>
                <a:schemeClr val="tx1"/>
              </a:solid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pSp>
      <p:sp>
        <p:nvSpPr>
          <p:cNvPr id="36" name="TextBox 35">
            <a:extLst>
              <a:ext uri="{FF2B5EF4-FFF2-40B4-BE49-F238E27FC236}">
                <a16:creationId xmlns:a16="http://schemas.microsoft.com/office/drawing/2014/main" id="{CB3AA2FA-75DD-F1B2-7525-D70D82976CF0}"/>
              </a:ext>
            </a:extLst>
          </p:cNvPr>
          <p:cNvSpPr txBox="1"/>
          <p:nvPr/>
        </p:nvSpPr>
        <p:spPr>
          <a:xfrm>
            <a:off x="2186763" y="2821120"/>
            <a:ext cx="622391"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Interfaces</a:t>
            </a:r>
          </a:p>
        </p:txBody>
      </p:sp>
      <p:cxnSp>
        <p:nvCxnSpPr>
          <p:cNvPr id="47" name="Straight Arrow Connector 46">
            <a:extLst>
              <a:ext uri="{FF2B5EF4-FFF2-40B4-BE49-F238E27FC236}">
                <a16:creationId xmlns:a16="http://schemas.microsoft.com/office/drawing/2014/main" id="{669B1113-5248-6DF2-DA3A-46D7003F2585}"/>
              </a:ext>
            </a:extLst>
          </p:cNvPr>
          <p:cNvCxnSpPr>
            <a:cxnSpLocks/>
            <a:stCxn id="14" idx="3"/>
          </p:cNvCxnSpPr>
          <p:nvPr/>
        </p:nvCxnSpPr>
        <p:spPr>
          <a:xfrm flipV="1">
            <a:off x="1945340" y="3494724"/>
            <a:ext cx="871691" cy="409948"/>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4EEF093-6EC9-93FF-D642-EC93B9BC7C9A}"/>
              </a:ext>
            </a:extLst>
          </p:cNvPr>
          <p:cNvSpPr txBox="1"/>
          <p:nvPr/>
        </p:nvSpPr>
        <p:spPr>
          <a:xfrm rot="20049534">
            <a:off x="1923596" y="3741862"/>
            <a:ext cx="1172817"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Manual </a:t>
            </a:r>
            <a:r>
              <a:rPr kumimoji="0" lang="de-DE" sz="1100" b="0" i="0" u="none" strike="noStrike" kern="1200" cap="none" spc="0" normalizeH="0" baseline="0" noProof="0" err="1">
                <a:ln>
                  <a:noFill/>
                </a:ln>
                <a:solidFill>
                  <a:prstClr val="black"/>
                </a:solidFill>
                <a:effectLst/>
                <a:uLnTx/>
                <a:uFillTx/>
                <a:latin typeface="Aptos" panose="02110004020202020204"/>
                <a:ea typeface="+mn-ea"/>
                <a:cs typeface="+mn-cs"/>
              </a:rPr>
              <a:t>data</a:t>
            </a: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1100" b="0" i="0" u="none" strike="noStrike" kern="1200" cap="none" spc="0" normalizeH="0" baseline="0" noProof="0" err="1">
                <a:ln>
                  <a:noFill/>
                </a:ln>
                <a:solidFill>
                  <a:prstClr val="black"/>
                </a:solidFill>
                <a:effectLst/>
                <a:uLnTx/>
                <a:uFillTx/>
                <a:latin typeface="Aptos" panose="02110004020202020204"/>
                <a:ea typeface="+mn-ea"/>
                <a:cs typeface="+mn-cs"/>
              </a:rPr>
              <a:t>entry</a:t>
            </a:r>
            <a:endParaRPr kumimoji="0" lang="de-DE" sz="11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1" name="Flowchart: Magnetic Disk 50">
            <a:extLst>
              <a:ext uri="{FF2B5EF4-FFF2-40B4-BE49-F238E27FC236}">
                <a16:creationId xmlns:a16="http://schemas.microsoft.com/office/drawing/2014/main" id="{766D6B16-F2F3-217B-7891-C23766E649A1}"/>
              </a:ext>
            </a:extLst>
          </p:cNvPr>
          <p:cNvSpPr/>
          <p:nvPr/>
        </p:nvSpPr>
        <p:spPr bwMode="gray">
          <a:xfrm>
            <a:off x="5478076" y="2664982"/>
            <a:ext cx="1559859" cy="977153"/>
          </a:xfrm>
          <a:prstGeom prst="flowChartMagneticDisk">
            <a:avLst/>
          </a:prstGeom>
          <a:solidFill>
            <a:schemeClr val="accent1"/>
          </a:solidFill>
          <a:ln w="19050" algn="ctr">
            <a:solidFill>
              <a:schemeClr val="bg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white"/>
                </a:solidFill>
                <a:effectLst/>
                <a:uLnTx/>
                <a:uFillTx/>
                <a:latin typeface="Aptos" panose="02110004020202020204"/>
                <a:ea typeface="+mn-ea"/>
                <a:cs typeface="+mn-cs"/>
              </a:rPr>
              <a:t>Database</a:t>
            </a:r>
            <a:endParaRPr kumimoji="0" lang="de-DE" sz="1400" b="1"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000" b="0" i="0" u="none" strike="noStrike" kern="1200" cap="none" spc="0" normalizeH="0" baseline="0" noProof="0">
                <a:ln>
                  <a:noFill/>
                </a:ln>
                <a:solidFill>
                  <a:prstClr val="white"/>
                </a:solidFill>
                <a:effectLst/>
                <a:uLnTx/>
                <a:uFillTx/>
                <a:latin typeface="Aptos" panose="02110004020202020204"/>
                <a:ea typeface="+mn-ea"/>
                <a:cs typeface="+mn-cs"/>
              </a:rPr>
              <a:t>(e.g., Snowflake)</a:t>
            </a:r>
          </a:p>
        </p:txBody>
      </p:sp>
      <p:cxnSp>
        <p:nvCxnSpPr>
          <p:cNvPr id="53" name="Straight Arrow Connector 52">
            <a:extLst>
              <a:ext uri="{FF2B5EF4-FFF2-40B4-BE49-F238E27FC236}">
                <a16:creationId xmlns:a16="http://schemas.microsoft.com/office/drawing/2014/main" id="{2233D29B-CB8C-5C7C-19C5-656EDB52A79F}"/>
              </a:ext>
            </a:extLst>
          </p:cNvPr>
          <p:cNvCxnSpPr>
            <a:stCxn id="17" idx="4"/>
            <a:endCxn id="51" idx="2"/>
          </p:cNvCxnSpPr>
          <p:nvPr/>
        </p:nvCxnSpPr>
        <p:spPr>
          <a:xfrm>
            <a:off x="4545106" y="3153559"/>
            <a:ext cx="932970"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F10E7B0-1F15-D05C-1CD5-CB08603CA2B2}"/>
              </a:ext>
            </a:extLst>
          </p:cNvPr>
          <p:cNvSpPr txBox="1"/>
          <p:nvPr/>
        </p:nvSpPr>
        <p:spPr>
          <a:xfrm>
            <a:off x="4694136" y="3391921"/>
            <a:ext cx="622391"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EOD </a:t>
            </a:r>
            <a:r>
              <a:rPr kumimoji="0" lang="de-DE" sz="1100" b="0" i="0" u="none" strike="noStrike" kern="1200" cap="none" spc="0" normalizeH="0" baseline="0" noProof="0" err="1">
                <a:ln>
                  <a:noFill/>
                </a:ln>
                <a:solidFill>
                  <a:prstClr val="black"/>
                </a:solidFill>
                <a:effectLst/>
                <a:uLnTx/>
                <a:uFillTx/>
                <a:latin typeface="Aptos" panose="02110004020202020204"/>
                <a:ea typeface="+mn-ea"/>
                <a:cs typeface="+mn-cs"/>
              </a:rPr>
              <a:t>runs</a:t>
            </a:r>
            <a:endParaRPr kumimoji="0" lang="de-DE" sz="11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de-DE" sz="800" b="0" i="0" u="none" strike="noStrike" kern="1200" cap="none" spc="0" normalizeH="0" baseline="0" noProof="0">
                <a:ln>
                  <a:noFill/>
                </a:ln>
                <a:solidFill>
                  <a:prstClr val="black"/>
                </a:solidFill>
                <a:effectLst/>
                <a:uLnTx/>
                <a:uFillTx/>
                <a:latin typeface="Aptos" panose="02110004020202020204"/>
                <a:ea typeface="+mn-ea"/>
                <a:cs typeface="+mn-cs"/>
              </a:rPr>
              <a:t>(</a:t>
            </a:r>
            <a:r>
              <a:rPr kumimoji="0" lang="de-DE" sz="800" b="0" i="0" u="none" strike="noStrike" kern="1200" cap="none" spc="0" normalizeH="0" baseline="0" noProof="0" err="1">
                <a:ln>
                  <a:noFill/>
                </a:ln>
                <a:solidFill>
                  <a:prstClr val="black"/>
                </a:solidFill>
                <a:effectLst/>
                <a:uLnTx/>
                <a:uFillTx/>
                <a:latin typeface="Aptos" panose="02110004020202020204"/>
                <a:ea typeface="+mn-ea"/>
                <a:cs typeface="+mn-cs"/>
              </a:rPr>
              <a:t>potentially</a:t>
            </a:r>
            <a:r>
              <a:rPr kumimoji="0" lang="de-DE" sz="800" b="0" i="0" u="none" strike="noStrike" kern="1200" cap="none" spc="0" normalizeH="0" baseline="0" noProof="0">
                <a:ln>
                  <a:noFill/>
                </a:ln>
                <a:solidFill>
                  <a:prstClr val="black"/>
                </a:solidFill>
                <a:effectLst/>
                <a:uLnTx/>
                <a:uFillTx/>
                <a:latin typeface="Aptos" panose="02110004020202020204"/>
                <a:ea typeface="+mn-ea"/>
                <a:cs typeface="+mn-cs"/>
              </a:rPr>
              <a:t> additional </a:t>
            </a:r>
            <a:r>
              <a:rPr kumimoji="0" lang="de-DE" sz="800" b="0" i="0" u="none" strike="noStrike" kern="1200" cap="none" spc="0" normalizeH="0" baseline="0" noProof="0" err="1">
                <a:ln>
                  <a:noFill/>
                </a:ln>
                <a:solidFill>
                  <a:prstClr val="black"/>
                </a:solidFill>
                <a:effectLst/>
                <a:uLnTx/>
                <a:uFillTx/>
                <a:latin typeface="Aptos" panose="02110004020202020204"/>
                <a:ea typeface="+mn-ea"/>
                <a:cs typeface="+mn-cs"/>
              </a:rPr>
              <a:t>daily</a:t>
            </a:r>
            <a:r>
              <a:rPr kumimoji="0" lang="de-DE" sz="8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800" b="0" i="0" u="none" strike="noStrike" kern="1200" cap="none" spc="0" normalizeH="0" baseline="0" noProof="0" err="1">
                <a:ln>
                  <a:noFill/>
                </a:ln>
                <a:solidFill>
                  <a:prstClr val="black"/>
                </a:solidFill>
                <a:effectLst/>
                <a:uLnTx/>
                <a:uFillTx/>
                <a:latin typeface="Aptos" panose="02110004020202020204"/>
                <a:ea typeface="+mn-ea"/>
                <a:cs typeface="+mn-cs"/>
              </a:rPr>
              <a:t>runs</a:t>
            </a:r>
            <a:r>
              <a:rPr kumimoji="0" lang="de-DE" sz="800" b="0" i="0" u="none" strike="noStrike" kern="1200" cap="none" spc="0" normalizeH="0" baseline="0" noProof="0">
                <a:ln>
                  <a:noFill/>
                </a:ln>
                <a:solidFill>
                  <a:prstClr val="black"/>
                </a:solidFill>
                <a:effectLst/>
                <a:uLnTx/>
                <a:uFillTx/>
                <a:latin typeface="Aptos" panose="02110004020202020204"/>
                <a:ea typeface="+mn-ea"/>
                <a:cs typeface="+mn-cs"/>
              </a:rPr>
              <a:t>)</a:t>
            </a:r>
            <a:endParaRPr kumimoji="0" lang="de-DE" sz="11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5" name="Flowchart: Magnetic Disk 54">
            <a:extLst>
              <a:ext uri="{FF2B5EF4-FFF2-40B4-BE49-F238E27FC236}">
                <a16:creationId xmlns:a16="http://schemas.microsoft.com/office/drawing/2014/main" id="{D424D0B7-1BF0-22A3-7DCF-C1BCFF61FF09}"/>
              </a:ext>
            </a:extLst>
          </p:cNvPr>
          <p:cNvSpPr/>
          <p:nvPr/>
        </p:nvSpPr>
        <p:spPr bwMode="gray">
          <a:xfrm>
            <a:off x="2985246" y="4837091"/>
            <a:ext cx="1559859" cy="977153"/>
          </a:xfrm>
          <a:prstGeom prst="flowChartMagneticDisk">
            <a:avLst/>
          </a:prstGeom>
          <a:noFill/>
          <a:ln w="19050" algn="ctr">
            <a:solidFill>
              <a:schemeClr val="accent1"/>
            </a:solidFill>
            <a:prstDash val="dash"/>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000" b="1" i="1" u="none" strike="noStrike" kern="1200" cap="none" spc="0" normalizeH="0" baseline="0" noProof="0">
                <a:ln>
                  <a:noFill/>
                </a:ln>
                <a:solidFill>
                  <a:prstClr val="black"/>
                </a:solidFill>
                <a:effectLst/>
                <a:uLnTx/>
                <a:uFillTx/>
                <a:latin typeface="Aptos" panose="02110004020202020204"/>
                <a:ea typeface="+mn-ea"/>
                <a:cs typeface="+mn-cs"/>
              </a:rPr>
              <a:t>External parallel deal </a:t>
            </a:r>
            <a:r>
              <a:rPr kumimoji="0" lang="de-DE" sz="1000" b="1" i="1" u="none" strike="noStrike" kern="1200" cap="none" spc="0" normalizeH="0" baseline="0" noProof="0" err="1">
                <a:ln>
                  <a:noFill/>
                </a:ln>
                <a:solidFill>
                  <a:prstClr val="black"/>
                </a:solidFill>
                <a:effectLst/>
                <a:uLnTx/>
                <a:uFillTx/>
                <a:latin typeface="Aptos" panose="02110004020202020204"/>
                <a:ea typeface="+mn-ea"/>
                <a:cs typeface="+mn-cs"/>
              </a:rPr>
              <a:t>maintenance</a:t>
            </a:r>
            <a:r>
              <a:rPr kumimoji="0" lang="de-DE" sz="1000" b="1" i="1" u="none" strike="noStrike" kern="1200" cap="none" spc="0" normalizeH="0" baseline="0" noProof="0">
                <a:ln>
                  <a:noFill/>
                </a:ln>
                <a:solidFill>
                  <a:prstClr val="black"/>
                </a:solidFill>
                <a:effectLst/>
                <a:uLnTx/>
                <a:uFillTx/>
                <a:latin typeface="Aptos" panose="02110004020202020204"/>
                <a:ea typeface="+mn-ea"/>
                <a:cs typeface="+mn-cs"/>
              </a:rPr>
              <a:t>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000" b="0" i="0" u="none" strike="noStrike" kern="1200" cap="none" spc="0" normalizeH="0" baseline="0" noProof="0">
                <a:ln>
                  <a:noFill/>
                </a:ln>
                <a:solidFill>
                  <a:prstClr val="black"/>
                </a:solidFill>
                <a:effectLst/>
                <a:uLnTx/>
                <a:uFillTx/>
                <a:latin typeface="Aptos" panose="02110004020202020204"/>
                <a:ea typeface="+mn-ea"/>
                <a:cs typeface="+mn-cs"/>
              </a:rPr>
              <a:t>(e.g., PPAs)</a:t>
            </a:r>
            <a:endParaRPr kumimoji="0" lang="de-DE" sz="10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58" name="Straight Arrow Connector 57">
            <a:extLst>
              <a:ext uri="{FF2B5EF4-FFF2-40B4-BE49-F238E27FC236}">
                <a16:creationId xmlns:a16="http://schemas.microsoft.com/office/drawing/2014/main" id="{5725680B-9545-3C02-5392-A94A878B65B7}"/>
              </a:ext>
            </a:extLst>
          </p:cNvPr>
          <p:cNvCxnSpPr>
            <a:cxnSpLocks/>
            <a:stCxn id="65" idx="0"/>
            <a:endCxn id="17" idx="3"/>
          </p:cNvCxnSpPr>
          <p:nvPr/>
        </p:nvCxnSpPr>
        <p:spPr>
          <a:xfrm flipV="1">
            <a:off x="3765175" y="3642135"/>
            <a:ext cx="2" cy="57099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7F20DC5-B526-3A84-BB28-5DAFB26CC828}"/>
              </a:ext>
            </a:extLst>
          </p:cNvPr>
          <p:cNvCxnSpPr>
            <a:cxnSpLocks/>
            <a:stCxn id="65" idx="6"/>
            <a:endCxn id="51" idx="3"/>
          </p:cNvCxnSpPr>
          <p:nvPr/>
        </p:nvCxnSpPr>
        <p:spPr>
          <a:xfrm flipV="1">
            <a:off x="3950232" y="3642135"/>
            <a:ext cx="2307774" cy="76083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091F794F-A542-19C8-4C3B-DC65C6481440}"/>
              </a:ext>
            </a:extLst>
          </p:cNvPr>
          <p:cNvSpPr txBox="1"/>
          <p:nvPr/>
        </p:nvSpPr>
        <p:spPr>
          <a:xfrm>
            <a:off x="2690962" y="4507407"/>
            <a:ext cx="1172817"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Manual </a:t>
            </a:r>
            <a:r>
              <a:rPr kumimoji="0" lang="de-DE" sz="1100" b="0" i="0" u="none" strike="noStrike" kern="1200" cap="none" spc="0" normalizeH="0" baseline="0" noProof="0" err="1">
                <a:ln>
                  <a:noFill/>
                </a:ln>
                <a:solidFill>
                  <a:prstClr val="black"/>
                </a:solidFill>
                <a:effectLst/>
                <a:uLnTx/>
                <a:uFillTx/>
                <a:latin typeface="Aptos" panose="02110004020202020204"/>
                <a:ea typeface="+mn-ea"/>
                <a:cs typeface="+mn-cs"/>
              </a:rPr>
              <a:t>upload</a:t>
            </a:r>
            <a:endParaRPr kumimoji="0" lang="de-DE" sz="11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5" name="Flowchart: Or 64">
            <a:extLst>
              <a:ext uri="{FF2B5EF4-FFF2-40B4-BE49-F238E27FC236}">
                <a16:creationId xmlns:a16="http://schemas.microsoft.com/office/drawing/2014/main" id="{776C3D86-D475-F8CE-B771-E1631A3FA39C}"/>
              </a:ext>
            </a:extLst>
          </p:cNvPr>
          <p:cNvSpPr/>
          <p:nvPr/>
        </p:nvSpPr>
        <p:spPr bwMode="gray">
          <a:xfrm>
            <a:off x="3580118" y="4213128"/>
            <a:ext cx="370114" cy="379675"/>
          </a:xfrm>
          <a:prstGeom prst="flowChartOr">
            <a:avLst/>
          </a:prstGeom>
          <a:solidFill>
            <a:schemeClr val="accent2"/>
          </a:solidFill>
          <a:ln w="19050" algn="ctr">
            <a:solidFill>
              <a:schemeClr val="tx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cxnSp>
        <p:nvCxnSpPr>
          <p:cNvPr id="70" name="Straight Connector 69">
            <a:extLst>
              <a:ext uri="{FF2B5EF4-FFF2-40B4-BE49-F238E27FC236}">
                <a16:creationId xmlns:a16="http://schemas.microsoft.com/office/drawing/2014/main" id="{A61252DE-756A-2888-0EED-D019C863025B}"/>
              </a:ext>
            </a:extLst>
          </p:cNvPr>
          <p:cNvCxnSpPr>
            <a:stCxn id="55" idx="1"/>
            <a:endCxn id="65" idx="4"/>
          </p:cNvCxnSpPr>
          <p:nvPr/>
        </p:nvCxnSpPr>
        <p:spPr>
          <a:xfrm flipH="1" flipV="1">
            <a:off x="3765175" y="4592803"/>
            <a:ext cx="1" cy="244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D446C4BA-EB2A-5C6D-5428-164E8DD2EA25}"/>
              </a:ext>
            </a:extLst>
          </p:cNvPr>
          <p:cNvGrpSpPr/>
          <p:nvPr/>
        </p:nvGrpSpPr>
        <p:grpSpPr>
          <a:xfrm>
            <a:off x="5602024" y="1888563"/>
            <a:ext cx="1311962" cy="576496"/>
            <a:chOff x="5725974" y="3914791"/>
            <a:chExt cx="1311962" cy="576496"/>
          </a:xfrm>
        </p:grpSpPr>
        <p:sp>
          <p:nvSpPr>
            <p:cNvPr id="75" name="Graphic 6">
              <a:extLst>
                <a:ext uri="{FF2B5EF4-FFF2-40B4-BE49-F238E27FC236}">
                  <a16:creationId xmlns:a16="http://schemas.microsoft.com/office/drawing/2014/main" id="{501705AA-7514-BF26-A1B2-044863AA1F70}"/>
                </a:ext>
              </a:extLst>
            </p:cNvPr>
            <p:cNvSpPr>
              <a:spLocks noChangeAspect="1"/>
            </p:cNvSpPr>
            <p:nvPr/>
          </p:nvSpPr>
          <p:spPr>
            <a:xfrm>
              <a:off x="5725974" y="3914791"/>
              <a:ext cx="368745" cy="557265"/>
            </a:xfrm>
            <a:custGeom>
              <a:avLst/>
              <a:gdLst>
                <a:gd name="connsiteX0" fmla="*/ 63899 w 100961"/>
                <a:gd name="connsiteY0" fmla="*/ 56179 h 152577"/>
                <a:gd name="connsiteX1" fmla="*/ 63261 w 100961"/>
                <a:gd name="connsiteY1" fmla="*/ 49795 h 152577"/>
                <a:gd name="connsiteX2" fmla="*/ 85625 w 100961"/>
                <a:gd name="connsiteY2" fmla="*/ 0 h 152577"/>
                <a:gd name="connsiteX3" fmla="*/ 33867 w 100961"/>
                <a:gd name="connsiteY3" fmla="*/ 0 h 152577"/>
                <a:gd name="connsiteX4" fmla="*/ 0 w 100961"/>
                <a:gd name="connsiteY4" fmla="*/ 79162 h 152577"/>
                <a:gd name="connsiteX5" fmla="*/ 29394 w 100961"/>
                <a:gd name="connsiteY5" fmla="*/ 79162 h 152577"/>
                <a:gd name="connsiteX6" fmla="*/ 34506 w 100961"/>
                <a:gd name="connsiteY6" fmla="*/ 81715 h 152577"/>
                <a:gd name="connsiteX7" fmla="*/ 35783 w 100961"/>
                <a:gd name="connsiteY7" fmla="*/ 87461 h 152577"/>
                <a:gd name="connsiteX8" fmla="*/ 17253 w 100961"/>
                <a:gd name="connsiteY8" fmla="*/ 152577 h 152577"/>
                <a:gd name="connsiteX9" fmla="*/ 100961 w 100961"/>
                <a:gd name="connsiteY9" fmla="*/ 59371 h 152577"/>
                <a:gd name="connsiteX10" fmla="*/ 69012 w 100961"/>
                <a:gd name="connsiteY10" fmla="*/ 59371 h 152577"/>
                <a:gd name="connsiteX11" fmla="*/ 63899 w 100961"/>
                <a:gd name="connsiteY11" fmla="*/ 56179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1" h="152577">
                  <a:moveTo>
                    <a:pt x="63899" y="56179"/>
                  </a:moveTo>
                  <a:cubicBezTo>
                    <a:pt x="62622" y="54264"/>
                    <a:pt x="62622" y="52349"/>
                    <a:pt x="63261" y="49795"/>
                  </a:cubicBezTo>
                  <a:lnTo>
                    <a:pt x="85625" y="0"/>
                  </a:lnTo>
                  <a:lnTo>
                    <a:pt x="33867" y="0"/>
                  </a:lnTo>
                  <a:lnTo>
                    <a:pt x="0" y="79162"/>
                  </a:lnTo>
                  <a:lnTo>
                    <a:pt x="29394" y="79162"/>
                  </a:lnTo>
                  <a:cubicBezTo>
                    <a:pt x="31311" y="79162"/>
                    <a:pt x="33228" y="79800"/>
                    <a:pt x="34506" y="81715"/>
                  </a:cubicBezTo>
                  <a:cubicBezTo>
                    <a:pt x="35783" y="83630"/>
                    <a:pt x="35783" y="85546"/>
                    <a:pt x="35783" y="87461"/>
                  </a:cubicBezTo>
                  <a:lnTo>
                    <a:pt x="17253" y="152577"/>
                  </a:lnTo>
                  <a:lnTo>
                    <a:pt x="100961" y="59371"/>
                  </a:lnTo>
                  <a:lnTo>
                    <a:pt x="69012" y="59371"/>
                  </a:lnTo>
                  <a:cubicBezTo>
                    <a:pt x="67094" y="58733"/>
                    <a:pt x="65178" y="57456"/>
                    <a:pt x="63899" y="56179"/>
                  </a:cubicBezTo>
                  <a:close/>
                </a:path>
              </a:pathLst>
            </a:custGeom>
            <a:solidFill>
              <a:srgbClr val="FFCD00"/>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7" name="TextBox 76">
              <a:extLst>
                <a:ext uri="{FF2B5EF4-FFF2-40B4-BE49-F238E27FC236}">
                  <a16:creationId xmlns:a16="http://schemas.microsoft.com/office/drawing/2014/main" id="{AC0A2578-73AA-E023-F4E9-5084DD4C9A9A}"/>
                </a:ext>
              </a:extLst>
            </p:cNvPr>
            <p:cNvSpPr txBox="1"/>
            <p:nvPr/>
          </p:nvSpPr>
          <p:spPr>
            <a:xfrm>
              <a:off x="6102096" y="3937289"/>
              <a:ext cx="935840"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Decision</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on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which</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purpose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the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database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needs</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to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fulfill</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93" name="Group 92">
            <a:extLst>
              <a:ext uri="{FF2B5EF4-FFF2-40B4-BE49-F238E27FC236}">
                <a16:creationId xmlns:a16="http://schemas.microsoft.com/office/drawing/2014/main" id="{099AAD74-C0EA-3F10-E525-1E94BA5568F7}"/>
              </a:ext>
            </a:extLst>
          </p:cNvPr>
          <p:cNvGrpSpPr/>
          <p:nvPr/>
        </p:nvGrpSpPr>
        <p:grpSpPr>
          <a:xfrm>
            <a:off x="2879577" y="1985573"/>
            <a:ext cx="1818570" cy="557265"/>
            <a:chOff x="5725974" y="3914791"/>
            <a:chExt cx="1548938" cy="557265"/>
          </a:xfrm>
        </p:grpSpPr>
        <p:sp>
          <p:nvSpPr>
            <p:cNvPr id="94" name="Graphic 6">
              <a:extLst>
                <a:ext uri="{FF2B5EF4-FFF2-40B4-BE49-F238E27FC236}">
                  <a16:creationId xmlns:a16="http://schemas.microsoft.com/office/drawing/2014/main" id="{47FABB44-955C-C74F-1931-5BB723735475}"/>
                </a:ext>
              </a:extLst>
            </p:cNvPr>
            <p:cNvSpPr>
              <a:spLocks noChangeAspect="1"/>
            </p:cNvSpPr>
            <p:nvPr/>
          </p:nvSpPr>
          <p:spPr>
            <a:xfrm>
              <a:off x="5725974" y="3914791"/>
              <a:ext cx="368745" cy="557265"/>
            </a:xfrm>
            <a:custGeom>
              <a:avLst/>
              <a:gdLst>
                <a:gd name="connsiteX0" fmla="*/ 63899 w 100961"/>
                <a:gd name="connsiteY0" fmla="*/ 56179 h 152577"/>
                <a:gd name="connsiteX1" fmla="*/ 63261 w 100961"/>
                <a:gd name="connsiteY1" fmla="*/ 49795 h 152577"/>
                <a:gd name="connsiteX2" fmla="*/ 85625 w 100961"/>
                <a:gd name="connsiteY2" fmla="*/ 0 h 152577"/>
                <a:gd name="connsiteX3" fmla="*/ 33867 w 100961"/>
                <a:gd name="connsiteY3" fmla="*/ 0 h 152577"/>
                <a:gd name="connsiteX4" fmla="*/ 0 w 100961"/>
                <a:gd name="connsiteY4" fmla="*/ 79162 h 152577"/>
                <a:gd name="connsiteX5" fmla="*/ 29394 w 100961"/>
                <a:gd name="connsiteY5" fmla="*/ 79162 h 152577"/>
                <a:gd name="connsiteX6" fmla="*/ 34506 w 100961"/>
                <a:gd name="connsiteY6" fmla="*/ 81715 h 152577"/>
                <a:gd name="connsiteX7" fmla="*/ 35783 w 100961"/>
                <a:gd name="connsiteY7" fmla="*/ 87461 h 152577"/>
                <a:gd name="connsiteX8" fmla="*/ 17253 w 100961"/>
                <a:gd name="connsiteY8" fmla="*/ 152577 h 152577"/>
                <a:gd name="connsiteX9" fmla="*/ 100961 w 100961"/>
                <a:gd name="connsiteY9" fmla="*/ 59371 h 152577"/>
                <a:gd name="connsiteX10" fmla="*/ 69012 w 100961"/>
                <a:gd name="connsiteY10" fmla="*/ 59371 h 152577"/>
                <a:gd name="connsiteX11" fmla="*/ 63899 w 100961"/>
                <a:gd name="connsiteY11" fmla="*/ 56179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1" h="152577">
                  <a:moveTo>
                    <a:pt x="63899" y="56179"/>
                  </a:moveTo>
                  <a:cubicBezTo>
                    <a:pt x="62622" y="54264"/>
                    <a:pt x="62622" y="52349"/>
                    <a:pt x="63261" y="49795"/>
                  </a:cubicBezTo>
                  <a:lnTo>
                    <a:pt x="85625" y="0"/>
                  </a:lnTo>
                  <a:lnTo>
                    <a:pt x="33867" y="0"/>
                  </a:lnTo>
                  <a:lnTo>
                    <a:pt x="0" y="79162"/>
                  </a:lnTo>
                  <a:lnTo>
                    <a:pt x="29394" y="79162"/>
                  </a:lnTo>
                  <a:cubicBezTo>
                    <a:pt x="31311" y="79162"/>
                    <a:pt x="33228" y="79800"/>
                    <a:pt x="34506" y="81715"/>
                  </a:cubicBezTo>
                  <a:cubicBezTo>
                    <a:pt x="35783" y="83630"/>
                    <a:pt x="35783" y="85546"/>
                    <a:pt x="35783" y="87461"/>
                  </a:cubicBezTo>
                  <a:lnTo>
                    <a:pt x="17253" y="152577"/>
                  </a:lnTo>
                  <a:lnTo>
                    <a:pt x="100961" y="59371"/>
                  </a:lnTo>
                  <a:lnTo>
                    <a:pt x="69012" y="59371"/>
                  </a:lnTo>
                  <a:cubicBezTo>
                    <a:pt x="67094" y="58733"/>
                    <a:pt x="65178" y="57456"/>
                    <a:pt x="63899" y="56179"/>
                  </a:cubicBezTo>
                  <a:close/>
                </a:path>
              </a:pathLst>
            </a:custGeom>
            <a:solidFill>
              <a:srgbClr val="FFCD00"/>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5" name="TextBox 94">
              <a:extLst>
                <a:ext uri="{FF2B5EF4-FFF2-40B4-BE49-F238E27FC236}">
                  <a16:creationId xmlns:a16="http://schemas.microsoft.com/office/drawing/2014/main" id="{28D91A5E-83AA-4F24-5D57-04D0E4A3E2FA}"/>
                </a:ext>
              </a:extLst>
            </p:cNvPr>
            <p:cNvSpPr txBox="1"/>
            <p:nvPr/>
          </p:nvSpPr>
          <p:spPr>
            <a:xfrm>
              <a:off x="6102095" y="3937289"/>
              <a:ext cx="1172817" cy="4154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Consistency of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in the ETRM System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needs</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to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be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ensured</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96" name="Flowchart: Document 95">
            <a:extLst>
              <a:ext uri="{FF2B5EF4-FFF2-40B4-BE49-F238E27FC236}">
                <a16:creationId xmlns:a16="http://schemas.microsoft.com/office/drawing/2014/main" id="{1FFEC912-F6AD-5035-69A8-928CF72B1976}"/>
              </a:ext>
            </a:extLst>
          </p:cNvPr>
          <p:cNvSpPr/>
          <p:nvPr/>
        </p:nvSpPr>
        <p:spPr bwMode="gray">
          <a:xfrm>
            <a:off x="5775044" y="4294071"/>
            <a:ext cx="1013012" cy="926150"/>
          </a:xfrm>
          <a:prstGeom prst="flowChartDocument">
            <a:avLst/>
          </a:prstGeom>
          <a:solidFill>
            <a:schemeClr val="accent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white"/>
                </a:solidFill>
                <a:effectLst/>
                <a:uLnTx/>
                <a:uFillTx/>
                <a:latin typeface="Aptos" panose="02110004020202020204"/>
                <a:ea typeface="+mn-ea"/>
                <a:cs typeface="+mn-cs"/>
              </a:rPr>
              <a:t>Risk P&amp;L</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600" b="1"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600" b="1" i="0" u="none" strike="noStrike" kern="1200" cap="none" spc="0" normalizeH="0" baseline="0" noProof="0" err="1">
                <a:ln>
                  <a:noFill/>
                </a:ln>
                <a:solidFill>
                  <a:prstClr val="white"/>
                </a:solidFill>
                <a:effectLst/>
                <a:uLnTx/>
                <a:uFillTx/>
                <a:latin typeface="Aptos" panose="02110004020202020204"/>
                <a:ea typeface="+mn-ea"/>
                <a:cs typeface="+mn-cs"/>
              </a:rPr>
              <a:t>Including</a:t>
            </a:r>
            <a:r>
              <a:rPr kumimoji="0" lang="de-DE" sz="600" b="1" i="0" u="none" strike="noStrike" kern="1200" cap="none" spc="0" normalizeH="0" baseline="0" noProof="0">
                <a:ln>
                  <a:noFill/>
                </a:ln>
                <a:solidFill>
                  <a:prstClr val="white"/>
                </a:solidFill>
                <a:effectLst/>
                <a:uLnTx/>
                <a:uFillTx/>
                <a:latin typeface="Aptos" panose="02110004020202020204"/>
                <a:ea typeface="+mn-ea"/>
                <a:cs typeface="+mn-cs"/>
              </a:rPr>
              <a:t> Risk </a:t>
            </a:r>
            <a:r>
              <a:rPr kumimoji="0" lang="de-DE" sz="600" b="1" i="0" u="none" strike="noStrike" kern="1200" cap="none" spc="0" normalizeH="0" baseline="0" noProof="0" err="1">
                <a:ln>
                  <a:noFill/>
                </a:ln>
                <a:solidFill>
                  <a:prstClr val="white"/>
                </a:solidFill>
                <a:effectLst/>
                <a:uLnTx/>
                <a:uFillTx/>
                <a:latin typeface="Aptos" panose="02110004020202020204"/>
                <a:ea typeface="+mn-ea"/>
                <a:cs typeface="+mn-cs"/>
              </a:rPr>
              <a:t>specific</a:t>
            </a:r>
            <a:r>
              <a:rPr kumimoji="0" lang="de-DE" sz="600" b="1" i="0" u="none" strike="noStrike" kern="1200" cap="none" spc="0" normalizeH="0" baseline="0" noProof="0">
                <a:ln>
                  <a:noFill/>
                </a:ln>
                <a:solidFill>
                  <a:prstClr val="white"/>
                </a:solidFill>
                <a:effectLst/>
                <a:uLnTx/>
                <a:uFillTx/>
                <a:latin typeface="Aptos" panose="02110004020202020204"/>
                <a:ea typeface="+mn-ea"/>
                <a:cs typeface="+mn-cs"/>
              </a:rPr>
              <a:t> </a:t>
            </a:r>
            <a:r>
              <a:rPr kumimoji="0" lang="de-DE" sz="600" b="1" i="0" u="none" strike="noStrike" kern="1200" cap="none" spc="0" normalizeH="0" baseline="0" noProof="0" err="1">
                <a:ln>
                  <a:noFill/>
                </a:ln>
                <a:solidFill>
                  <a:prstClr val="white"/>
                </a:solidFill>
                <a:effectLst/>
                <a:uLnTx/>
                <a:uFillTx/>
                <a:latin typeface="Aptos" panose="02110004020202020204"/>
                <a:ea typeface="+mn-ea"/>
                <a:cs typeface="+mn-cs"/>
              </a:rPr>
              <a:t>adjustments</a:t>
            </a:r>
            <a:endParaRPr kumimoji="0" lang="de-DE" sz="6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8" name="Flowchart: Document 97">
            <a:extLst>
              <a:ext uri="{FF2B5EF4-FFF2-40B4-BE49-F238E27FC236}">
                <a16:creationId xmlns:a16="http://schemas.microsoft.com/office/drawing/2014/main" id="{C953151D-E0EC-10A9-6205-C2B81666536D}"/>
              </a:ext>
            </a:extLst>
          </p:cNvPr>
          <p:cNvSpPr/>
          <p:nvPr/>
        </p:nvSpPr>
        <p:spPr bwMode="gray">
          <a:xfrm>
            <a:off x="11025432" y="2690483"/>
            <a:ext cx="1013012" cy="926150"/>
          </a:xfrm>
          <a:prstGeom prst="flowChartDocument">
            <a:avLst/>
          </a:prstGeom>
          <a:solidFill>
            <a:schemeClr val="accent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white"/>
                </a:solidFill>
                <a:effectLst/>
                <a:uLnTx/>
                <a:uFillTx/>
                <a:latin typeface="Aptos" panose="02110004020202020204"/>
                <a:ea typeface="+mn-ea"/>
                <a:cs typeface="+mn-cs"/>
              </a:rPr>
              <a:t> Financial Statement</a:t>
            </a:r>
          </a:p>
        </p:txBody>
      </p:sp>
      <p:sp>
        <p:nvSpPr>
          <p:cNvPr id="103" name="Flowchart: Multidocument 102">
            <a:extLst>
              <a:ext uri="{FF2B5EF4-FFF2-40B4-BE49-F238E27FC236}">
                <a16:creationId xmlns:a16="http://schemas.microsoft.com/office/drawing/2014/main" id="{622634D2-356A-E799-BD6E-35FCF01CCE54}"/>
              </a:ext>
            </a:extLst>
          </p:cNvPr>
          <p:cNvSpPr/>
          <p:nvPr/>
        </p:nvSpPr>
        <p:spPr bwMode="gray">
          <a:xfrm>
            <a:off x="8933736" y="4140695"/>
            <a:ext cx="1511787" cy="1086922"/>
          </a:xfrm>
          <a:prstGeom prst="flowChartMultidocument">
            <a:avLst/>
          </a:prstGeom>
          <a:solidFill>
            <a:schemeClr val="accent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Aptos" panose="02110004020202020204"/>
                <a:ea typeface="+mn-ea"/>
                <a:cs typeface="+mn-cs"/>
              </a:rPr>
              <a:t>Derivative </a:t>
            </a:r>
            <a:r>
              <a:rPr kumimoji="0" lang="de-DE" sz="1200" b="1" i="0" u="none" strike="noStrike" kern="1200" cap="none" spc="0" normalizeH="0" baseline="0" noProof="0" err="1">
                <a:ln>
                  <a:noFill/>
                </a:ln>
                <a:solidFill>
                  <a:prstClr val="white"/>
                </a:solidFill>
                <a:effectLst/>
                <a:uLnTx/>
                <a:uFillTx/>
                <a:latin typeface="Aptos" panose="02110004020202020204"/>
                <a:ea typeface="+mn-ea"/>
                <a:cs typeface="+mn-cs"/>
              </a:rPr>
              <a:t>reports</a:t>
            </a:r>
            <a:endParaRPr kumimoji="0" lang="de-DE" sz="1200" b="1"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05" name="Straight Arrow Connector 104">
            <a:extLst>
              <a:ext uri="{FF2B5EF4-FFF2-40B4-BE49-F238E27FC236}">
                <a16:creationId xmlns:a16="http://schemas.microsoft.com/office/drawing/2014/main" id="{0E1DEA70-7723-05D2-CB06-041F48A557AA}"/>
              </a:ext>
            </a:extLst>
          </p:cNvPr>
          <p:cNvCxnSpPr>
            <a:stCxn id="96" idx="3"/>
            <a:endCxn id="103" idx="1"/>
          </p:cNvCxnSpPr>
          <p:nvPr/>
        </p:nvCxnSpPr>
        <p:spPr>
          <a:xfrm flipV="1">
            <a:off x="6788056" y="4684156"/>
            <a:ext cx="2145680" cy="7299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7" name="Flowchart: Magnetic Disk 106">
            <a:extLst>
              <a:ext uri="{FF2B5EF4-FFF2-40B4-BE49-F238E27FC236}">
                <a16:creationId xmlns:a16="http://schemas.microsoft.com/office/drawing/2014/main" id="{5D7EEFB7-1CFA-8268-A6F9-6110A6CC3358}"/>
              </a:ext>
            </a:extLst>
          </p:cNvPr>
          <p:cNvSpPr/>
          <p:nvPr/>
        </p:nvSpPr>
        <p:spPr bwMode="gray">
          <a:xfrm>
            <a:off x="9003750" y="2664982"/>
            <a:ext cx="1559859" cy="977153"/>
          </a:xfrm>
          <a:prstGeom prst="flowChartMagneticDisk">
            <a:avLst/>
          </a:prstGeom>
          <a:solidFill>
            <a:schemeClr val="accent1"/>
          </a:solidFill>
          <a:ln w="19050" algn="ctr">
            <a:solidFill>
              <a:schemeClr val="bg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200" b="1" i="0" u="none" strike="noStrike" kern="1200" cap="none" spc="0" normalizeH="0" baseline="0" noProof="0">
                <a:ln>
                  <a:noFill/>
                </a:ln>
                <a:solidFill>
                  <a:prstClr val="white"/>
                </a:solidFill>
                <a:effectLst/>
                <a:uLnTx/>
                <a:uFillTx/>
                <a:latin typeface="Aptos" panose="02110004020202020204"/>
                <a:ea typeface="+mn-ea"/>
                <a:cs typeface="+mn-cs"/>
              </a:rPr>
              <a:t>ERP</a:t>
            </a:r>
            <a:endParaRPr kumimoji="0" lang="de-DE" sz="1400" b="1"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000" b="0" i="0" u="none" strike="noStrike" kern="1200" cap="none" spc="0" normalizeH="0" baseline="0" noProof="0">
                <a:ln>
                  <a:noFill/>
                </a:ln>
                <a:solidFill>
                  <a:prstClr val="white"/>
                </a:solidFill>
                <a:effectLst/>
                <a:uLnTx/>
                <a:uFillTx/>
                <a:latin typeface="Aptos" panose="02110004020202020204"/>
                <a:ea typeface="+mn-ea"/>
                <a:cs typeface="+mn-cs"/>
              </a:rPr>
              <a:t>(e.g., SAP)</a:t>
            </a:r>
          </a:p>
        </p:txBody>
      </p:sp>
      <p:cxnSp>
        <p:nvCxnSpPr>
          <p:cNvPr id="109" name="Straight Arrow Connector 108">
            <a:extLst>
              <a:ext uri="{FF2B5EF4-FFF2-40B4-BE49-F238E27FC236}">
                <a16:creationId xmlns:a16="http://schemas.microsoft.com/office/drawing/2014/main" id="{A0A78552-2AEC-547B-A185-05312575AC73}"/>
              </a:ext>
            </a:extLst>
          </p:cNvPr>
          <p:cNvCxnSpPr>
            <a:stCxn id="103" idx="0"/>
            <a:endCxn id="107" idx="3"/>
          </p:cNvCxnSpPr>
          <p:nvPr/>
        </p:nvCxnSpPr>
        <p:spPr>
          <a:xfrm flipH="1" flipV="1">
            <a:off x="9783680" y="3642135"/>
            <a:ext cx="9955" cy="49856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80EA4EB4-DD09-21ED-CE8D-4E5F0DCEA7C9}"/>
              </a:ext>
            </a:extLst>
          </p:cNvPr>
          <p:cNvCxnSpPr>
            <a:stCxn id="107" idx="4"/>
            <a:endCxn id="98" idx="1"/>
          </p:cNvCxnSpPr>
          <p:nvPr/>
        </p:nvCxnSpPr>
        <p:spPr>
          <a:xfrm flipV="1">
            <a:off x="10563609" y="3153558"/>
            <a:ext cx="461823" cy="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66FCC715-5244-C0DB-52F9-3123F5D6D2B2}"/>
              </a:ext>
            </a:extLst>
          </p:cNvPr>
          <p:cNvCxnSpPr/>
          <p:nvPr/>
        </p:nvCxnSpPr>
        <p:spPr>
          <a:xfrm>
            <a:off x="7162800" y="2944726"/>
            <a:ext cx="1712259" cy="0"/>
          </a:xfrm>
          <a:prstGeom prst="straightConnector1">
            <a:avLst/>
          </a:prstGeom>
          <a:ln w="381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16720BC0-4577-63DC-4927-C34C8E6A7510}"/>
              </a:ext>
            </a:extLst>
          </p:cNvPr>
          <p:cNvSpPr txBox="1"/>
          <p:nvPr/>
        </p:nvSpPr>
        <p:spPr>
          <a:xfrm>
            <a:off x="7468878" y="2241852"/>
            <a:ext cx="1071108" cy="50783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Recon for </a:t>
            </a:r>
            <a:r>
              <a:rPr kumimoji="0" lang="de-DE" sz="1100" b="0" i="0" u="none" strike="noStrike" kern="1200" cap="none" spc="0" normalizeH="0" baseline="0" noProof="0" err="1">
                <a:ln>
                  <a:noFill/>
                </a:ln>
                <a:solidFill>
                  <a:prstClr val="black"/>
                </a:solidFill>
                <a:effectLst/>
                <a:uLnTx/>
                <a:uFillTx/>
                <a:latin typeface="Aptos" panose="02110004020202020204"/>
                <a:ea typeface="+mn-ea"/>
                <a:cs typeface="+mn-cs"/>
              </a:rPr>
              <a:t>identification</a:t>
            </a: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 of </a:t>
            </a:r>
            <a:r>
              <a:rPr kumimoji="0" lang="de-DE" sz="1100" b="0" i="0" u="none" strike="noStrike" kern="1200" cap="none" spc="0" normalizeH="0" baseline="0" noProof="0" err="1">
                <a:ln>
                  <a:noFill/>
                </a:ln>
                <a:solidFill>
                  <a:prstClr val="black"/>
                </a:solidFill>
                <a:effectLst/>
                <a:uLnTx/>
                <a:uFillTx/>
                <a:latin typeface="Aptos" panose="02110004020202020204"/>
                <a:ea typeface="+mn-ea"/>
                <a:cs typeface="+mn-cs"/>
              </a:rPr>
              <a:t>Accruals</a:t>
            </a:r>
            <a:r>
              <a:rPr kumimoji="0" lang="de-DE" sz="1100" b="0" i="0" u="none" strike="noStrike" kern="1200" cap="none" spc="0" normalizeH="0" baseline="0" noProof="0">
                <a:ln>
                  <a:noFill/>
                </a:ln>
                <a:solidFill>
                  <a:prstClr val="black"/>
                </a:solidFill>
                <a:effectLst/>
                <a:uLnTx/>
                <a:uFillTx/>
                <a:latin typeface="Aptos" panose="02110004020202020204"/>
                <a:ea typeface="+mn-ea"/>
                <a:cs typeface="+mn-cs"/>
              </a:rPr>
              <a:t> </a:t>
            </a:r>
          </a:p>
        </p:txBody>
      </p:sp>
      <p:grpSp>
        <p:nvGrpSpPr>
          <p:cNvPr id="115" name="Group 114">
            <a:extLst>
              <a:ext uri="{FF2B5EF4-FFF2-40B4-BE49-F238E27FC236}">
                <a16:creationId xmlns:a16="http://schemas.microsoft.com/office/drawing/2014/main" id="{51C4EF55-8872-D3E3-FAF8-B1D30827A915}"/>
              </a:ext>
            </a:extLst>
          </p:cNvPr>
          <p:cNvGrpSpPr/>
          <p:nvPr/>
        </p:nvGrpSpPr>
        <p:grpSpPr>
          <a:xfrm>
            <a:off x="8323157" y="1765824"/>
            <a:ext cx="1557607" cy="714995"/>
            <a:chOff x="5725974" y="3914791"/>
            <a:chExt cx="1311962" cy="714995"/>
          </a:xfrm>
        </p:grpSpPr>
        <p:sp>
          <p:nvSpPr>
            <p:cNvPr id="116" name="Graphic 6">
              <a:extLst>
                <a:ext uri="{FF2B5EF4-FFF2-40B4-BE49-F238E27FC236}">
                  <a16:creationId xmlns:a16="http://schemas.microsoft.com/office/drawing/2014/main" id="{29A8F2A4-3E0A-6308-8CD9-44FE16350D55}"/>
                </a:ext>
              </a:extLst>
            </p:cNvPr>
            <p:cNvSpPr>
              <a:spLocks noChangeAspect="1"/>
            </p:cNvSpPr>
            <p:nvPr/>
          </p:nvSpPr>
          <p:spPr>
            <a:xfrm>
              <a:off x="5725974" y="3914791"/>
              <a:ext cx="368745" cy="557265"/>
            </a:xfrm>
            <a:custGeom>
              <a:avLst/>
              <a:gdLst>
                <a:gd name="connsiteX0" fmla="*/ 63899 w 100961"/>
                <a:gd name="connsiteY0" fmla="*/ 56179 h 152577"/>
                <a:gd name="connsiteX1" fmla="*/ 63261 w 100961"/>
                <a:gd name="connsiteY1" fmla="*/ 49795 h 152577"/>
                <a:gd name="connsiteX2" fmla="*/ 85625 w 100961"/>
                <a:gd name="connsiteY2" fmla="*/ 0 h 152577"/>
                <a:gd name="connsiteX3" fmla="*/ 33867 w 100961"/>
                <a:gd name="connsiteY3" fmla="*/ 0 h 152577"/>
                <a:gd name="connsiteX4" fmla="*/ 0 w 100961"/>
                <a:gd name="connsiteY4" fmla="*/ 79162 h 152577"/>
                <a:gd name="connsiteX5" fmla="*/ 29394 w 100961"/>
                <a:gd name="connsiteY5" fmla="*/ 79162 h 152577"/>
                <a:gd name="connsiteX6" fmla="*/ 34506 w 100961"/>
                <a:gd name="connsiteY6" fmla="*/ 81715 h 152577"/>
                <a:gd name="connsiteX7" fmla="*/ 35783 w 100961"/>
                <a:gd name="connsiteY7" fmla="*/ 87461 h 152577"/>
                <a:gd name="connsiteX8" fmla="*/ 17253 w 100961"/>
                <a:gd name="connsiteY8" fmla="*/ 152577 h 152577"/>
                <a:gd name="connsiteX9" fmla="*/ 100961 w 100961"/>
                <a:gd name="connsiteY9" fmla="*/ 59371 h 152577"/>
                <a:gd name="connsiteX10" fmla="*/ 69012 w 100961"/>
                <a:gd name="connsiteY10" fmla="*/ 59371 h 152577"/>
                <a:gd name="connsiteX11" fmla="*/ 63899 w 100961"/>
                <a:gd name="connsiteY11" fmla="*/ 56179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1" h="152577">
                  <a:moveTo>
                    <a:pt x="63899" y="56179"/>
                  </a:moveTo>
                  <a:cubicBezTo>
                    <a:pt x="62622" y="54264"/>
                    <a:pt x="62622" y="52349"/>
                    <a:pt x="63261" y="49795"/>
                  </a:cubicBezTo>
                  <a:lnTo>
                    <a:pt x="85625" y="0"/>
                  </a:lnTo>
                  <a:lnTo>
                    <a:pt x="33867" y="0"/>
                  </a:lnTo>
                  <a:lnTo>
                    <a:pt x="0" y="79162"/>
                  </a:lnTo>
                  <a:lnTo>
                    <a:pt x="29394" y="79162"/>
                  </a:lnTo>
                  <a:cubicBezTo>
                    <a:pt x="31311" y="79162"/>
                    <a:pt x="33228" y="79800"/>
                    <a:pt x="34506" y="81715"/>
                  </a:cubicBezTo>
                  <a:cubicBezTo>
                    <a:pt x="35783" y="83630"/>
                    <a:pt x="35783" y="85546"/>
                    <a:pt x="35783" y="87461"/>
                  </a:cubicBezTo>
                  <a:lnTo>
                    <a:pt x="17253" y="152577"/>
                  </a:lnTo>
                  <a:lnTo>
                    <a:pt x="100961" y="59371"/>
                  </a:lnTo>
                  <a:lnTo>
                    <a:pt x="69012" y="59371"/>
                  </a:lnTo>
                  <a:cubicBezTo>
                    <a:pt x="67094" y="58733"/>
                    <a:pt x="65178" y="57456"/>
                    <a:pt x="63899" y="56179"/>
                  </a:cubicBezTo>
                  <a:close/>
                </a:path>
              </a:pathLst>
            </a:custGeom>
            <a:solidFill>
              <a:srgbClr val="FFCD00"/>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7" name="TextBox 116">
              <a:extLst>
                <a:ext uri="{FF2B5EF4-FFF2-40B4-BE49-F238E27FC236}">
                  <a16:creationId xmlns:a16="http://schemas.microsoft.com/office/drawing/2014/main" id="{3B95D492-8CD5-8543-DB65-9E71714ABA89}"/>
                </a:ext>
              </a:extLst>
            </p:cNvPr>
            <p:cNvSpPr txBox="1"/>
            <p:nvPr/>
          </p:nvSpPr>
          <p:spPr>
            <a:xfrm>
              <a:off x="6102096" y="3937289"/>
              <a:ext cx="935840" cy="6924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Establish</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Dataconsistency</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between</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ERP and Database for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already</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settled</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deals</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18" name="Flowchart: Or 117">
            <a:extLst>
              <a:ext uri="{FF2B5EF4-FFF2-40B4-BE49-F238E27FC236}">
                <a16:creationId xmlns:a16="http://schemas.microsoft.com/office/drawing/2014/main" id="{386D027A-5D89-B97F-CF5D-E26CE145A6F0}"/>
              </a:ext>
            </a:extLst>
          </p:cNvPr>
          <p:cNvSpPr/>
          <p:nvPr/>
        </p:nvSpPr>
        <p:spPr bwMode="gray">
          <a:xfrm>
            <a:off x="7398198" y="3634522"/>
            <a:ext cx="370114" cy="379675"/>
          </a:xfrm>
          <a:prstGeom prst="flowChartOr">
            <a:avLst/>
          </a:prstGeom>
          <a:solidFill>
            <a:schemeClr val="accent2"/>
          </a:solidFill>
          <a:ln w="19050" algn="ctr">
            <a:solidFill>
              <a:schemeClr val="tx1"/>
            </a:solid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cxnSp>
        <p:nvCxnSpPr>
          <p:cNvPr id="122" name="Straight Arrow Connector 121">
            <a:extLst>
              <a:ext uri="{FF2B5EF4-FFF2-40B4-BE49-F238E27FC236}">
                <a16:creationId xmlns:a16="http://schemas.microsoft.com/office/drawing/2014/main" id="{E1FD57CA-FD40-9943-9FA5-BFAF77711D6C}"/>
              </a:ext>
            </a:extLst>
          </p:cNvPr>
          <p:cNvCxnSpPr>
            <a:cxnSpLocks/>
            <a:stCxn id="118" idx="2"/>
            <a:endCxn id="96" idx="0"/>
          </p:cNvCxnSpPr>
          <p:nvPr/>
        </p:nvCxnSpPr>
        <p:spPr>
          <a:xfrm flipH="1">
            <a:off x="6281550" y="3824360"/>
            <a:ext cx="1116648" cy="46971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B862D2CC-D13D-9CB4-918E-C901C20B2127}"/>
              </a:ext>
            </a:extLst>
          </p:cNvPr>
          <p:cNvCxnSpPr>
            <a:cxnSpLocks/>
            <a:stCxn id="118" idx="6"/>
            <a:endCxn id="103" idx="1"/>
          </p:cNvCxnSpPr>
          <p:nvPr/>
        </p:nvCxnSpPr>
        <p:spPr>
          <a:xfrm>
            <a:off x="7768312" y="3824360"/>
            <a:ext cx="1165424" cy="85979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A90172-8CDB-1CBF-11BE-B077ACDDC2A7}"/>
              </a:ext>
            </a:extLst>
          </p:cNvPr>
          <p:cNvCxnSpPr>
            <a:stCxn id="17" idx="1"/>
          </p:cNvCxnSpPr>
          <p:nvPr/>
        </p:nvCxnSpPr>
        <p:spPr>
          <a:xfrm flipV="1">
            <a:off x="3765177" y="1680388"/>
            <a:ext cx="1557609" cy="98459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719032D2-2581-ECF6-6B88-852D5D6A53A9}"/>
              </a:ext>
            </a:extLst>
          </p:cNvPr>
          <p:cNvCxnSpPr>
            <a:cxnSpLocks/>
          </p:cNvCxnSpPr>
          <p:nvPr/>
        </p:nvCxnSpPr>
        <p:spPr>
          <a:xfrm>
            <a:off x="5322786" y="1672610"/>
            <a:ext cx="4341167" cy="5125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EFB6EC2F-ED40-F172-8332-AB940A86A042}"/>
              </a:ext>
            </a:extLst>
          </p:cNvPr>
          <p:cNvCxnSpPr>
            <a:endCxn id="107" idx="1"/>
          </p:cNvCxnSpPr>
          <p:nvPr/>
        </p:nvCxnSpPr>
        <p:spPr>
          <a:xfrm>
            <a:off x="9663953" y="1772721"/>
            <a:ext cx="119727" cy="89226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8" name="Graphic 7" descr="Shield Tick outline">
            <a:extLst>
              <a:ext uri="{FF2B5EF4-FFF2-40B4-BE49-F238E27FC236}">
                <a16:creationId xmlns:a16="http://schemas.microsoft.com/office/drawing/2014/main" id="{2E16FB92-80FF-13D6-6BF9-DAA3CD62FC3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59625" y="1198444"/>
            <a:ext cx="699665" cy="699665"/>
          </a:xfrm>
          <a:prstGeom prst="rect">
            <a:avLst/>
          </a:prstGeom>
        </p:spPr>
      </p:pic>
      <p:sp>
        <p:nvSpPr>
          <p:cNvPr id="10" name="TextBox 9">
            <a:extLst>
              <a:ext uri="{FF2B5EF4-FFF2-40B4-BE49-F238E27FC236}">
                <a16:creationId xmlns:a16="http://schemas.microsoft.com/office/drawing/2014/main" id="{05337735-E725-C41A-CC36-8404D0ECDC3C}"/>
              </a:ext>
            </a:extLst>
          </p:cNvPr>
          <p:cNvSpPr txBox="1"/>
          <p:nvPr/>
        </p:nvSpPr>
        <p:spPr>
          <a:xfrm>
            <a:off x="2435605" y="1236566"/>
            <a:ext cx="1531976"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Accuracy</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of Deal-Inputs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through</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Confirmation</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/Reconciliation Controls</a:t>
            </a:r>
          </a:p>
        </p:txBody>
      </p:sp>
      <p:grpSp>
        <p:nvGrpSpPr>
          <p:cNvPr id="18" name="Group 17">
            <a:extLst>
              <a:ext uri="{FF2B5EF4-FFF2-40B4-BE49-F238E27FC236}">
                <a16:creationId xmlns:a16="http://schemas.microsoft.com/office/drawing/2014/main" id="{AE705A89-5647-D292-9BA3-36605F76607D}"/>
              </a:ext>
            </a:extLst>
          </p:cNvPr>
          <p:cNvGrpSpPr/>
          <p:nvPr/>
        </p:nvGrpSpPr>
        <p:grpSpPr>
          <a:xfrm>
            <a:off x="7134240" y="4917205"/>
            <a:ext cx="1412336" cy="714995"/>
            <a:chOff x="5725974" y="3914791"/>
            <a:chExt cx="1412336" cy="714995"/>
          </a:xfrm>
        </p:grpSpPr>
        <p:sp>
          <p:nvSpPr>
            <p:cNvPr id="20" name="Graphic 6">
              <a:extLst>
                <a:ext uri="{FF2B5EF4-FFF2-40B4-BE49-F238E27FC236}">
                  <a16:creationId xmlns:a16="http://schemas.microsoft.com/office/drawing/2014/main" id="{4BB439A9-136E-57A7-5B06-A3BC04D084C2}"/>
                </a:ext>
              </a:extLst>
            </p:cNvPr>
            <p:cNvSpPr>
              <a:spLocks noChangeAspect="1"/>
            </p:cNvSpPr>
            <p:nvPr/>
          </p:nvSpPr>
          <p:spPr>
            <a:xfrm>
              <a:off x="5725974" y="3914791"/>
              <a:ext cx="368745" cy="557265"/>
            </a:xfrm>
            <a:custGeom>
              <a:avLst/>
              <a:gdLst>
                <a:gd name="connsiteX0" fmla="*/ 63899 w 100961"/>
                <a:gd name="connsiteY0" fmla="*/ 56179 h 152577"/>
                <a:gd name="connsiteX1" fmla="*/ 63261 w 100961"/>
                <a:gd name="connsiteY1" fmla="*/ 49795 h 152577"/>
                <a:gd name="connsiteX2" fmla="*/ 85625 w 100961"/>
                <a:gd name="connsiteY2" fmla="*/ 0 h 152577"/>
                <a:gd name="connsiteX3" fmla="*/ 33867 w 100961"/>
                <a:gd name="connsiteY3" fmla="*/ 0 h 152577"/>
                <a:gd name="connsiteX4" fmla="*/ 0 w 100961"/>
                <a:gd name="connsiteY4" fmla="*/ 79162 h 152577"/>
                <a:gd name="connsiteX5" fmla="*/ 29394 w 100961"/>
                <a:gd name="connsiteY5" fmla="*/ 79162 h 152577"/>
                <a:gd name="connsiteX6" fmla="*/ 34506 w 100961"/>
                <a:gd name="connsiteY6" fmla="*/ 81715 h 152577"/>
                <a:gd name="connsiteX7" fmla="*/ 35783 w 100961"/>
                <a:gd name="connsiteY7" fmla="*/ 87461 h 152577"/>
                <a:gd name="connsiteX8" fmla="*/ 17253 w 100961"/>
                <a:gd name="connsiteY8" fmla="*/ 152577 h 152577"/>
                <a:gd name="connsiteX9" fmla="*/ 100961 w 100961"/>
                <a:gd name="connsiteY9" fmla="*/ 59371 h 152577"/>
                <a:gd name="connsiteX10" fmla="*/ 69012 w 100961"/>
                <a:gd name="connsiteY10" fmla="*/ 59371 h 152577"/>
                <a:gd name="connsiteX11" fmla="*/ 63899 w 100961"/>
                <a:gd name="connsiteY11" fmla="*/ 56179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1" h="152577">
                  <a:moveTo>
                    <a:pt x="63899" y="56179"/>
                  </a:moveTo>
                  <a:cubicBezTo>
                    <a:pt x="62622" y="54264"/>
                    <a:pt x="62622" y="52349"/>
                    <a:pt x="63261" y="49795"/>
                  </a:cubicBezTo>
                  <a:lnTo>
                    <a:pt x="85625" y="0"/>
                  </a:lnTo>
                  <a:lnTo>
                    <a:pt x="33867" y="0"/>
                  </a:lnTo>
                  <a:lnTo>
                    <a:pt x="0" y="79162"/>
                  </a:lnTo>
                  <a:lnTo>
                    <a:pt x="29394" y="79162"/>
                  </a:lnTo>
                  <a:cubicBezTo>
                    <a:pt x="31311" y="79162"/>
                    <a:pt x="33228" y="79800"/>
                    <a:pt x="34506" y="81715"/>
                  </a:cubicBezTo>
                  <a:cubicBezTo>
                    <a:pt x="35783" y="83630"/>
                    <a:pt x="35783" y="85546"/>
                    <a:pt x="35783" y="87461"/>
                  </a:cubicBezTo>
                  <a:lnTo>
                    <a:pt x="17253" y="152577"/>
                  </a:lnTo>
                  <a:lnTo>
                    <a:pt x="100961" y="59371"/>
                  </a:lnTo>
                  <a:lnTo>
                    <a:pt x="69012" y="59371"/>
                  </a:lnTo>
                  <a:cubicBezTo>
                    <a:pt x="67094" y="58733"/>
                    <a:pt x="65178" y="57456"/>
                    <a:pt x="63899" y="56179"/>
                  </a:cubicBezTo>
                  <a:close/>
                </a:path>
              </a:pathLst>
            </a:custGeom>
            <a:solidFill>
              <a:srgbClr val="FFCD00"/>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06B28E52-9B63-C5A8-5C64-5A5AB6E3B528}"/>
                </a:ext>
              </a:extLst>
            </p:cNvPr>
            <p:cNvSpPr txBox="1"/>
            <p:nvPr/>
          </p:nvSpPr>
          <p:spPr>
            <a:xfrm>
              <a:off x="6102096" y="3937289"/>
              <a:ext cx="1036214" cy="6924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Risk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adjustments</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not relevant for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accounting</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need</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to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be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excluded</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from</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dataflow</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8" name="Graphic 4">
            <a:extLst>
              <a:ext uri="{FF2B5EF4-FFF2-40B4-BE49-F238E27FC236}">
                <a16:creationId xmlns:a16="http://schemas.microsoft.com/office/drawing/2014/main" id="{7C548522-596A-8DA2-F57E-C450F1D3295D}"/>
              </a:ext>
            </a:extLst>
          </p:cNvPr>
          <p:cNvGrpSpPr/>
          <p:nvPr/>
        </p:nvGrpSpPr>
        <p:grpSpPr>
          <a:xfrm>
            <a:off x="2194462" y="6138822"/>
            <a:ext cx="529655" cy="549286"/>
            <a:chOff x="4660820" y="3824168"/>
            <a:chExt cx="362312" cy="361971"/>
          </a:xfrm>
          <a:solidFill>
            <a:srgbClr val="00ABAB"/>
          </a:solidFill>
        </p:grpSpPr>
        <p:sp>
          <p:nvSpPr>
            <p:cNvPr id="29" name="Graphic 4">
              <a:extLst>
                <a:ext uri="{FF2B5EF4-FFF2-40B4-BE49-F238E27FC236}">
                  <a16:creationId xmlns:a16="http://schemas.microsoft.com/office/drawing/2014/main" id="{59D5BD71-8AFB-6667-FD3B-8E23FE5BF658}"/>
                </a:ext>
              </a:extLst>
            </p:cNvPr>
            <p:cNvSpPr/>
            <p:nvPr/>
          </p:nvSpPr>
          <p:spPr>
            <a:xfrm>
              <a:off x="4660820" y="3824168"/>
              <a:ext cx="362312" cy="361971"/>
            </a:xfrm>
            <a:custGeom>
              <a:avLst/>
              <a:gdLst>
                <a:gd name="connsiteX0" fmla="*/ 181474 w 362312"/>
                <a:gd name="connsiteY0" fmla="*/ 0 h 361971"/>
                <a:gd name="connsiteX1" fmla="*/ 0 w 362312"/>
                <a:gd name="connsiteY1" fmla="*/ 180667 h 361971"/>
                <a:gd name="connsiteX2" fmla="*/ 180835 w 362312"/>
                <a:gd name="connsiteY2" fmla="*/ 361971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6"/>
                    <a:pt x="0" y="180667"/>
                  </a:cubicBezTo>
                  <a:cubicBezTo>
                    <a:pt x="0" y="280257"/>
                    <a:pt x="81152" y="361971"/>
                    <a:pt x="180835" y="361971"/>
                  </a:cubicBezTo>
                  <a:cubicBezTo>
                    <a:pt x="280518" y="361971"/>
                    <a:pt x="362309" y="280895"/>
                    <a:pt x="362309" y="181305"/>
                  </a:cubicBezTo>
                  <a:cubicBezTo>
                    <a:pt x="362309" y="181305"/>
                    <a:pt x="362309" y="181305"/>
                    <a:pt x="362309" y="181305"/>
                  </a:cubicBezTo>
                  <a:cubicBezTo>
                    <a:pt x="362948" y="81076"/>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raphic 4">
              <a:extLst>
                <a:ext uri="{FF2B5EF4-FFF2-40B4-BE49-F238E27FC236}">
                  <a16:creationId xmlns:a16="http://schemas.microsoft.com/office/drawing/2014/main" id="{665E712B-684C-CC68-C4EB-64987ED9EDC0}"/>
                </a:ext>
              </a:extLst>
            </p:cNvPr>
            <p:cNvSpPr/>
            <p:nvPr/>
          </p:nvSpPr>
          <p:spPr>
            <a:xfrm>
              <a:off x="4861671" y="3941976"/>
              <a:ext cx="105865" cy="128612"/>
            </a:xfrm>
            <a:custGeom>
              <a:avLst/>
              <a:gdLst>
                <a:gd name="connsiteX0" fmla="*/ 102670 w 105865"/>
                <a:gd name="connsiteY0" fmla="*/ 115845 h 128612"/>
                <a:gd name="connsiteX1" fmla="*/ 82223 w 105865"/>
                <a:gd name="connsiteY1" fmla="*/ 110099 h 128612"/>
                <a:gd name="connsiteX2" fmla="*/ 69443 w 105865"/>
                <a:gd name="connsiteY2" fmla="*/ 107546 h 128612"/>
                <a:gd name="connsiteX3" fmla="*/ 64331 w 105865"/>
                <a:gd name="connsiteY3" fmla="*/ 90947 h 128612"/>
                <a:gd name="connsiteX4" fmla="*/ 77750 w 105865"/>
                <a:gd name="connsiteY4" fmla="*/ 59027 h 128612"/>
                <a:gd name="connsiteX5" fmla="*/ 71998 w 105865"/>
                <a:gd name="connsiteY5" fmla="*/ 14339 h 128612"/>
                <a:gd name="connsiteX6" fmla="*/ 11294 w 105865"/>
                <a:gd name="connsiteY6" fmla="*/ 11147 h 128612"/>
                <a:gd name="connsiteX7" fmla="*/ 8099 w 105865"/>
                <a:gd name="connsiteY7" fmla="*/ 14339 h 128612"/>
                <a:gd name="connsiteX8" fmla="*/ 2348 w 105865"/>
                <a:gd name="connsiteY8" fmla="*/ 59027 h 128612"/>
                <a:gd name="connsiteX9" fmla="*/ 15767 w 105865"/>
                <a:gd name="connsiteY9" fmla="*/ 90947 h 128612"/>
                <a:gd name="connsiteX10" fmla="*/ 10655 w 105865"/>
                <a:gd name="connsiteY10" fmla="*/ 107546 h 128612"/>
                <a:gd name="connsiteX11" fmla="*/ 9377 w 105865"/>
                <a:gd name="connsiteY11" fmla="*/ 116483 h 128612"/>
                <a:gd name="connsiteX12" fmla="*/ 18323 w 105865"/>
                <a:gd name="connsiteY12" fmla="*/ 117760 h 128612"/>
                <a:gd name="connsiteX13" fmla="*/ 26630 w 105865"/>
                <a:gd name="connsiteY13" fmla="*/ 83925 h 128612"/>
                <a:gd name="connsiteX14" fmla="*/ 15128 w 105865"/>
                <a:gd name="connsiteY14" fmla="*/ 56474 h 128612"/>
                <a:gd name="connsiteX15" fmla="*/ 18323 w 105865"/>
                <a:gd name="connsiteY15" fmla="*/ 23277 h 128612"/>
                <a:gd name="connsiteX16" fmla="*/ 61136 w 105865"/>
                <a:gd name="connsiteY16" fmla="*/ 22000 h 128612"/>
                <a:gd name="connsiteX17" fmla="*/ 62414 w 105865"/>
                <a:gd name="connsiteY17" fmla="*/ 23277 h 128612"/>
                <a:gd name="connsiteX18" fmla="*/ 65609 w 105865"/>
                <a:gd name="connsiteY18" fmla="*/ 56474 h 128612"/>
                <a:gd name="connsiteX19" fmla="*/ 54107 w 105865"/>
                <a:gd name="connsiteY19" fmla="*/ 83925 h 128612"/>
                <a:gd name="connsiteX20" fmla="*/ 62414 w 105865"/>
                <a:gd name="connsiteY20" fmla="*/ 118399 h 128612"/>
                <a:gd name="connsiteX21" fmla="*/ 80306 w 105865"/>
                <a:gd name="connsiteY21" fmla="*/ 123506 h 128612"/>
                <a:gd name="connsiteX22" fmla="*/ 96281 w 105865"/>
                <a:gd name="connsiteY22" fmla="*/ 127336 h 128612"/>
                <a:gd name="connsiteX23" fmla="*/ 99476 w 105865"/>
                <a:gd name="connsiteY23" fmla="*/ 128613 h 128612"/>
                <a:gd name="connsiteX24" fmla="*/ 105865 w 105865"/>
                <a:gd name="connsiteY24" fmla="*/ 122229 h 128612"/>
                <a:gd name="connsiteX25" fmla="*/ 102670 w 105865"/>
                <a:gd name="connsiteY25" fmla="*/ 115845 h 128612"/>
                <a:gd name="connsiteX26" fmla="*/ 102670 w 105865"/>
                <a:gd name="connsiteY26" fmla="*/ 115845 h 12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865" h="128612">
                  <a:moveTo>
                    <a:pt x="102670" y="115845"/>
                  </a:moveTo>
                  <a:cubicBezTo>
                    <a:pt x="96281" y="112653"/>
                    <a:pt x="89251" y="110738"/>
                    <a:pt x="82223" y="110099"/>
                  </a:cubicBezTo>
                  <a:cubicBezTo>
                    <a:pt x="77750" y="110099"/>
                    <a:pt x="73277" y="108823"/>
                    <a:pt x="69443" y="107546"/>
                  </a:cubicBezTo>
                  <a:cubicBezTo>
                    <a:pt x="64970" y="103715"/>
                    <a:pt x="63053" y="97331"/>
                    <a:pt x="64331" y="90947"/>
                  </a:cubicBezTo>
                  <a:cubicBezTo>
                    <a:pt x="70721" y="81371"/>
                    <a:pt x="75193" y="70519"/>
                    <a:pt x="77750" y="59027"/>
                  </a:cubicBezTo>
                  <a:cubicBezTo>
                    <a:pt x="82223" y="39875"/>
                    <a:pt x="80306" y="25192"/>
                    <a:pt x="71998" y="14339"/>
                  </a:cubicBezTo>
                  <a:cubicBezTo>
                    <a:pt x="56024" y="-3536"/>
                    <a:pt x="29186" y="-4813"/>
                    <a:pt x="11294" y="11147"/>
                  </a:cubicBezTo>
                  <a:cubicBezTo>
                    <a:pt x="10016" y="12424"/>
                    <a:pt x="9377" y="13063"/>
                    <a:pt x="8099" y="14339"/>
                  </a:cubicBezTo>
                  <a:cubicBezTo>
                    <a:pt x="-208" y="24554"/>
                    <a:pt x="-2125" y="39875"/>
                    <a:pt x="2348" y="59027"/>
                  </a:cubicBezTo>
                  <a:cubicBezTo>
                    <a:pt x="4904" y="70519"/>
                    <a:pt x="9377" y="81371"/>
                    <a:pt x="15767" y="90947"/>
                  </a:cubicBezTo>
                  <a:cubicBezTo>
                    <a:pt x="17045" y="96693"/>
                    <a:pt x="15128" y="103077"/>
                    <a:pt x="10655" y="107546"/>
                  </a:cubicBezTo>
                  <a:cubicBezTo>
                    <a:pt x="8099" y="109461"/>
                    <a:pt x="7460" y="113930"/>
                    <a:pt x="9377" y="116483"/>
                  </a:cubicBezTo>
                  <a:cubicBezTo>
                    <a:pt x="11294" y="119037"/>
                    <a:pt x="15767" y="119675"/>
                    <a:pt x="18323" y="117760"/>
                  </a:cubicBezTo>
                  <a:cubicBezTo>
                    <a:pt x="29825" y="109461"/>
                    <a:pt x="31742" y="90947"/>
                    <a:pt x="26630" y="83925"/>
                  </a:cubicBezTo>
                  <a:cubicBezTo>
                    <a:pt x="21518" y="75626"/>
                    <a:pt x="17045" y="66050"/>
                    <a:pt x="15128" y="56474"/>
                  </a:cubicBezTo>
                  <a:cubicBezTo>
                    <a:pt x="11294" y="41791"/>
                    <a:pt x="12572" y="30299"/>
                    <a:pt x="18323" y="23277"/>
                  </a:cubicBezTo>
                  <a:cubicBezTo>
                    <a:pt x="29825" y="11147"/>
                    <a:pt x="48995" y="10509"/>
                    <a:pt x="61136" y="22000"/>
                  </a:cubicBezTo>
                  <a:cubicBezTo>
                    <a:pt x="61775" y="22639"/>
                    <a:pt x="61775" y="22639"/>
                    <a:pt x="62414" y="23277"/>
                  </a:cubicBezTo>
                  <a:cubicBezTo>
                    <a:pt x="68165" y="30299"/>
                    <a:pt x="69443" y="41791"/>
                    <a:pt x="65609" y="56474"/>
                  </a:cubicBezTo>
                  <a:cubicBezTo>
                    <a:pt x="63053" y="66050"/>
                    <a:pt x="59219" y="75626"/>
                    <a:pt x="54107" y="83925"/>
                  </a:cubicBezTo>
                  <a:cubicBezTo>
                    <a:pt x="48995" y="90947"/>
                    <a:pt x="50912" y="109461"/>
                    <a:pt x="62414" y="118399"/>
                  </a:cubicBezTo>
                  <a:cubicBezTo>
                    <a:pt x="68165" y="120952"/>
                    <a:pt x="73916" y="122867"/>
                    <a:pt x="80306" y="123506"/>
                  </a:cubicBezTo>
                  <a:cubicBezTo>
                    <a:pt x="86056" y="124144"/>
                    <a:pt x="91168" y="125421"/>
                    <a:pt x="96281" y="127336"/>
                  </a:cubicBezTo>
                  <a:cubicBezTo>
                    <a:pt x="97558" y="127975"/>
                    <a:pt x="98197" y="128613"/>
                    <a:pt x="99476" y="128613"/>
                  </a:cubicBezTo>
                  <a:cubicBezTo>
                    <a:pt x="103309" y="128613"/>
                    <a:pt x="105865" y="126059"/>
                    <a:pt x="105865" y="122229"/>
                  </a:cubicBezTo>
                  <a:cubicBezTo>
                    <a:pt x="105226" y="119037"/>
                    <a:pt x="103948" y="117122"/>
                    <a:pt x="102670" y="115845"/>
                  </a:cubicBezTo>
                  <a:lnTo>
                    <a:pt x="102670" y="115845"/>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raphic 4">
              <a:extLst>
                <a:ext uri="{FF2B5EF4-FFF2-40B4-BE49-F238E27FC236}">
                  <a16:creationId xmlns:a16="http://schemas.microsoft.com/office/drawing/2014/main" id="{98CA2362-8B93-E9B7-4AAA-7D9ED46ECBBD}"/>
                </a:ext>
              </a:extLst>
            </p:cNvPr>
            <p:cNvSpPr/>
            <p:nvPr/>
          </p:nvSpPr>
          <p:spPr>
            <a:xfrm>
              <a:off x="4717290" y="3925673"/>
              <a:ext cx="165260" cy="160637"/>
            </a:xfrm>
            <a:custGeom>
              <a:avLst/>
              <a:gdLst>
                <a:gd name="connsiteX0" fmla="*/ 161427 w 165260"/>
                <a:gd name="connsiteY0" fmla="*/ 147470 h 160637"/>
                <a:gd name="connsiteX1" fmla="*/ 132672 w 165260"/>
                <a:gd name="connsiteY1" fmla="*/ 141086 h 160637"/>
                <a:gd name="connsiteX2" fmla="*/ 119253 w 165260"/>
                <a:gd name="connsiteY2" fmla="*/ 139171 h 160637"/>
                <a:gd name="connsiteX3" fmla="*/ 109668 w 165260"/>
                <a:gd name="connsiteY3" fmla="*/ 112997 h 160637"/>
                <a:gd name="connsiteX4" fmla="*/ 126921 w 165260"/>
                <a:gd name="connsiteY4" fmla="*/ 72778 h 160637"/>
                <a:gd name="connsiteX5" fmla="*/ 119892 w 165260"/>
                <a:gd name="connsiteY5" fmla="*/ 16599 h 160637"/>
                <a:gd name="connsiteX6" fmla="*/ 82831 w 165260"/>
                <a:gd name="connsiteY6" fmla="*/ 0 h 160637"/>
                <a:gd name="connsiteX7" fmla="*/ 45769 w 165260"/>
                <a:gd name="connsiteY7" fmla="*/ 16599 h 160637"/>
                <a:gd name="connsiteX8" fmla="*/ 38740 w 165260"/>
                <a:gd name="connsiteY8" fmla="*/ 72778 h 160637"/>
                <a:gd name="connsiteX9" fmla="*/ 55993 w 165260"/>
                <a:gd name="connsiteY9" fmla="*/ 112997 h 160637"/>
                <a:gd name="connsiteX10" fmla="*/ 46408 w 165260"/>
                <a:gd name="connsiteY10" fmla="*/ 139809 h 160637"/>
                <a:gd name="connsiteX11" fmla="*/ 32989 w 165260"/>
                <a:gd name="connsiteY11" fmla="*/ 141724 h 160637"/>
                <a:gd name="connsiteX12" fmla="*/ 4235 w 165260"/>
                <a:gd name="connsiteY12" fmla="*/ 148108 h 160637"/>
                <a:gd name="connsiteX13" fmla="*/ 400 w 165260"/>
                <a:gd name="connsiteY13" fmla="*/ 156408 h 160637"/>
                <a:gd name="connsiteX14" fmla="*/ 8707 w 165260"/>
                <a:gd name="connsiteY14" fmla="*/ 160238 h 160637"/>
                <a:gd name="connsiteX15" fmla="*/ 9346 w 165260"/>
                <a:gd name="connsiteY15" fmla="*/ 159600 h 160637"/>
                <a:gd name="connsiteX16" fmla="*/ 33628 w 165260"/>
                <a:gd name="connsiteY16" fmla="*/ 154492 h 160637"/>
                <a:gd name="connsiteX17" fmla="*/ 52159 w 165260"/>
                <a:gd name="connsiteY17" fmla="*/ 150662 h 160637"/>
                <a:gd name="connsiteX18" fmla="*/ 67495 w 165260"/>
                <a:gd name="connsiteY18" fmla="*/ 125126 h 160637"/>
                <a:gd name="connsiteX19" fmla="*/ 66217 w 165260"/>
                <a:gd name="connsiteY19" fmla="*/ 105336 h 160637"/>
                <a:gd name="connsiteX20" fmla="*/ 50881 w 165260"/>
                <a:gd name="connsiteY20" fmla="*/ 69586 h 160637"/>
                <a:gd name="connsiteX21" fmla="*/ 55354 w 165260"/>
                <a:gd name="connsiteY21" fmla="*/ 24259 h 160637"/>
                <a:gd name="connsiteX22" fmla="*/ 82831 w 165260"/>
                <a:gd name="connsiteY22" fmla="*/ 12130 h 160637"/>
                <a:gd name="connsiteX23" fmla="*/ 110307 w 165260"/>
                <a:gd name="connsiteY23" fmla="*/ 24259 h 160637"/>
                <a:gd name="connsiteX24" fmla="*/ 114780 w 165260"/>
                <a:gd name="connsiteY24" fmla="*/ 69586 h 160637"/>
                <a:gd name="connsiteX25" fmla="*/ 99444 w 165260"/>
                <a:gd name="connsiteY25" fmla="*/ 105336 h 160637"/>
                <a:gd name="connsiteX26" fmla="*/ 98166 w 165260"/>
                <a:gd name="connsiteY26" fmla="*/ 125126 h 160637"/>
                <a:gd name="connsiteX27" fmla="*/ 113502 w 165260"/>
                <a:gd name="connsiteY27" fmla="*/ 150662 h 160637"/>
                <a:gd name="connsiteX28" fmla="*/ 132033 w 165260"/>
                <a:gd name="connsiteY28" fmla="*/ 154492 h 160637"/>
                <a:gd name="connsiteX29" fmla="*/ 156315 w 165260"/>
                <a:gd name="connsiteY29" fmla="*/ 159600 h 160637"/>
                <a:gd name="connsiteX30" fmla="*/ 158871 w 165260"/>
                <a:gd name="connsiteY30" fmla="*/ 160238 h 160637"/>
                <a:gd name="connsiteX31" fmla="*/ 165261 w 165260"/>
                <a:gd name="connsiteY31" fmla="*/ 153854 h 160637"/>
                <a:gd name="connsiteX32" fmla="*/ 161427 w 165260"/>
                <a:gd name="connsiteY32" fmla="*/ 147470 h 160637"/>
                <a:gd name="connsiteX33" fmla="*/ 161427 w 165260"/>
                <a:gd name="connsiteY33" fmla="*/ 147470 h 1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5260" h="160637">
                  <a:moveTo>
                    <a:pt x="161427" y="147470"/>
                  </a:moveTo>
                  <a:cubicBezTo>
                    <a:pt x="152481" y="143640"/>
                    <a:pt x="142896" y="141086"/>
                    <a:pt x="132672" y="141086"/>
                  </a:cubicBezTo>
                  <a:cubicBezTo>
                    <a:pt x="128199" y="141086"/>
                    <a:pt x="123726" y="140448"/>
                    <a:pt x="119253" y="139171"/>
                  </a:cubicBezTo>
                  <a:cubicBezTo>
                    <a:pt x="112863" y="135341"/>
                    <a:pt x="107751" y="116827"/>
                    <a:pt x="109668" y="112997"/>
                  </a:cubicBezTo>
                  <a:cubicBezTo>
                    <a:pt x="117975" y="100867"/>
                    <a:pt x="123726" y="86822"/>
                    <a:pt x="126921" y="72778"/>
                  </a:cubicBezTo>
                  <a:cubicBezTo>
                    <a:pt x="132672" y="48519"/>
                    <a:pt x="130755" y="29367"/>
                    <a:pt x="119892" y="16599"/>
                  </a:cubicBezTo>
                  <a:cubicBezTo>
                    <a:pt x="110307" y="5746"/>
                    <a:pt x="96889" y="0"/>
                    <a:pt x="82831" y="0"/>
                  </a:cubicBezTo>
                  <a:cubicBezTo>
                    <a:pt x="68773" y="0"/>
                    <a:pt x="54715" y="5746"/>
                    <a:pt x="45769" y="16599"/>
                  </a:cubicBezTo>
                  <a:cubicBezTo>
                    <a:pt x="35545" y="29367"/>
                    <a:pt x="32989" y="48519"/>
                    <a:pt x="38740" y="72778"/>
                  </a:cubicBezTo>
                  <a:cubicBezTo>
                    <a:pt x="41935" y="86822"/>
                    <a:pt x="47686" y="100229"/>
                    <a:pt x="55993" y="112997"/>
                  </a:cubicBezTo>
                  <a:cubicBezTo>
                    <a:pt x="57910" y="116827"/>
                    <a:pt x="52798" y="135979"/>
                    <a:pt x="46408" y="139809"/>
                  </a:cubicBezTo>
                  <a:cubicBezTo>
                    <a:pt x="41935" y="141724"/>
                    <a:pt x="37462" y="142363"/>
                    <a:pt x="32989" y="141724"/>
                  </a:cubicBezTo>
                  <a:cubicBezTo>
                    <a:pt x="22765" y="141724"/>
                    <a:pt x="13180" y="144278"/>
                    <a:pt x="4235" y="148108"/>
                  </a:cubicBezTo>
                  <a:cubicBezTo>
                    <a:pt x="1040" y="149385"/>
                    <a:pt x="-878" y="153216"/>
                    <a:pt x="400" y="156408"/>
                  </a:cubicBezTo>
                  <a:cubicBezTo>
                    <a:pt x="1678" y="159600"/>
                    <a:pt x="5512" y="161515"/>
                    <a:pt x="8707" y="160238"/>
                  </a:cubicBezTo>
                  <a:cubicBezTo>
                    <a:pt x="8707" y="160238"/>
                    <a:pt x="9346" y="160238"/>
                    <a:pt x="9346" y="159600"/>
                  </a:cubicBezTo>
                  <a:cubicBezTo>
                    <a:pt x="17014" y="156408"/>
                    <a:pt x="25321" y="154492"/>
                    <a:pt x="33628" y="154492"/>
                  </a:cubicBezTo>
                  <a:cubicBezTo>
                    <a:pt x="40018" y="154492"/>
                    <a:pt x="46408" y="153216"/>
                    <a:pt x="52159" y="150662"/>
                  </a:cubicBezTo>
                  <a:cubicBezTo>
                    <a:pt x="62383" y="145555"/>
                    <a:pt x="66856" y="130233"/>
                    <a:pt x="67495" y="125126"/>
                  </a:cubicBezTo>
                  <a:cubicBezTo>
                    <a:pt x="69412" y="118742"/>
                    <a:pt x="69412" y="111720"/>
                    <a:pt x="66217" y="105336"/>
                  </a:cubicBezTo>
                  <a:cubicBezTo>
                    <a:pt x="59188" y="94483"/>
                    <a:pt x="54076" y="82354"/>
                    <a:pt x="50881" y="69586"/>
                  </a:cubicBezTo>
                  <a:cubicBezTo>
                    <a:pt x="45769" y="49157"/>
                    <a:pt x="47686" y="33835"/>
                    <a:pt x="55354" y="24259"/>
                  </a:cubicBezTo>
                  <a:cubicBezTo>
                    <a:pt x="62383" y="16599"/>
                    <a:pt x="72607" y="12130"/>
                    <a:pt x="82831" y="12130"/>
                  </a:cubicBezTo>
                  <a:cubicBezTo>
                    <a:pt x="93054" y="12130"/>
                    <a:pt x="103279" y="16599"/>
                    <a:pt x="110307" y="24259"/>
                  </a:cubicBezTo>
                  <a:cubicBezTo>
                    <a:pt x="117975" y="33835"/>
                    <a:pt x="119892" y="49157"/>
                    <a:pt x="114780" y="69586"/>
                  </a:cubicBezTo>
                  <a:cubicBezTo>
                    <a:pt x="111585" y="82354"/>
                    <a:pt x="106474" y="94483"/>
                    <a:pt x="99444" y="105336"/>
                  </a:cubicBezTo>
                  <a:cubicBezTo>
                    <a:pt x="96249" y="111720"/>
                    <a:pt x="96249" y="118742"/>
                    <a:pt x="98166" y="125126"/>
                  </a:cubicBezTo>
                  <a:cubicBezTo>
                    <a:pt x="99444" y="129595"/>
                    <a:pt x="103279" y="144916"/>
                    <a:pt x="113502" y="150662"/>
                  </a:cubicBezTo>
                  <a:cubicBezTo>
                    <a:pt x="119253" y="153216"/>
                    <a:pt x="125643" y="154492"/>
                    <a:pt x="132033" y="154492"/>
                  </a:cubicBezTo>
                  <a:cubicBezTo>
                    <a:pt x="140340" y="154492"/>
                    <a:pt x="148647" y="156408"/>
                    <a:pt x="156315" y="159600"/>
                  </a:cubicBezTo>
                  <a:cubicBezTo>
                    <a:pt x="156954" y="160238"/>
                    <a:pt x="158232" y="160238"/>
                    <a:pt x="158871" y="160238"/>
                  </a:cubicBezTo>
                  <a:cubicBezTo>
                    <a:pt x="162705" y="160238"/>
                    <a:pt x="165261" y="157684"/>
                    <a:pt x="165261" y="153854"/>
                  </a:cubicBezTo>
                  <a:cubicBezTo>
                    <a:pt x="165261" y="150662"/>
                    <a:pt x="163983" y="148108"/>
                    <a:pt x="161427" y="147470"/>
                  </a:cubicBezTo>
                  <a:lnTo>
                    <a:pt x="161427" y="147470"/>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2" name="TextBox 31">
            <a:extLst>
              <a:ext uri="{FF2B5EF4-FFF2-40B4-BE49-F238E27FC236}">
                <a16:creationId xmlns:a16="http://schemas.microsoft.com/office/drawing/2014/main" id="{BC20DC34-028F-141A-02E1-3AA706BAE62B}"/>
              </a:ext>
            </a:extLst>
          </p:cNvPr>
          <p:cNvSpPr txBox="1"/>
          <p:nvPr/>
        </p:nvSpPr>
        <p:spPr>
          <a:xfrm>
            <a:off x="2985246" y="6274966"/>
            <a:ext cx="493843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1800" b="0" i="0" u="none" strike="noStrike" kern="1200" cap="none" spc="0" normalizeH="0" baseline="0" noProof="0">
                <a:ln>
                  <a:noFill/>
                </a:ln>
                <a:solidFill>
                  <a:srgbClr val="313131"/>
                </a:solidFill>
                <a:effectLst/>
                <a:uLnTx/>
                <a:uFillTx/>
                <a:latin typeface="Aptos" panose="02110004020202020204"/>
                <a:ea typeface="+mn-ea"/>
                <a:cs typeface="+mn-cs"/>
              </a:rPr>
              <a:t>Front Office/ Risk &amp; Performance Controlling</a:t>
            </a:r>
          </a:p>
        </p:txBody>
      </p:sp>
      <p:grpSp>
        <p:nvGrpSpPr>
          <p:cNvPr id="43" name="Graphic 4">
            <a:extLst>
              <a:ext uri="{FF2B5EF4-FFF2-40B4-BE49-F238E27FC236}">
                <a16:creationId xmlns:a16="http://schemas.microsoft.com/office/drawing/2014/main" id="{04C33448-D673-0B77-5C0B-4E4D4940F689}"/>
              </a:ext>
            </a:extLst>
          </p:cNvPr>
          <p:cNvGrpSpPr/>
          <p:nvPr/>
        </p:nvGrpSpPr>
        <p:grpSpPr>
          <a:xfrm>
            <a:off x="9403740" y="6089731"/>
            <a:ext cx="529655" cy="549286"/>
            <a:chOff x="4660820" y="3824168"/>
            <a:chExt cx="362312" cy="361971"/>
          </a:xfrm>
          <a:solidFill>
            <a:srgbClr val="00ABAB"/>
          </a:solidFill>
        </p:grpSpPr>
        <p:sp>
          <p:nvSpPr>
            <p:cNvPr id="44" name="Graphic 4">
              <a:extLst>
                <a:ext uri="{FF2B5EF4-FFF2-40B4-BE49-F238E27FC236}">
                  <a16:creationId xmlns:a16="http://schemas.microsoft.com/office/drawing/2014/main" id="{58A551CB-1094-367A-8D35-84479C5E7943}"/>
                </a:ext>
              </a:extLst>
            </p:cNvPr>
            <p:cNvSpPr/>
            <p:nvPr/>
          </p:nvSpPr>
          <p:spPr>
            <a:xfrm>
              <a:off x="4660820" y="3824168"/>
              <a:ext cx="362312" cy="361971"/>
            </a:xfrm>
            <a:custGeom>
              <a:avLst/>
              <a:gdLst>
                <a:gd name="connsiteX0" fmla="*/ 181474 w 362312"/>
                <a:gd name="connsiteY0" fmla="*/ 0 h 361971"/>
                <a:gd name="connsiteX1" fmla="*/ 0 w 362312"/>
                <a:gd name="connsiteY1" fmla="*/ 180667 h 361971"/>
                <a:gd name="connsiteX2" fmla="*/ 180835 w 362312"/>
                <a:gd name="connsiteY2" fmla="*/ 361971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6"/>
                    <a:pt x="0" y="180667"/>
                  </a:cubicBezTo>
                  <a:cubicBezTo>
                    <a:pt x="0" y="280257"/>
                    <a:pt x="81152" y="361971"/>
                    <a:pt x="180835" y="361971"/>
                  </a:cubicBezTo>
                  <a:cubicBezTo>
                    <a:pt x="280518" y="361971"/>
                    <a:pt x="362309" y="280895"/>
                    <a:pt x="362309" y="181305"/>
                  </a:cubicBezTo>
                  <a:cubicBezTo>
                    <a:pt x="362309" y="181305"/>
                    <a:pt x="362309" y="181305"/>
                    <a:pt x="362309" y="181305"/>
                  </a:cubicBezTo>
                  <a:cubicBezTo>
                    <a:pt x="362948" y="81076"/>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raphic 4">
              <a:extLst>
                <a:ext uri="{FF2B5EF4-FFF2-40B4-BE49-F238E27FC236}">
                  <a16:creationId xmlns:a16="http://schemas.microsoft.com/office/drawing/2014/main" id="{02412A9D-E2F4-41F7-4FAE-49FC084C6B68}"/>
                </a:ext>
              </a:extLst>
            </p:cNvPr>
            <p:cNvSpPr/>
            <p:nvPr/>
          </p:nvSpPr>
          <p:spPr>
            <a:xfrm>
              <a:off x="4861671" y="3941976"/>
              <a:ext cx="105865" cy="128612"/>
            </a:xfrm>
            <a:custGeom>
              <a:avLst/>
              <a:gdLst>
                <a:gd name="connsiteX0" fmla="*/ 102670 w 105865"/>
                <a:gd name="connsiteY0" fmla="*/ 115845 h 128612"/>
                <a:gd name="connsiteX1" fmla="*/ 82223 w 105865"/>
                <a:gd name="connsiteY1" fmla="*/ 110099 h 128612"/>
                <a:gd name="connsiteX2" fmla="*/ 69443 w 105865"/>
                <a:gd name="connsiteY2" fmla="*/ 107546 h 128612"/>
                <a:gd name="connsiteX3" fmla="*/ 64331 w 105865"/>
                <a:gd name="connsiteY3" fmla="*/ 90947 h 128612"/>
                <a:gd name="connsiteX4" fmla="*/ 77750 w 105865"/>
                <a:gd name="connsiteY4" fmla="*/ 59027 h 128612"/>
                <a:gd name="connsiteX5" fmla="*/ 71998 w 105865"/>
                <a:gd name="connsiteY5" fmla="*/ 14339 h 128612"/>
                <a:gd name="connsiteX6" fmla="*/ 11294 w 105865"/>
                <a:gd name="connsiteY6" fmla="*/ 11147 h 128612"/>
                <a:gd name="connsiteX7" fmla="*/ 8099 w 105865"/>
                <a:gd name="connsiteY7" fmla="*/ 14339 h 128612"/>
                <a:gd name="connsiteX8" fmla="*/ 2348 w 105865"/>
                <a:gd name="connsiteY8" fmla="*/ 59027 h 128612"/>
                <a:gd name="connsiteX9" fmla="*/ 15767 w 105865"/>
                <a:gd name="connsiteY9" fmla="*/ 90947 h 128612"/>
                <a:gd name="connsiteX10" fmla="*/ 10655 w 105865"/>
                <a:gd name="connsiteY10" fmla="*/ 107546 h 128612"/>
                <a:gd name="connsiteX11" fmla="*/ 9377 w 105865"/>
                <a:gd name="connsiteY11" fmla="*/ 116483 h 128612"/>
                <a:gd name="connsiteX12" fmla="*/ 18323 w 105865"/>
                <a:gd name="connsiteY12" fmla="*/ 117760 h 128612"/>
                <a:gd name="connsiteX13" fmla="*/ 26630 w 105865"/>
                <a:gd name="connsiteY13" fmla="*/ 83925 h 128612"/>
                <a:gd name="connsiteX14" fmla="*/ 15128 w 105865"/>
                <a:gd name="connsiteY14" fmla="*/ 56474 h 128612"/>
                <a:gd name="connsiteX15" fmla="*/ 18323 w 105865"/>
                <a:gd name="connsiteY15" fmla="*/ 23277 h 128612"/>
                <a:gd name="connsiteX16" fmla="*/ 61136 w 105865"/>
                <a:gd name="connsiteY16" fmla="*/ 22000 h 128612"/>
                <a:gd name="connsiteX17" fmla="*/ 62414 w 105865"/>
                <a:gd name="connsiteY17" fmla="*/ 23277 h 128612"/>
                <a:gd name="connsiteX18" fmla="*/ 65609 w 105865"/>
                <a:gd name="connsiteY18" fmla="*/ 56474 h 128612"/>
                <a:gd name="connsiteX19" fmla="*/ 54107 w 105865"/>
                <a:gd name="connsiteY19" fmla="*/ 83925 h 128612"/>
                <a:gd name="connsiteX20" fmla="*/ 62414 w 105865"/>
                <a:gd name="connsiteY20" fmla="*/ 118399 h 128612"/>
                <a:gd name="connsiteX21" fmla="*/ 80306 w 105865"/>
                <a:gd name="connsiteY21" fmla="*/ 123506 h 128612"/>
                <a:gd name="connsiteX22" fmla="*/ 96281 w 105865"/>
                <a:gd name="connsiteY22" fmla="*/ 127336 h 128612"/>
                <a:gd name="connsiteX23" fmla="*/ 99476 w 105865"/>
                <a:gd name="connsiteY23" fmla="*/ 128613 h 128612"/>
                <a:gd name="connsiteX24" fmla="*/ 105865 w 105865"/>
                <a:gd name="connsiteY24" fmla="*/ 122229 h 128612"/>
                <a:gd name="connsiteX25" fmla="*/ 102670 w 105865"/>
                <a:gd name="connsiteY25" fmla="*/ 115845 h 128612"/>
                <a:gd name="connsiteX26" fmla="*/ 102670 w 105865"/>
                <a:gd name="connsiteY26" fmla="*/ 115845 h 12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865" h="128612">
                  <a:moveTo>
                    <a:pt x="102670" y="115845"/>
                  </a:moveTo>
                  <a:cubicBezTo>
                    <a:pt x="96281" y="112653"/>
                    <a:pt x="89251" y="110738"/>
                    <a:pt x="82223" y="110099"/>
                  </a:cubicBezTo>
                  <a:cubicBezTo>
                    <a:pt x="77750" y="110099"/>
                    <a:pt x="73277" y="108823"/>
                    <a:pt x="69443" y="107546"/>
                  </a:cubicBezTo>
                  <a:cubicBezTo>
                    <a:pt x="64970" y="103715"/>
                    <a:pt x="63053" y="97331"/>
                    <a:pt x="64331" y="90947"/>
                  </a:cubicBezTo>
                  <a:cubicBezTo>
                    <a:pt x="70721" y="81371"/>
                    <a:pt x="75193" y="70519"/>
                    <a:pt x="77750" y="59027"/>
                  </a:cubicBezTo>
                  <a:cubicBezTo>
                    <a:pt x="82223" y="39875"/>
                    <a:pt x="80306" y="25192"/>
                    <a:pt x="71998" y="14339"/>
                  </a:cubicBezTo>
                  <a:cubicBezTo>
                    <a:pt x="56024" y="-3536"/>
                    <a:pt x="29186" y="-4813"/>
                    <a:pt x="11294" y="11147"/>
                  </a:cubicBezTo>
                  <a:cubicBezTo>
                    <a:pt x="10016" y="12424"/>
                    <a:pt x="9377" y="13063"/>
                    <a:pt x="8099" y="14339"/>
                  </a:cubicBezTo>
                  <a:cubicBezTo>
                    <a:pt x="-208" y="24554"/>
                    <a:pt x="-2125" y="39875"/>
                    <a:pt x="2348" y="59027"/>
                  </a:cubicBezTo>
                  <a:cubicBezTo>
                    <a:pt x="4904" y="70519"/>
                    <a:pt x="9377" y="81371"/>
                    <a:pt x="15767" y="90947"/>
                  </a:cubicBezTo>
                  <a:cubicBezTo>
                    <a:pt x="17045" y="96693"/>
                    <a:pt x="15128" y="103077"/>
                    <a:pt x="10655" y="107546"/>
                  </a:cubicBezTo>
                  <a:cubicBezTo>
                    <a:pt x="8099" y="109461"/>
                    <a:pt x="7460" y="113930"/>
                    <a:pt x="9377" y="116483"/>
                  </a:cubicBezTo>
                  <a:cubicBezTo>
                    <a:pt x="11294" y="119037"/>
                    <a:pt x="15767" y="119675"/>
                    <a:pt x="18323" y="117760"/>
                  </a:cubicBezTo>
                  <a:cubicBezTo>
                    <a:pt x="29825" y="109461"/>
                    <a:pt x="31742" y="90947"/>
                    <a:pt x="26630" y="83925"/>
                  </a:cubicBezTo>
                  <a:cubicBezTo>
                    <a:pt x="21518" y="75626"/>
                    <a:pt x="17045" y="66050"/>
                    <a:pt x="15128" y="56474"/>
                  </a:cubicBezTo>
                  <a:cubicBezTo>
                    <a:pt x="11294" y="41791"/>
                    <a:pt x="12572" y="30299"/>
                    <a:pt x="18323" y="23277"/>
                  </a:cubicBezTo>
                  <a:cubicBezTo>
                    <a:pt x="29825" y="11147"/>
                    <a:pt x="48995" y="10509"/>
                    <a:pt x="61136" y="22000"/>
                  </a:cubicBezTo>
                  <a:cubicBezTo>
                    <a:pt x="61775" y="22639"/>
                    <a:pt x="61775" y="22639"/>
                    <a:pt x="62414" y="23277"/>
                  </a:cubicBezTo>
                  <a:cubicBezTo>
                    <a:pt x="68165" y="30299"/>
                    <a:pt x="69443" y="41791"/>
                    <a:pt x="65609" y="56474"/>
                  </a:cubicBezTo>
                  <a:cubicBezTo>
                    <a:pt x="63053" y="66050"/>
                    <a:pt x="59219" y="75626"/>
                    <a:pt x="54107" y="83925"/>
                  </a:cubicBezTo>
                  <a:cubicBezTo>
                    <a:pt x="48995" y="90947"/>
                    <a:pt x="50912" y="109461"/>
                    <a:pt x="62414" y="118399"/>
                  </a:cubicBezTo>
                  <a:cubicBezTo>
                    <a:pt x="68165" y="120952"/>
                    <a:pt x="73916" y="122867"/>
                    <a:pt x="80306" y="123506"/>
                  </a:cubicBezTo>
                  <a:cubicBezTo>
                    <a:pt x="86056" y="124144"/>
                    <a:pt x="91168" y="125421"/>
                    <a:pt x="96281" y="127336"/>
                  </a:cubicBezTo>
                  <a:cubicBezTo>
                    <a:pt x="97558" y="127975"/>
                    <a:pt x="98197" y="128613"/>
                    <a:pt x="99476" y="128613"/>
                  </a:cubicBezTo>
                  <a:cubicBezTo>
                    <a:pt x="103309" y="128613"/>
                    <a:pt x="105865" y="126059"/>
                    <a:pt x="105865" y="122229"/>
                  </a:cubicBezTo>
                  <a:cubicBezTo>
                    <a:pt x="105226" y="119037"/>
                    <a:pt x="103948" y="117122"/>
                    <a:pt x="102670" y="115845"/>
                  </a:cubicBezTo>
                  <a:lnTo>
                    <a:pt x="102670" y="115845"/>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raphic 4">
              <a:extLst>
                <a:ext uri="{FF2B5EF4-FFF2-40B4-BE49-F238E27FC236}">
                  <a16:creationId xmlns:a16="http://schemas.microsoft.com/office/drawing/2014/main" id="{99B80F68-B075-8D51-61D7-54A69EB54AB8}"/>
                </a:ext>
              </a:extLst>
            </p:cNvPr>
            <p:cNvSpPr/>
            <p:nvPr/>
          </p:nvSpPr>
          <p:spPr>
            <a:xfrm>
              <a:off x="4717290" y="3925673"/>
              <a:ext cx="165260" cy="160637"/>
            </a:xfrm>
            <a:custGeom>
              <a:avLst/>
              <a:gdLst>
                <a:gd name="connsiteX0" fmla="*/ 161427 w 165260"/>
                <a:gd name="connsiteY0" fmla="*/ 147470 h 160637"/>
                <a:gd name="connsiteX1" fmla="*/ 132672 w 165260"/>
                <a:gd name="connsiteY1" fmla="*/ 141086 h 160637"/>
                <a:gd name="connsiteX2" fmla="*/ 119253 w 165260"/>
                <a:gd name="connsiteY2" fmla="*/ 139171 h 160637"/>
                <a:gd name="connsiteX3" fmla="*/ 109668 w 165260"/>
                <a:gd name="connsiteY3" fmla="*/ 112997 h 160637"/>
                <a:gd name="connsiteX4" fmla="*/ 126921 w 165260"/>
                <a:gd name="connsiteY4" fmla="*/ 72778 h 160637"/>
                <a:gd name="connsiteX5" fmla="*/ 119892 w 165260"/>
                <a:gd name="connsiteY5" fmla="*/ 16599 h 160637"/>
                <a:gd name="connsiteX6" fmla="*/ 82831 w 165260"/>
                <a:gd name="connsiteY6" fmla="*/ 0 h 160637"/>
                <a:gd name="connsiteX7" fmla="*/ 45769 w 165260"/>
                <a:gd name="connsiteY7" fmla="*/ 16599 h 160637"/>
                <a:gd name="connsiteX8" fmla="*/ 38740 w 165260"/>
                <a:gd name="connsiteY8" fmla="*/ 72778 h 160637"/>
                <a:gd name="connsiteX9" fmla="*/ 55993 w 165260"/>
                <a:gd name="connsiteY9" fmla="*/ 112997 h 160637"/>
                <a:gd name="connsiteX10" fmla="*/ 46408 w 165260"/>
                <a:gd name="connsiteY10" fmla="*/ 139809 h 160637"/>
                <a:gd name="connsiteX11" fmla="*/ 32989 w 165260"/>
                <a:gd name="connsiteY11" fmla="*/ 141724 h 160637"/>
                <a:gd name="connsiteX12" fmla="*/ 4235 w 165260"/>
                <a:gd name="connsiteY12" fmla="*/ 148108 h 160637"/>
                <a:gd name="connsiteX13" fmla="*/ 400 w 165260"/>
                <a:gd name="connsiteY13" fmla="*/ 156408 h 160637"/>
                <a:gd name="connsiteX14" fmla="*/ 8707 w 165260"/>
                <a:gd name="connsiteY14" fmla="*/ 160238 h 160637"/>
                <a:gd name="connsiteX15" fmla="*/ 9346 w 165260"/>
                <a:gd name="connsiteY15" fmla="*/ 159600 h 160637"/>
                <a:gd name="connsiteX16" fmla="*/ 33628 w 165260"/>
                <a:gd name="connsiteY16" fmla="*/ 154492 h 160637"/>
                <a:gd name="connsiteX17" fmla="*/ 52159 w 165260"/>
                <a:gd name="connsiteY17" fmla="*/ 150662 h 160637"/>
                <a:gd name="connsiteX18" fmla="*/ 67495 w 165260"/>
                <a:gd name="connsiteY18" fmla="*/ 125126 h 160637"/>
                <a:gd name="connsiteX19" fmla="*/ 66217 w 165260"/>
                <a:gd name="connsiteY19" fmla="*/ 105336 h 160637"/>
                <a:gd name="connsiteX20" fmla="*/ 50881 w 165260"/>
                <a:gd name="connsiteY20" fmla="*/ 69586 h 160637"/>
                <a:gd name="connsiteX21" fmla="*/ 55354 w 165260"/>
                <a:gd name="connsiteY21" fmla="*/ 24259 h 160637"/>
                <a:gd name="connsiteX22" fmla="*/ 82831 w 165260"/>
                <a:gd name="connsiteY22" fmla="*/ 12130 h 160637"/>
                <a:gd name="connsiteX23" fmla="*/ 110307 w 165260"/>
                <a:gd name="connsiteY23" fmla="*/ 24259 h 160637"/>
                <a:gd name="connsiteX24" fmla="*/ 114780 w 165260"/>
                <a:gd name="connsiteY24" fmla="*/ 69586 h 160637"/>
                <a:gd name="connsiteX25" fmla="*/ 99444 w 165260"/>
                <a:gd name="connsiteY25" fmla="*/ 105336 h 160637"/>
                <a:gd name="connsiteX26" fmla="*/ 98166 w 165260"/>
                <a:gd name="connsiteY26" fmla="*/ 125126 h 160637"/>
                <a:gd name="connsiteX27" fmla="*/ 113502 w 165260"/>
                <a:gd name="connsiteY27" fmla="*/ 150662 h 160637"/>
                <a:gd name="connsiteX28" fmla="*/ 132033 w 165260"/>
                <a:gd name="connsiteY28" fmla="*/ 154492 h 160637"/>
                <a:gd name="connsiteX29" fmla="*/ 156315 w 165260"/>
                <a:gd name="connsiteY29" fmla="*/ 159600 h 160637"/>
                <a:gd name="connsiteX30" fmla="*/ 158871 w 165260"/>
                <a:gd name="connsiteY30" fmla="*/ 160238 h 160637"/>
                <a:gd name="connsiteX31" fmla="*/ 165261 w 165260"/>
                <a:gd name="connsiteY31" fmla="*/ 153854 h 160637"/>
                <a:gd name="connsiteX32" fmla="*/ 161427 w 165260"/>
                <a:gd name="connsiteY32" fmla="*/ 147470 h 160637"/>
                <a:gd name="connsiteX33" fmla="*/ 161427 w 165260"/>
                <a:gd name="connsiteY33" fmla="*/ 147470 h 160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5260" h="160637">
                  <a:moveTo>
                    <a:pt x="161427" y="147470"/>
                  </a:moveTo>
                  <a:cubicBezTo>
                    <a:pt x="152481" y="143640"/>
                    <a:pt x="142896" y="141086"/>
                    <a:pt x="132672" y="141086"/>
                  </a:cubicBezTo>
                  <a:cubicBezTo>
                    <a:pt x="128199" y="141086"/>
                    <a:pt x="123726" y="140448"/>
                    <a:pt x="119253" y="139171"/>
                  </a:cubicBezTo>
                  <a:cubicBezTo>
                    <a:pt x="112863" y="135341"/>
                    <a:pt x="107751" y="116827"/>
                    <a:pt x="109668" y="112997"/>
                  </a:cubicBezTo>
                  <a:cubicBezTo>
                    <a:pt x="117975" y="100867"/>
                    <a:pt x="123726" y="86822"/>
                    <a:pt x="126921" y="72778"/>
                  </a:cubicBezTo>
                  <a:cubicBezTo>
                    <a:pt x="132672" y="48519"/>
                    <a:pt x="130755" y="29367"/>
                    <a:pt x="119892" y="16599"/>
                  </a:cubicBezTo>
                  <a:cubicBezTo>
                    <a:pt x="110307" y="5746"/>
                    <a:pt x="96889" y="0"/>
                    <a:pt x="82831" y="0"/>
                  </a:cubicBezTo>
                  <a:cubicBezTo>
                    <a:pt x="68773" y="0"/>
                    <a:pt x="54715" y="5746"/>
                    <a:pt x="45769" y="16599"/>
                  </a:cubicBezTo>
                  <a:cubicBezTo>
                    <a:pt x="35545" y="29367"/>
                    <a:pt x="32989" y="48519"/>
                    <a:pt x="38740" y="72778"/>
                  </a:cubicBezTo>
                  <a:cubicBezTo>
                    <a:pt x="41935" y="86822"/>
                    <a:pt x="47686" y="100229"/>
                    <a:pt x="55993" y="112997"/>
                  </a:cubicBezTo>
                  <a:cubicBezTo>
                    <a:pt x="57910" y="116827"/>
                    <a:pt x="52798" y="135979"/>
                    <a:pt x="46408" y="139809"/>
                  </a:cubicBezTo>
                  <a:cubicBezTo>
                    <a:pt x="41935" y="141724"/>
                    <a:pt x="37462" y="142363"/>
                    <a:pt x="32989" y="141724"/>
                  </a:cubicBezTo>
                  <a:cubicBezTo>
                    <a:pt x="22765" y="141724"/>
                    <a:pt x="13180" y="144278"/>
                    <a:pt x="4235" y="148108"/>
                  </a:cubicBezTo>
                  <a:cubicBezTo>
                    <a:pt x="1040" y="149385"/>
                    <a:pt x="-878" y="153216"/>
                    <a:pt x="400" y="156408"/>
                  </a:cubicBezTo>
                  <a:cubicBezTo>
                    <a:pt x="1678" y="159600"/>
                    <a:pt x="5512" y="161515"/>
                    <a:pt x="8707" y="160238"/>
                  </a:cubicBezTo>
                  <a:cubicBezTo>
                    <a:pt x="8707" y="160238"/>
                    <a:pt x="9346" y="160238"/>
                    <a:pt x="9346" y="159600"/>
                  </a:cubicBezTo>
                  <a:cubicBezTo>
                    <a:pt x="17014" y="156408"/>
                    <a:pt x="25321" y="154492"/>
                    <a:pt x="33628" y="154492"/>
                  </a:cubicBezTo>
                  <a:cubicBezTo>
                    <a:pt x="40018" y="154492"/>
                    <a:pt x="46408" y="153216"/>
                    <a:pt x="52159" y="150662"/>
                  </a:cubicBezTo>
                  <a:cubicBezTo>
                    <a:pt x="62383" y="145555"/>
                    <a:pt x="66856" y="130233"/>
                    <a:pt x="67495" y="125126"/>
                  </a:cubicBezTo>
                  <a:cubicBezTo>
                    <a:pt x="69412" y="118742"/>
                    <a:pt x="69412" y="111720"/>
                    <a:pt x="66217" y="105336"/>
                  </a:cubicBezTo>
                  <a:cubicBezTo>
                    <a:pt x="59188" y="94483"/>
                    <a:pt x="54076" y="82354"/>
                    <a:pt x="50881" y="69586"/>
                  </a:cubicBezTo>
                  <a:cubicBezTo>
                    <a:pt x="45769" y="49157"/>
                    <a:pt x="47686" y="33835"/>
                    <a:pt x="55354" y="24259"/>
                  </a:cubicBezTo>
                  <a:cubicBezTo>
                    <a:pt x="62383" y="16599"/>
                    <a:pt x="72607" y="12130"/>
                    <a:pt x="82831" y="12130"/>
                  </a:cubicBezTo>
                  <a:cubicBezTo>
                    <a:pt x="93054" y="12130"/>
                    <a:pt x="103279" y="16599"/>
                    <a:pt x="110307" y="24259"/>
                  </a:cubicBezTo>
                  <a:cubicBezTo>
                    <a:pt x="117975" y="33835"/>
                    <a:pt x="119892" y="49157"/>
                    <a:pt x="114780" y="69586"/>
                  </a:cubicBezTo>
                  <a:cubicBezTo>
                    <a:pt x="111585" y="82354"/>
                    <a:pt x="106474" y="94483"/>
                    <a:pt x="99444" y="105336"/>
                  </a:cubicBezTo>
                  <a:cubicBezTo>
                    <a:pt x="96249" y="111720"/>
                    <a:pt x="96249" y="118742"/>
                    <a:pt x="98166" y="125126"/>
                  </a:cubicBezTo>
                  <a:cubicBezTo>
                    <a:pt x="99444" y="129595"/>
                    <a:pt x="103279" y="144916"/>
                    <a:pt x="113502" y="150662"/>
                  </a:cubicBezTo>
                  <a:cubicBezTo>
                    <a:pt x="119253" y="153216"/>
                    <a:pt x="125643" y="154492"/>
                    <a:pt x="132033" y="154492"/>
                  </a:cubicBezTo>
                  <a:cubicBezTo>
                    <a:pt x="140340" y="154492"/>
                    <a:pt x="148647" y="156408"/>
                    <a:pt x="156315" y="159600"/>
                  </a:cubicBezTo>
                  <a:cubicBezTo>
                    <a:pt x="156954" y="160238"/>
                    <a:pt x="158232" y="160238"/>
                    <a:pt x="158871" y="160238"/>
                  </a:cubicBezTo>
                  <a:cubicBezTo>
                    <a:pt x="162705" y="160238"/>
                    <a:pt x="165261" y="157684"/>
                    <a:pt x="165261" y="153854"/>
                  </a:cubicBezTo>
                  <a:cubicBezTo>
                    <a:pt x="165261" y="150662"/>
                    <a:pt x="163983" y="148108"/>
                    <a:pt x="161427" y="147470"/>
                  </a:cubicBezTo>
                  <a:lnTo>
                    <a:pt x="161427" y="147470"/>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8" name="TextBox 47">
            <a:extLst>
              <a:ext uri="{FF2B5EF4-FFF2-40B4-BE49-F238E27FC236}">
                <a16:creationId xmlns:a16="http://schemas.microsoft.com/office/drawing/2014/main" id="{9105AD61-B220-D0BF-59C1-C915EE1C68EB}"/>
              </a:ext>
            </a:extLst>
          </p:cNvPr>
          <p:cNvSpPr txBox="1"/>
          <p:nvPr/>
        </p:nvSpPr>
        <p:spPr>
          <a:xfrm>
            <a:off x="10029468" y="6218940"/>
            <a:ext cx="1130118"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1800" b="0" i="0" u="none" strike="noStrike" kern="1200" cap="none" spc="0" normalizeH="0" baseline="0" noProof="0">
                <a:ln>
                  <a:noFill/>
                </a:ln>
                <a:solidFill>
                  <a:srgbClr val="313131"/>
                </a:solidFill>
                <a:effectLst/>
                <a:uLnTx/>
                <a:uFillTx/>
                <a:latin typeface="Aptos" panose="02110004020202020204"/>
                <a:ea typeface="+mn-ea"/>
                <a:cs typeface="+mn-cs"/>
              </a:rPr>
              <a:t>Accounting</a:t>
            </a:r>
          </a:p>
        </p:txBody>
      </p:sp>
      <p:cxnSp>
        <p:nvCxnSpPr>
          <p:cNvPr id="62" name="Straight Arrow Connector 61">
            <a:extLst>
              <a:ext uri="{FF2B5EF4-FFF2-40B4-BE49-F238E27FC236}">
                <a16:creationId xmlns:a16="http://schemas.microsoft.com/office/drawing/2014/main" id="{3AB43325-DF3C-6035-8E87-4749BE9DBA93}"/>
              </a:ext>
            </a:extLst>
          </p:cNvPr>
          <p:cNvCxnSpPr>
            <a:cxnSpLocks/>
            <a:endCxn id="118" idx="1"/>
          </p:cNvCxnSpPr>
          <p:nvPr/>
        </p:nvCxnSpPr>
        <p:spPr>
          <a:xfrm>
            <a:off x="7043378" y="3192325"/>
            <a:ext cx="409022" cy="49779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6A2ED615-F404-7F78-6160-0ECC4A34729F}"/>
              </a:ext>
            </a:extLst>
          </p:cNvPr>
          <p:cNvGrpSpPr/>
          <p:nvPr/>
        </p:nvGrpSpPr>
        <p:grpSpPr>
          <a:xfrm>
            <a:off x="7822514" y="3424904"/>
            <a:ext cx="1311962" cy="714995"/>
            <a:chOff x="5725974" y="3914791"/>
            <a:chExt cx="1311962" cy="714995"/>
          </a:xfrm>
        </p:grpSpPr>
        <p:sp>
          <p:nvSpPr>
            <p:cNvPr id="74" name="Graphic 6">
              <a:extLst>
                <a:ext uri="{FF2B5EF4-FFF2-40B4-BE49-F238E27FC236}">
                  <a16:creationId xmlns:a16="http://schemas.microsoft.com/office/drawing/2014/main" id="{258E78A9-65AD-D92F-2A46-AB9F238DD20A}"/>
                </a:ext>
              </a:extLst>
            </p:cNvPr>
            <p:cNvSpPr>
              <a:spLocks noChangeAspect="1"/>
            </p:cNvSpPr>
            <p:nvPr/>
          </p:nvSpPr>
          <p:spPr>
            <a:xfrm>
              <a:off x="5725974" y="3914791"/>
              <a:ext cx="368745" cy="557265"/>
            </a:xfrm>
            <a:custGeom>
              <a:avLst/>
              <a:gdLst>
                <a:gd name="connsiteX0" fmla="*/ 63899 w 100961"/>
                <a:gd name="connsiteY0" fmla="*/ 56179 h 152577"/>
                <a:gd name="connsiteX1" fmla="*/ 63261 w 100961"/>
                <a:gd name="connsiteY1" fmla="*/ 49795 h 152577"/>
                <a:gd name="connsiteX2" fmla="*/ 85625 w 100961"/>
                <a:gd name="connsiteY2" fmla="*/ 0 h 152577"/>
                <a:gd name="connsiteX3" fmla="*/ 33867 w 100961"/>
                <a:gd name="connsiteY3" fmla="*/ 0 h 152577"/>
                <a:gd name="connsiteX4" fmla="*/ 0 w 100961"/>
                <a:gd name="connsiteY4" fmla="*/ 79162 h 152577"/>
                <a:gd name="connsiteX5" fmla="*/ 29394 w 100961"/>
                <a:gd name="connsiteY5" fmla="*/ 79162 h 152577"/>
                <a:gd name="connsiteX6" fmla="*/ 34506 w 100961"/>
                <a:gd name="connsiteY6" fmla="*/ 81715 h 152577"/>
                <a:gd name="connsiteX7" fmla="*/ 35783 w 100961"/>
                <a:gd name="connsiteY7" fmla="*/ 87461 h 152577"/>
                <a:gd name="connsiteX8" fmla="*/ 17253 w 100961"/>
                <a:gd name="connsiteY8" fmla="*/ 152577 h 152577"/>
                <a:gd name="connsiteX9" fmla="*/ 100961 w 100961"/>
                <a:gd name="connsiteY9" fmla="*/ 59371 h 152577"/>
                <a:gd name="connsiteX10" fmla="*/ 69012 w 100961"/>
                <a:gd name="connsiteY10" fmla="*/ 59371 h 152577"/>
                <a:gd name="connsiteX11" fmla="*/ 63899 w 100961"/>
                <a:gd name="connsiteY11" fmla="*/ 56179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1" h="152577">
                  <a:moveTo>
                    <a:pt x="63899" y="56179"/>
                  </a:moveTo>
                  <a:cubicBezTo>
                    <a:pt x="62622" y="54264"/>
                    <a:pt x="62622" y="52349"/>
                    <a:pt x="63261" y="49795"/>
                  </a:cubicBezTo>
                  <a:lnTo>
                    <a:pt x="85625" y="0"/>
                  </a:lnTo>
                  <a:lnTo>
                    <a:pt x="33867" y="0"/>
                  </a:lnTo>
                  <a:lnTo>
                    <a:pt x="0" y="79162"/>
                  </a:lnTo>
                  <a:lnTo>
                    <a:pt x="29394" y="79162"/>
                  </a:lnTo>
                  <a:cubicBezTo>
                    <a:pt x="31311" y="79162"/>
                    <a:pt x="33228" y="79800"/>
                    <a:pt x="34506" y="81715"/>
                  </a:cubicBezTo>
                  <a:cubicBezTo>
                    <a:pt x="35783" y="83630"/>
                    <a:pt x="35783" y="85546"/>
                    <a:pt x="35783" y="87461"/>
                  </a:cubicBezTo>
                  <a:lnTo>
                    <a:pt x="17253" y="152577"/>
                  </a:lnTo>
                  <a:lnTo>
                    <a:pt x="100961" y="59371"/>
                  </a:lnTo>
                  <a:lnTo>
                    <a:pt x="69012" y="59371"/>
                  </a:lnTo>
                  <a:cubicBezTo>
                    <a:pt x="67094" y="58733"/>
                    <a:pt x="65178" y="57456"/>
                    <a:pt x="63899" y="56179"/>
                  </a:cubicBezTo>
                  <a:close/>
                </a:path>
              </a:pathLst>
            </a:custGeom>
            <a:solidFill>
              <a:srgbClr val="FFCD00"/>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6" name="TextBox 75">
              <a:extLst>
                <a:ext uri="{FF2B5EF4-FFF2-40B4-BE49-F238E27FC236}">
                  <a16:creationId xmlns:a16="http://schemas.microsoft.com/office/drawing/2014/main" id="{2DFEB503-1A5A-92E8-092B-87A8514542C8}"/>
                </a:ext>
              </a:extLst>
            </p:cNvPr>
            <p:cNvSpPr txBox="1"/>
            <p:nvPr/>
          </p:nvSpPr>
          <p:spPr>
            <a:xfrm>
              <a:off x="6102096" y="3937289"/>
              <a:ext cx="935840" cy="6924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Risk Adjustments relevant for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accounting</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need</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to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be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included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into</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dataflow</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78" name="Group 77">
            <a:extLst>
              <a:ext uri="{FF2B5EF4-FFF2-40B4-BE49-F238E27FC236}">
                <a16:creationId xmlns:a16="http://schemas.microsoft.com/office/drawing/2014/main" id="{4F5999F2-FEA2-63A5-1B51-9D7907469AAB}"/>
              </a:ext>
            </a:extLst>
          </p:cNvPr>
          <p:cNvGrpSpPr/>
          <p:nvPr/>
        </p:nvGrpSpPr>
        <p:grpSpPr>
          <a:xfrm>
            <a:off x="10269715" y="4457184"/>
            <a:ext cx="1489320" cy="1268993"/>
            <a:chOff x="5725974" y="3914791"/>
            <a:chExt cx="1311962" cy="1268993"/>
          </a:xfrm>
        </p:grpSpPr>
        <p:sp>
          <p:nvSpPr>
            <p:cNvPr id="79" name="Graphic 6">
              <a:extLst>
                <a:ext uri="{FF2B5EF4-FFF2-40B4-BE49-F238E27FC236}">
                  <a16:creationId xmlns:a16="http://schemas.microsoft.com/office/drawing/2014/main" id="{793C1DD9-D3EB-95A4-D540-09B33E3A2EE9}"/>
                </a:ext>
              </a:extLst>
            </p:cNvPr>
            <p:cNvSpPr>
              <a:spLocks noChangeAspect="1"/>
            </p:cNvSpPr>
            <p:nvPr/>
          </p:nvSpPr>
          <p:spPr>
            <a:xfrm>
              <a:off x="5725974" y="3914791"/>
              <a:ext cx="368745" cy="557265"/>
            </a:xfrm>
            <a:custGeom>
              <a:avLst/>
              <a:gdLst>
                <a:gd name="connsiteX0" fmla="*/ 63899 w 100961"/>
                <a:gd name="connsiteY0" fmla="*/ 56179 h 152577"/>
                <a:gd name="connsiteX1" fmla="*/ 63261 w 100961"/>
                <a:gd name="connsiteY1" fmla="*/ 49795 h 152577"/>
                <a:gd name="connsiteX2" fmla="*/ 85625 w 100961"/>
                <a:gd name="connsiteY2" fmla="*/ 0 h 152577"/>
                <a:gd name="connsiteX3" fmla="*/ 33867 w 100961"/>
                <a:gd name="connsiteY3" fmla="*/ 0 h 152577"/>
                <a:gd name="connsiteX4" fmla="*/ 0 w 100961"/>
                <a:gd name="connsiteY4" fmla="*/ 79162 h 152577"/>
                <a:gd name="connsiteX5" fmla="*/ 29394 w 100961"/>
                <a:gd name="connsiteY5" fmla="*/ 79162 h 152577"/>
                <a:gd name="connsiteX6" fmla="*/ 34506 w 100961"/>
                <a:gd name="connsiteY6" fmla="*/ 81715 h 152577"/>
                <a:gd name="connsiteX7" fmla="*/ 35783 w 100961"/>
                <a:gd name="connsiteY7" fmla="*/ 87461 h 152577"/>
                <a:gd name="connsiteX8" fmla="*/ 17253 w 100961"/>
                <a:gd name="connsiteY8" fmla="*/ 152577 h 152577"/>
                <a:gd name="connsiteX9" fmla="*/ 100961 w 100961"/>
                <a:gd name="connsiteY9" fmla="*/ 59371 h 152577"/>
                <a:gd name="connsiteX10" fmla="*/ 69012 w 100961"/>
                <a:gd name="connsiteY10" fmla="*/ 59371 h 152577"/>
                <a:gd name="connsiteX11" fmla="*/ 63899 w 100961"/>
                <a:gd name="connsiteY11" fmla="*/ 56179 h 1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1" h="152577">
                  <a:moveTo>
                    <a:pt x="63899" y="56179"/>
                  </a:moveTo>
                  <a:cubicBezTo>
                    <a:pt x="62622" y="54264"/>
                    <a:pt x="62622" y="52349"/>
                    <a:pt x="63261" y="49795"/>
                  </a:cubicBezTo>
                  <a:lnTo>
                    <a:pt x="85625" y="0"/>
                  </a:lnTo>
                  <a:lnTo>
                    <a:pt x="33867" y="0"/>
                  </a:lnTo>
                  <a:lnTo>
                    <a:pt x="0" y="79162"/>
                  </a:lnTo>
                  <a:lnTo>
                    <a:pt x="29394" y="79162"/>
                  </a:lnTo>
                  <a:cubicBezTo>
                    <a:pt x="31311" y="79162"/>
                    <a:pt x="33228" y="79800"/>
                    <a:pt x="34506" y="81715"/>
                  </a:cubicBezTo>
                  <a:cubicBezTo>
                    <a:pt x="35783" y="83630"/>
                    <a:pt x="35783" y="85546"/>
                    <a:pt x="35783" y="87461"/>
                  </a:cubicBezTo>
                  <a:lnTo>
                    <a:pt x="17253" y="152577"/>
                  </a:lnTo>
                  <a:lnTo>
                    <a:pt x="100961" y="59371"/>
                  </a:lnTo>
                  <a:lnTo>
                    <a:pt x="69012" y="59371"/>
                  </a:lnTo>
                  <a:cubicBezTo>
                    <a:pt x="67094" y="58733"/>
                    <a:pt x="65178" y="57456"/>
                    <a:pt x="63899" y="56179"/>
                  </a:cubicBezTo>
                  <a:close/>
                </a:path>
              </a:pathLst>
            </a:custGeom>
            <a:solidFill>
              <a:srgbClr val="FFCD00"/>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0" name="TextBox 79">
              <a:extLst>
                <a:ext uri="{FF2B5EF4-FFF2-40B4-BE49-F238E27FC236}">
                  <a16:creationId xmlns:a16="http://schemas.microsoft.com/office/drawing/2014/main" id="{7F3A4052-A91F-4467-64A7-78AFF4610AD1}"/>
                </a:ext>
              </a:extLst>
            </p:cNvPr>
            <p:cNvSpPr txBox="1"/>
            <p:nvPr/>
          </p:nvSpPr>
          <p:spPr>
            <a:xfrm>
              <a:off x="6102096" y="3937289"/>
              <a:ext cx="935840" cy="12464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Enrichment of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with</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accounting</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relevant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information</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 Own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use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 Fair Value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Flag</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IFRS 13 Adjustments, SAP Accounts</a:t>
              </a:r>
            </a:p>
          </p:txBody>
        </p:sp>
      </p:grpSp>
      <p:sp>
        <p:nvSpPr>
          <p:cNvPr id="85" name="TextBox 84">
            <a:extLst>
              <a:ext uri="{FF2B5EF4-FFF2-40B4-BE49-F238E27FC236}">
                <a16:creationId xmlns:a16="http://schemas.microsoft.com/office/drawing/2014/main" id="{04655190-81FE-37E3-DECA-3AE1DB69F33D}"/>
              </a:ext>
            </a:extLst>
          </p:cNvPr>
          <p:cNvSpPr txBox="1"/>
          <p:nvPr/>
        </p:nvSpPr>
        <p:spPr>
          <a:xfrm>
            <a:off x="5225300" y="1489395"/>
            <a:ext cx="4498516"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de-DE" sz="900" b="0" i="0" u="sng" strike="noStrike" kern="1200" cap="none" spc="0" normalizeH="0" baseline="0" noProof="0">
                <a:ln>
                  <a:noFill/>
                </a:ln>
                <a:solidFill>
                  <a:prstClr val="black"/>
                </a:solidFill>
                <a:effectLst/>
                <a:uLnTx/>
                <a:uFillTx/>
                <a:latin typeface="Aptos" panose="02110004020202020204"/>
                <a:ea typeface="+mn-ea"/>
                <a:cs typeface="+mn-cs"/>
              </a:rPr>
              <a:t>Interface for </a:t>
            </a:r>
            <a:r>
              <a:rPr kumimoji="0" lang="de-DE" sz="900" b="0" i="0" u="sng" strike="noStrike" kern="1200" cap="none" spc="0" normalizeH="0" baseline="0" noProof="0" err="1">
                <a:ln>
                  <a:noFill/>
                </a:ln>
                <a:solidFill>
                  <a:prstClr val="black"/>
                </a:solidFill>
                <a:effectLst/>
                <a:uLnTx/>
                <a:uFillTx/>
                <a:latin typeface="Aptos" panose="02110004020202020204"/>
                <a:ea typeface="+mn-ea"/>
                <a:cs typeface="+mn-cs"/>
              </a:rPr>
              <a:t>realised</a:t>
            </a:r>
            <a:r>
              <a:rPr kumimoji="0" lang="de-DE" sz="900" b="0" i="0" u="sng"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sng" strike="noStrike" kern="1200" cap="none" spc="0" normalizeH="0" baseline="0" noProof="0" err="1">
                <a:ln>
                  <a:noFill/>
                </a:ln>
                <a:solidFill>
                  <a:prstClr val="black"/>
                </a:solidFill>
                <a:effectLst/>
                <a:uLnTx/>
                <a:uFillTx/>
                <a:latin typeface="Aptos" panose="02110004020202020204"/>
                <a:ea typeface="+mn-ea"/>
                <a:cs typeface="+mn-cs"/>
              </a:rPr>
              <a:t>settled</a:t>
            </a:r>
            <a:r>
              <a:rPr kumimoji="0" lang="de-DE" sz="900" b="0" i="0" u="sng"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sng" strike="noStrike" kern="1200" cap="none" spc="0" normalizeH="0" baseline="0" noProof="0" err="1">
                <a:ln>
                  <a:noFill/>
                </a:ln>
                <a:solidFill>
                  <a:prstClr val="black"/>
                </a:solidFill>
                <a:effectLst/>
                <a:uLnTx/>
                <a:uFillTx/>
                <a:latin typeface="Aptos" panose="02110004020202020204"/>
                <a:ea typeface="+mn-ea"/>
                <a:cs typeface="+mn-cs"/>
              </a:rPr>
              <a:t>transactions</a:t>
            </a:r>
            <a:r>
              <a:rPr kumimoji="0" lang="de-DE" sz="900" b="0" i="0" u="sng" strike="noStrike" kern="1200" cap="none" spc="0" normalizeH="0" baseline="0" noProof="0">
                <a:ln>
                  <a:noFill/>
                </a:ln>
                <a:solidFill>
                  <a:prstClr val="black"/>
                </a:solidFill>
                <a:effectLst/>
                <a:uLnTx/>
                <a:uFillTx/>
                <a:latin typeface="Aptos" panose="02110004020202020204"/>
                <a:ea typeface="+mn-ea"/>
                <a:cs typeface="+mn-cs"/>
              </a:rPr>
              <a:t> – </a:t>
            </a:r>
            <a:r>
              <a:rPr kumimoji="0" lang="de-DE" sz="900" b="0" i="0" u="sng" strike="noStrike" kern="1200" cap="none" spc="0" normalizeH="0" baseline="0" noProof="0" err="1">
                <a:ln>
                  <a:noFill/>
                </a:ln>
                <a:solidFill>
                  <a:prstClr val="black"/>
                </a:solidFill>
                <a:effectLst/>
                <a:uLnTx/>
                <a:uFillTx/>
                <a:latin typeface="Aptos" panose="02110004020202020204"/>
                <a:ea typeface="+mn-ea"/>
                <a:cs typeface="+mn-cs"/>
              </a:rPr>
              <a:t>covering</a:t>
            </a:r>
            <a:r>
              <a:rPr kumimoji="0" lang="de-DE" sz="900" b="0" i="0" u="sng" strike="noStrike" kern="1200" cap="none" spc="0" normalizeH="0" baseline="0" noProof="0">
                <a:ln>
                  <a:noFill/>
                </a:ln>
                <a:solidFill>
                  <a:prstClr val="black"/>
                </a:solidFill>
                <a:effectLst/>
                <a:uLnTx/>
                <a:uFillTx/>
                <a:latin typeface="Aptos" panose="02110004020202020204"/>
                <a:ea typeface="+mn-ea"/>
                <a:cs typeface="+mn-cs"/>
              </a:rPr>
              <a:t> 11 </a:t>
            </a:r>
            <a:r>
              <a:rPr kumimoji="0" lang="de-DE" sz="900" b="0" i="0" u="sng" strike="noStrike" kern="1200" cap="none" spc="0" normalizeH="0" baseline="0" noProof="0" err="1">
                <a:ln>
                  <a:noFill/>
                </a:ln>
                <a:solidFill>
                  <a:prstClr val="black"/>
                </a:solidFill>
                <a:effectLst/>
                <a:uLnTx/>
                <a:uFillTx/>
                <a:latin typeface="Aptos" panose="02110004020202020204"/>
                <a:ea typeface="+mn-ea"/>
                <a:cs typeface="+mn-cs"/>
              </a:rPr>
              <a:t>Months</a:t>
            </a:r>
            <a:r>
              <a:rPr kumimoji="0" lang="de-DE" sz="900" b="0" i="0" u="sng" strike="noStrike" kern="1200" cap="none" spc="0" normalizeH="0" baseline="0" noProof="0">
                <a:ln>
                  <a:noFill/>
                </a:ln>
                <a:solidFill>
                  <a:prstClr val="black"/>
                </a:solidFill>
                <a:effectLst/>
                <a:uLnTx/>
                <a:uFillTx/>
                <a:latin typeface="Aptos" panose="02110004020202020204"/>
                <a:ea typeface="+mn-ea"/>
                <a:cs typeface="+mn-cs"/>
              </a:rPr>
              <a:t> of the </a:t>
            </a:r>
            <a:r>
              <a:rPr kumimoji="0" lang="de-DE" sz="900" b="0" i="0" u="sng" strike="noStrike" kern="1200" cap="none" spc="0" normalizeH="0" baseline="0" noProof="0" err="1">
                <a:ln>
                  <a:noFill/>
                </a:ln>
                <a:solidFill>
                  <a:prstClr val="black"/>
                </a:solidFill>
                <a:effectLst/>
                <a:uLnTx/>
                <a:uFillTx/>
                <a:latin typeface="Aptos" panose="02110004020202020204"/>
                <a:ea typeface="+mn-ea"/>
                <a:cs typeface="+mn-cs"/>
              </a:rPr>
              <a:t>year</a:t>
            </a:r>
            <a:r>
              <a:rPr kumimoji="0" lang="de-DE" sz="900" b="0" i="0" u="sng" strike="noStrike" kern="1200" cap="none" spc="0" normalizeH="0" baseline="0" noProof="0">
                <a:ln>
                  <a:noFill/>
                </a:ln>
                <a:solidFill>
                  <a:prstClr val="black"/>
                </a:solidFill>
                <a:effectLst/>
                <a:uLnTx/>
                <a:uFillTx/>
                <a:latin typeface="Aptos" panose="02110004020202020204"/>
                <a:ea typeface="+mn-ea"/>
                <a:cs typeface="+mn-cs"/>
              </a:rPr>
              <a:t> </a:t>
            </a:r>
          </a:p>
        </p:txBody>
      </p:sp>
      <p:grpSp>
        <p:nvGrpSpPr>
          <p:cNvPr id="89" name="Graphic 4">
            <a:extLst>
              <a:ext uri="{FF2B5EF4-FFF2-40B4-BE49-F238E27FC236}">
                <a16:creationId xmlns:a16="http://schemas.microsoft.com/office/drawing/2014/main" id="{546BFE18-EBE9-1822-634E-4A896DD71CD2}"/>
              </a:ext>
            </a:extLst>
          </p:cNvPr>
          <p:cNvGrpSpPr/>
          <p:nvPr/>
        </p:nvGrpSpPr>
        <p:grpSpPr>
          <a:xfrm>
            <a:off x="1305124" y="5730238"/>
            <a:ext cx="362312" cy="361971"/>
            <a:chOff x="4660820" y="3339623"/>
            <a:chExt cx="362312" cy="361971"/>
          </a:xfrm>
          <a:solidFill>
            <a:srgbClr val="00A3E0"/>
          </a:solidFill>
        </p:grpSpPr>
        <p:sp>
          <p:nvSpPr>
            <p:cNvPr id="90" name="Graphic 4">
              <a:extLst>
                <a:ext uri="{FF2B5EF4-FFF2-40B4-BE49-F238E27FC236}">
                  <a16:creationId xmlns:a16="http://schemas.microsoft.com/office/drawing/2014/main" id="{39A02581-9F83-E4A6-8225-E100280D0390}"/>
                </a:ext>
              </a:extLst>
            </p:cNvPr>
            <p:cNvSpPr/>
            <p:nvPr/>
          </p:nvSpPr>
          <p:spPr>
            <a:xfrm>
              <a:off x="4660820" y="3339623"/>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1" name="Graphic 4">
              <a:extLst>
                <a:ext uri="{FF2B5EF4-FFF2-40B4-BE49-F238E27FC236}">
                  <a16:creationId xmlns:a16="http://schemas.microsoft.com/office/drawing/2014/main" id="{14460DB9-FA09-123A-4071-B24B7AE24F92}"/>
                </a:ext>
              </a:extLst>
            </p:cNvPr>
            <p:cNvSpPr/>
            <p:nvPr/>
          </p:nvSpPr>
          <p:spPr>
            <a:xfrm>
              <a:off x="4760503" y="3514545"/>
              <a:ext cx="184767" cy="118741"/>
            </a:xfrm>
            <a:custGeom>
              <a:avLst/>
              <a:gdLst>
                <a:gd name="connsiteX0" fmla="*/ 178918 w 184767"/>
                <a:gd name="connsiteY0" fmla="*/ 0 h 118741"/>
                <a:gd name="connsiteX1" fmla="*/ 172528 w 184767"/>
                <a:gd name="connsiteY1" fmla="*/ 6384 h 118741"/>
                <a:gd name="connsiteX2" fmla="*/ 81791 w 184767"/>
                <a:gd name="connsiteY2" fmla="*/ 97036 h 118741"/>
                <a:gd name="connsiteX3" fmla="*/ 21726 w 184767"/>
                <a:gd name="connsiteY3" fmla="*/ 74692 h 118741"/>
                <a:gd name="connsiteX4" fmla="*/ 50481 w 184767"/>
                <a:gd name="connsiteY4" fmla="*/ 74692 h 118741"/>
                <a:gd name="connsiteX5" fmla="*/ 56871 w 184767"/>
                <a:gd name="connsiteY5" fmla="*/ 68308 h 118741"/>
                <a:gd name="connsiteX6" fmla="*/ 50481 w 184767"/>
                <a:gd name="connsiteY6" fmla="*/ 61924 h 118741"/>
                <a:gd name="connsiteX7" fmla="*/ 6390 w 184767"/>
                <a:gd name="connsiteY7" fmla="*/ 61924 h 118741"/>
                <a:gd name="connsiteX8" fmla="*/ 0 w 184767"/>
                <a:gd name="connsiteY8" fmla="*/ 68308 h 118741"/>
                <a:gd name="connsiteX9" fmla="*/ 0 w 184767"/>
                <a:gd name="connsiteY9" fmla="*/ 112358 h 118741"/>
                <a:gd name="connsiteX10" fmla="*/ 6390 w 184767"/>
                <a:gd name="connsiteY10" fmla="*/ 118742 h 118741"/>
                <a:gd name="connsiteX11" fmla="*/ 12780 w 184767"/>
                <a:gd name="connsiteY11" fmla="*/ 112358 h 118741"/>
                <a:gd name="connsiteX12" fmla="*/ 12780 w 184767"/>
                <a:gd name="connsiteY12" fmla="*/ 83630 h 118741"/>
                <a:gd name="connsiteX13" fmla="*/ 159110 w 184767"/>
                <a:gd name="connsiteY13" fmla="*/ 74692 h 118741"/>
                <a:gd name="connsiteX14" fmla="*/ 184669 w 184767"/>
                <a:gd name="connsiteY14" fmla="*/ 6384 h 118741"/>
                <a:gd name="connsiteX15" fmla="*/ 178918 w 184767"/>
                <a:gd name="connsiteY15" fmla="*/ 0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767" h="118741">
                  <a:moveTo>
                    <a:pt x="178918" y="0"/>
                  </a:moveTo>
                  <a:cubicBezTo>
                    <a:pt x="175084" y="0"/>
                    <a:pt x="172528" y="2553"/>
                    <a:pt x="172528" y="6384"/>
                  </a:cubicBezTo>
                  <a:cubicBezTo>
                    <a:pt x="172528" y="56179"/>
                    <a:pt x="132272" y="97036"/>
                    <a:pt x="81791" y="97036"/>
                  </a:cubicBezTo>
                  <a:cubicBezTo>
                    <a:pt x="60066" y="97036"/>
                    <a:pt x="38340" y="89376"/>
                    <a:pt x="21726" y="74692"/>
                  </a:cubicBezTo>
                  <a:lnTo>
                    <a:pt x="50481" y="74692"/>
                  </a:lnTo>
                  <a:cubicBezTo>
                    <a:pt x="54314" y="74692"/>
                    <a:pt x="56871" y="72139"/>
                    <a:pt x="56871" y="68308"/>
                  </a:cubicBezTo>
                  <a:cubicBezTo>
                    <a:pt x="56871" y="64478"/>
                    <a:pt x="54314" y="61924"/>
                    <a:pt x="50481" y="61924"/>
                  </a:cubicBezTo>
                  <a:lnTo>
                    <a:pt x="6390" y="61924"/>
                  </a:lnTo>
                  <a:cubicBezTo>
                    <a:pt x="2556" y="61924"/>
                    <a:pt x="0" y="64478"/>
                    <a:pt x="0" y="68308"/>
                  </a:cubicBezTo>
                  <a:lnTo>
                    <a:pt x="0" y="112358"/>
                  </a:lnTo>
                  <a:cubicBezTo>
                    <a:pt x="0" y="116188"/>
                    <a:pt x="2556" y="118742"/>
                    <a:pt x="6390" y="118742"/>
                  </a:cubicBezTo>
                  <a:cubicBezTo>
                    <a:pt x="10224" y="118742"/>
                    <a:pt x="12780" y="116188"/>
                    <a:pt x="12780" y="112358"/>
                  </a:cubicBezTo>
                  <a:lnTo>
                    <a:pt x="12780" y="83630"/>
                  </a:lnTo>
                  <a:cubicBezTo>
                    <a:pt x="55593" y="121296"/>
                    <a:pt x="120770" y="117465"/>
                    <a:pt x="159110" y="74692"/>
                  </a:cubicBezTo>
                  <a:cubicBezTo>
                    <a:pt x="175723" y="55540"/>
                    <a:pt x="184669" y="31281"/>
                    <a:pt x="184669" y="6384"/>
                  </a:cubicBezTo>
                  <a:cubicBezTo>
                    <a:pt x="185308" y="2553"/>
                    <a:pt x="182752" y="0"/>
                    <a:pt x="178918" y="0"/>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7" name="Graphic 4">
              <a:extLst>
                <a:ext uri="{FF2B5EF4-FFF2-40B4-BE49-F238E27FC236}">
                  <a16:creationId xmlns:a16="http://schemas.microsoft.com/office/drawing/2014/main" id="{8B5A8637-DD3A-C40C-1200-8DFB3A183E0D}"/>
                </a:ext>
              </a:extLst>
            </p:cNvPr>
            <p:cNvSpPr/>
            <p:nvPr/>
          </p:nvSpPr>
          <p:spPr>
            <a:xfrm>
              <a:off x="4738777" y="3408570"/>
              <a:ext cx="184030" cy="118742"/>
            </a:xfrm>
            <a:custGeom>
              <a:avLst/>
              <a:gdLst>
                <a:gd name="connsiteX0" fmla="*/ 103517 w 184030"/>
                <a:gd name="connsiteY0" fmla="*/ 21706 h 118742"/>
                <a:gd name="connsiteX1" fmla="*/ 162943 w 184030"/>
                <a:gd name="connsiteY1" fmla="*/ 44050 h 118742"/>
                <a:gd name="connsiteX2" fmla="*/ 133550 w 184030"/>
                <a:gd name="connsiteY2" fmla="*/ 44050 h 118742"/>
                <a:gd name="connsiteX3" fmla="*/ 127160 w 184030"/>
                <a:gd name="connsiteY3" fmla="*/ 50434 h 118742"/>
                <a:gd name="connsiteX4" fmla="*/ 133550 w 184030"/>
                <a:gd name="connsiteY4" fmla="*/ 56818 h 118742"/>
                <a:gd name="connsiteX5" fmla="*/ 177641 w 184030"/>
                <a:gd name="connsiteY5" fmla="*/ 56818 h 118742"/>
                <a:gd name="connsiteX6" fmla="*/ 184031 w 184030"/>
                <a:gd name="connsiteY6" fmla="*/ 50434 h 118742"/>
                <a:gd name="connsiteX7" fmla="*/ 184031 w 184030"/>
                <a:gd name="connsiteY7" fmla="*/ 6384 h 118742"/>
                <a:gd name="connsiteX8" fmla="*/ 177641 w 184030"/>
                <a:gd name="connsiteY8" fmla="*/ 0 h 118742"/>
                <a:gd name="connsiteX9" fmla="*/ 171251 w 184030"/>
                <a:gd name="connsiteY9" fmla="*/ 6384 h 118742"/>
                <a:gd name="connsiteX10" fmla="*/ 171251 w 184030"/>
                <a:gd name="connsiteY10" fmla="*/ 34474 h 118742"/>
                <a:gd name="connsiteX11" fmla="*/ 25560 w 184030"/>
                <a:gd name="connsiteY11" fmla="*/ 44050 h 118742"/>
                <a:gd name="connsiteX12" fmla="*/ 0 w 184030"/>
                <a:gd name="connsiteY12" fmla="*/ 112358 h 118742"/>
                <a:gd name="connsiteX13" fmla="*/ 6390 w 184030"/>
                <a:gd name="connsiteY13" fmla="*/ 118742 h 118742"/>
                <a:gd name="connsiteX14" fmla="*/ 12780 w 184030"/>
                <a:gd name="connsiteY14" fmla="*/ 112358 h 118742"/>
                <a:gd name="connsiteX15" fmla="*/ 103517 w 184030"/>
                <a:gd name="connsiteY15" fmla="*/ 21706 h 1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030" h="118742">
                  <a:moveTo>
                    <a:pt x="103517" y="21706"/>
                  </a:moveTo>
                  <a:cubicBezTo>
                    <a:pt x="125243" y="21706"/>
                    <a:pt x="146969" y="30005"/>
                    <a:pt x="162943" y="44050"/>
                  </a:cubicBezTo>
                  <a:lnTo>
                    <a:pt x="133550" y="44050"/>
                  </a:lnTo>
                  <a:cubicBezTo>
                    <a:pt x="129716" y="44050"/>
                    <a:pt x="127160" y="46603"/>
                    <a:pt x="127160" y="50434"/>
                  </a:cubicBezTo>
                  <a:cubicBezTo>
                    <a:pt x="127160" y="54264"/>
                    <a:pt x="129716" y="56818"/>
                    <a:pt x="133550" y="56818"/>
                  </a:cubicBezTo>
                  <a:lnTo>
                    <a:pt x="177641" y="56818"/>
                  </a:lnTo>
                  <a:cubicBezTo>
                    <a:pt x="181474" y="56818"/>
                    <a:pt x="184031" y="54264"/>
                    <a:pt x="184031" y="50434"/>
                  </a:cubicBezTo>
                  <a:lnTo>
                    <a:pt x="184031" y="6384"/>
                  </a:lnTo>
                  <a:cubicBezTo>
                    <a:pt x="184031" y="2554"/>
                    <a:pt x="181474" y="0"/>
                    <a:pt x="177641" y="0"/>
                  </a:cubicBezTo>
                  <a:cubicBezTo>
                    <a:pt x="173806" y="0"/>
                    <a:pt x="171251" y="2554"/>
                    <a:pt x="171251" y="6384"/>
                  </a:cubicBezTo>
                  <a:lnTo>
                    <a:pt x="171251" y="34474"/>
                  </a:lnTo>
                  <a:cubicBezTo>
                    <a:pt x="128438" y="-3192"/>
                    <a:pt x="63261" y="1277"/>
                    <a:pt x="25560" y="44050"/>
                  </a:cubicBezTo>
                  <a:cubicBezTo>
                    <a:pt x="8946" y="63202"/>
                    <a:pt x="0" y="87461"/>
                    <a:pt x="0" y="112358"/>
                  </a:cubicBezTo>
                  <a:cubicBezTo>
                    <a:pt x="0" y="116189"/>
                    <a:pt x="2556" y="118742"/>
                    <a:pt x="6390" y="118742"/>
                  </a:cubicBezTo>
                  <a:cubicBezTo>
                    <a:pt x="10224" y="118742"/>
                    <a:pt x="12780" y="116189"/>
                    <a:pt x="12780" y="112358"/>
                  </a:cubicBezTo>
                  <a:cubicBezTo>
                    <a:pt x="12780" y="61925"/>
                    <a:pt x="53676" y="21706"/>
                    <a:pt x="103517" y="21706"/>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04" name="TextBox 103">
            <a:extLst>
              <a:ext uri="{FF2B5EF4-FFF2-40B4-BE49-F238E27FC236}">
                <a16:creationId xmlns:a16="http://schemas.microsoft.com/office/drawing/2014/main" id="{EAA4135E-2D7A-E99A-326F-364FC8DDEAEA}"/>
              </a:ext>
            </a:extLst>
          </p:cNvPr>
          <p:cNvSpPr txBox="1"/>
          <p:nvPr/>
        </p:nvSpPr>
        <p:spPr>
          <a:xfrm>
            <a:off x="117049" y="5599766"/>
            <a:ext cx="1342158"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1" i="0" u="sng" strike="noStrike" kern="1200" cap="none" spc="0" normalizeH="0" baseline="0" noProof="0">
                <a:ln>
                  <a:noFill/>
                </a:ln>
                <a:solidFill>
                  <a:prstClr val="black"/>
                </a:solidFill>
                <a:effectLst/>
                <a:uLnTx/>
                <a:uFillTx/>
                <a:latin typeface="Aptos" panose="02110004020202020204"/>
                <a:ea typeface="+mn-ea"/>
                <a:cs typeface="+mn-cs"/>
              </a:rPr>
              <a:t>Legend:</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Critical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reconciliations</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along</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dataflow</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06" name="Graphic 4">
            <a:extLst>
              <a:ext uri="{FF2B5EF4-FFF2-40B4-BE49-F238E27FC236}">
                <a16:creationId xmlns:a16="http://schemas.microsoft.com/office/drawing/2014/main" id="{1794D4B9-15CC-2F3C-E5F7-85BF18DCD0FE}"/>
              </a:ext>
            </a:extLst>
          </p:cNvPr>
          <p:cNvGrpSpPr/>
          <p:nvPr/>
        </p:nvGrpSpPr>
        <p:grpSpPr>
          <a:xfrm>
            <a:off x="4805500" y="2972571"/>
            <a:ext cx="362312" cy="361971"/>
            <a:chOff x="4660820" y="3339623"/>
            <a:chExt cx="362312" cy="361971"/>
          </a:xfrm>
          <a:solidFill>
            <a:srgbClr val="00A3E0"/>
          </a:solidFill>
        </p:grpSpPr>
        <p:sp>
          <p:nvSpPr>
            <p:cNvPr id="108" name="Graphic 4">
              <a:extLst>
                <a:ext uri="{FF2B5EF4-FFF2-40B4-BE49-F238E27FC236}">
                  <a16:creationId xmlns:a16="http://schemas.microsoft.com/office/drawing/2014/main" id="{65B1971F-74B6-02C8-9328-AEA6245ABF36}"/>
                </a:ext>
              </a:extLst>
            </p:cNvPr>
            <p:cNvSpPr/>
            <p:nvPr/>
          </p:nvSpPr>
          <p:spPr>
            <a:xfrm>
              <a:off x="4660820" y="3339623"/>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0" name="Graphic 4">
              <a:extLst>
                <a:ext uri="{FF2B5EF4-FFF2-40B4-BE49-F238E27FC236}">
                  <a16:creationId xmlns:a16="http://schemas.microsoft.com/office/drawing/2014/main" id="{C6FED6C6-77C4-89E2-9060-EEDDEAC0D170}"/>
                </a:ext>
              </a:extLst>
            </p:cNvPr>
            <p:cNvSpPr/>
            <p:nvPr/>
          </p:nvSpPr>
          <p:spPr>
            <a:xfrm>
              <a:off x="4760503" y="3514545"/>
              <a:ext cx="184767" cy="118741"/>
            </a:xfrm>
            <a:custGeom>
              <a:avLst/>
              <a:gdLst>
                <a:gd name="connsiteX0" fmla="*/ 178918 w 184767"/>
                <a:gd name="connsiteY0" fmla="*/ 0 h 118741"/>
                <a:gd name="connsiteX1" fmla="*/ 172528 w 184767"/>
                <a:gd name="connsiteY1" fmla="*/ 6384 h 118741"/>
                <a:gd name="connsiteX2" fmla="*/ 81791 w 184767"/>
                <a:gd name="connsiteY2" fmla="*/ 97036 h 118741"/>
                <a:gd name="connsiteX3" fmla="*/ 21726 w 184767"/>
                <a:gd name="connsiteY3" fmla="*/ 74692 h 118741"/>
                <a:gd name="connsiteX4" fmla="*/ 50481 w 184767"/>
                <a:gd name="connsiteY4" fmla="*/ 74692 h 118741"/>
                <a:gd name="connsiteX5" fmla="*/ 56871 w 184767"/>
                <a:gd name="connsiteY5" fmla="*/ 68308 h 118741"/>
                <a:gd name="connsiteX6" fmla="*/ 50481 w 184767"/>
                <a:gd name="connsiteY6" fmla="*/ 61924 h 118741"/>
                <a:gd name="connsiteX7" fmla="*/ 6390 w 184767"/>
                <a:gd name="connsiteY7" fmla="*/ 61924 h 118741"/>
                <a:gd name="connsiteX8" fmla="*/ 0 w 184767"/>
                <a:gd name="connsiteY8" fmla="*/ 68308 h 118741"/>
                <a:gd name="connsiteX9" fmla="*/ 0 w 184767"/>
                <a:gd name="connsiteY9" fmla="*/ 112358 h 118741"/>
                <a:gd name="connsiteX10" fmla="*/ 6390 w 184767"/>
                <a:gd name="connsiteY10" fmla="*/ 118742 h 118741"/>
                <a:gd name="connsiteX11" fmla="*/ 12780 w 184767"/>
                <a:gd name="connsiteY11" fmla="*/ 112358 h 118741"/>
                <a:gd name="connsiteX12" fmla="*/ 12780 w 184767"/>
                <a:gd name="connsiteY12" fmla="*/ 83630 h 118741"/>
                <a:gd name="connsiteX13" fmla="*/ 159110 w 184767"/>
                <a:gd name="connsiteY13" fmla="*/ 74692 h 118741"/>
                <a:gd name="connsiteX14" fmla="*/ 184669 w 184767"/>
                <a:gd name="connsiteY14" fmla="*/ 6384 h 118741"/>
                <a:gd name="connsiteX15" fmla="*/ 178918 w 184767"/>
                <a:gd name="connsiteY15" fmla="*/ 0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767" h="118741">
                  <a:moveTo>
                    <a:pt x="178918" y="0"/>
                  </a:moveTo>
                  <a:cubicBezTo>
                    <a:pt x="175084" y="0"/>
                    <a:pt x="172528" y="2553"/>
                    <a:pt x="172528" y="6384"/>
                  </a:cubicBezTo>
                  <a:cubicBezTo>
                    <a:pt x="172528" y="56179"/>
                    <a:pt x="132272" y="97036"/>
                    <a:pt x="81791" y="97036"/>
                  </a:cubicBezTo>
                  <a:cubicBezTo>
                    <a:pt x="60066" y="97036"/>
                    <a:pt x="38340" y="89376"/>
                    <a:pt x="21726" y="74692"/>
                  </a:cubicBezTo>
                  <a:lnTo>
                    <a:pt x="50481" y="74692"/>
                  </a:lnTo>
                  <a:cubicBezTo>
                    <a:pt x="54314" y="74692"/>
                    <a:pt x="56871" y="72139"/>
                    <a:pt x="56871" y="68308"/>
                  </a:cubicBezTo>
                  <a:cubicBezTo>
                    <a:pt x="56871" y="64478"/>
                    <a:pt x="54314" y="61924"/>
                    <a:pt x="50481" y="61924"/>
                  </a:cubicBezTo>
                  <a:lnTo>
                    <a:pt x="6390" y="61924"/>
                  </a:lnTo>
                  <a:cubicBezTo>
                    <a:pt x="2556" y="61924"/>
                    <a:pt x="0" y="64478"/>
                    <a:pt x="0" y="68308"/>
                  </a:cubicBezTo>
                  <a:lnTo>
                    <a:pt x="0" y="112358"/>
                  </a:lnTo>
                  <a:cubicBezTo>
                    <a:pt x="0" y="116188"/>
                    <a:pt x="2556" y="118742"/>
                    <a:pt x="6390" y="118742"/>
                  </a:cubicBezTo>
                  <a:cubicBezTo>
                    <a:pt x="10224" y="118742"/>
                    <a:pt x="12780" y="116188"/>
                    <a:pt x="12780" y="112358"/>
                  </a:cubicBezTo>
                  <a:lnTo>
                    <a:pt x="12780" y="83630"/>
                  </a:lnTo>
                  <a:cubicBezTo>
                    <a:pt x="55593" y="121296"/>
                    <a:pt x="120770" y="117465"/>
                    <a:pt x="159110" y="74692"/>
                  </a:cubicBezTo>
                  <a:cubicBezTo>
                    <a:pt x="175723" y="55540"/>
                    <a:pt x="184669" y="31281"/>
                    <a:pt x="184669" y="6384"/>
                  </a:cubicBezTo>
                  <a:cubicBezTo>
                    <a:pt x="185308" y="2553"/>
                    <a:pt x="182752" y="0"/>
                    <a:pt x="178918" y="0"/>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2" name="Graphic 4">
              <a:extLst>
                <a:ext uri="{FF2B5EF4-FFF2-40B4-BE49-F238E27FC236}">
                  <a16:creationId xmlns:a16="http://schemas.microsoft.com/office/drawing/2014/main" id="{034B9C8C-4D9D-F52C-852B-20D5F24CC6AC}"/>
                </a:ext>
              </a:extLst>
            </p:cNvPr>
            <p:cNvSpPr/>
            <p:nvPr/>
          </p:nvSpPr>
          <p:spPr>
            <a:xfrm>
              <a:off x="4738777" y="3408570"/>
              <a:ext cx="184030" cy="118742"/>
            </a:xfrm>
            <a:custGeom>
              <a:avLst/>
              <a:gdLst>
                <a:gd name="connsiteX0" fmla="*/ 103517 w 184030"/>
                <a:gd name="connsiteY0" fmla="*/ 21706 h 118742"/>
                <a:gd name="connsiteX1" fmla="*/ 162943 w 184030"/>
                <a:gd name="connsiteY1" fmla="*/ 44050 h 118742"/>
                <a:gd name="connsiteX2" fmla="*/ 133550 w 184030"/>
                <a:gd name="connsiteY2" fmla="*/ 44050 h 118742"/>
                <a:gd name="connsiteX3" fmla="*/ 127160 w 184030"/>
                <a:gd name="connsiteY3" fmla="*/ 50434 h 118742"/>
                <a:gd name="connsiteX4" fmla="*/ 133550 w 184030"/>
                <a:gd name="connsiteY4" fmla="*/ 56818 h 118742"/>
                <a:gd name="connsiteX5" fmla="*/ 177641 w 184030"/>
                <a:gd name="connsiteY5" fmla="*/ 56818 h 118742"/>
                <a:gd name="connsiteX6" fmla="*/ 184031 w 184030"/>
                <a:gd name="connsiteY6" fmla="*/ 50434 h 118742"/>
                <a:gd name="connsiteX7" fmla="*/ 184031 w 184030"/>
                <a:gd name="connsiteY7" fmla="*/ 6384 h 118742"/>
                <a:gd name="connsiteX8" fmla="*/ 177641 w 184030"/>
                <a:gd name="connsiteY8" fmla="*/ 0 h 118742"/>
                <a:gd name="connsiteX9" fmla="*/ 171251 w 184030"/>
                <a:gd name="connsiteY9" fmla="*/ 6384 h 118742"/>
                <a:gd name="connsiteX10" fmla="*/ 171251 w 184030"/>
                <a:gd name="connsiteY10" fmla="*/ 34474 h 118742"/>
                <a:gd name="connsiteX11" fmla="*/ 25560 w 184030"/>
                <a:gd name="connsiteY11" fmla="*/ 44050 h 118742"/>
                <a:gd name="connsiteX12" fmla="*/ 0 w 184030"/>
                <a:gd name="connsiteY12" fmla="*/ 112358 h 118742"/>
                <a:gd name="connsiteX13" fmla="*/ 6390 w 184030"/>
                <a:gd name="connsiteY13" fmla="*/ 118742 h 118742"/>
                <a:gd name="connsiteX14" fmla="*/ 12780 w 184030"/>
                <a:gd name="connsiteY14" fmla="*/ 112358 h 118742"/>
                <a:gd name="connsiteX15" fmla="*/ 103517 w 184030"/>
                <a:gd name="connsiteY15" fmla="*/ 21706 h 1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030" h="118742">
                  <a:moveTo>
                    <a:pt x="103517" y="21706"/>
                  </a:moveTo>
                  <a:cubicBezTo>
                    <a:pt x="125243" y="21706"/>
                    <a:pt x="146969" y="30005"/>
                    <a:pt x="162943" y="44050"/>
                  </a:cubicBezTo>
                  <a:lnTo>
                    <a:pt x="133550" y="44050"/>
                  </a:lnTo>
                  <a:cubicBezTo>
                    <a:pt x="129716" y="44050"/>
                    <a:pt x="127160" y="46603"/>
                    <a:pt x="127160" y="50434"/>
                  </a:cubicBezTo>
                  <a:cubicBezTo>
                    <a:pt x="127160" y="54264"/>
                    <a:pt x="129716" y="56818"/>
                    <a:pt x="133550" y="56818"/>
                  </a:cubicBezTo>
                  <a:lnTo>
                    <a:pt x="177641" y="56818"/>
                  </a:lnTo>
                  <a:cubicBezTo>
                    <a:pt x="181474" y="56818"/>
                    <a:pt x="184031" y="54264"/>
                    <a:pt x="184031" y="50434"/>
                  </a:cubicBezTo>
                  <a:lnTo>
                    <a:pt x="184031" y="6384"/>
                  </a:lnTo>
                  <a:cubicBezTo>
                    <a:pt x="184031" y="2554"/>
                    <a:pt x="181474" y="0"/>
                    <a:pt x="177641" y="0"/>
                  </a:cubicBezTo>
                  <a:cubicBezTo>
                    <a:pt x="173806" y="0"/>
                    <a:pt x="171251" y="2554"/>
                    <a:pt x="171251" y="6384"/>
                  </a:cubicBezTo>
                  <a:lnTo>
                    <a:pt x="171251" y="34474"/>
                  </a:lnTo>
                  <a:cubicBezTo>
                    <a:pt x="128438" y="-3192"/>
                    <a:pt x="63261" y="1277"/>
                    <a:pt x="25560" y="44050"/>
                  </a:cubicBezTo>
                  <a:cubicBezTo>
                    <a:pt x="8946" y="63202"/>
                    <a:pt x="0" y="87461"/>
                    <a:pt x="0" y="112358"/>
                  </a:cubicBezTo>
                  <a:cubicBezTo>
                    <a:pt x="0" y="116189"/>
                    <a:pt x="2556" y="118742"/>
                    <a:pt x="6390" y="118742"/>
                  </a:cubicBezTo>
                  <a:cubicBezTo>
                    <a:pt x="10224" y="118742"/>
                    <a:pt x="12780" y="116189"/>
                    <a:pt x="12780" y="112358"/>
                  </a:cubicBezTo>
                  <a:cubicBezTo>
                    <a:pt x="12780" y="61925"/>
                    <a:pt x="53676" y="21706"/>
                    <a:pt x="103517" y="21706"/>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19" name="Graphic 4">
            <a:extLst>
              <a:ext uri="{FF2B5EF4-FFF2-40B4-BE49-F238E27FC236}">
                <a16:creationId xmlns:a16="http://schemas.microsoft.com/office/drawing/2014/main" id="{08EC1008-CAA3-8AAF-1D79-1F41648F94C9}"/>
              </a:ext>
            </a:extLst>
          </p:cNvPr>
          <p:cNvGrpSpPr/>
          <p:nvPr/>
        </p:nvGrpSpPr>
        <p:grpSpPr>
          <a:xfrm>
            <a:off x="7823276" y="2749683"/>
            <a:ext cx="362312" cy="361971"/>
            <a:chOff x="4660820" y="3339623"/>
            <a:chExt cx="362312" cy="361971"/>
          </a:xfrm>
          <a:solidFill>
            <a:srgbClr val="00A3E0"/>
          </a:solidFill>
        </p:grpSpPr>
        <p:sp>
          <p:nvSpPr>
            <p:cNvPr id="121" name="Graphic 4">
              <a:extLst>
                <a:ext uri="{FF2B5EF4-FFF2-40B4-BE49-F238E27FC236}">
                  <a16:creationId xmlns:a16="http://schemas.microsoft.com/office/drawing/2014/main" id="{7AE31E7A-4C3A-6CF6-0226-855ADD82C27F}"/>
                </a:ext>
              </a:extLst>
            </p:cNvPr>
            <p:cNvSpPr/>
            <p:nvPr/>
          </p:nvSpPr>
          <p:spPr>
            <a:xfrm>
              <a:off x="4660820" y="3339623"/>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3" name="Graphic 4">
              <a:extLst>
                <a:ext uri="{FF2B5EF4-FFF2-40B4-BE49-F238E27FC236}">
                  <a16:creationId xmlns:a16="http://schemas.microsoft.com/office/drawing/2014/main" id="{D372C6BE-647D-3BA8-EDCB-C7ECE47171AE}"/>
                </a:ext>
              </a:extLst>
            </p:cNvPr>
            <p:cNvSpPr/>
            <p:nvPr/>
          </p:nvSpPr>
          <p:spPr>
            <a:xfrm>
              <a:off x="4760503" y="3514545"/>
              <a:ext cx="184767" cy="118741"/>
            </a:xfrm>
            <a:custGeom>
              <a:avLst/>
              <a:gdLst>
                <a:gd name="connsiteX0" fmla="*/ 178918 w 184767"/>
                <a:gd name="connsiteY0" fmla="*/ 0 h 118741"/>
                <a:gd name="connsiteX1" fmla="*/ 172528 w 184767"/>
                <a:gd name="connsiteY1" fmla="*/ 6384 h 118741"/>
                <a:gd name="connsiteX2" fmla="*/ 81791 w 184767"/>
                <a:gd name="connsiteY2" fmla="*/ 97036 h 118741"/>
                <a:gd name="connsiteX3" fmla="*/ 21726 w 184767"/>
                <a:gd name="connsiteY3" fmla="*/ 74692 h 118741"/>
                <a:gd name="connsiteX4" fmla="*/ 50481 w 184767"/>
                <a:gd name="connsiteY4" fmla="*/ 74692 h 118741"/>
                <a:gd name="connsiteX5" fmla="*/ 56871 w 184767"/>
                <a:gd name="connsiteY5" fmla="*/ 68308 h 118741"/>
                <a:gd name="connsiteX6" fmla="*/ 50481 w 184767"/>
                <a:gd name="connsiteY6" fmla="*/ 61924 h 118741"/>
                <a:gd name="connsiteX7" fmla="*/ 6390 w 184767"/>
                <a:gd name="connsiteY7" fmla="*/ 61924 h 118741"/>
                <a:gd name="connsiteX8" fmla="*/ 0 w 184767"/>
                <a:gd name="connsiteY8" fmla="*/ 68308 h 118741"/>
                <a:gd name="connsiteX9" fmla="*/ 0 w 184767"/>
                <a:gd name="connsiteY9" fmla="*/ 112358 h 118741"/>
                <a:gd name="connsiteX10" fmla="*/ 6390 w 184767"/>
                <a:gd name="connsiteY10" fmla="*/ 118742 h 118741"/>
                <a:gd name="connsiteX11" fmla="*/ 12780 w 184767"/>
                <a:gd name="connsiteY11" fmla="*/ 112358 h 118741"/>
                <a:gd name="connsiteX12" fmla="*/ 12780 w 184767"/>
                <a:gd name="connsiteY12" fmla="*/ 83630 h 118741"/>
                <a:gd name="connsiteX13" fmla="*/ 159110 w 184767"/>
                <a:gd name="connsiteY13" fmla="*/ 74692 h 118741"/>
                <a:gd name="connsiteX14" fmla="*/ 184669 w 184767"/>
                <a:gd name="connsiteY14" fmla="*/ 6384 h 118741"/>
                <a:gd name="connsiteX15" fmla="*/ 178918 w 184767"/>
                <a:gd name="connsiteY15" fmla="*/ 0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767" h="118741">
                  <a:moveTo>
                    <a:pt x="178918" y="0"/>
                  </a:moveTo>
                  <a:cubicBezTo>
                    <a:pt x="175084" y="0"/>
                    <a:pt x="172528" y="2553"/>
                    <a:pt x="172528" y="6384"/>
                  </a:cubicBezTo>
                  <a:cubicBezTo>
                    <a:pt x="172528" y="56179"/>
                    <a:pt x="132272" y="97036"/>
                    <a:pt x="81791" y="97036"/>
                  </a:cubicBezTo>
                  <a:cubicBezTo>
                    <a:pt x="60066" y="97036"/>
                    <a:pt x="38340" y="89376"/>
                    <a:pt x="21726" y="74692"/>
                  </a:cubicBezTo>
                  <a:lnTo>
                    <a:pt x="50481" y="74692"/>
                  </a:lnTo>
                  <a:cubicBezTo>
                    <a:pt x="54314" y="74692"/>
                    <a:pt x="56871" y="72139"/>
                    <a:pt x="56871" y="68308"/>
                  </a:cubicBezTo>
                  <a:cubicBezTo>
                    <a:pt x="56871" y="64478"/>
                    <a:pt x="54314" y="61924"/>
                    <a:pt x="50481" y="61924"/>
                  </a:cubicBezTo>
                  <a:lnTo>
                    <a:pt x="6390" y="61924"/>
                  </a:lnTo>
                  <a:cubicBezTo>
                    <a:pt x="2556" y="61924"/>
                    <a:pt x="0" y="64478"/>
                    <a:pt x="0" y="68308"/>
                  </a:cubicBezTo>
                  <a:lnTo>
                    <a:pt x="0" y="112358"/>
                  </a:lnTo>
                  <a:cubicBezTo>
                    <a:pt x="0" y="116188"/>
                    <a:pt x="2556" y="118742"/>
                    <a:pt x="6390" y="118742"/>
                  </a:cubicBezTo>
                  <a:cubicBezTo>
                    <a:pt x="10224" y="118742"/>
                    <a:pt x="12780" y="116188"/>
                    <a:pt x="12780" y="112358"/>
                  </a:cubicBezTo>
                  <a:lnTo>
                    <a:pt x="12780" y="83630"/>
                  </a:lnTo>
                  <a:cubicBezTo>
                    <a:pt x="55593" y="121296"/>
                    <a:pt x="120770" y="117465"/>
                    <a:pt x="159110" y="74692"/>
                  </a:cubicBezTo>
                  <a:cubicBezTo>
                    <a:pt x="175723" y="55540"/>
                    <a:pt x="184669" y="31281"/>
                    <a:pt x="184669" y="6384"/>
                  </a:cubicBezTo>
                  <a:cubicBezTo>
                    <a:pt x="185308" y="2553"/>
                    <a:pt x="182752" y="0"/>
                    <a:pt x="178918" y="0"/>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5" name="Graphic 4">
              <a:extLst>
                <a:ext uri="{FF2B5EF4-FFF2-40B4-BE49-F238E27FC236}">
                  <a16:creationId xmlns:a16="http://schemas.microsoft.com/office/drawing/2014/main" id="{291E090C-6F9F-4974-2672-C5E48DF487F8}"/>
                </a:ext>
              </a:extLst>
            </p:cNvPr>
            <p:cNvSpPr/>
            <p:nvPr/>
          </p:nvSpPr>
          <p:spPr>
            <a:xfrm>
              <a:off x="4738777" y="3408570"/>
              <a:ext cx="184030" cy="118742"/>
            </a:xfrm>
            <a:custGeom>
              <a:avLst/>
              <a:gdLst>
                <a:gd name="connsiteX0" fmla="*/ 103517 w 184030"/>
                <a:gd name="connsiteY0" fmla="*/ 21706 h 118742"/>
                <a:gd name="connsiteX1" fmla="*/ 162943 w 184030"/>
                <a:gd name="connsiteY1" fmla="*/ 44050 h 118742"/>
                <a:gd name="connsiteX2" fmla="*/ 133550 w 184030"/>
                <a:gd name="connsiteY2" fmla="*/ 44050 h 118742"/>
                <a:gd name="connsiteX3" fmla="*/ 127160 w 184030"/>
                <a:gd name="connsiteY3" fmla="*/ 50434 h 118742"/>
                <a:gd name="connsiteX4" fmla="*/ 133550 w 184030"/>
                <a:gd name="connsiteY4" fmla="*/ 56818 h 118742"/>
                <a:gd name="connsiteX5" fmla="*/ 177641 w 184030"/>
                <a:gd name="connsiteY5" fmla="*/ 56818 h 118742"/>
                <a:gd name="connsiteX6" fmla="*/ 184031 w 184030"/>
                <a:gd name="connsiteY6" fmla="*/ 50434 h 118742"/>
                <a:gd name="connsiteX7" fmla="*/ 184031 w 184030"/>
                <a:gd name="connsiteY7" fmla="*/ 6384 h 118742"/>
                <a:gd name="connsiteX8" fmla="*/ 177641 w 184030"/>
                <a:gd name="connsiteY8" fmla="*/ 0 h 118742"/>
                <a:gd name="connsiteX9" fmla="*/ 171251 w 184030"/>
                <a:gd name="connsiteY9" fmla="*/ 6384 h 118742"/>
                <a:gd name="connsiteX10" fmla="*/ 171251 w 184030"/>
                <a:gd name="connsiteY10" fmla="*/ 34474 h 118742"/>
                <a:gd name="connsiteX11" fmla="*/ 25560 w 184030"/>
                <a:gd name="connsiteY11" fmla="*/ 44050 h 118742"/>
                <a:gd name="connsiteX12" fmla="*/ 0 w 184030"/>
                <a:gd name="connsiteY12" fmla="*/ 112358 h 118742"/>
                <a:gd name="connsiteX13" fmla="*/ 6390 w 184030"/>
                <a:gd name="connsiteY13" fmla="*/ 118742 h 118742"/>
                <a:gd name="connsiteX14" fmla="*/ 12780 w 184030"/>
                <a:gd name="connsiteY14" fmla="*/ 112358 h 118742"/>
                <a:gd name="connsiteX15" fmla="*/ 103517 w 184030"/>
                <a:gd name="connsiteY15" fmla="*/ 21706 h 1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030" h="118742">
                  <a:moveTo>
                    <a:pt x="103517" y="21706"/>
                  </a:moveTo>
                  <a:cubicBezTo>
                    <a:pt x="125243" y="21706"/>
                    <a:pt x="146969" y="30005"/>
                    <a:pt x="162943" y="44050"/>
                  </a:cubicBezTo>
                  <a:lnTo>
                    <a:pt x="133550" y="44050"/>
                  </a:lnTo>
                  <a:cubicBezTo>
                    <a:pt x="129716" y="44050"/>
                    <a:pt x="127160" y="46603"/>
                    <a:pt x="127160" y="50434"/>
                  </a:cubicBezTo>
                  <a:cubicBezTo>
                    <a:pt x="127160" y="54264"/>
                    <a:pt x="129716" y="56818"/>
                    <a:pt x="133550" y="56818"/>
                  </a:cubicBezTo>
                  <a:lnTo>
                    <a:pt x="177641" y="56818"/>
                  </a:lnTo>
                  <a:cubicBezTo>
                    <a:pt x="181474" y="56818"/>
                    <a:pt x="184031" y="54264"/>
                    <a:pt x="184031" y="50434"/>
                  </a:cubicBezTo>
                  <a:lnTo>
                    <a:pt x="184031" y="6384"/>
                  </a:lnTo>
                  <a:cubicBezTo>
                    <a:pt x="184031" y="2554"/>
                    <a:pt x="181474" y="0"/>
                    <a:pt x="177641" y="0"/>
                  </a:cubicBezTo>
                  <a:cubicBezTo>
                    <a:pt x="173806" y="0"/>
                    <a:pt x="171251" y="2554"/>
                    <a:pt x="171251" y="6384"/>
                  </a:cubicBezTo>
                  <a:lnTo>
                    <a:pt x="171251" y="34474"/>
                  </a:lnTo>
                  <a:cubicBezTo>
                    <a:pt x="128438" y="-3192"/>
                    <a:pt x="63261" y="1277"/>
                    <a:pt x="25560" y="44050"/>
                  </a:cubicBezTo>
                  <a:cubicBezTo>
                    <a:pt x="8946" y="63202"/>
                    <a:pt x="0" y="87461"/>
                    <a:pt x="0" y="112358"/>
                  </a:cubicBezTo>
                  <a:cubicBezTo>
                    <a:pt x="0" y="116189"/>
                    <a:pt x="2556" y="118742"/>
                    <a:pt x="6390" y="118742"/>
                  </a:cubicBezTo>
                  <a:cubicBezTo>
                    <a:pt x="10224" y="118742"/>
                    <a:pt x="12780" y="116189"/>
                    <a:pt x="12780" y="112358"/>
                  </a:cubicBezTo>
                  <a:cubicBezTo>
                    <a:pt x="12780" y="61925"/>
                    <a:pt x="53676" y="21706"/>
                    <a:pt x="103517" y="21706"/>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28" name="Graphic 4">
            <a:extLst>
              <a:ext uri="{FF2B5EF4-FFF2-40B4-BE49-F238E27FC236}">
                <a16:creationId xmlns:a16="http://schemas.microsoft.com/office/drawing/2014/main" id="{33062F71-D8ED-4967-EEB1-A2ED96B86C31}"/>
              </a:ext>
            </a:extLst>
          </p:cNvPr>
          <p:cNvGrpSpPr/>
          <p:nvPr/>
        </p:nvGrpSpPr>
        <p:grpSpPr>
          <a:xfrm>
            <a:off x="7445345" y="4545128"/>
            <a:ext cx="362312" cy="361971"/>
            <a:chOff x="4660820" y="3339623"/>
            <a:chExt cx="362312" cy="361971"/>
          </a:xfrm>
          <a:solidFill>
            <a:srgbClr val="00A3E0"/>
          </a:solidFill>
        </p:grpSpPr>
        <p:sp>
          <p:nvSpPr>
            <p:cNvPr id="129" name="Graphic 4">
              <a:extLst>
                <a:ext uri="{FF2B5EF4-FFF2-40B4-BE49-F238E27FC236}">
                  <a16:creationId xmlns:a16="http://schemas.microsoft.com/office/drawing/2014/main" id="{96DFD10D-DC44-9D52-E355-21D1DA83F6B6}"/>
                </a:ext>
              </a:extLst>
            </p:cNvPr>
            <p:cNvSpPr/>
            <p:nvPr/>
          </p:nvSpPr>
          <p:spPr>
            <a:xfrm>
              <a:off x="4660820" y="3339623"/>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0" name="Graphic 4">
              <a:extLst>
                <a:ext uri="{FF2B5EF4-FFF2-40B4-BE49-F238E27FC236}">
                  <a16:creationId xmlns:a16="http://schemas.microsoft.com/office/drawing/2014/main" id="{AF138009-D50D-FFBC-3C21-1ED2D0162A65}"/>
                </a:ext>
              </a:extLst>
            </p:cNvPr>
            <p:cNvSpPr/>
            <p:nvPr/>
          </p:nvSpPr>
          <p:spPr>
            <a:xfrm>
              <a:off x="4760503" y="3514545"/>
              <a:ext cx="184767" cy="118741"/>
            </a:xfrm>
            <a:custGeom>
              <a:avLst/>
              <a:gdLst>
                <a:gd name="connsiteX0" fmla="*/ 178918 w 184767"/>
                <a:gd name="connsiteY0" fmla="*/ 0 h 118741"/>
                <a:gd name="connsiteX1" fmla="*/ 172528 w 184767"/>
                <a:gd name="connsiteY1" fmla="*/ 6384 h 118741"/>
                <a:gd name="connsiteX2" fmla="*/ 81791 w 184767"/>
                <a:gd name="connsiteY2" fmla="*/ 97036 h 118741"/>
                <a:gd name="connsiteX3" fmla="*/ 21726 w 184767"/>
                <a:gd name="connsiteY3" fmla="*/ 74692 h 118741"/>
                <a:gd name="connsiteX4" fmla="*/ 50481 w 184767"/>
                <a:gd name="connsiteY4" fmla="*/ 74692 h 118741"/>
                <a:gd name="connsiteX5" fmla="*/ 56871 w 184767"/>
                <a:gd name="connsiteY5" fmla="*/ 68308 h 118741"/>
                <a:gd name="connsiteX6" fmla="*/ 50481 w 184767"/>
                <a:gd name="connsiteY6" fmla="*/ 61924 h 118741"/>
                <a:gd name="connsiteX7" fmla="*/ 6390 w 184767"/>
                <a:gd name="connsiteY7" fmla="*/ 61924 h 118741"/>
                <a:gd name="connsiteX8" fmla="*/ 0 w 184767"/>
                <a:gd name="connsiteY8" fmla="*/ 68308 h 118741"/>
                <a:gd name="connsiteX9" fmla="*/ 0 w 184767"/>
                <a:gd name="connsiteY9" fmla="*/ 112358 h 118741"/>
                <a:gd name="connsiteX10" fmla="*/ 6390 w 184767"/>
                <a:gd name="connsiteY10" fmla="*/ 118742 h 118741"/>
                <a:gd name="connsiteX11" fmla="*/ 12780 w 184767"/>
                <a:gd name="connsiteY11" fmla="*/ 112358 h 118741"/>
                <a:gd name="connsiteX12" fmla="*/ 12780 w 184767"/>
                <a:gd name="connsiteY12" fmla="*/ 83630 h 118741"/>
                <a:gd name="connsiteX13" fmla="*/ 159110 w 184767"/>
                <a:gd name="connsiteY13" fmla="*/ 74692 h 118741"/>
                <a:gd name="connsiteX14" fmla="*/ 184669 w 184767"/>
                <a:gd name="connsiteY14" fmla="*/ 6384 h 118741"/>
                <a:gd name="connsiteX15" fmla="*/ 178918 w 184767"/>
                <a:gd name="connsiteY15" fmla="*/ 0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767" h="118741">
                  <a:moveTo>
                    <a:pt x="178918" y="0"/>
                  </a:moveTo>
                  <a:cubicBezTo>
                    <a:pt x="175084" y="0"/>
                    <a:pt x="172528" y="2553"/>
                    <a:pt x="172528" y="6384"/>
                  </a:cubicBezTo>
                  <a:cubicBezTo>
                    <a:pt x="172528" y="56179"/>
                    <a:pt x="132272" y="97036"/>
                    <a:pt x="81791" y="97036"/>
                  </a:cubicBezTo>
                  <a:cubicBezTo>
                    <a:pt x="60066" y="97036"/>
                    <a:pt x="38340" y="89376"/>
                    <a:pt x="21726" y="74692"/>
                  </a:cubicBezTo>
                  <a:lnTo>
                    <a:pt x="50481" y="74692"/>
                  </a:lnTo>
                  <a:cubicBezTo>
                    <a:pt x="54314" y="74692"/>
                    <a:pt x="56871" y="72139"/>
                    <a:pt x="56871" y="68308"/>
                  </a:cubicBezTo>
                  <a:cubicBezTo>
                    <a:pt x="56871" y="64478"/>
                    <a:pt x="54314" y="61924"/>
                    <a:pt x="50481" y="61924"/>
                  </a:cubicBezTo>
                  <a:lnTo>
                    <a:pt x="6390" y="61924"/>
                  </a:lnTo>
                  <a:cubicBezTo>
                    <a:pt x="2556" y="61924"/>
                    <a:pt x="0" y="64478"/>
                    <a:pt x="0" y="68308"/>
                  </a:cubicBezTo>
                  <a:lnTo>
                    <a:pt x="0" y="112358"/>
                  </a:lnTo>
                  <a:cubicBezTo>
                    <a:pt x="0" y="116188"/>
                    <a:pt x="2556" y="118742"/>
                    <a:pt x="6390" y="118742"/>
                  </a:cubicBezTo>
                  <a:cubicBezTo>
                    <a:pt x="10224" y="118742"/>
                    <a:pt x="12780" y="116188"/>
                    <a:pt x="12780" y="112358"/>
                  </a:cubicBezTo>
                  <a:lnTo>
                    <a:pt x="12780" y="83630"/>
                  </a:lnTo>
                  <a:cubicBezTo>
                    <a:pt x="55593" y="121296"/>
                    <a:pt x="120770" y="117465"/>
                    <a:pt x="159110" y="74692"/>
                  </a:cubicBezTo>
                  <a:cubicBezTo>
                    <a:pt x="175723" y="55540"/>
                    <a:pt x="184669" y="31281"/>
                    <a:pt x="184669" y="6384"/>
                  </a:cubicBezTo>
                  <a:cubicBezTo>
                    <a:pt x="185308" y="2553"/>
                    <a:pt x="182752" y="0"/>
                    <a:pt x="178918" y="0"/>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1" name="Graphic 4">
              <a:extLst>
                <a:ext uri="{FF2B5EF4-FFF2-40B4-BE49-F238E27FC236}">
                  <a16:creationId xmlns:a16="http://schemas.microsoft.com/office/drawing/2014/main" id="{6BC11668-57B0-BF91-7A8B-A4BFC946A7E5}"/>
                </a:ext>
              </a:extLst>
            </p:cNvPr>
            <p:cNvSpPr/>
            <p:nvPr/>
          </p:nvSpPr>
          <p:spPr>
            <a:xfrm>
              <a:off x="4738777" y="3408570"/>
              <a:ext cx="184030" cy="118742"/>
            </a:xfrm>
            <a:custGeom>
              <a:avLst/>
              <a:gdLst>
                <a:gd name="connsiteX0" fmla="*/ 103517 w 184030"/>
                <a:gd name="connsiteY0" fmla="*/ 21706 h 118742"/>
                <a:gd name="connsiteX1" fmla="*/ 162943 w 184030"/>
                <a:gd name="connsiteY1" fmla="*/ 44050 h 118742"/>
                <a:gd name="connsiteX2" fmla="*/ 133550 w 184030"/>
                <a:gd name="connsiteY2" fmla="*/ 44050 h 118742"/>
                <a:gd name="connsiteX3" fmla="*/ 127160 w 184030"/>
                <a:gd name="connsiteY3" fmla="*/ 50434 h 118742"/>
                <a:gd name="connsiteX4" fmla="*/ 133550 w 184030"/>
                <a:gd name="connsiteY4" fmla="*/ 56818 h 118742"/>
                <a:gd name="connsiteX5" fmla="*/ 177641 w 184030"/>
                <a:gd name="connsiteY5" fmla="*/ 56818 h 118742"/>
                <a:gd name="connsiteX6" fmla="*/ 184031 w 184030"/>
                <a:gd name="connsiteY6" fmla="*/ 50434 h 118742"/>
                <a:gd name="connsiteX7" fmla="*/ 184031 w 184030"/>
                <a:gd name="connsiteY7" fmla="*/ 6384 h 118742"/>
                <a:gd name="connsiteX8" fmla="*/ 177641 w 184030"/>
                <a:gd name="connsiteY8" fmla="*/ 0 h 118742"/>
                <a:gd name="connsiteX9" fmla="*/ 171251 w 184030"/>
                <a:gd name="connsiteY9" fmla="*/ 6384 h 118742"/>
                <a:gd name="connsiteX10" fmla="*/ 171251 w 184030"/>
                <a:gd name="connsiteY10" fmla="*/ 34474 h 118742"/>
                <a:gd name="connsiteX11" fmla="*/ 25560 w 184030"/>
                <a:gd name="connsiteY11" fmla="*/ 44050 h 118742"/>
                <a:gd name="connsiteX12" fmla="*/ 0 w 184030"/>
                <a:gd name="connsiteY12" fmla="*/ 112358 h 118742"/>
                <a:gd name="connsiteX13" fmla="*/ 6390 w 184030"/>
                <a:gd name="connsiteY13" fmla="*/ 118742 h 118742"/>
                <a:gd name="connsiteX14" fmla="*/ 12780 w 184030"/>
                <a:gd name="connsiteY14" fmla="*/ 112358 h 118742"/>
                <a:gd name="connsiteX15" fmla="*/ 103517 w 184030"/>
                <a:gd name="connsiteY15" fmla="*/ 21706 h 1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030" h="118742">
                  <a:moveTo>
                    <a:pt x="103517" y="21706"/>
                  </a:moveTo>
                  <a:cubicBezTo>
                    <a:pt x="125243" y="21706"/>
                    <a:pt x="146969" y="30005"/>
                    <a:pt x="162943" y="44050"/>
                  </a:cubicBezTo>
                  <a:lnTo>
                    <a:pt x="133550" y="44050"/>
                  </a:lnTo>
                  <a:cubicBezTo>
                    <a:pt x="129716" y="44050"/>
                    <a:pt x="127160" y="46603"/>
                    <a:pt x="127160" y="50434"/>
                  </a:cubicBezTo>
                  <a:cubicBezTo>
                    <a:pt x="127160" y="54264"/>
                    <a:pt x="129716" y="56818"/>
                    <a:pt x="133550" y="56818"/>
                  </a:cubicBezTo>
                  <a:lnTo>
                    <a:pt x="177641" y="56818"/>
                  </a:lnTo>
                  <a:cubicBezTo>
                    <a:pt x="181474" y="56818"/>
                    <a:pt x="184031" y="54264"/>
                    <a:pt x="184031" y="50434"/>
                  </a:cubicBezTo>
                  <a:lnTo>
                    <a:pt x="184031" y="6384"/>
                  </a:lnTo>
                  <a:cubicBezTo>
                    <a:pt x="184031" y="2554"/>
                    <a:pt x="181474" y="0"/>
                    <a:pt x="177641" y="0"/>
                  </a:cubicBezTo>
                  <a:cubicBezTo>
                    <a:pt x="173806" y="0"/>
                    <a:pt x="171251" y="2554"/>
                    <a:pt x="171251" y="6384"/>
                  </a:cubicBezTo>
                  <a:lnTo>
                    <a:pt x="171251" y="34474"/>
                  </a:lnTo>
                  <a:cubicBezTo>
                    <a:pt x="128438" y="-3192"/>
                    <a:pt x="63261" y="1277"/>
                    <a:pt x="25560" y="44050"/>
                  </a:cubicBezTo>
                  <a:cubicBezTo>
                    <a:pt x="8946" y="63202"/>
                    <a:pt x="0" y="87461"/>
                    <a:pt x="0" y="112358"/>
                  </a:cubicBezTo>
                  <a:cubicBezTo>
                    <a:pt x="0" y="116189"/>
                    <a:pt x="2556" y="118742"/>
                    <a:pt x="6390" y="118742"/>
                  </a:cubicBezTo>
                  <a:cubicBezTo>
                    <a:pt x="10224" y="118742"/>
                    <a:pt x="12780" y="116189"/>
                    <a:pt x="12780" y="112358"/>
                  </a:cubicBezTo>
                  <a:cubicBezTo>
                    <a:pt x="12780" y="61925"/>
                    <a:pt x="53676" y="21706"/>
                    <a:pt x="103517" y="21706"/>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34" name="Graphic 4">
            <a:extLst>
              <a:ext uri="{FF2B5EF4-FFF2-40B4-BE49-F238E27FC236}">
                <a16:creationId xmlns:a16="http://schemas.microsoft.com/office/drawing/2014/main" id="{8B986A37-AB9D-E6F7-34D7-2F92764F5DDB}"/>
              </a:ext>
            </a:extLst>
          </p:cNvPr>
          <p:cNvGrpSpPr/>
          <p:nvPr/>
        </p:nvGrpSpPr>
        <p:grpSpPr>
          <a:xfrm>
            <a:off x="8371532" y="4211198"/>
            <a:ext cx="362312" cy="361971"/>
            <a:chOff x="4660820" y="3339623"/>
            <a:chExt cx="362312" cy="361971"/>
          </a:xfrm>
          <a:solidFill>
            <a:srgbClr val="00A3E0"/>
          </a:solidFill>
        </p:grpSpPr>
        <p:sp>
          <p:nvSpPr>
            <p:cNvPr id="135" name="Graphic 4">
              <a:extLst>
                <a:ext uri="{FF2B5EF4-FFF2-40B4-BE49-F238E27FC236}">
                  <a16:creationId xmlns:a16="http://schemas.microsoft.com/office/drawing/2014/main" id="{1CA6463A-50DE-2DD8-7FFB-4336122C41E8}"/>
                </a:ext>
              </a:extLst>
            </p:cNvPr>
            <p:cNvSpPr/>
            <p:nvPr/>
          </p:nvSpPr>
          <p:spPr>
            <a:xfrm>
              <a:off x="4660820" y="3339623"/>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6" name="Graphic 4">
              <a:extLst>
                <a:ext uri="{FF2B5EF4-FFF2-40B4-BE49-F238E27FC236}">
                  <a16:creationId xmlns:a16="http://schemas.microsoft.com/office/drawing/2014/main" id="{7AFB6898-2603-3B85-E76D-B00000EB27D8}"/>
                </a:ext>
              </a:extLst>
            </p:cNvPr>
            <p:cNvSpPr/>
            <p:nvPr/>
          </p:nvSpPr>
          <p:spPr>
            <a:xfrm>
              <a:off x="4760503" y="3514545"/>
              <a:ext cx="184767" cy="118741"/>
            </a:xfrm>
            <a:custGeom>
              <a:avLst/>
              <a:gdLst>
                <a:gd name="connsiteX0" fmla="*/ 178918 w 184767"/>
                <a:gd name="connsiteY0" fmla="*/ 0 h 118741"/>
                <a:gd name="connsiteX1" fmla="*/ 172528 w 184767"/>
                <a:gd name="connsiteY1" fmla="*/ 6384 h 118741"/>
                <a:gd name="connsiteX2" fmla="*/ 81791 w 184767"/>
                <a:gd name="connsiteY2" fmla="*/ 97036 h 118741"/>
                <a:gd name="connsiteX3" fmla="*/ 21726 w 184767"/>
                <a:gd name="connsiteY3" fmla="*/ 74692 h 118741"/>
                <a:gd name="connsiteX4" fmla="*/ 50481 w 184767"/>
                <a:gd name="connsiteY4" fmla="*/ 74692 h 118741"/>
                <a:gd name="connsiteX5" fmla="*/ 56871 w 184767"/>
                <a:gd name="connsiteY5" fmla="*/ 68308 h 118741"/>
                <a:gd name="connsiteX6" fmla="*/ 50481 w 184767"/>
                <a:gd name="connsiteY6" fmla="*/ 61924 h 118741"/>
                <a:gd name="connsiteX7" fmla="*/ 6390 w 184767"/>
                <a:gd name="connsiteY7" fmla="*/ 61924 h 118741"/>
                <a:gd name="connsiteX8" fmla="*/ 0 w 184767"/>
                <a:gd name="connsiteY8" fmla="*/ 68308 h 118741"/>
                <a:gd name="connsiteX9" fmla="*/ 0 w 184767"/>
                <a:gd name="connsiteY9" fmla="*/ 112358 h 118741"/>
                <a:gd name="connsiteX10" fmla="*/ 6390 w 184767"/>
                <a:gd name="connsiteY10" fmla="*/ 118742 h 118741"/>
                <a:gd name="connsiteX11" fmla="*/ 12780 w 184767"/>
                <a:gd name="connsiteY11" fmla="*/ 112358 h 118741"/>
                <a:gd name="connsiteX12" fmla="*/ 12780 w 184767"/>
                <a:gd name="connsiteY12" fmla="*/ 83630 h 118741"/>
                <a:gd name="connsiteX13" fmla="*/ 159110 w 184767"/>
                <a:gd name="connsiteY13" fmla="*/ 74692 h 118741"/>
                <a:gd name="connsiteX14" fmla="*/ 184669 w 184767"/>
                <a:gd name="connsiteY14" fmla="*/ 6384 h 118741"/>
                <a:gd name="connsiteX15" fmla="*/ 178918 w 184767"/>
                <a:gd name="connsiteY15" fmla="*/ 0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767" h="118741">
                  <a:moveTo>
                    <a:pt x="178918" y="0"/>
                  </a:moveTo>
                  <a:cubicBezTo>
                    <a:pt x="175084" y="0"/>
                    <a:pt x="172528" y="2553"/>
                    <a:pt x="172528" y="6384"/>
                  </a:cubicBezTo>
                  <a:cubicBezTo>
                    <a:pt x="172528" y="56179"/>
                    <a:pt x="132272" y="97036"/>
                    <a:pt x="81791" y="97036"/>
                  </a:cubicBezTo>
                  <a:cubicBezTo>
                    <a:pt x="60066" y="97036"/>
                    <a:pt x="38340" y="89376"/>
                    <a:pt x="21726" y="74692"/>
                  </a:cubicBezTo>
                  <a:lnTo>
                    <a:pt x="50481" y="74692"/>
                  </a:lnTo>
                  <a:cubicBezTo>
                    <a:pt x="54314" y="74692"/>
                    <a:pt x="56871" y="72139"/>
                    <a:pt x="56871" y="68308"/>
                  </a:cubicBezTo>
                  <a:cubicBezTo>
                    <a:pt x="56871" y="64478"/>
                    <a:pt x="54314" y="61924"/>
                    <a:pt x="50481" y="61924"/>
                  </a:cubicBezTo>
                  <a:lnTo>
                    <a:pt x="6390" y="61924"/>
                  </a:lnTo>
                  <a:cubicBezTo>
                    <a:pt x="2556" y="61924"/>
                    <a:pt x="0" y="64478"/>
                    <a:pt x="0" y="68308"/>
                  </a:cubicBezTo>
                  <a:lnTo>
                    <a:pt x="0" y="112358"/>
                  </a:lnTo>
                  <a:cubicBezTo>
                    <a:pt x="0" y="116188"/>
                    <a:pt x="2556" y="118742"/>
                    <a:pt x="6390" y="118742"/>
                  </a:cubicBezTo>
                  <a:cubicBezTo>
                    <a:pt x="10224" y="118742"/>
                    <a:pt x="12780" y="116188"/>
                    <a:pt x="12780" y="112358"/>
                  </a:cubicBezTo>
                  <a:lnTo>
                    <a:pt x="12780" y="83630"/>
                  </a:lnTo>
                  <a:cubicBezTo>
                    <a:pt x="55593" y="121296"/>
                    <a:pt x="120770" y="117465"/>
                    <a:pt x="159110" y="74692"/>
                  </a:cubicBezTo>
                  <a:cubicBezTo>
                    <a:pt x="175723" y="55540"/>
                    <a:pt x="184669" y="31281"/>
                    <a:pt x="184669" y="6384"/>
                  </a:cubicBezTo>
                  <a:cubicBezTo>
                    <a:pt x="185308" y="2553"/>
                    <a:pt x="182752" y="0"/>
                    <a:pt x="178918" y="0"/>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7" name="Graphic 4">
              <a:extLst>
                <a:ext uri="{FF2B5EF4-FFF2-40B4-BE49-F238E27FC236}">
                  <a16:creationId xmlns:a16="http://schemas.microsoft.com/office/drawing/2014/main" id="{A3CFAD0C-B320-CAF4-F5F6-869308576EAB}"/>
                </a:ext>
              </a:extLst>
            </p:cNvPr>
            <p:cNvSpPr/>
            <p:nvPr/>
          </p:nvSpPr>
          <p:spPr>
            <a:xfrm>
              <a:off x="4738777" y="3408570"/>
              <a:ext cx="184030" cy="118742"/>
            </a:xfrm>
            <a:custGeom>
              <a:avLst/>
              <a:gdLst>
                <a:gd name="connsiteX0" fmla="*/ 103517 w 184030"/>
                <a:gd name="connsiteY0" fmla="*/ 21706 h 118742"/>
                <a:gd name="connsiteX1" fmla="*/ 162943 w 184030"/>
                <a:gd name="connsiteY1" fmla="*/ 44050 h 118742"/>
                <a:gd name="connsiteX2" fmla="*/ 133550 w 184030"/>
                <a:gd name="connsiteY2" fmla="*/ 44050 h 118742"/>
                <a:gd name="connsiteX3" fmla="*/ 127160 w 184030"/>
                <a:gd name="connsiteY3" fmla="*/ 50434 h 118742"/>
                <a:gd name="connsiteX4" fmla="*/ 133550 w 184030"/>
                <a:gd name="connsiteY4" fmla="*/ 56818 h 118742"/>
                <a:gd name="connsiteX5" fmla="*/ 177641 w 184030"/>
                <a:gd name="connsiteY5" fmla="*/ 56818 h 118742"/>
                <a:gd name="connsiteX6" fmla="*/ 184031 w 184030"/>
                <a:gd name="connsiteY6" fmla="*/ 50434 h 118742"/>
                <a:gd name="connsiteX7" fmla="*/ 184031 w 184030"/>
                <a:gd name="connsiteY7" fmla="*/ 6384 h 118742"/>
                <a:gd name="connsiteX8" fmla="*/ 177641 w 184030"/>
                <a:gd name="connsiteY8" fmla="*/ 0 h 118742"/>
                <a:gd name="connsiteX9" fmla="*/ 171251 w 184030"/>
                <a:gd name="connsiteY9" fmla="*/ 6384 h 118742"/>
                <a:gd name="connsiteX10" fmla="*/ 171251 w 184030"/>
                <a:gd name="connsiteY10" fmla="*/ 34474 h 118742"/>
                <a:gd name="connsiteX11" fmla="*/ 25560 w 184030"/>
                <a:gd name="connsiteY11" fmla="*/ 44050 h 118742"/>
                <a:gd name="connsiteX12" fmla="*/ 0 w 184030"/>
                <a:gd name="connsiteY12" fmla="*/ 112358 h 118742"/>
                <a:gd name="connsiteX13" fmla="*/ 6390 w 184030"/>
                <a:gd name="connsiteY13" fmla="*/ 118742 h 118742"/>
                <a:gd name="connsiteX14" fmla="*/ 12780 w 184030"/>
                <a:gd name="connsiteY14" fmla="*/ 112358 h 118742"/>
                <a:gd name="connsiteX15" fmla="*/ 103517 w 184030"/>
                <a:gd name="connsiteY15" fmla="*/ 21706 h 1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030" h="118742">
                  <a:moveTo>
                    <a:pt x="103517" y="21706"/>
                  </a:moveTo>
                  <a:cubicBezTo>
                    <a:pt x="125243" y="21706"/>
                    <a:pt x="146969" y="30005"/>
                    <a:pt x="162943" y="44050"/>
                  </a:cubicBezTo>
                  <a:lnTo>
                    <a:pt x="133550" y="44050"/>
                  </a:lnTo>
                  <a:cubicBezTo>
                    <a:pt x="129716" y="44050"/>
                    <a:pt x="127160" y="46603"/>
                    <a:pt x="127160" y="50434"/>
                  </a:cubicBezTo>
                  <a:cubicBezTo>
                    <a:pt x="127160" y="54264"/>
                    <a:pt x="129716" y="56818"/>
                    <a:pt x="133550" y="56818"/>
                  </a:cubicBezTo>
                  <a:lnTo>
                    <a:pt x="177641" y="56818"/>
                  </a:lnTo>
                  <a:cubicBezTo>
                    <a:pt x="181474" y="56818"/>
                    <a:pt x="184031" y="54264"/>
                    <a:pt x="184031" y="50434"/>
                  </a:cubicBezTo>
                  <a:lnTo>
                    <a:pt x="184031" y="6384"/>
                  </a:lnTo>
                  <a:cubicBezTo>
                    <a:pt x="184031" y="2554"/>
                    <a:pt x="181474" y="0"/>
                    <a:pt x="177641" y="0"/>
                  </a:cubicBezTo>
                  <a:cubicBezTo>
                    <a:pt x="173806" y="0"/>
                    <a:pt x="171251" y="2554"/>
                    <a:pt x="171251" y="6384"/>
                  </a:cubicBezTo>
                  <a:lnTo>
                    <a:pt x="171251" y="34474"/>
                  </a:lnTo>
                  <a:cubicBezTo>
                    <a:pt x="128438" y="-3192"/>
                    <a:pt x="63261" y="1277"/>
                    <a:pt x="25560" y="44050"/>
                  </a:cubicBezTo>
                  <a:cubicBezTo>
                    <a:pt x="8946" y="63202"/>
                    <a:pt x="0" y="87461"/>
                    <a:pt x="0" y="112358"/>
                  </a:cubicBezTo>
                  <a:cubicBezTo>
                    <a:pt x="0" y="116189"/>
                    <a:pt x="2556" y="118742"/>
                    <a:pt x="6390" y="118742"/>
                  </a:cubicBezTo>
                  <a:cubicBezTo>
                    <a:pt x="10224" y="118742"/>
                    <a:pt x="12780" y="116189"/>
                    <a:pt x="12780" y="112358"/>
                  </a:cubicBezTo>
                  <a:cubicBezTo>
                    <a:pt x="12780" y="61925"/>
                    <a:pt x="53676" y="21706"/>
                    <a:pt x="103517" y="21706"/>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39" name="Graphic 138" descr="Shield Tick outline">
            <a:extLst>
              <a:ext uri="{FF2B5EF4-FFF2-40B4-BE49-F238E27FC236}">
                <a16:creationId xmlns:a16="http://schemas.microsoft.com/office/drawing/2014/main" id="{37768D16-2B68-B885-E849-6CC6AB4B44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32939" y="1089761"/>
            <a:ext cx="699665" cy="699665"/>
          </a:xfrm>
          <a:prstGeom prst="rect">
            <a:avLst/>
          </a:prstGeom>
        </p:spPr>
      </p:pic>
      <p:sp>
        <p:nvSpPr>
          <p:cNvPr id="141" name="TextBox 140">
            <a:extLst>
              <a:ext uri="{FF2B5EF4-FFF2-40B4-BE49-F238E27FC236}">
                <a16:creationId xmlns:a16="http://schemas.microsoft.com/office/drawing/2014/main" id="{781A20A6-7C33-F518-5E13-6C8F32E7ED8D}"/>
              </a:ext>
            </a:extLst>
          </p:cNvPr>
          <p:cNvSpPr txBox="1"/>
          <p:nvPr/>
        </p:nvSpPr>
        <p:spPr>
          <a:xfrm>
            <a:off x="10205682" y="1231844"/>
            <a:ext cx="1531976" cy="4154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Accuracy</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of Settlement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through</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implemented</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invoice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reconciliation</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3" name="Flowchart: Magnetic Disk 142">
            <a:extLst>
              <a:ext uri="{FF2B5EF4-FFF2-40B4-BE49-F238E27FC236}">
                <a16:creationId xmlns:a16="http://schemas.microsoft.com/office/drawing/2014/main" id="{08193AE4-4B48-84E5-9886-BFD922C81EA5}"/>
              </a:ext>
            </a:extLst>
          </p:cNvPr>
          <p:cNvSpPr/>
          <p:nvPr/>
        </p:nvSpPr>
        <p:spPr bwMode="gray">
          <a:xfrm>
            <a:off x="1357737" y="4470019"/>
            <a:ext cx="974120" cy="953937"/>
          </a:xfrm>
          <a:prstGeom prst="flowChartMagneticDisk">
            <a:avLst/>
          </a:prstGeom>
          <a:noFill/>
          <a:ln w="19050" algn="ctr">
            <a:solidFill>
              <a:schemeClr val="accent1"/>
            </a:solidFill>
            <a:prstDash val="dash"/>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000" b="1" i="1" u="none" strike="noStrike" kern="1200" cap="none" spc="0" normalizeH="0" baseline="0" noProof="0">
                <a:ln>
                  <a:noFill/>
                </a:ln>
                <a:solidFill>
                  <a:prstClr val="black"/>
                </a:solidFill>
                <a:effectLst/>
                <a:uLnTx/>
                <a:uFillTx/>
                <a:latin typeface="Aptos" panose="02110004020202020204"/>
                <a:ea typeface="+mn-ea"/>
                <a:cs typeface="+mn-cs"/>
              </a:rPr>
              <a:t>Price </a:t>
            </a:r>
            <a:r>
              <a:rPr kumimoji="0" lang="de-DE" sz="1000" b="1" i="1" u="none" strike="noStrike" kern="1200" cap="none" spc="0" normalizeH="0" baseline="0" noProof="0" err="1">
                <a:ln>
                  <a:noFill/>
                </a:ln>
                <a:solidFill>
                  <a:prstClr val="black"/>
                </a:solidFill>
                <a:effectLst/>
                <a:uLnTx/>
                <a:uFillTx/>
                <a:latin typeface="Aptos" panose="02110004020202020204"/>
                <a:ea typeface="+mn-ea"/>
                <a:cs typeface="+mn-cs"/>
              </a:rPr>
              <a:t>Curve</a:t>
            </a:r>
            <a:r>
              <a:rPr kumimoji="0" lang="de-DE" sz="1000" b="1" i="1" u="none" strike="noStrike" kern="1200" cap="none" spc="0" normalizeH="0" baseline="0" noProof="0">
                <a:ln>
                  <a:noFill/>
                </a:ln>
                <a:solidFill>
                  <a:prstClr val="black"/>
                </a:solidFill>
                <a:effectLst/>
                <a:uLnTx/>
                <a:uFillTx/>
                <a:latin typeface="Aptos" panose="02110004020202020204"/>
                <a:ea typeface="+mn-ea"/>
                <a:cs typeface="+mn-cs"/>
              </a:rPr>
              <a:t> Storage</a:t>
            </a:r>
            <a:endParaRPr kumimoji="0" lang="de-DE" sz="10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44" name="Straight Arrow Connector 143">
            <a:extLst>
              <a:ext uri="{FF2B5EF4-FFF2-40B4-BE49-F238E27FC236}">
                <a16:creationId xmlns:a16="http://schemas.microsoft.com/office/drawing/2014/main" id="{0A74C8CA-639F-5918-D2CA-C7D29DCAF525}"/>
              </a:ext>
            </a:extLst>
          </p:cNvPr>
          <p:cNvCxnSpPr>
            <a:cxnSpLocks/>
            <a:endCxn id="17" idx="3"/>
          </p:cNvCxnSpPr>
          <p:nvPr/>
        </p:nvCxnSpPr>
        <p:spPr>
          <a:xfrm flipV="1">
            <a:off x="2335710" y="3642135"/>
            <a:ext cx="1429467" cy="929290"/>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148" name="Graphic 147" descr="Shield Tick outline">
            <a:extLst>
              <a:ext uri="{FF2B5EF4-FFF2-40B4-BE49-F238E27FC236}">
                <a16:creationId xmlns:a16="http://schemas.microsoft.com/office/drawing/2014/main" id="{4866902B-BE52-4638-A34C-F4280D06105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962" y="4487258"/>
            <a:ext cx="699665" cy="699665"/>
          </a:xfrm>
          <a:prstGeom prst="rect">
            <a:avLst/>
          </a:prstGeom>
        </p:spPr>
      </p:pic>
      <p:sp>
        <p:nvSpPr>
          <p:cNvPr id="150" name="TextBox 149">
            <a:extLst>
              <a:ext uri="{FF2B5EF4-FFF2-40B4-BE49-F238E27FC236}">
                <a16:creationId xmlns:a16="http://schemas.microsoft.com/office/drawing/2014/main" id="{070248F0-9334-0701-D761-DC871F93E560}"/>
              </a:ext>
            </a:extLst>
          </p:cNvPr>
          <p:cNvSpPr txBox="1"/>
          <p:nvPr/>
        </p:nvSpPr>
        <p:spPr>
          <a:xfrm>
            <a:off x="594893" y="4314619"/>
            <a:ext cx="779244"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Completeness</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and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accuracy</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of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price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curve</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data</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flow</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via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regular</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external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benchmarking</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and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plausibility</a:t>
            </a:r>
            <a:r>
              <a:rPr kumimoji="0" lang="de-DE" sz="9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de-DE" sz="900" b="0" i="0" u="none" strike="noStrike" kern="1200" cap="none" spc="0" normalizeH="0" baseline="0" noProof="0" err="1">
                <a:ln>
                  <a:noFill/>
                </a:ln>
                <a:solidFill>
                  <a:prstClr val="black"/>
                </a:solidFill>
                <a:effectLst/>
                <a:uLnTx/>
                <a:uFillTx/>
                <a:latin typeface="Aptos" panose="02110004020202020204"/>
                <a:ea typeface="+mn-ea"/>
                <a:cs typeface="+mn-cs"/>
              </a:rPr>
              <a:t>checks</a:t>
            </a:r>
            <a:endParaRPr kumimoji="0" lang="de-DE"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152" name="Graphic 4">
            <a:extLst>
              <a:ext uri="{FF2B5EF4-FFF2-40B4-BE49-F238E27FC236}">
                <a16:creationId xmlns:a16="http://schemas.microsoft.com/office/drawing/2014/main" id="{3CCA4814-B1FA-0509-02DD-E8BAEC699234}"/>
              </a:ext>
            </a:extLst>
          </p:cNvPr>
          <p:cNvGrpSpPr/>
          <p:nvPr/>
        </p:nvGrpSpPr>
        <p:grpSpPr>
          <a:xfrm>
            <a:off x="2633097" y="3998296"/>
            <a:ext cx="362312" cy="361971"/>
            <a:chOff x="4660820" y="3339623"/>
            <a:chExt cx="362312" cy="361971"/>
          </a:xfrm>
          <a:solidFill>
            <a:srgbClr val="00A3E0"/>
          </a:solidFill>
        </p:grpSpPr>
        <p:sp>
          <p:nvSpPr>
            <p:cNvPr id="153" name="Graphic 4">
              <a:extLst>
                <a:ext uri="{FF2B5EF4-FFF2-40B4-BE49-F238E27FC236}">
                  <a16:creationId xmlns:a16="http://schemas.microsoft.com/office/drawing/2014/main" id="{E5005DD7-E3AB-57F3-4E99-AB3BE65DB3B4}"/>
                </a:ext>
              </a:extLst>
            </p:cNvPr>
            <p:cNvSpPr/>
            <p:nvPr/>
          </p:nvSpPr>
          <p:spPr>
            <a:xfrm>
              <a:off x="4660820" y="3339623"/>
              <a:ext cx="362312" cy="361971"/>
            </a:xfrm>
            <a:custGeom>
              <a:avLst/>
              <a:gdLst>
                <a:gd name="connsiteX0" fmla="*/ 181474 w 362312"/>
                <a:gd name="connsiteY0" fmla="*/ 0 h 361971"/>
                <a:gd name="connsiteX1" fmla="*/ 0 w 362312"/>
                <a:gd name="connsiteY1" fmla="*/ 180667 h 361971"/>
                <a:gd name="connsiteX2" fmla="*/ 180835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9204 h 361971"/>
                <a:gd name="connsiteX7" fmla="*/ 12780 w 362312"/>
                <a:gd name="connsiteY7" fmla="*/ 181305 h 361971"/>
                <a:gd name="connsiteX8" fmla="*/ 180835 w 362312"/>
                <a:gd name="connsiteY8" fmla="*/ 12768 h 361971"/>
                <a:gd name="connsiteX9" fmla="*/ 349529 w 362312"/>
                <a:gd name="connsiteY9" fmla="*/ 180667 h 361971"/>
                <a:gd name="connsiteX10" fmla="*/ 349529 w 362312"/>
                <a:gd name="connsiteY10" fmla="*/ 180667 h 361971"/>
                <a:gd name="connsiteX11" fmla="*/ 181474 w 362312"/>
                <a:gd name="connsiteY11" fmla="*/ 349204 h 361971"/>
                <a:gd name="connsiteX12" fmla="*/ 181474 w 362312"/>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12"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948" y="81077"/>
                    <a:pt x="281796" y="0"/>
                    <a:pt x="181474" y="0"/>
                  </a:cubicBezTo>
                  <a:close/>
                  <a:moveTo>
                    <a:pt x="181474" y="349204"/>
                  </a:moveTo>
                  <a:cubicBezTo>
                    <a:pt x="88181" y="349204"/>
                    <a:pt x="12780" y="273873"/>
                    <a:pt x="12780" y="181305"/>
                  </a:cubicBezTo>
                  <a:cubicBezTo>
                    <a:pt x="12780" y="88099"/>
                    <a:pt x="88181" y="12768"/>
                    <a:pt x="180835" y="12768"/>
                  </a:cubicBezTo>
                  <a:cubicBezTo>
                    <a:pt x="274128" y="12768"/>
                    <a:pt x="349529" y="88099"/>
                    <a:pt x="349529" y="180667"/>
                  </a:cubicBezTo>
                  <a:cubicBezTo>
                    <a:pt x="349529" y="180667"/>
                    <a:pt x="349529" y="180667"/>
                    <a:pt x="349529" y="180667"/>
                  </a:cubicBezTo>
                  <a:cubicBezTo>
                    <a:pt x="349529" y="273873"/>
                    <a:pt x="274767" y="349204"/>
                    <a:pt x="181474" y="349204"/>
                  </a:cubicBezTo>
                  <a:lnTo>
                    <a:pt x="181474" y="349204"/>
                  </a:ln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4" name="Graphic 4">
              <a:extLst>
                <a:ext uri="{FF2B5EF4-FFF2-40B4-BE49-F238E27FC236}">
                  <a16:creationId xmlns:a16="http://schemas.microsoft.com/office/drawing/2014/main" id="{F75958EE-91C3-A9BA-2C66-AF83AF0F5039}"/>
                </a:ext>
              </a:extLst>
            </p:cNvPr>
            <p:cNvSpPr/>
            <p:nvPr/>
          </p:nvSpPr>
          <p:spPr>
            <a:xfrm>
              <a:off x="4760503" y="3514545"/>
              <a:ext cx="184767" cy="118741"/>
            </a:xfrm>
            <a:custGeom>
              <a:avLst/>
              <a:gdLst>
                <a:gd name="connsiteX0" fmla="*/ 178918 w 184767"/>
                <a:gd name="connsiteY0" fmla="*/ 0 h 118741"/>
                <a:gd name="connsiteX1" fmla="*/ 172528 w 184767"/>
                <a:gd name="connsiteY1" fmla="*/ 6384 h 118741"/>
                <a:gd name="connsiteX2" fmla="*/ 81791 w 184767"/>
                <a:gd name="connsiteY2" fmla="*/ 97036 h 118741"/>
                <a:gd name="connsiteX3" fmla="*/ 21726 w 184767"/>
                <a:gd name="connsiteY3" fmla="*/ 74692 h 118741"/>
                <a:gd name="connsiteX4" fmla="*/ 50481 w 184767"/>
                <a:gd name="connsiteY4" fmla="*/ 74692 h 118741"/>
                <a:gd name="connsiteX5" fmla="*/ 56871 w 184767"/>
                <a:gd name="connsiteY5" fmla="*/ 68308 h 118741"/>
                <a:gd name="connsiteX6" fmla="*/ 50481 w 184767"/>
                <a:gd name="connsiteY6" fmla="*/ 61924 h 118741"/>
                <a:gd name="connsiteX7" fmla="*/ 6390 w 184767"/>
                <a:gd name="connsiteY7" fmla="*/ 61924 h 118741"/>
                <a:gd name="connsiteX8" fmla="*/ 0 w 184767"/>
                <a:gd name="connsiteY8" fmla="*/ 68308 h 118741"/>
                <a:gd name="connsiteX9" fmla="*/ 0 w 184767"/>
                <a:gd name="connsiteY9" fmla="*/ 112358 h 118741"/>
                <a:gd name="connsiteX10" fmla="*/ 6390 w 184767"/>
                <a:gd name="connsiteY10" fmla="*/ 118742 h 118741"/>
                <a:gd name="connsiteX11" fmla="*/ 12780 w 184767"/>
                <a:gd name="connsiteY11" fmla="*/ 112358 h 118741"/>
                <a:gd name="connsiteX12" fmla="*/ 12780 w 184767"/>
                <a:gd name="connsiteY12" fmla="*/ 83630 h 118741"/>
                <a:gd name="connsiteX13" fmla="*/ 159110 w 184767"/>
                <a:gd name="connsiteY13" fmla="*/ 74692 h 118741"/>
                <a:gd name="connsiteX14" fmla="*/ 184669 w 184767"/>
                <a:gd name="connsiteY14" fmla="*/ 6384 h 118741"/>
                <a:gd name="connsiteX15" fmla="*/ 178918 w 184767"/>
                <a:gd name="connsiteY15" fmla="*/ 0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767" h="118741">
                  <a:moveTo>
                    <a:pt x="178918" y="0"/>
                  </a:moveTo>
                  <a:cubicBezTo>
                    <a:pt x="175084" y="0"/>
                    <a:pt x="172528" y="2553"/>
                    <a:pt x="172528" y="6384"/>
                  </a:cubicBezTo>
                  <a:cubicBezTo>
                    <a:pt x="172528" y="56179"/>
                    <a:pt x="132272" y="97036"/>
                    <a:pt x="81791" y="97036"/>
                  </a:cubicBezTo>
                  <a:cubicBezTo>
                    <a:pt x="60066" y="97036"/>
                    <a:pt x="38340" y="89376"/>
                    <a:pt x="21726" y="74692"/>
                  </a:cubicBezTo>
                  <a:lnTo>
                    <a:pt x="50481" y="74692"/>
                  </a:lnTo>
                  <a:cubicBezTo>
                    <a:pt x="54314" y="74692"/>
                    <a:pt x="56871" y="72139"/>
                    <a:pt x="56871" y="68308"/>
                  </a:cubicBezTo>
                  <a:cubicBezTo>
                    <a:pt x="56871" y="64478"/>
                    <a:pt x="54314" y="61924"/>
                    <a:pt x="50481" y="61924"/>
                  </a:cubicBezTo>
                  <a:lnTo>
                    <a:pt x="6390" y="61924"/>
                  </a:lnTo>
                  <a:cubicBezTo>
                    <a:pt x="2556" y="61924"/>
                    <a:pt x="0" y="64478"/>
                    <a:pt x="0" y="68308"/>
                  </a:cubicBezTo>
                  <a:lnTo>
                    <a:pt x="0" y="112358"/>
                  </a:lnTo>
                  <a:cubicBezTo>
                    <a:pt x="0" y="116188"/>
                    <a:pt x="2556" y="118742"/>
                    <a:pt x="6390" y="118742"/>
                  </a:cubicBezTo>
                  <a:cubicBezTo>
                    <a:pt x="10224" y="118742"/>
                    <a:pt x="12780" y="116188"/>
                    <a:pt x="12780" y="112358"/>
                  </a:cubicBezTo>
                  <a:lnTo>
                    <a:pt x="12780" y="83630"/>
                  </a:lnTo>
                  <a:cubicBezTo>
                    <a:pt x="55593" y="121296"/>
                    <a:pt x="120770" y="117465"/>
                    <a:pt x="159110" y="74692"/>
                  </a:cubicBezTo>
                  <a:cubicBezTo>
                    <a:pt x="175723" y="55540"/>
                    <a:pt x="184669" y="31281"/>
                    <a:pt x="184669" y="6384"/>
                  </a:cubicBezTo>
                  <a:cubicBezTo>
                    <a:pt x="185308" y="2553"/>
                    <a:pt x="182752" y="0"/>
                    <a:pt x="178918" y="0"/>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5" name="Graphic 4">
              <a:extLst>
                <a:ext uri="{FF2B5EF4-FFF2-40B4-BE49-F238E27FC236}">
                  <a16:creationId xmlns:a16="http://schemas.microsoft.com/office/drawing/2014/main" id="{EC86E9DC-9C1C-239C-A93E-37FCB8E41385}"/>
                </a:ext>
              </a:extLst>
            </p:cNvPr>
            <p:cNvSpPr/>
            <p:nvPr/>
          </p:nvSpPr>
          <p:spPr>
            <a:xfrm>
              <a:off x="4738777" y="3408570"/>
              <a:ext cx="184030" cy="118742"/>
            </a:xfrm>
            <a:custGeom>
              <a:avLst/>
              <a:gdLst>
                <a:gd name="connsiteX0" fmla="*/ 103517 w 184030"/>
                <a:gd name="connsiteY0" fmla="*/ 21706 h 118742"/>
                <a:gd name="connsiteX1" fmla="*/ 162943 w 184030"/>
                <a:gd name="connsiteY1" fmla="*/ 44050 h 118742"/>
                <a:gd name="connsiteX2" fmla="*/ 133550 w 184030"/>
                <a:gd name="connsiteY2" fmla="*/ 44050 h 118742"/>
                <a:gd name="connsiteX3" fmla="*/ 127160 w 184030"/>
                <a:gd name="connsiteY3" fmla="*/ 50434 h 118742"/>
                <a:gd name="connsiteX4" fmla="*/ 133550 w 184030"/>
                <a:gd name="connsiteY4" fmla="*/ 56818 h 118742"/>
                <a:gd name="connsiteX5" fmla="*/ 177641 w 184030"/>
                <a:gd name="connsiteY5" fmla="*/ 56818 h 118742"/>
                <a:gd name="connsiteX6" fmla="*/ 184031 w 184030"/>
                <a:gd name="connsiteY6" fmla="*/ 50434 h 118742"/>
                <a:gd name="connsiteX7" fmla="*/ 184031 w 184030"/>
                <a:gd name="connsiteY7" fmla="*/ 6384 h 118742"/>
                <a:gd name="connsiteX8" fmla="*/ 177641 w 184030"/>
                <a:gd name="connsiteY8" fmla="*/ 0 h 118742"/>
                <a:gd name="connsiteX9" fmla="*/ 171251 w 184030"/>
                <a:gd name="connsiteY9" fmla="*/ 6384 h 118742"/>
                <a:gd name="connsiteX10" fmla="*/ 171251 w 184030"/>
                <a:gd name="connsiteY10" fmla="*/ 34474 h 118742"/>
                <a:gd name="connsiteX11" fmla="*/ 25560 w 184030"/>
                <a:gd name="connsiteY11" fmla="*/ 44050 h 118742"/>
                <a:gd name="connsiteX12" fmla="*/ 0 w 184030"/>
                <a:gd name="connsiteY12" fmla="*/ 112358 h 118742"/>
                <a:gd name="connsiteX13" fmla="*/ 6390 w 184030"/>
                <a:gd name="connsiteY13" fmla="*/ 118742 h 118742"/>
                <a:gd name="connsiteX14" fmla="*/ 12780 w 184030"/>
                <a:gd name="connsiteY14" fmla="*/ 112358 h 118742"/>
                <a:gd name="connsiteX15" fmla="*/ 103517 w 184030"/>
                <a:gd name="connsiteY15" fmla="*/ 21706 h 11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030" h="118742">
                  <a:moveTo>
                    <a:pt x="103517" y="21706"/>
                  </a:moveTo>
                  <a:cubicBezTo>
                    <a:pt x="125243" y="21706"/>
                    <a:pt x="146969" y="30005"/>
                    <a:pt x="162943" y="44050"/>
                  </a:cubicBezTo>
                  <a:lnTo>
                    <a:pt x="133550" y="44050"/>
                  </a:lnTo>
                  <a:cubicBezTo>
                    <a:pt x="129716" y="44050"/>
                    <a:pt x="127160" y="46603"/>
                    <a:pt x="127160" y="50434"/>
                  </a:cubicBezTo>
                  <a:cubicBezTo>
                    <a:pt x="127160" y="54264"/>
                    <a:pt x="129716" y="56818"/>
                    <a:pt x="133550" y="56818"/>
                  </a:cubicBezTo>
                  <a:lnTo>
                    <a:pt x="177641" y="56818"/>
                  </a:lnTo>
                  <a:cubicBezTo>
                    <a:pt x="181474" y="56818"/>
                    <a:pt x="184031" y="54264"/>
                    <a:pt x="184031" y="50434"/>
                  </a:cubicBezTo>
                  <a:lnTo>
                    <a:pt x="184031" y="6384"/>
                  </a:lnTo>
                  <a:cubicBezTo>
                    <a:pt x="184031" y="2554"/>
                    <a:pt x="181474" y="0"/>
                    <a:pt x="177641" y="0"/>
                  </a:cubicBezTo>
                  <a:cubicBezTo>
                    <a:pt x="173806" y="0"/>
                    <a:pt x="171251" y="2554"/>
                    <a:pt x="171251" y="6384"/>
                  </a:cubicBezTo>
                  <a:lnTo>
                    <a:pt x="171251" y="34474"/>
                  </a:lnTo>
                  <a:cubicBezTo>
                    <a:pt x="128438" y="-3192"/>
                    <a:pt x="63261" y="1277"/>
                    <a:pt x="25560" y="44050"/>
                  </a:cubicBezTo>
                  <a:cubicBezTo>
                    <a:pt x="8946" y="63202"/>
                    <a:pt x="0" y="87461"/>
                    <a:pt x="0" y="112358"/>
                  </a:cubicBezTo>
                  <a:cubicBezTo>
                    <a:pt x="0" y="116189"/>
                    <a:pt x="2556" y="118742"/>
                    <a:pt x="6390" y="118742"/>
                  </a:cubicBezTo>
                  <a:cubicBezTo>
                    <a:pt x="10224" y="118742"/>
                    <a:pt x="12780" y="116189"/>
                    <a:pt x="12780" y="112358"/>
                  </a:cubicBezTo>
                  <a:cubicBezTo>
                    <a:pt x="12780" y="61925"/>
                    <a:pt x="53676" y="21706"/>
                    <a:pt x="103517" y="21706"/>
                  </a:cubicBezTo>
                  <a:close/>
                </a:path>
              </a:pathLst>
            </a:custGeom>
            <a:solidFill>
              <a:schemeClr val="accent1"/>
            </a:solidFill>
            <a:ln w="639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7" name="Rectangle 6">
            <a:extLst>
              <a:ext uri="{FF2B5EF4-FFF2-40B4-BE49-F238E27FC236}">
                <a16:creationId xmlns:a16="http://schemas.microsoft.com/office/drawing/2014/main" id="{291438D9-2525-BB68-897C-0689274E7F18}"/>
              </a:ext>
            </a:extLst>
          </p:cNvPr>
          <p:cNvSpPr/>
          <p:nvPr/>
        </p:nvSpPr>
        <p:spPr bwMode="gray">
          <a:xfrm>
            <a:off x="7860896" y="-891653"/>
            <a:ext cx="3336386" cy="901624"/>
          </a:xfrm>
          <a:prstGeom prst="rect">
            <a:avLst/>
          </a:prstGeom>
          <a:solidFill>
            <a:srgbClr val="FFFF00"/>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de-DE" sz="1400" b="0" i="0" u="none" strike="noStrike" kern="1200" cap="none" spc="0" normalizeH="0" baseline="0" noProof="0">
                <a:ln>
                  <a:noFill/>
                </a:ln>
                <a:solidFill>
                  <a:srgbClr val="FF0000"/>
                </a:solidFill>
                <a:effectLst/>
                <a:uLnTx/>
                <a:uFillTx/>
                <a:latin typeface="Aptos" panose="02110004020202020204"/>
                <a:ea typeface="+mn-ea"/>
                <a:cs typeface="+mn-cs"/>
              </a:rPr>
              <a:t>Zielbild mit Key Points – State of the </a:t>
            </a:r>
            <a:r>
              <a:rPr kumimoji="0" lang="de-DE" sz="1400" b="0" i="0" u="none" strike="noStrike" kern="1200" cap="none" spc="0" normalizeH="0" baseline="0" noProof="0" err="1">
                <a:ln>
                  <a:noFill/>
                </a:ln>
                <a:solidFill>
                  <a:srgbClr val="FF0000"/>
                </a:solidFill>
                <a:effectLst/>
                <a:uLnTx/>
                <a:uFillTx/>
                <a:latin typeface="Aptos" panose="02110004020202020204"/>
                <a:ea typeface="+mn-ea"/>
                <a:cs typeface="+mn-cs"/>
              </a:rPr>
              <a:t>art</a:t>
            </a:r>
            <a:r>
              <a:rPr kumimoji="0" lang="de-DE" sz="1400" b="0" i="0" u="none" strike="noStrike" kern="1200" cap="none" spc="0" normalizeH="0" baseline="0" noProof="0">
                <a:ln>
                  <a:noFill/>
                </a:ln>
                <a:solidFill>
                  <a:srgbClr val="FF0000"/>
                </a:solidFill>
                <a:effectLst/>
                <a:uLnTx/>
                <a:uFillTx/>
                <a:latin typeface="Aptos" panose="02110004020202020204"/>
                <a:ea typeface="+mn-ea"/>
                <a:cs typeface="+mn-cs"/>
              </a:rPr>
              <a:t> </a:t>
            </a:r>
            <a:r>
              <a:rPr kumimoji="0" lang="de-DE" sz="1400" b="0" i="0" u="none" strike="noStrike" kern="1200" cap="none" spc="0" normalizeH="0" baseline="0" noProof="0" err="1">
                <a:ln>
                  <a:noFill/>
                </a:ln>
                <a:solidFill>
                  <a:srgbClr val="FF0000"/>
                </a:solidFill>
                <a:effectLst/>
                <a:uLnTx/>
                <a:uFillTx/>
                <a:latin typeface="Aptos" panose="02110004020202020204"/>
                <a:ea typeface="+mn-ea"/>
                <a:cs typeface="+mn-cs"/>
              </a:rPr>
              <a:t>definition</a:t>
            </a: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4186080"/>
      </p:ext>
    </p:extLst>
  </p:cSld>
  <p:clrMapOvr>
    <a:masterClrMapping/>
  </p:clrMapOvr>
  <p:transition>
    <p:fade/>
  </p:transition>
  <p:extLst>
    <p:ext uri="{6950BFC3-D8DA-4A85-94F7-54DA5524770B}">
      <p188:commentRel xmlns:p188="http://schemas.microsoft.com/office/powerpoint/2018/8/main" r:id="rId4"/>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0116C-B408-2D10-D5F0-8D72834DB59A}"/>
            </a:ext>
          </a:extLst>
        </p:cNvPr>
        <p:cNvGrpSpPr/>
        <p:nvPr/>
      </p:nvGrpSpPr>
      <p:grpSpPr>
        <a:xfrm>
          <a:off x="0" y="0"/>
          <a:ext cx="0" cy="0"/>
          <a:chOff x="0" y="0"/>
          <a:chExt cx="0" cy="0"/>
        </a:xfrm>
      </p:grpSpPr>
      <p:grpSp>
        <p:nvGrpSpPr>
          <p:cNvPr id="10" name="Gruppieren 9">
            <a:extLst>
              <a:ext uri="{FF2B5EF4-FFF2-40B4-BE49-F238E27FC236}">
                <a16:creationId xmlns:a16="http://schemas.microsoft.com/office/drawing/2014/main" id="{7A68ED0B-5611-AA89-E937-80932A11A10E}"/>
              </a:ext>
            </a:extLst>
          </p:cNvPr>
          <p:cNvGrpSpPr/>
          <p:nvPr/>
        </p:nvGrpSpPr>
        <p:grpSpPr>
          <a:xfrm>
            <a:off x="0" y="1714500"/>
            <a:ext cx="12192000" cy="4800601"/>
            <a:chOff x="0" y="1714500"/>
            <a:chExt cx="12192000" cy="4800601"/>
          </a:xfrm>
        </p:grpSpPr>
        <p:pic>
          <p:nvPicPr>
            <p:cNvPr id="12" name="Grafik 11">
              <a:extLst>
                <a:ext uri="{FF2B5EF4-FFF2-40B4-BE49-F238E27FC236}">
                  <a16:creationId xmlns:a16="http://schemas.microsoft.com/office/drawing/2014/main" id="{2F5600DD-FF77-84F5-9D96-CE00517C5790}"/>
                </a:ext>
              </a:extLst>
            </p:cNvPr>
            <p:cNvPicPr>
              <a:picLocks noChangeAspect="1"/>
            </p:cNvPicPr>
            <p:nvPr/>
          </p:nvPicPr>
          <p:blipFill>
            <a:blip r:embed="rId4">
              <a:extLst>
                <a:ext uri="{28A0092B-C50C-407E-A947-70E740481C1C}">
                  <a14:useLocalDpi xmlns:a14="http://schemas.microsoft.com/office/drawing/2010/main" val="0"/>
                </a:ext>
              </a:extLst>
            </a:blip>
            <a:srcRect l="2844" t="2784" r="43916" b="57839"/>
            <a:stretch>
              <a:fillRect/>
            </a:stretch>
          </p:blipFill>
          <p:spPr>
            <a:xfrm>
              <a:off x="0" y="1714500"/>
              <a:ext cx="12192000" cy="4800601"/>
            </a:xfrm>
            <a:prstGeom prst="rect">
              <a:avLst/>
            </a:prstGeom>
          </p:spPr>
        </p:pic>
        <p:sp>
          <p:nvSpPr>
            <p:cNvPr id="15" name="Pfeil: Fünfeck 14">
              <a:extLst>
                <a:ext uri="{FF2B5EF4-FFF2-40B4-BE49-F238E27FC236}">
                  <a16:creationId xmlns:a16="http://schemas.microsoft.com/office/drawing/2014/main" id="{969B804A-6A33-CC12-8866-36FF62C29D9D}"/>
                </a:ext>
              </a:extLst>
            </p:cNvPr>
            <p:cNvSpPr/>
            <p:nvPr/>
          </p:nvSpPr>
          <p:spPr bwMode="gray">
            <a:xfrm>
              <a:off x="914399" y="1795126"/>
              <a:ext cx="8154000" cy="396000"/>
            </a:xfrm>
            <a:prstGeom prst="homePlate">
              <a:avLst/>
            </a:prstGeom>
            <a:solidFill>
              <a:schemeClr val="bg1">
                <a:alpha val="9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0" cap="all" spc="100" normalizeH="0" baseline="0" noProof="0">
                  <a:ln>
                    <a:noFill/>
                  </a:ln>
                  <a:solidFill>
                    <a:srgbClr val="19624A"/>
                  </a:solidFill>
                  <a:effectLst/>
                  <a:uLnTx/>
                  <a:uFillTx/>
                  <a:latin typeface="Aptos" panose="02110004020202020204"/>
                  <a:ea typeface="+mn-ea"/>
                  <a:cs typeface="+mn-cs"/>
                </a:rPr>
                <a:t>Impact Analysis</a:t>
              </a:r>
            </a:p>
          </p:txBody>
        </p:sp>
        <p:sp>
          <p:nvSpPr>
            <p:cNvPr id="16" name="Pfeil: Chevron 15">
              <a:extLst>
                <a:ext uri="{FF2B5EF4-FFF2-40B4-BE49-F238E27FC236}">
                  <a16:creationId xmlns:a16="http://schemas.microsoft.com/office/drawing/2014/main" id="{36873128-B504-196D-80E6-F96C2726AAE3}"/>
                </a:ext>
              </a:extLst>
            </p:cNvPr>
            <p:cNvSpPr/>
            <p:nvPr/>
          </p:nvSpPr>
          <p:spPr bwMode="gray">
            <a:xfrm>
              <a:off x="8972854" y="1795126"/>
              <a:ext cx="2814333" cy="396000"/>
            </a:xfrm>
            <a:prstGeom prst="chevron">
              <a:avLst/>
            </a:prstGeom>
            <a:solidFill>
              <a:srgbClr val="19624A">
                <a:alpha val="90000"/>
              </a:srgbClr>
            </a:solidFill>
            <a:ln w="19050" algn="ctr">
              <a:noFill/>
              <a:miter lim="800000"/>
              <a:headEnd/>
              <a:tailEnd/>
            </a:ln>
            <a:effectLst/>
          </p:spPr>
          <p:txBody>
            <a:bodyPr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0" cap="all" spc="100" normalizeH="0" baseline="0" noProof="0">
                  <a:ln>
                    <a:noFill/>
                  </a:ln>
                  <a:solidFill>
                    <a:prstClr val="white"/>
                  </a:solidFill>
                  <a:effectLst/>
                  <a:uLnTx/>
                  <a:uFillTx/>
                  <a:latin typeface="Aptos" panose="02110004020202020204"/>
                  <a:ea typeface="+mn-ea"/>
                  <a:cs typeface="+mn-cs"/>
                </a:rPr>
                <a:t>Organizational structure</a:t>
              </a:r>
            </a:p>
          </p:txBody>
        </p:sp>
        <p:sp>
          <p:nvSpPr>
            <p:cNvPr id="18" name="Rechteck 17">
              <a:extLst>
                <a:ext uri="{FF2B5EF4-FFF2-40B4-BE49-F238E27FC236}">
                  <a16:creationId xmlns:a16="http://schemas.microsoft.com/office/drawing/2014/main" id="{0D6D94B9-C1E0-294F-A4C9-E24DAA6EB51B}"/>
                </a:ext>
              </a:extLst>
            </p:cNvPr>
            <p:cNvSpPr/>
            <p:nvPr/>
          </p:nvSpPr>
          <p:spPr bwMode="gray">
            <a:xfrm>
              <a:off x="914399" y="2881179"/>
              <a:ext cx="2628000" cy="2078216"/>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0" name="Rechteck 19">
              <a:extLst>
                <a:ext uri="{FF2B5EF4-FFF2-40B4-BE49-F238E27FC236}">
                  <a16:creationId xmlns:a16="http://schemas.microsoft.com/office/drawing/2014/main" id="{0A11ED41-C7FD-0DE8-E290-CEED6EE92882}"/>
                </a:ext>
              </a:extLst>
            </p:cNvPr>
            <p:cNvSpPr/>
            <p:nvPr/>
          </p:nvSpPr>
          <p:spPr bwMode="gray">
            <a:xfrm>
              <a:off x="3648672" y="2881179"/>
              <a:ext cx="2628000" cy="2078216"/>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1" name="Rechteck 20">
              <a:extLst>
                <a:ext uri="{FF2B5EF4-FFF2-40B4-BE49-F238E27FC236}">
                  <a16:creationId xmlns:a16="http://schemas.microsoft.com/office/drawing/2014/main" id="{4B9AE731-9718-D8FB-6F6A-D2447F0209E4}"/>
                </a:ext>
              </a:extLst>
            </p:cNvPr>
            <p:cNvSpPr/>
            <p:nvPr/>
          </p:nvSpPr>
          <p:spPr bwMode="gray">
            <a:xfrm>
              <a:off x="6382945" y="2881179"/>
              <a:ext cx="2628000" cy="2078216"/>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2" name="Rechteck 21">
              <a:extLst>
                <a:ext uri="{FF2B5EF4-FFF2-40B4-BE49-F238E27FC236}">
                  <a16:creationId xmlns:a16="http://schemas.microsoft.com/office/drawing/2014/main" id="{CF92ED2D-6077-DF2F-A9AB-8401C2F9F63E}"/>
                </a:ext>
              </a:extLst>
            </p:cNvPr>
            <p:cNvSpPr/>
            <p:nvPr/>
          </p:nvSpPr>
          <p:spPr bwMode="gray">
            <a:xfrm>
              <a:off x="9117219" y="2881179"/>
              <a:ext cx="2628000" cy="2078216"/>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7" name="Rechteck 26">
              <a:extLst>
                <a:ext uri="{FF2B5EF4-FFF2-40B4-BE49-F238E27FC236}">
                  <a16:creationId xmlns:a16="http://schemas.microsoft.com/office/drawing/2014/main" id="{3011E168-C850-C051-6C91-F84FA3255C0F}"/>
                </a:ext>
              </a:extLst>
            </p:cNvPr>
            <p:cNvSpPr/>
            <p:nvPr/>
          </p:nvSpPr>
          <p:spPr bwMode="gray">
            <a:xfrm>
              <a:off x="914399" y="5126928"/>
              <a:ext cx="2628000" cy="1288525"/>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8" name="Rechteck 27">
              <a:extLst>
                <a:ext uri="{FF2B5EF4-FFF2-40B4-BE49-F238E27FC236}">
                  <a16:creationId xmlns:a16="http://schemas.microsoft.com/office/drawing/2014/main" id="{D377A1D2-A2D6-FA06-53F5-A8AD106AB902}"/>
                </a:ext>
              </a:extLst>
            </p:cNvPr>
            <p:cNvSpPr/>
            <p:nvPr/>
          </p:nvSpPr>
          <p:spPr bwMode="gray">
            <a:xfrm>
              <a:off x="3648672" y="5126928"/>
              <a:ext cx="2628000" cy="1288525"/>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9" name="Rechteck 28">
              <a:extLst>
                <a:ext uri="{FF2B5EF4-FFF2-40B4-BE49-F238E27FC236}">
                  <a16:creationId xmlns:a16="http://schemas.microsoft.com/office/drawing/2014/main" id="{64736A7F-7208-6560-B5AA-14F6241CC929}"/>
                </a:ext>
              </a:extLst>
            </p:cNvPr>
            <p:cNvSpPr/>
            <p:nvPr/>
          </p:nvSpPr>
          <p:spPr bwMode="gray">
            <a:xfrm>
              <a:off x="6382945" y="5126928"/>
              <a:ext cx="2628000" cy="1288525"/>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30" name="Rechteck 29">
              <a:extLst>
                <a:ext uri="{FF2B5EF4-FFF2-40B4-BE49-F238E27FC236}">
                  <a16:creationId xmlns:a16="http://schemas.microsoft.com/office/drawing/2014/main" id="{A46E0324-3C26-20FE-9042-007C35CB6C64}"/>
                </a:ext>
              </a:extLst>
            </p:cNvPr>
            <p:cNvSpPr/>
            <p:nvPr/>
          </p:nvSpPr>
          <p:spPr bwMode="gray">
            <a:xfrm>
              <a:off x="9117219" y="5126928"/>
              <a:ext cx="2628000" cy="1288525"/>
            </a:xfrm>
            <a:prstGeom prst="rect">
              <a:avLst/>
            </a:prstGeom>
            <a:solidFill>
              <a:schemeClr val="bg1">
                <a:alpha val="8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88" name="Pfeil: Fünfeck 87">
              <a:extLst>
                <a:ext uri="{FF2B5EF4-FFF2-40B4-BE49-F238E27FC236}">
                  <a16:creationId xmlns:a16="http://schemas.microsoft.com/office/drawing/2014/main" id="{E68CD922-2A05-1D3C-86C1-4683F5C29C9F}"/>
                </a:ext>
              </a:extLst>
            </p:cNvPr>
            <p:cNvSpPr/>
            <p:nvPr/>
          </p:nvSpPr>
          <p:spPr bwMode="gray">
            <a:xfrm>
              <a:off x="914399" y="2250297"/>
              <a:ext cx="2623238" cy="252000"/>
            </a:xfrm>
            <a:prstGeom prst="homePlate">
              <a:avLst/>
            </a:prstGeom>
            <a:solidFill>
              <a:schemeClr val="bg1">
                <a:alpha val="9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a:ln>
                    <a:noFill/>
                  </a:ln>
                  <a:solidFill>
                    <a:srgbClr val="19624A"/>
                  </a:solidFill>
                  <a:effectLst/>
                  <a:uLnTx/>
                  <a:uFillTx/>
                  <a:latin typeface="Aptos" panose="02110004020202020204"/>
                  <a:ea typeface="+mn-ea"/>
                  <a:cs typeface="+mn-cs"/>
                </a:rPr>
                <a:t>Impact Assessment</a:t>
              </a:r>
            </a:p>
          </p:txBody>
        </p:sp>
        <p:sp>
          <p:nvSpPr>
            <p:cNvPr id="89" name="Pfeil: Chevron 88">
              <a:extLst>
                <a:ext uri="{FF2B5EF4-FFF2-40B4-BE49-F238E27FC236}">
                  <a16:creationId xmlns:a16="http://schemas.microsoft.com/office/drawing/2014/main" id="{48C8C9BF-2C23-2227-34F4-1CD9C8BC5E69}"/>
                </a:ext>
              </a:extLst>
            </p:cNvPr>
            <p:cNvSpPr/>
            <p:nvPr/>
          </p:nvSpPr>
          <p:spPr bwMode="gray">
            <a:xfrm>
              <a:off x="3501498" y="2250297"/>
              <a:ext cx="2772000" cy="252000"/>
            </a:xfrm>
            <a:prstGeom prst="chevron">
              <a:avLst/>
            </a:prstGeom>
            <a:solidFill>
              <a:schemeClr val="bg1">
                <a:alpha val="9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a:ln>
                    <a:noFill/>
                  </a:ln>
                  <a:solidFill>
                    <a:srgbClr val="19624A"/>
                  </a:solidFill>
                  <a:effectLst/>
                  <a:uLnTx/>
                  <a:uFillTx/>
                  <a:latin typeface="Aptos" panose="02110004020202020204"/>
                  <a:ea typeface="+mn-ea"/>
                  <a:cs typeface="+mn-cs"/>
                </a:rPr>
                <a:t>Detailed Analysis</a:t>
              </a:r>
            </a:p>
          </p:txBody>
        </p:sp>
        <p:sp>
          <p:nvSpPr>
            <p:cNvPr id="90" name="Pfeil: Chevron 89">
              <a:extLst>
                <a:ext uri="{FF2B5EF4-FFF2-40B4-BE49-F238E27FC236}">
                  <a16:creationId xmlns:a16="http://schemas.microsoft.com/office/drawing/2014/main" id="{9EB1FF5D-18E5-8DAA-FB26-ABB97EE5269F}"/>
                </a:ext>
              </a:extLst>
            </p:cNvPr>
            <p:cNvSpPr/>
            <p:nvPr/>
          </p:nvSpPr>
          <p:spPr bwMode="gray">
            <a:xfrm>
              <a:off x="6237359" y="2250297"/>
              <a:ext cx="2772000" cy="252000"/>
            </a:xfrm>
            <a:prstGeom prst="chevron">
              <a:avLst/>
            </a:prstGeom>
            <a:solidFill>
              <a:schemeClr val="bg1">
                <a:alpha val="90000"/>
              </a:schemeClr>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a:ln>
                    <a:noFill/>
                  </a:ln>
                  <a:solidFill>
                    <a:srgbClr val="19624A"/>
                  </a:solidFill>
                  <a:effectLst/>
                  <a:uLnTx/>
                  <a:uFillTx/>
                  <a:latin typeface="Aptos" panose="02110004020202020204"/>
                  <a:ea typeface="+mn-ea"/>
                  <a:cs typeface="+mn-cs"/>
                </a:rPr>
                <a:t>Recommendation</a:t>
              </a:r>
            </a:p>
          </p:txBody>
        </p:sp>
        <p:sp>
          <p:nvSpPr>
            <p:cNvPr id="91" name="Pfeil: Chevron 90">
              <a:extLst>
                <a:ext uri="{FF2B5EF4-FFF2-40B4-BE49-F238E27FC236}">
                  <a16:creationId xmlns:a16="http://schemas.microsoft.com/office/drawing/2014/main" id="{0EC55BD4-D7E5-0AD5-CCB3-D351138D0D37}"/>
                </a:ext>
              </a:extLst>
            </p:cNvPr>
            <p:cNvSpPr/>
            <p:nvPr/>
          </p:nvSpPr>
          <p:spPr bwMode="gray">
            <a:xfrm>
              <a:off x="8973219" y="2250297"/>
              <a:ext cx="2772000" cy="252000"/>
            </a:xfrm>
            <a:prstGeom prst="chevron">
              <a:avLst/>
            </a:prstGeom>
            <a:solidFill>
              <a:srgbClr val="19624A">
                <a:alpha val="90000"/>
              </a:srgbClr>
            </a:solidFill>
            <a:ln w="19050" algn="ctr">
              <a:noFill/>
              <a:miter lim="800000"/>
              <a:headEnd/>
              <a:tailEnd/>
            </a:ln>
            <a:effectLst/>
          </p:spPr>
          <p:txBody>
            <a:bodyPr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Aptos" panose="02110004020202020204"/>
                  <a:ea typeface="+mn-ea"/>
                  <a:cs typeface="+mn-cs"/>
                </a:rPr>
                <a:t>Roadmap &amp; Alignment</a:t>
              </a:r>
            </a:p>
          </p:txBody>
        </p:sp>
      </p:grpSp>
      <p:graphicFrame>
        <p:nvGraphicFramePr>
          <p:cNvPr id="4" name="think-cell data - do not delete" hidden="1">
            <a:extLst>
              <a:ext uri="{FF2B5EF4-FFF2-40B4-BE49-F238E27FC236}">
                <a16:creationId xmlns:a16="http://schemas.microsoft.com/office/drawing/2014/main" id="{D5BF31B3-CA14-BF9F-2C7E-0FE300D32D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24" imgH="623" progId="TCLayout.ActiveDocument.1">
                  <p:embed/>
                </p:oleObj>
              </mc:Choice>
              <mc:Fallback>
                <p:oleObj name="think-cell Slide" r:id="rId5" imgW="624" imgH="623" progId="TCLayout.ActiveDocument.1">
                  <p:embed/>
                  <p:pic>
                    <p:nvPicPr>
                      <p:cNvPr id="4" name="think-cell data - do not delete" hidden="1">
                        <a:extLst>
                          <a:ext uri="{FF2B5EF4-FFF2-40B4-BE49-F238E27FC236}">
                            <a16:creationId xmlns:a16="http://schemas.microsoft.com/office/drawing/2014/main" id="{D5BF31B3-CA14-BF9F-2C7E-0FE300D32D6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8" name="Rectangle 67">
            <a:extLst>
              <a:ext uri="{FF2B5EF4-FFF2-40B4-BE49-F238E27FC236}">
                <a16:creationId xmlns:a16="http://schemas.microsoft.com/office/drawing/2014/main" id="{FB6F2E49-6326-9938-EC62-073263C40014}"/>
              </a:ext>
            </a:extLst>
          </p:cNvPr>
          <p:cNvSpPr>
            <a:spLocks/>
          </p:cNvSpPr>
          <p:nvPr/>
        </p:nvSpPr>
        <p:spPr>
          <a:xfrm>
            <a:off x="986401" y="2976061"/>
            <a:ext cx="2484000" cy="1908000"/>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Identification of activities affected by the scope of IFRS 20, considering country-specific regulatory regimes and type of businesses such as electricity and gas grid.</a:t>
            </a:r>
            <a:endParaRPr kumimoji="0" lang="en-US" sz="1200" b="1"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1" name="Straight Connector 10">
            <a:extLst>
              <a:ext uri="{FF2B5EF4-FFF2-40B4-BE49-F238E27FC236}">
                <a16:creationId xmlns:a16="http://schemas.microsoft.com/office/drawing/2014/main" id="{67AC981E-B42E-4736-8F44-D8DD281A22FC}"/>
              </a:ext>
            </a:extLst>
          </p:cNvPr>
          <p:cNvCxnSpPr>
            <a:cxnSpLocks/>
          </p:cNvCxnSpPr>
          <p:nvPr/>
        </p:nvCxnSpPr>
        <p:spPr>
          <a:xfrm>
            <a:off x="914400" y="5046709"/>
            <a:ext cx="10820400" cy="0"/>
          </a:xfrm>
          <a:prstGeom prst="line">
            <a:avLst/>
          </a:prstGeom>
          <a:ln w="22225" cap="flat" cmpd="sng" algn="ctr">
            <a:solidFill>
              <a:schemeClr val="bg1"/>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CC6A248-821C-D585-11AF-80E15D9DD245}"/>
              </a:ext>
            </a:extLst>
          </p:cNvPr>
          <p:cNvSpPr>
            <a:spLocks/>
          </p:cNvSpPr>
          <p:nvPr/>
        </p:nvSpPr>
        <p:spPr>
          <a:xfrm>
            <a:off x="483117" y="1795126"/>
            <a:ext cx="246339" cy="981028"/>
          </a:xfrm>
          <a:prstGeom prst="rect">
            <a:avLst/>
          </a:prstGeom>
          <a:noFill/>
          <a:ln>
            <a:noFill/>
          </a:ln>
          <a:extLst>
            <a:ext uri="{909E8E84-426E-40DD-AFC4-6F175D3DCCD1}">
              <a14:hiddenFill xmlns:a14="http://schemas.microsoft.com/office/drawing/2010/main">
                <a:solidFill>
                  <a:schemeClr val="accent1">
                    <a:tint val="50000"/>
                    <a:hueOff val="0"/>
                    <a:satOff val="0"/>
                    <a:lumOff val="0"/>
                  </a:schemeClr>
                </a:solidFill>
              </a14:hiddenFill>
            </a:ext>
          </a:extLst>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Work Packages</a:t>
            </a:r>
          </a:p>
        </p:txBody>
      </p:sp>
      <p:sp>
        <p:nvSpPr>
          <p:cNvPr id="8" name="Rectangle 7">
            <a:extLst>
              <a:ext uri="{FF2B5EF4-FFF2-40B4-BE49-F238E27FC236}">
                <a16:creationId xmlns:a16="http://schemas.microsoft.com/office/drawing/2014/main" id="{A98285B4-AE55-BB43-E046-EFE8FD88E7DC}"/>
              </a:ext>
            </a:extLst>
          </p:cNvPr>
          <p:cNvSpPr>
            <a:spLocks/>
          </p:cNvSpPr>
          <p:nvPr/>
        </p:nvSpPr>
        <p:spPr>
          <a:xfrm>
            <a:off x="481796" y="2881178"/>
            <a:ext cx="248981" cy="2078215"/>
          </a:xfrm>
          <a:prstGeom prst="rect">
            <a:avLst/>
          </a:prstGeom>
          <a:noFill/>
          <a:ln>
            <a:noFill/>
          </a:ln>
          <a:extLst>
            <a:ext uri="{909E8E84-426E-40DD-AFC4-6F175D3DCCD1}">
              <a14:hiddenFill xmlns:a14="http://schemas.microsoft.com/office/drawing/2010/main">
                <a:solidFill>
                  <a:schemeClr val="accent1">
                    <a:tint val="50000"/>
                    <a:hueOff val="0"/>
                    <a:satOff val="0"/>
                    <a:lumOff val="0"/>
                  </a:schemeClr>
                </a:solidFill>
              </a14:hiddenFill>
            </a:ext>
          </a:extLst>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Activities</a:t>
            </a:r>
          </a:p>
        </p:txBody>
      </p:sp>
      <p:sp>
        <p:nvSpPr>
          <p:cNvPr id="9" name="Rectangle 8">
            <a:extLst>
              <a:ext uri="{FF2B5EF4-FFF2-40B4-BE49-F238E27FC236}">
                <a16:creationId xmlns:a16="http://schemas.microsoft.com/office/drawing/2014/main" id="{D5B2021B-7914-4091-B8C6-54A08CE430F8}"/>
              </a:ext>
            </a:extLst>
          </p:cNvPr>
          <p:cNvSpPr>
            <a:spLocks/>
          </p:cNvSpPr>
          <p:nvPr/>
        </p:nvSpPr>
        <p:spPr>
          <a:xfrm>
            <a:off x="481796" y="5126928"/>
            <a:ext cx="248981" cy="1288525"/>
          </a:xfrm>
          <a:prstGeom prst="rect">
            <a:avLst/>
          </a:prstGeom>
          <a:noFill/>
          <a:ln>
            <a:noFill/>
          </a:ln>
          <a:extLst>
            <a:ext uri="{909E8E84-426E-40DD-AFC4-6F175D3DCCD1}">
              <a14:hiddenFill xmlns:a14="http://schemas.microsoft.com/office/drawing/2010/main">
                <a:solidFill>
                  <a:schemeClr val="accent1">
                    <a:tint val="50000"/>
                    <a:hueOff val="0"/>
                    <a:satOff val="0"/>
                    <a:lumOff val="0"/>
                  </a:schemeClr>
                </a:solidFill>
              </a14:hiddenFill>
            </a:ext>
          </a:extLst>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Deliverables</a:t>
            </a:r>
          </a:p>
        </p:txBody>
      </p:sp>
      <p:sp>
        <p:nvSpPr>
          <p:cNvPr id="50" name="Rectangle 49">
            <a:extLst>
              <a:ext uri="{FF2B5EF4-FFF2-40B4-BE49-F238E27FC236}">
                <a16:creationId xmlns:a16="http://schemas.microsoft.com/office/drawing/2014/main" id="{D04CEC8F-3ABB-3D9D-044E-361A7916C20B}"/>
              </a:ext>
            </a:extLst>
          </p:cNvPr>
          <p:cNvSpPr>
            <a:spLocks/>
          </p:cNvSpPr>
          <p:nvPr/>
        </p:nvSpPr>
        <p:spPr>
          <a:xfrm>
            <a:off x="3720184" y="2976061"/>
            <a:ext cx="2484000" cy="1908000"/>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Impact Assessment for the in-scope entities, e.g. whether relationships between PPE and RAB are direct or indirect, impact of discounting.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Impacts on consolidation systems, asset management systems and regulatory accounting systems as well as general ledger, such as SAP-FI or Tagetik (consolidation).</a:t>
            </a:r>
            <a:endParaRPr kumimoji="0" lang="en-US" sz="105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6" name="Rectangle 55">
            <a:extLst>
              <a:ext uri="{FF2B5EF4-FFF2-40B4-BE49-F238E27FC236}">
                <a16:creationId xmlns:a16="http://schemas.microsoft.com/office/drawing/2014/main" id="{A12C5653-EFAA-E5D2-165C-A033E16856F0}"/>
              </a:ext>
            </a:extLst>
          </p:cNvPr>
          <p:cNvSpPr>
            <a:spLocks/>
          </p:cNvSpPr>
          <p:nvPr/>
        </p:nvSpPr>
        <p:spPr>
          <a:xfrm>
            <a:off x="6453967" y="2976061"/>
            <a:ext cx="2484000" cy="1908000"/>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Proposed implementation approach for affected entities.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Define a target system setup and required system changes to ensure well structured implementation.</a:t>
            </a:r>
            <a:endParaRPr kumimoji="0" lang="de-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Rectangle 61">
            <a:extLst>
              <a:ext uri="{FF2B5EF4-FFF2-40B4-BE49-F238E27FC236}">
                <a16:creationId xmlns:a16="http://schemas.microsoft.com/office/drawing/2014/main" id="{77C1EE81-B7E6-53A5-06F4-EF574FC082B8}"/>
              </a:ext>
            </a:extLst>
          </p:cNvPr>
          <p:cNvSpPr>
            <a:spLocks/>
          </p:cNvSpPr>
          <p:nvPr/>
        </p:nvSpPr>
        <p:spPr>
          <a:xfrm>
            <a:off x="9187749" y="2976061"/>
            <a:ext cx="2484000" cy="1702122"/>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Finalize cross-functional collaboration between IFRS accounting and regulatory experts.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Continuous project management to discuss and align project results and decide and approve on target solutions. Coordinate group-wide alignment across regulatory frameworks</a:t>
            </a: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a:t>
            </a:r>
          </a:p>
        </p:txBody>
      </p:sp>
      <p:sp>
        <p:nvSpPr>
          <p:cNvPr id="5" name="Titel 4">
            <a:extLst>
              <a:ext uri="{FF2B5EF4-FFF2-40B4-BE49-F238E27FC236}">
                <a16:creationId xmlns:a16="http://schemas.microsoft.com/office/drawing/2014/main" id="{C0208904-1FC4-6866-87B8-F4C3C0DE982C}"/>
              </a:ext>
            </a:extLst>
          </p:cNvPr>
          <p:cNvSpPr>
            <a:spLocks noGrp="1"/>
          </p:cNvSpPr>
          <p:nvPr>
            <p:ph type="title"/>
          </p:nvPr>
        </p:nvSpPr>
        <p:spPr/>
        <p:txBody>
          <a:bodyPr/>
          <a:lstStyle/>
          <a:p>
            <a:r>
              <a:rPr lang="en-US"/>
              <a:t>Project Approach at a Glance</a:t>
            </a:r>
            <a:endParaRPr lang="de-DE"/>
          </a:p>
        </p:txBody>
      </p:sp>
      <p:sp>
        <p:nvSpPr>
          <p:cNvPr id="6" name="Textplatzhalter 5">
            <a:extLst>
              <a:ext uri="{FF2B5EF4-FFF2-40B4-BE49-F238E27FC236}">
                <a16:creationId xmlns:a16="http://schemas.microsoft.com/office/drawing/2014/main" id="{4DD190E0-3628-5909-1EE8-77FB01F09596}"/>
              </a:ext>
            </a:extLst>
          </p:cNvPr>
          <p:cNvSpPr>
            <a:spLocks noGrp="1"/>
          </p:cNvSpPr>
          <p:nvPr>
            <p:ph type="body" sz="quarter" idx="10"/>
          </p:nvPr>
        </p:nvSpPr>
        <p:spPr/>
        <p:txBody>
          <a:bodyPr/>
          <a:lstStyle/>
          <a:p>
            <a:r>
              <a:rPr lang="en-US"/>
              <a:t>Our target: to provide you with clear recommendations for each country</a:t>
            </a:r>
          </a:p>
        </p:txBody>
      </p:sp>
      <p:sp>
        <p:nvSpPr>
          <p:cNvPr id="31" name="Rectangle 68">
            <a:extLst>
              <a:ext uri="{FF2B5EF4-FFF2-40B4-BE49-F238E27FC236}">
                <a16:creationId xmlns:a16="http://schemas.microsoft.com/office/drawing/2014/main" id="{F604B1D3-6175-4A22-DE1C-FDCEC2F2AAFF}"/>
              </a:ext>
            </a:extLst>
          </p:cNvPr>
          <p:cNvSpPr>
            <a:spLocks/>
          </p:cNvSpPr>
          <p:nvPr/>
        </p:nvSpPr>
        <p:spPr>
          <a:xfrm>
            <a:off x="986401" y="5223645"/>
            <a:ext cx="2484000" cy="1212187"/>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lvl1pPr>
              <a:buClrTx/>
              <a:buSzPct val="100000"/>
              <a:buFont typeface="Arial" panose="020B0604020202020204" pitchFamily="34" charset="0"/>
              <a:buChar char="•"/>
            </a:lvl1pPr>
            <a:lvl2pPr>
              <a:buClrTx/>
              <a:buSzPct val="100000"/>
              <a:buFont typeface="Arial" panose="020B0604020202020204" pitchFamily="34" charset="0"/>
              <a:buChar char="•"/>
            </a:lvl2pPr>
            <a:lvl3pPr>
              <a:buClrTx/>
              <a:buSzPct val="100000"/>
              <a:buFont typeface="Arial" panose="020B0604020202020204" pitchFamily="34" charset="0"/>
              <a:buChar char="−"/>
            </a:lvl3pPr>
            <a:lvl4pPr>
              <a:buClrTx/>
              <a:buSzPct val="100000"/>
              <a:buFont typeface="Arial" panose="020B0604020202020204" pitchFamily="34" charset="0"/>
              <a:buChar char="◦"/>
            </a:lvl4pPr>
            <a:lvl5pPr>
              <a:buClrTx/>
              <a:buSzPct val="100000"/>
              <a:buFont typeface="Arial" panose="020B0604020202020204" pitchFamily="34" charset="0"/>
              <a:buChar char="−"/>
            </a:lvl5pPr>
            <a:lvl6pPr>
              <a:buFont typeface="Verdana" panose="020B0604030504040204" pitchFamily="34" charset="0"/>
              <a:buChar char="−"/>
            </a:lvl6pPr>
            <a:lvl7pPr>
              <a:buFont typeface="Verdana" panose="020B0604030504040204" pitchFamily="34" charset="0"/>
              <a:buChar char="−"/>
            </a:lvl7pPr>
            <a:lvl8pPr>
              <a:buFont typeface="Verdana" panose="020B0604030504040204" pitchFamily="34" charset="0"/>
              <a:buChar char="−"/>
            </a:lvl8pPr>
            <a:lvl9pPr>
              <a:buFont typeface="Verdana" panose="020B0604030504040204" pitchFamily="34" charset="0"/>
              <a:buChar char="−"/>
            </a:lvl9pPr>
          </a:lstStyle>
          <a:p>
            <a:pPr marL="171450" marR="0" lvl="0" indent="-17145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Overview of affected entities (countries) and activities.</a:t>
            </a:r>
          </a:p>
          <a:p>
            <a:pPr marL="171450" marR="0" lvl="0" indent="-17145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Defined milestones for the detailed analysis phase.</a:t>
            </a:r>
            <a:endParaRPr kumimoji="0" lang="de-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Rectangle 48">
            <a:extLst>
              <a:ext uri="{FF2B5EF4-FFF2-40B4-BE49-F238E27FC236}">
                <a16:creationId xmlns:a16="http://schemas.microsoft.com/office/drawing/2014/main" id="{BCD9FA71-2C61-1C19-A521-934A09DED5C8}"/>
              </a:ext>
            </a:extLst>
          </p:cNvPr>
          <p:cNvSpPr>
            <a:spLocks/>
          </p:cNvSpPr>
          <p:nvPr/>
        </p:nvSpPr>
        <p:spPr>
          <a:xfrm>
            <a:off x="3720184" y="5223645"/>
            <a:ext cx="2484000" cy="1212187"/>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lvl1pPr>
              <a:buClrTx/>
              <a:buSzPct val="100000"/>
              <a:buFont typeface="Arial" panose="020B0604020202020204" pitchFamily="34" charset="0"/>
              <a:buChar char="•"/>
            </a:lvl1pPr>
            <a:lvl2pPr>
              <a:buClrTx/>
              <a:buSzPct val="100000"/>
              <a:buFont typeface="Arial" panose="020B0604020202020204" pitchFamily="34" charset="0"/>
              <a:buChar char="•"/>
            </a:lvl2pPr>
            <a:lvl3pPr>
              <a:buClrTx/>
              <a:buSzPct val="100000"/>
              <a:buFont typeface="Arial" panose="020B0604020202020204" pitchFamily="34" charset="0"/>
              <a:buChar char="−"/>
            </a:lvl3pPr>
            <a:lvl4pPr>
              <a:buClrTx/>
              <a:buSzPct val="100000"/>
              <a:buFont typeface="Arial" panose="020B0604020202020204" pitchFamily="34" charset="0"/>
              <a:buChar char="◦"/>
            </a:lvl4pPr>
            <a:lvl5pPr>
              <a:buClrTx/>
              <a:buSzPct val="100000"/>
              <a:buFont typeface="Arial" panose="020B0604020202020204" pitchFamily="34" charset="0"/>
              <a:buChar char="−"/>
            </a:lvl5pPr>
            <a:lvl6pPr>
              <a:buFont typeface="Verdana" panose="020B0604030504040204" pitchFamily="34" charset="0"/>
              <a:buChar char="−"/>
            </a:lvl6pPr>
            <a:lvl7pPr>
              <a:buFont typeface="Verdana" panose="020B0604030504040204" pitchFamily="34" charset="0"/>
              <a:buChar char="−"/>
            </a:lvl7pPr>
            <a:lvl8pPr>
              <a:buFont typeface="Verdana" panose="020B0604030504040204" pitchFamily="34" charset="0"/>
              <a:buChar char="−"/>
            </a:lvl8pPr>
            <a:lvl9pPr>
              <a:buFont typeface="Verdana" panose="020B0604030504040204" pitchFamily="34" charset="0"/>
              <a:buChar char="−"/>
            </a:lvl9pPr>
          </a:lstStyle>
          <a:p>
            <a:pPr marL="171450" marR="0" lvl="0" indent="-171450" algn="l" defTabSz="914400" rtl="0" eaLnBrk="1" fontAlgn="t" latinLnBrk="0" hangingPunct="1">
              <a:lnSpc>
                <a:spcPts val="15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Documented assessment of accounting and system impacts (including analysis of PPE–RAB relationships).</a:t>
            </a:r>
            <a:endParaRPr kumimoji="0" lang="de-DE"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sym typeface="Aptos" panose="020B0004020202020204" pitchFamily="34" charset="0"/>
              </a:rPr>
              <a:t>Cross-functional alignment framework.</a:t>
            </a:r>
          </a:p>
        </p:txBody>
      </p:sp>
      <p:sp>
        <p:nvSpPr>
          <p:cNvPr id="33" name="Rectangle 54">
            <a:extLst>
              <a:ext uri="{FF2B5EF4-FFF2-40B4-BE49-F238E27FC236}">
                <a16:creationId xmlns:a16="http://schemas.microsoft.com/office/drawing/2014/main" id="{1C9FD8E9-AA35-799C-53DE-FA0FC1547485}"/>
              </a:ext>
            </a:extLst>
          </p:cNvPr>
          <p:cNvSpPr>
            <a:spLocks/>
          </p:cNvSpPr>
          <p:nvPr/>
        </p:nvSpPr>
        <p:spPr>
          <a:xfrm>
            <a:off x="6453967" y="5223645"/>
            <a:ext cx="2484000" cy="1212187"/>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lvl1pPr>
              <a:buClrTx/>
              <a:buSzPct val="100000"/>
              <a:buFont typeface="Arial" panose="020B0604020202020204" pitchFamily="34" charset="0"/>
              <a:buChar char="•"/>
            </a:lvl1pPr>
            <a:lvl2pPr>
              <a:buClrTx/>
              <a:buSzPct val="100000"/>
              <a:buFont typeface="Arial" panose="020B0604020202020204" pitchFamily="34" charset="0"/>
              <a:buChar char="•"/>
            </a:lvl2pPr>
            <a:lvl3pPr>
              <a:buClrTx/>
              <a:buSzPct val="100000"/>
              <a:buFont typeface="Arial" panose="020B0604020202020204" pitchFamily="34" charset="0"/>
              <a:buChar char="−"/>
            </a:lvl3pPr>
            <a:lvl4pPr>
              <a:buClrTx/>
              <a:buSzPct val="100000"/>
              <a:buFont typeface="Arial" panose="020B0604020202020204" pitchFamily="34" charset="0"/>
              <a:buChar char="◦"/>
            </a:lvl4pPr>
            <a:lvl5pPr>
              <a:buClrTx/>
              <a:buSzPct val="100000"/>
              <a:buFont typeface="Arial" panose="020B0604020202020204" pitchFamily="34" charset="0"/>
              <a:buChar char="−"/>
            </a:lvl5pPr>
            <a:lvl6pPr>
              <a:buFont typeface="Verdana" panose="020B0604030504040204" pitchFamily="34" charset="0"/>
              <a:buChar char="−"/>
            </a:lvl6pPr>
            <a:lvl7pPr>
              <a:buFont typeface="Verdana" panose="020B0604030504040204" pitchFamily="34" charset="0"/>
              <a:buChar char="−"/>
            </a:lvl7pPr>
            <a:lvl8pPr>
              <a:buFont typeface="Verdana" panose="020B0604030504040204" pitchFamily="34" charset="0"/>
              <a:buChar char="−"/>
            </a:lvl8pPr>
            <a:lvl9pPr>
              <a:buFont typeface="Verdana" panose="020B0604030504040204" pitchFamily="34" charset="0"/>
              <a:buChar char="−"/>
            </a:lvl9pPr>
          </a:lstStyle>
          <a:p>
            <a:pPr marL="171450" marR="0" lvl="0" indent="-17145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Aligned IFRS accounting and regulatory concept across jurisdictions.</a:t>
            </a:r>
          </a:p>
          <a:p>
            <a:pPr marL="171450" marR="0" lvl="0" indent="-17145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Target process, system design and implementation roadmap.</a:t>
            </a: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sym typeface="Aptos" panose="020B0004020202020204" pitchFamily="34" charset="0"/>
            </a:endParaRPr>
          </a:p>
        </p:txBody>
      </p:sp>
      <p:sp>
        <p:nvSpPr>
          <p:cNvPr id="34" name="Rectangle 60">
            <a:extLst>
              <a:ext uri="{FF2B5EF4-FFF2-40B4-BE49-F238E27FC236}">
                <a16:creationId xmlns:a16="http://schemas.microsoft.com/office/drawing/2014/main" id="{19659A5B-A8A8-4888-CA15-54C68B786AF9}"/>
              </a:ext>
            </a:extLst>
          </p:cNvPr>
          <p:cNvSpPr>
            <a:spLocks/>
          </p:cNvSpPr>
          <p:nvPr/>
        </p:nvSpPr>
        <p:spPr>
          <a:xfrm>
            <a:off x="9187749" y="5223645"/>
            <a:ext cx="2484000" cy="1212187"/>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tIns="0" rIns="0" bIns="0" rtlCol="0" anchor="t"/>
          <a:lstStyle>
            <a:lvl1pPr>
              <a:buClrTx/>
              <a:buSzPct val="100000"/>
              <a:buFont typeface="Arial" panose="020B0604020202020204" pitchFamily="34" charset="0"/>
              <a:buChar char="•"/>
            </a:lvl1pPr>
            <a:lvl2pPr>
              <a:buClrTx/>
              <a:buSzPct val="100000"/>
              <a:buFont typeface="Arial" panose="020B0604020202020204" pitchFamily="34" charset="0"/>
              <a:buChar char="•"/>
            </a:lvl2pPr>
            <a:lvl3pPr>
              <a:buClrTx/>
              <a:buSzPct val="100000"/>
              <a:buFont typeface="Arial" panose="020B0604020202020204" pitchFamily="34" charset="0"/>
              <a:buChar char="−"/>
            </a:lvl3pPr>
            <a:lvl4pPr>
              <a:buClrTx/>
              <a:buSzPct val="100000"/>
              <a:buFont typeface="Arial" panose="020B0604020202020204" pitchFamily="34" charset="0"/>
              <a:buChar char="◦"/>
            </a:lvl4pPr>
            <a:lvl5pPr>
              <a:buClrTx/>
              <a:buSzPct val="100000"/>
              <a:buFont typeface="Arial" panose="020B0604020202020204" pitchFamily="34" charset="0"/>
              <a:buChar char="−"/>
            </a:lvl5pPr>
            <a:lvl6pPr>
              <a:buFont typeface="Verdana" panose="020B0604030504040204" pitchFamily="34" charset="0"/>
              <a:buChar char="−"/>
            </a:lvl6pPr>
            <a:lvl7pPr>
              <a:buFont typeface="Verdana" panose="020B0604030504040204" pitchFamily="34" charset="0"/>
              <a:buChar char="−"/>
            </a:lvl7pPr>
            <a:lvl8pPr>
              <a:buFont typeface="Verdana" panose="020B0604030504040204" pitchFamily="34" charset="0"/>
              <a:buChar char="−"/>
            </a:lvl8pPr>
            <a:lvl9pPr>
              <a:buFont typeface="Verdana" panose="020B0604030504040204" pitchFamily="34" charset="0"/>
              <a:buChar char="−"/>
            </a:lvl9pPr>
          </a:lstStyle>
          <a:p>
            <a:pPr marL="171450" marR="0" lvl="0" indent="-17145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Detailed implementation timeline, structure, resources and milestone plan. </a:t>
            </a:r>
          </a:p>
          <a:p>
            <a:pPr marL="171450" marR="0" lvl="0" indent="-171450" algn="l" defTabSz="914400" rtl="0" eaLnBrk="1" fontAlgn="auto" latinLnBrk="0" hangingPunct="1">
              <a:lnSpc>
                <a:spcPct val="100000"/>
              </a:lnSpc>
              <a:spcBef>
                <a:spcPts val="0"/>
              </a:spcBef>
              <a:spcAft>
                <a:spcPts val="0"/>
              </a:spcAft>
              <a:buClrTx/>
              <a:buSzPct val="100000"/>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Documentation of critical areas of IFRS 20 for E.ON (incl. initial solutions).</a:t>
            </a:r>
            <a:endParaRPr kumimoji="0" lang="de-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40" name="Gruppieren 39">
            <a:extLst>
              <a:ext uri="{FF2B5EF4-FFF2-40B4-BE49-F238E27FC236}">
                <a16:creationId xmlns:a16="http://schemas.microsoft.com/office/drawing/2014/main" id="{95523FEF-CE00-5BCC-F5D9-6CA8B10B5979}"/>
              </a:ext>
            </a:extLst>
          </p:cNvPr>
          <p:cNvGrpSpPr/>
          <p:nvPr/>
        </p:nvGrpSpPr>
        <p:grpSpPr>
          <a:xfrm>
            <a:off x="920075" y="2562256"/>
            <a:ext cx="2617562" cy="242473"/>
            <a:chOff x="920075" y="2465148"/>
            <a:chExt cx="2617562" cy="242473"/>
          </a:xfrm>
        </p:grpSpPr>
        <p:sp>
          <p:nvSpPr>
            <p:cNvPr id="64" name="Rectangle 63">
              <a:extLst>
                <a:ext uri="{FF2B5EF4-FFF2-40B4-BE49-F238E27FC236}">
                  <a16:creationId xmlns:a16="http://schemas.microsoft.com/office/drawing/2014/main" id="{8A63CB31-B2BD-FC47-BD26-A79D15F80D62}"/>
                </a:ext>
              </a:extLst>
            </p:cNvPr>
            <p:cNvSpPr>
              <a:spLocks/>
            </p:cNvSpPr>
            <p:nvPr/>
          </p:nvSpPr>
          <p:spPr>
            <a:xfrm>
              <a:off x="1897077" y="2465148"/>
              <a:ext cx="663558" cy="161649"/>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~1 week</a:t>
              </a:r>
            </a:p>
          </p:txBody>
        </p:sp>
        <p:grpSp>
          <p:nvGrpSpPr>
            <p:cNvPr id="39" name="Gruppieren 38">
              <a:extLst>
                <a:ext uri="{FF2B5EF4-FFF2-40B4-BE49-F238E27FC236}">
                  <a16:creationId xmlns:a16="http://schemas.microsoft.com/office/drawing/2014/main" id="{C209568D-2424-67EA-49BE-DD52E9DB38E5}"/>
                </a:ext>
              </a:extLst>
            </p:cNvPr>
            <p:cNvGrpSpPr/>
            <p:nvPr/>
          </p:nvGrpSpPr>
          <p:grpSpPr>
            <a:xfrm>
              <a:off x="920075" y="2545972"/>
              <a:ext cx="2617562" cy="161649"/>
              <a:chOff x="920075" y="2521579"/>
              <a:chExt cx="2617562" cy="216000"/>
            </a:xfrm>
          </p:grpSpPr>
          <p:sp>
            <p:nvSpPr>
              <p:cNvPr id="37" name="Grafik 35">
                <a:extLst>
                  <a:ext uri="{FF2B5EF4-FFF2-40B4-BE49-F238E27FC236}">
                    <a16:creationId xmlns:a16="http://schemas.microsoft.com/office/drawing/2014/main" id="{E43F42D8-D2FE-2FF2-4A4A-0F56A73A5EBF}"/>
                  </a:ext>
                </a:extLst>
              </p:cNvPr>
              <p:cNvSpPr/>
              <p:nvPr/>
            </p:nvSpPr>
            <p:spPr>
              <a:xfrm>
                <a:off x="920075"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 name="Grafik 35">
                <a:extLst>
                  <a:ext uri="{FF2B5EF4-FFF2-40B4-BE49-F238E27FC236}">
                    <a16:creationId xmlns:a16="http://schemas.microsoft.com/office/drawing/2014/main" id="{D2C5F92E-4F2E-0F13-3D56-5E37BE53C988}"/>
                  </a:ext>
                </a:extLst>
              </p:cNvPr>
              <p:cNvSpPr/>
              <p:nvPr/>
            </p:nvSpPr>
            <p:spPr>
              <a:xfrm flipH="1">
                <a:off x="2601637"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grpSp>
        <p:nvGrpSpPr>
          <p:cNvPr id="41" name="Gruppieren 40">
            <a:extLst>
              <a:ext uri="{FF2B5EF4-FFF2-40B4-BE49-F238E27FC236}">
                <a16:creationId xmlns:a16="http://schemas.microsoft.com/office/drawing/2014/main" id="{539E517C-7CE2-0A2C-1651-984A0A5AAD27}"/>
              </a:ext>
            </a:extLst>
          </p:cNvPr>
          <p:cNvGrpSpPr/>
          <p:nvPr/>
        </p:nvGrpSpPr>
        <p:grpSpPr>
          <a:xfrm>
            <a:off x="3652456" y="2562256"/>
            <a:ext cx="2617562" cy="242473"/>
            <a:chOff x="920075" y="2465148"/>
            <a:chExt cx="2617562" cy="242473"/>
          </a:xfrm>
        </p:grpSpPr>
        <p:sp>
          <p:nvSpPr>
            <p:cNvPr id="42" name="Rectangle 63">
              <a:extLst>
                <a:ext uri="{FF2B5EF4-FFF2-40B4-BE49-F238E27FC236}">
                  <a16:creationId xmlns:a16="http://schemas.microsoft.com/office/drawing/2014/main" id="{96C0C9F8-FEC2-81F4-E67F-95AEBAB43EB8}"/>
                </a:ext>
              </a:extLst>
            </p:cNvPr>
            <p:cNvSpPr>
              <a:spLocks/>
            </p:cNvSpPr>
            <p:nvPr/>
          </p:nvSpPr>
          <p:spPr>
            <a:xfrm>
              <a:off x="1897077" y="2465148"/>
              <a:ext cx="663558" cy="161649"/>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~4 week</a:t>
              </a:r>
            </a:p>
          </p:txBody>
        </p:sp>
        <p:grpSp>
          <p:nvGrpSpPr>
            <p:cNvPr id="43" name="Gruppieren 42">
              <a:extLst>
                <a:ext uri="{FF2B5EF4-FFF2-40B4-BE49-F238E27FC236}">
                  <a16:creationId xmlns:a16="http://schemas.microsoft.com/office/drawing/2014/main" id="{93588063-03C5-F25A-B21D-69DF21F1BE91}"/>
                </a:ext>
              </a:extLst>
            </p:cNvPr>
            <p:cNvGrpSpPr/>
            <p:nvPr/>
          </p:nvGrpSpPr>
          <p:grpSpPr>
            <a:xfrm>
              <a:off x="920075" y="2545972"/>
              <a:ext cx="2617562" cy="161649"/>
              <a:chOff x="920075" y="2521579"/>
              <a:chExt cx="2617562" cy="216000"/>
            </a:xfrm>
          </p:grpSpPr>
          <p:sp>
            <p:nvSpPr>
              <p:cNvPr id="44" name="Grafik 35">
                <a:extLst>
                  <a:ext uri="{FF2B5EF4-FFF2-40B4-BE49-F238E27FC236}">
                    <a16:creationId xmlns:a16="http://schemas.microsoft.com/office/drawing/2014/main" id="{74D3969E-4272-1D96-6981-7922E76EB9F1}"/>
                  </a:ext>
                </a:extLst>
              </p:cNvPr>
              <p:cNvSpPr/>
              <p:nvPr/>
            </p:nvSpPr>
            <p:spPr>
              <a:xfrm>
                <a:off x="920075"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rafik 35">
                <a:extLst>
                  <a:ext uri="{FF2B5EF4-FFF2-40B4-BE49-F238E27FC236}">
                    <a16:creationId xmlns:a16="http://schemas.microsoft.com/office/drawing/2014/main" id="{93662C57-A273-D907-119A-5241125860BC}"/>
                  </a:ext>
                </a:extLst>
              </p:cNvPr>
              <p:cNvSpPr/>
              <p:nvPr/>
            </p:nvSpPr>
            <p:spPr>
              <a:xfrm flipH="1">
                <a:off x="2601637"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grpSp>
        <p:nvGrpSpPr>
          <p:cNvPr id="78" name="Gruppieren 77">
            <a:extLst>
              <a:ext uri="{FF2B5EF4-FFF2-40B4-BE49-F238E27FC236}">
                <a16:creationId xmlns:a16="http://schemas.microsoft.com/office/drawing/2014/main" id="{B8E1F5E2-5387-03FF-8BFF-40E34EDC3EA7}"/>
              </a:ext>
            </a:extLst>
          </p:cNvPr>
          <p:cNvGrpSpPr/>
          <p:nvPr/>
        </p:nvGrpSpPr>
        <p:grpSpPr>
          <a:xfrm>
            <a:off x="6384837" y="2562256"/>
            <a:ext cx="2617562" cy="242473"/>
            <a:chOff x="920075" y="2465148"/>
            <a:chExt cx="2617562" cy="242473"/>
          </a:xfrm>
        </p:grpSpPr>
        <p:sp>
          <p:nvSpPr>
            <p:cNvPr id="79" name="Rectangle 63">
              <a:extLst>
                <a:ext uri="{FF2B5EF4-FFF2-40B4-BE49-F238E27FC236}">
                  <a16:creationId xmlns:a16="http://schemas.microsoft.com/office/drawing/2014/main" id="{1923499C-F0C3-0BFE-F9FA-CD21E1060F1C}"/>
                </a:ext>
              </a:extLst>
            </p:cNvPr>
            <p:cNvSpPr>
              <a:spLocks/>
            </p:cNvSpPr>
            <p:nvPr/>
          </p:nvSpPr>
          <p:spPr>
            <a:xfrm>
              <a:off x="1897077" y="2465148"/>
              <a:ext cx="663558" cy="161649"/>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~1 week</a:t>
              </a:r>
            </a:p>
          </p:txBody>
        </p:sp>
        <p:grpSp>
          <p:nvGrpSpPr>
            <p:cNvPr id="80" name="Gruppieren 79">
              <a:extLst>
                <a:ext uri="{FF2B5EF4-FFF2-40B4-BE49-F238E27FC236}">
                  <a16:creationId xmlns:a16="http://schemas.microsoft.com/office/drawing/2014/main" id="{7ABBC294-CD1B-A17C-1D5B-EBB558F3CAC8}"/>
                </a:ext>
              </a:extLst>
            </p:cNvPr>
            <p:cNvGrpSpPr/>
            <p:nvPr/>
          </p:nvGrpSpPr>
          <p:grpSpPr>
            <a:xfrm>
              <a:off x="920075" y="2545972"/>
              <a:ext cx="2617562" cy="161649"/>
              <a:chOff x="920075" y="2521579"/>
              <a:chExt cx="2617562" cy="216000"/>
            </a:xfrm>
          </p:grpSpPr>
          <p:sp>
            <p:nvSpPr>
              <p:cNvPr id="81" name="Grafik 35">
                <a:extLst>
                  <a:ext uri="{FF2B5EF4-FFF2-40B4-BE49-F238E27FC236}">
                    <a16:creationId xmlns:a16="http://schemas.microsoft.com/office/drawing/2014/main" id="{012D4492-21C7-9B72-3926-91C7705BFCCB}"/>
                  </a:ext>
                </a:extLst>
              </p:cNvPr>
              <p:cNvSpPr/>
              <p:nvPr/>
            </p:nvSpPr>
            <p:spPr>
              <a:xfrm>
                <a:off x="920075"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2" name="Grafik 35">
                <a:extLst>
                  <a:ext uri="{FF2B5EF4-FFF2-40B4-BE49-F238E27FC236}">
                    <a16:creationId xmlns:a16="http://schemas.microsoft.com/office/drawing/2014/main" id="{4B204DB5-AD6E-7FF4-22C3-6B5290CAC259}"/>
                  </a:ext>
                </a:extLst>
              </p:cNvPr>
              <p:cNvSpPr/>
              <p:nvPr/>
            </p:nvSpPr>
            <p:spPr>
              <a:xfrm flipH="1">
                <a:off x="2601637"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grpSp>
        <p:nvGrpSpPr>
          <p:cNvPr id="83" name="Gruppieren 82">
            <a:extLst>
              <a:ext uri="{FF2B5EF4-FFF2-40B4-BE49-F238E27FC236}">
                <a16:creationId xmlns:a16="http://schemas.microsoft.com/office/drawing/2014/main" id="{F542F34C-F1CF-0F26-98B4-AC03D71125DD}"/>
              </a:ext>
            </a:extLst>
          </p:cNvPr>
          <p:cNvGrpSpPr/>
          <p:nvPr/>
        </p:nvGrpSpPr>
        <p:grpSpPr>
          <a:xfrm>
            <a:off x="9117219" y="2562256"/>
            <a:ext cx="2617562" cy="242473"/>
            <a:chOff x="920075" y="2465148"/>
            <a:chExt cx="2617562" cy="242473"/>
          </a:xfrm>
        </p:grpSpPr>
        <p:sp>
          <p:nvSpPr>
            <p:cNvPr id="84" name="Rectangle 63">
              <a:extLst>
                <a:ext uri="{FF2B5EF4-FFF2-40B4-BE49-F238E27FC236}">
                  <a16:creationId xmlns:a16="http://schemas.microsoft.com/office/drawing/2014/main" id="{E19B26FD-52EC-9264-29EA-56804F78DD25}"/>
                </a:ext>
              </a:extLst>
            </p:cNvPr>
            <p:cNvSpPr>
              <a:spLocks/>
            </p:cNvSpPr>
            <p:nvPr/>
          </p:nvSpPr>
          <p:spPr>
            <a:xfrm>
              <a:off x="1897077" y="2465148"/>
              <a:ext cx="663558" cy="161649"/>
            </a:xfrm>
            <a:prstGeom prst="rect">
              <a:avLst/>
            </a:prstGeom>
            <a:noFill/>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ptos" panose="02110004020202020204"/>
                  <a:ea typeface="+mn-ea"/>
                  <a:cs typeface="+mn-cs"/>
                </a:rPr>
                <a:t>~2 week</a:t>
              </a:r>
            </a:p>
          </p:txBody>
        </p:sp>
        <p:grpSp>
          <p:nvGrpSpPr>
            <p:cNvPr id="85" name="Gruppieren 84">
              <a:extLst>
                <a:ext uri="{FF2B5EF4-FFF2-40B4-BE49-F238E27FC236}">
                  <a16:creationId xmlns:a16="http://schemas.microsoft.com/office/drawing/2014/main" id="{EF893E29-4DC6-342D-0080-5D1922FD1CED}"/>
                </a:ext>
              </a:extLst>
            </p:cNvPr>
            <p:cNvGrpSpPr/>
            <p:nvPr/>
          </p:nvGrpSpPr>
          <p:grpSpPr>
            <a:xfrm>
              <a:off x="920075" y="2545972"/>
              <a:ext cx="2617562" cy="161649"/>
              <a:chOff x="920075" y="2521579"/>
              <a:chExt cx="2617562" cy="216000"/>
            </a:xfrm>
          </p:grpSpPr>
          <p:sp>
            <p:nvSpPr>
              <p:cNvPr id="86" name="Grafik 35">
                <a:extLst>
                  <a:ext uri="{FF2B5EF4-FFF2-40B4-BE49-F238E27FC236}">
                    <a16:creationId xmlns:a16="http://schemas.microsoft.com/office/drawing/2014/main" id="{2A6CBCEB-6617-0025-A0AC-0BC3969A48CE}"/>
                  </a:ext>
                </a:extLst>
              </p:cNvPr>
              <p:cNvSpPr/>
              <p:nvPr/>
            </p:nvSpPr>
            <p:spPr>
              <a:xfrm>
                <a:off x="920075"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7" name="Grafik 35">
                <a:extLst>
                  <a:ext uri="{FF2B5EF4-FFF2-40B4-BE49-F238E27FC236}">
                    <a16:creationId xmlns:a16="http://schemas.microsoft.com/office/drawing/2014/main" id="{35CE737E-A5AB-F53D-8B0B-DA9DA8CED642}"/>
                  </a:ext>
                </a:extLst>
              </p:cNvPr>
              <p:cNvSpPr/>
              <p:nvPr/>
            </p:nvSpPr>
            <p:spPr>
              <a:xfrm flipH="1">
                <a:off x="2601637" y="2521579"/>
                <a:ext cx="936000" cy="216000"/>
              </a:xfrm>
              <a:custGeom>
                <a:avLst/>
                <a:gdLst>
                  <a:gd name="csX0" fmla="*/ 0 w 447008"/>
                  <a:gd name="csY0" fmla="*/ 447008 h 447008"/>
                  <a:gd name="csX1" fmla="*/ 0 w 447008"/>
                  <a:gd name="csY1" fmla="*/ 0 h 447008"/>
                  <a:gd name="csX2" fmla="*/ 447008 w 447008"/>
                  <a:gd name="csY2" fmla="*/ 0 h 447008"/>
                </a:gdLst>
                <a:ahLst/>
                <a:cxnLst>
                  <a:cxn ang="0">
                    <a:pos x="csX0" y="csY0"/>
                  </a:cxn>
                  <a:cxn ang="0">
                    <a:pos x="csX1" y="csY1"/>
                  </a:cxn>
                  <a:cxn ang="0">
                    <a:pos x="csX2" y="csY2"/>
                  </a:cxn>
                </a:cxnLst>
                <a:rect l="l" t="t" r="r" b="b"/>
                <a:pathLst>
                  <a:path w="447008" h="447008">
                    <a:moveTo>
                      <a:pt x="0" y="447008"/>
                    </a:moveTo>
                    <a:lnTo>
                      <a:pt x="0" y="0"/>
                    </a:lnTo>
                    <a:lnTo>
                      <a:pt x="447008" y="0"/>
                    </a:lnTo>
                  </a:path>
                </a:pathLst>
              </a:custGeom>
              <a:noFill/>
              <a:ln w="12700" cap="flat">
                <a:solidFill>
                  <a:schemeClr val="bg1"/>
                </a:solidFill>
                <a:prstDash val="solid"/>
                <a:miter/>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spTree>
    <p:extLst>
      <p:ext uri="{BB962C8B-B14F-4D97-AF65-F5344CB8AC3E}">
        <p14:creationId xmlns:p14="http://schemas.microsoft.com/office/powerpoint/2010/main" val="308505563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86C32-7F35-47BF-E537-742BF820952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439149A-4B86-BAE8-CD77-5F712BDF9B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624" imgH="623" progId="TCLayout.ActiveDocument.1">
                  <p:embed/>
                </p:oleObj>
              </mc:Choice>
              <mc:Fallback>
                <p:oleObj name="think-cell Slide" r:id="rId38" imgW="624" imgH="623" progId="TCLayout.ActiveDocument.1">
                  <p:embed/>
                  <p:pic>
                    <p:nvPicPr>
                      <p:cNvPr id="4" name="think-cell data - do not delete" hidden="1">
                        <a:extLst>
                          <a:ext uri="{FF2B5EF4-FFF2-40B4-BE49-F238E27FC236}">
                            <a16:creationId xmlns:a16="http://schemas.microsoft.com/office/drawing/2014/main" id="{8439149A-4B86-BAE8-CD77-5F712BDF9B4E}"/>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Titel 4">
            <a:extLst>
              <a:ext uri="{FF2B5EF4-FFF2-40B4-BE49-F238E27FC236}">
                <a16:creationId xmlns:a16="http://schemas.microsoft.com/office/drawing/2014/main" id="{5F3C4EBD-0A15-E8CA-0AA9-192D4D0C7049}"/>
              </a:ext>
            </a:extLst>
          </p:cNvPr>
          <p:cNvSpPr>
            <a:spLocks noGrp="1"/>
          </p:cNvSpPr>
          <p:nvPr>
            <p:ph type="title"/>
          </p:nvPr>
        </p:nvSpPr>
        <p:spPr/>
        <p:txBody>
          <a:bodyPr/>
          <a:lstStyle/>
          <a:p>
            <a:r>
              <a:rPr lang="en-US"/>
              <a:t>Project Approach at a Glance</a:t>
            </a:r>
            <a:endParaRPr lang="de-DE"/>
          </a:p>
        </p:txBody>
      </p:sp>
      <p:sp>
        <p:nvSpPr>
          <p:cNvPr id="6" name="Textplatzhalter 5">
            <a:extLst>
              <a:ext uri="{FF2B5EF4-FFF2-40B4-BE49-F238E27FC236}">
                <a16:creationId xmlns:a16="http://schemas.microsoft.com/office/drawing/2014/main" id="{3E901DF3-1405-5C08-C503-3FC9CACB1C46}"/>
              </a:ext>
            </a:extLst>
          </p:cNvPr>
          <p:cNvSpPr>
            <a:spLocks noGrp="1"/>
          </p:cNvSpPr>
          <p:nvPr>
            <p:ph type="body" sz="quarter" idx="10"/>
          </p:nvPr>
        </p:nvSpPr>
        <p:spPr/>
        <p:txBody>
          <a:bodyPr/>
          <a:lstStyle/>
          <a:p>
            <a:r>
              <a:rPr lang="en-US"/>
              <a:t>Our target: to provide you with clear recommendations for each country</a:t>
            </a:r>
          </a:p>
        </p:txBody>
      </p:sp>
      <p:sp>
        <p:nvSpPr>
          <p:cNvPr id="97" name="Rectangle 96">
            <a:extLst>
              <a:ext uri="{FF2B5EF4-FFF2-40B4-BE49-F238E27FC236}">
                <a16:creationId xmlns:a16="http://schemas.microsoft.com/office/drawing/2014/main" id="{47C09475-DC95-DBF9-3BFD-5855539018D4}"/>
              </a:ext>
            </a:extLst>
          </p:cNvPr>
          <p:cNvSpPr/>
          <p:nvPr/>
        </p:nvSpPr>
        <p:spPr bwMode="gray">
          <a:xfrm>
            <a:off x="9381061" y="2561245"/>
            <a:ext cx="2350688" cy="2673525"/>
          </a:xfrm>
          <a:prstGeom prst="rect">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lIns="38098" tIns="38098" rIns="38098" bIns="38098" rtlCol="0" anchor="ct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Conduct knowledge transfer sessions with internal finance, risk Controlling, and IT teams</a:t>
            </a:r>
            <a:endParaRPr kumimoji="0" lang="en-GB" sz="1100" b="0"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p:txBody>
      </p:sp>
      <p:sp>
        <p:nvSpPr>
          <p:cNvPr id="98" name="Arrow: Pentagon 97">
            <a:extLst>
              <a:ext uri="{FF2B5EF4-FFF2-40B4-BE49-F238E27FC236}">
                <a16:creationId xmlns:a16="http://schemas.microsoft.com/office/drawing/2014/main" id="{75F31BAE-7345-D5A4-42A3-2D23A7686653}"/>
              </a:ext>
            </a:extLst>
          </p:cNvPr>
          <p:cNvSpPr/>
          <p:nvPr/>
        </p:nvSpPr>
        <p:spPr bwMode="gray">
          <a:xfrm>
            <a:off x="983358" y="2029390"/>
            <a:ext cx="2355780" cy="448921"/>
          </a:xfrm>
          <a:prstGeom prst="homePlate">
            <a:avLst>
              <a:gd name="adj" fmla="val 22417"/>
            </a:avLst>
          </a:prstGeom>
          <a:solidFill>
            <a:srgbClr val="646464"/>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90000"/>
              </a:lnSpc>
              <a:spcBef>
                <a:spcPts val="0"/>
              </a:spcBef>
              <a:spcAft>
                <a:spcPts val="0"/>
              </a:spcAft>
              <a:buClrTx/>
              <a:buSzTx/>
              <a:buFont typeface="Wingdings 2" pitchFamily="18" charset="2"/>
              <a:buNone/>
              <a:tabLst/>
              <a:defRPr/>
            </a:pPr>
            <a:r>
              <a:rPr kumimoji="0" lang="en-GB" sz="1200" b="0" i="0" u="none" strike="noStrike" kern="0" cap="none" spc="0" normalizeH="0" baseline="0" noProof="0">
                <a:ln>
                  <a:noFill/>
                </a:ln>
                <a:solidFill>
                  <a:prstClr val="white"/>
                </a:solidFill>
                <a:effectLst/>
                <a:uLnTx/>
                <a:uFillTx/>
                <a:latin typeface="Aptos" panose="02110004020202020204"/>
                <a:ea typeface="+mn-ea"/>
                <a:cs typeface="+mn-cs"/>
              </a:rPr>
              <a:t>Phase 1(4-6 w):</a:t>
            </a:r>
            <a:br>
              <a:rPr kumimoji="0" lang="en-GB" sz="1200" b="0" i="0" u="none" strike="noStrike" kern="0" cap="none" spc="0" normalizeH="0" baseline="0" noProof="0">
                <a:ln>
                  <a:noFill/>
                </a:ln>
                <a:solidFill>
                  <a:prstClr val="white"/>
                </a:solidFill>
                <a:effectLst/>
                <a:uLnTx/>
                <a:uFillTx/>
                <a:latin typeface="Aptos" panose="02110004020202020204"/>
                <a:ea typeface="+mn-ea"/>
                <a:cs typeface="+mn-cs"/>
              </a:rPr>
            </a:br>
            <a:r>
              <a:rPr kumimoji="0" lang="en-GB" sz="1200" b="1" i="0" u="none" strike="noStrike" kern="0" cap="none" spc="0" normalizeH="0" baseline="0" noProof="0">
                <a:ln>
                  <a:noFill/>
                </a:ln>
                <a:solidFill>
                  <a:prstClr val="white"/>
                </a:solidFill>
                <a:effectLst/>
                <a:uLnTx/>
                <a:uFillTx/>
                <a:latin typeface="Aptos" panose="02110004020202020204"/>
                <a:ea typeface="+mn-ea"/>
                <a:cs typeface="+mn-cs"/>
              </a:rPr>
              <a:t>As-Is Analysis &amp; Documentation</a:t>
            </a:r>
          </a:p>
        </p:txBody>
      </p:sp>
      <p:sp>
        <p:nvSpPr>
          <p:cNvPr id="99" name="Arrow: Chevron 98">
            <a:extLst>
              <a:ext uri="{FF2B5EF4-FFF2-40B4-BE49-F238E27FC236}">
                <a16:creationId xmlns:a16="http://schemas.microsoft.com/office/drawing/2014/main" id="{8A1265EC-A26C-79B1-DFB7-34847B948E2F}"/>
              </a:ext>
            </a:extLst>
          </p:cNvPr>
          <p:cNvSpPr/>
          <p:nvPr/>
        </p:nvSpPr>
        <p:spPr bwMode="gray">
          <a:xfrm>
            <a:off x="8996583" y="2029390"/>
            <a:ext cx="2738217" cy="448921"/>
          </a:xfrm>
          <a:prstGeom prst="chevron">
            <a:avLst>
              <a:gd name="adj" fmla="val 22417"/>
            </a:avLst>
          </a:prstGeom>
          <a:solidFill>
            <a:srgbClr val="64646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1" name="TextBox 100">
            <a:extLst>
              <a:ext uri="{FF2B5EF4-FFF2-40B4-BE49-F238E27FC236}">
                <a16:creationId xmlns:a16="http://schemas.microsoft.com/office/drawing/2014/main" id="{4A0DC849-5E44-CD31-8656-54A8F92EBE0F}"/>
              </a:ext>
            </a:extLst>
          </p:cNvPr>
          <p:cNvSpPr txBox="1"/>
          <p:nvPr>
            <p:custDataLst>
              <p:tags r:id="rId2"/>
            </p:custDataLst>
          </p:nvPr>
        </p:nvSpPr>
        <p:spPr>
          <a:xfrm>
            <a:off x="983357" y="1517062"/>
            <a:ext cx="286028" cy="252000"/>
          </a:xfrm>
          <a:prstGeom prst="rect">
            <a:avLst/>
          </a:prstGeom>
          <a:solidFill>
            <a:srgbClr val="43B02A">
              <a:lumMod val="20000"/>
              <a:lumOff val="80000"/>
            </a:srgbClr>
          </a:solidFill>
          <a:ln w="3175">
            <a:no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Sep</a:t>
            </a:r>
          </a:p>
        </p:txBody>
      </p:sp>
      <p:sp>
        <p:nvSpPr>
          <p:cNvPr id="102" name="TextBox 101">
            <a:extLst>
              <a:ext uri="{FF2B5EF4-FFF2-40B4-BE49-F238E27FC236}">
                <a16:creationId xmlns:a16="http://schemas.microsoft.com/office/drawing/2014/main" id="{5FEE1BC0-EAE9-7ADC-1EDB-AEBEB0A31AE6}"/>
              </a:ext>
            </a:extLst>
          </p:cNvPr>
          <p:cNvSpPr txBox="1"/>
          <p:nvPr>
            <p:custDataLst>
              <p:tags r:id="rId3"/>
            </p:custDataLst>
          </p:nvPr>
        </p:nvSpPr>
        <p:spPr>
          <a:xfrm>
            <a:off x="1269385" y="1517062"/>
            <a:ext cx="1544133" cy="252000"/>
          </a:xfrm>
          <a:prstGeom prst="rect">
            <a:avLst/>
          </a:prstGeom>
          <a:solidFill>
            <a:srgbClr val="43B02A">
              <a:lumMod val="20000"/>
              <a:lumOff val="80000"/>
            </a:srgbClr>
          </a:solidFill>
          <a:ln w="3175">
            <a:no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Oct  (KW 40 - 44)</a:t>
            </a:r>
          </a:p>
        </p:txBody>
      </p:sp>
      <p:sp>
        <p:nvSpPr>
          <p:cNvPr id="106" name="TextBox 105">
            <a:extLst>
              <a:ext uri="{FF2B5EF4-FFF2-40B4-BE49-F238E27FC236}">
                <a16:creationId xmlns:a16="http://schemas.microsoft.com/office/drawing/2014/main" id="{4411EF4E-D683-7CC7-5960-C364DED40594}"/>
              </a:ext>
            </a:extLst>
          </p:cNvPr>
          <p:cNvSpPr txBox="1"/>
          <p:nvPr>
            <p:custDataLst>
              <p:tags r:id="rId4"/>
            </p:custDataLst>
          </p:nvPr>
        </p:nvSpPr>
        <p:spPr>
          <a:xfrm>
            <a:off x="4810168" y="1517062"/>
            <a:ext cx="1570521" cy="252000"/>
          </a:xfrm>
          <a:prstGeom prst="rect">
            <a:avLst/>
          </a:prstGeom>
          <a:solidFill>
            <a:srgbClr val="43B02A">
              <a:lumMod val="20000"/>
              <a:lumOff val="80000"/>
            </a:srgbClr>
          </a:solidFill>
          <a:ln w="3175">
            <a:no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Dec (KW 49 - 53)</a:t>
            </a:r>
          </a:p>
        </p:txBody>
      </p:sp>
      <p:sp>
        <p:nvSpPr>
          <p:cNvPr id="107" name="Rectangle 106">
            <a:extLst>
              <a:ext uri="{FF2B5EF4-FFF2-40B4-BE49-F238E27FC236}">
                <a16:creationId xmlns:a16="http://schemas.microsoft.com/office/drawing/2014/main" id="{8AB0E3BE-8074-6D2F-DB99-969087C59727}"/>
              </a:ext>
            </a:extLst>
          </p:cNvPr>
          <p:cNvSpPr/>
          <p:nvPr/>
        </p:nvSpPr>
        <p:spPr bwMode="gray">
          <a:xfrm>
            <a:off x="456855" y="2029390"/>
            <a:ext cx="449566" cy="3136715"/>
          </a:xfrm>
          <a:prstGeom prst="rect">
            <a:avLst/>
          </a:prstGeom>
          <a:solidFill>
            <a:srgbClr val="43B02A"/>
          </a:solidFill>
          <a:ln w="19050" algn="ctr">
            <a:noFill/>
            <a:miter lim="800000"/>
            <a:headEnd/>
            <a:tailEnd/>
          </a:ln>
        </p:spPr>
        <p:txBody>
          <a:bodyPr vert="vert270"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1400" b="1" i="0" u="none" strike="noStrike" kern="0" cap="none" spc="0" normalizeH="0" baseline="0" noProof="0">
                <a:ln>
                  <a:noFill/>
                </a:ln>
                <a:solidFill>
                  <a:prstClr val="white"/>
                </a:solidFill>
                <a:effectLst/>
                <a:uLnTx/>
                <a:uFillTx/>
                <a:latin typeface="Aptos" panose="02110004020202020204"/>
                <a:ea typeface="+mn-ea"/>
                <a:cs typeface="+mn-cs"/>
              </a:rPr>
              <a:t>Work Packages</a:t>
            </a:r>
          </a:p>
        </p:txBody>
      </p:sp>
      <p:sp>
        <p:nvSpPr>
          <p:cNvPr id="108" name="Rectangle 107">
            <a:extLst>
              <a:ext uri="{FF2B5EF4-FFF2-40B4-BE49-F238E27FC236}">
                <a16:creationId xmlns:a16="http://schemas.microsoft.com/office/drawing/2014/main" id="{C35C658F-F293-1BB8-50E7-FA5628640C61}"/>
              </a:ext>
            </a:extLst>
          </p:cNvPr>
          <p:cNvSpPr/>
          <p:nvPr/>
        </p:nvSpPr>
        <p:spPr bwMode="gray">
          <a:xfrm>
            <a:off x="989164" y="2561249"/>
            <a:ext cx="860128" cy="959899"/>
          </a:xfrm>
          <a:prstGeom prst="rect">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lIns="38098" tIns="38098" rIns="38098" bIns="38098" rtlCol="0" anchor="b"/>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Key stakeholder Interviews</a:t>
            </a:r>
            <a:endParaRPr kumimoji="0" lang="en-GB" sz="1100" b="0" i="0" u="none" strike="noStrike" kern="0" cap="none" spc="0" normalizeH="0" baseline="0" noProof="0">
              <a:ln>
                <a:noFill/>
              </a:ln>
              <a:solidFill>
                <a:prstClr val="black"/>
              </a:solidFill>
              <a:effectLst/>
              <a:uLnTx/>
              <a:uFillTx/>
              <a:latin typeface="Aptos"/>
              <a:ea typeface="+mn-ea"/>
              <a:cs typeface="+mn-cs"/>
            </a:endParaRPr>
          </a:p>
        </p:txBody>
      </p:sp>
      <p:sp>
        <p:nvSpPr>
          <p:cNvPr id="109" name="Rectangle 108">
            <a:extLst>
              <a:ext uri="{FF2B5EF4-FFF2-40B4-BE49-F238E27FC236}">
                <a16:creationId xmlns:a16="http://schemas.microsoft.com/office/drawing/2014/main" id="{8237D085-3A7F-F517-D7A5-6DBC60DFC3E8}"/>
              </a:ext>
            </a:extLst>
          </p:cNvPr>
          <p:cNvSpPr/>
          <p:nvPr/>
        </p:nvSpPr>
        <p:spPr bwMode="gray">
          <a:xfrm>
            <a:off x="4732341" y="2560619"/>
            <a:ext cx="1115993" cy="1091902"/>
          </a:xfrm>
          <a:prstGeom prst="rect">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lIns="38098" tIns="38098" rIns="38098" bIns="38098" rtlCol="0" anchor="t"/>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Targeted industry benchmarking</a:t>
            </a:r>
            <a:endParaRPr kumimoji="0" lang="en-GB" sz="1100" b="0" i="0" u="none" strike="noStrike" kern="0" cap="none" spc="0" normalizeH="0" baseline="0" noProof="0">
              <a:ln>
                <a:noFill/>
              </a:ln>
              <a:solidFill>
                <a:prstClr val="black"/>
              </a:solidFill>
              <a:effectLst/>
              <a:uLnTx/>
              <a:uFillTx/>
              <a:latin typeface="Aptos"/>
              <a:ea typeface="+mn-ea"/>
              <a:cs typeface="+mn-cs"/>
            </a:endParaRPr>
          </a:p>
        </p:txBody>
      </p:sp>
      <p:sp>
        <p:nvSpPr>
          <p:cNvPr id="110" name="Rectangle 109">
            <a:extLst>
              <a:ext uri="{FF2B5EF4-FFF2-40B4-BE49-F238E27FC236}">
                <a16:creationId xmlns:a16="http://schemas.microsoft.com/office/drawing/2014/main" id="{6AF6F184-AC4A-1CC1-CCD8-03D591E299C1}"/>
              </a:ext>
            </a:extLst>
          </p:cNvPr>
          <p:cNvSpPr/>
          <p:nvPr/>
        </p:nvSpPr>
        <p:spPr bwMode="gray">
          <a:xfrm>
            <a:off x="4743988" y="3731541"/>
            <a:ext cx="1105820" cy="1426245"/>
          </a:xfrm>
          <a:prstGeom prst="rect">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lIns="38098" tIns="38098" rIns="38098" bIns="38098" rtlCol="0" anchor="t"/>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Develop TOM</a:t>
            </a:r>
            <a:endParaRPr kumimoji="0" lang="en-GB" sz="1100" b="0" i="0" u="none" strike="noStrike" kern="0" cap="none" spc="0" normalizeH="0" baseline="0" noProof="0">
              <a:ln>
                <a:noFill/>
              </a:ln>
              <a:solidFill>
                <a:prstClr val="black"/>
              </a:solidFill>
              <a:effectLst/>
              <a:uLnTx/>
              <a:uFillTx/>
              <a:latin typeface="Aptos"/>
              <a:ea typeface="+mn-ea"/>
              <a:cs typeface="+mn-cs"/>
            </a:endParaRPr>
          </a:p>
        </p:txBody>
      </p:sp>
      <p:cxnSp>
        <p:nvCxnSpPr>
          <p:cNvPr id="111" name="Straight Connector 110">
            <a:extLst>
              <a:ext uri="{FF2B5EF4-FFF2-40B4-BE49-F238E27FC236}">
                <a16:creationId xmlns:a16="http://schemas.microsoft.com/office/drawing/2014/main" id="{12F78DCC-F2A8-7B3A-73D4-EB6949E67A8F}"/>
              </a:ext>
            </a:extLst>
          </p:cNvPr>
          <p:cNvCxnSpPr>
            <a:cxnSpLocks/>
          </p:cNvCxnSpPr>
          <p:nvPr/>
        </p:nvCxnSpPr>
        <p:spPr>
          <a:xfrm flipH="1">
            <a:off x="4661872" y="2550142"/>
            <a:ext cx="2661" cy="3915753"/>
          </a:xfrm>
          <a:prstGeom prst="line">
            <a:avLst/>
          </a:prstGeom>
          <a:noFill/>
          <a:ln w="9525" cap="flat" cmpd="sng" algn="ctr">
            <a:solidFill>
              <a:srgbClr val="53565A"/>
            </a:solidFill>
            <a:prstDash val="dash"/>
          </a:ln>
          <a:effectLst/>
        </p:spPr>
      </p:cxnSp>
      <p:cxnSp>
        <p:nvCxnSpPr>
          <p:cNvPr id="112" name="Straight Connector 111">
            <a:extLst>
              <a:ext uri="{FF2B5EF4-FFF2-40B4-BE49-F238E27FC236}">
                <a16:creationId xmlns:a16="http://schemas.microsoft.com/office/drawing/2014/main" id="{18C3C207-7DC7-AB47-19B1-1DF48D10E110}"/>
              </a:ext>
            </a:extLst>
          </p:cNvPr>
          <p:cNvCxnSpPr>
            <a:cxnSpLocks/>
          </p:cNvCxnSpPr>
          <p:nvPr/>
        </p:nvCxnSpPr>
        <p:spPr>
          <a:xfrm>
            <a:off x="9352656" y="2561246"/>
            <a:ext cx="5534" cy="3915753"/>
          </a:xfrm>
          <a:prstGeom prst="line">
            <a:avLst/>
          </a:prstGeom>
          <a:noFill/>
          <a:ln w="9525" cap="flat" cmpd="sng" algn="ctr">
            <a:solidFill>
              <a:srgbClr val="53565A"/>
            </a:solidFill>
            <a:prstDash val="dash"/>
          </a:ln>
          <a:effectLst/>
        </p:spPr>
      </p:cxnSp>
      <p:sp>
        <p:nvSpPr>
          <p:cNvPr id="113" name="Rectangle 112">
            <a:extLst>
              <a:ext uri="{FF2B5EF4-FFF2-40B4-BE49-F238E27FC236}">
                <a16:creationId xmlns:a16="http://schemas.microsoft.com/office/drawing/2014/main" id="{ED3404F8-9412-06BA-4935-7A2DFB8811D3}"/>
              </a:ext>
            </a:extLst>
          </p:cNvPr>
          <p:cNvSpPr>
            <a:spLocks/>
          </p:cNvSpPr>
          <p:nvPr/>
        </p:nvSpPr>
        <p:spPr>
          <a:xfrm>
            <a:off x="1573640" y="2561244"/>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1.1</a:t>
            </a:r>
          </a:p>
        </p:txBody>
      </p:sp>
      <p:sp>
        <p:nvSpPr>
          <p:cNvPr id="114" name="Rectangle 113">
            <a:extLst>
              <a:ext uri="{FF2B5EF4-FFF2-40B4-BE49-F238E27FC236}">
                <a16:creationId xmlns:a16="http://schemas.microsoft.com/office/drawing/2014/main" id="{081FC4B4-D29C-ADEC-F9DD-699199A048B2}"/>
              </a:ext>
            </a:extLst>
          </p:cNvPr>
          <p:cNvSpPr>
            <a:spLocks/>
          </p:cNvSpPr>
          <p:nvPr/>
        </p:nvSpPr>
        <p:spPr>
          <a:xfrm>
            <a:off x="5572682" y="2574263"/>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2.1</a:t>
            </a:r>
          </a:p>
        </p:txBody>
      </p:sp>
      <p:sp>
        <p:nvSpPr>
          <p:cNvPr id="115" name="Rectangle 114">
            <a:extLst>
              <a:ext uri="{FF2B5EF4-FFF2-40B4-BE49-F238E27FC236}">
                <a16:creationId xmlns:a16="http://schemas.microsoft.com/office/drawing/2014/main" id="{E59353B2-CC24-F847-5879-13117B2FED92}"/>
              </a:ext>
            </a:extLst>
          </p:cNvPr>
          <p:cNvSpPr>
            <a:spLocks/>
          </p:cNvSpPr>
          <p:nvPr/>
        </p:nvSpPr>
        <p:spPr>
          <a:xfrm>
            <a:off x="5558133" y="3731541"/>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2.2</a:t>
            </a:r>
          </a:p>
        </p:txBody>
      </p:sp>
      <p:cxnSp>
        <p:nvCxnSpPr>
          <p:cNvPr id="116" name="Straight Connector 115">
            <a:extLst>
              <a:ext uri="{FF2B5EF4-FFF2-40B4-BE49-F238E27FC236}">
                <a16:creationId xmlns:a16="http://schemas.microsoft.com/office/drawing/2014/main" id="{13B67013-4CCC-FEDB-73A0-0A16EB0C4BBE}"/>
              </a:ext>
            </a:extLst>
          </p:cNvPr>
          <p:cNvCxnSpPr/>
          <p:nvPr/>
        </p:nvCxnSpPr>
        <p:spPr>
          <a:xfrm>
            <a:off x="457200" y="5247790"/>
            <a:ext cx="11274552" cy="8037"/>
          </a:xfrm>
          <a:prstGeom prst="line">
            <a:avLst/>
          </a:prstGeom>
          <a:noFill/>
          <a:ln w="38100" cap="flat" cmpd="sng" algn="ctr">
            <a:solidFill>
              <a:srgbClr val="43B02A"/>
            </a:solidFill>
            <a:prstDash val="solid"/>
          </a:ln>
          <a:effectLst/>
        </p:spPr>
      </p:cxnSp>
      <p:sp>
        <p:nvSpPr>
          <p:cNvPr id="117" name="Rectangle 116">
            <a:extLst>
              <a:ext uri="{FF2B5EF4-FFF2-40B4-BE49-F238E27FC236}">
                <a16:creationId xmlns:a16="http://schemas.microsoft.com/office/drawing/2014/main" id="{1459F6C7-BA0F-31AF-E2DD-DE95CEACCFF3}"/>
              </a:ext>
            </a:extLst>
          </p:cNvPr>
          <p:cNvSpPr/>
          <p:nvPr/>
        </p:nvSpPr>
        <p:spPr bwMode="gray">
          <a:xfrm>
            <a:off x="7035083" y="2559995"/>
            <a:ext cx="865584" cy="2591843"/>
          </a:xfrm>
          <a:prstGeom prst="rect">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lIns="38098" tIns="38098" rIns="38098" bIns="38098" rtlCol="0" anchor="t"/>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Derive improvement measures for systems, data structures, interfaces, and processes</a:t>
            </a:r>
            <a:endParaRPr kumimoji="0" lang="en-GB" sz="1100" b="0" i="0" u="none" strike="noStrike" kern="0" cap="none" spc="0" normalizeH="0" baseline="0" noProof="0">
              <a:ln>
                <a:noFill/>
              </a:ln>
              <a:solidFill>
                <a:prstClr val="black"/>
              </a:solidFill>
              <a:effectLst/>
              <a:uLnTx/>
              <a:uFillTx/>
              <a:latin typeface="Aptos"/>
              <a:ea typeface="+mn-ea"/>
              <a:cs typeface="+mn-cs"/>
            </a:endParaRPr>
          </a:p>
        </p:txBody>
      </p:sp>
      <p:sp>
        <p:nvSpPr>
          <p:cNvPr id="118" name="Rectangle 117">
            <a:extLst>
              <a:ext uri="{FF2B5EF4-FFF2-40B4-BE49-F238E27FC236}">
                <a16:creationId xmlns:a16="http://schemas.microsoft.com/office/drawing/2014/main" id="{3504AF64-F901-02C1-890D-8764C156B41B}"/>
              </a:ext>
            </a:extLst>
          </p:cNvPr>
          <p:cNvSpPr>
            <a:spLocks/>
          </p:cNvSpPr>
          <p:nvPr/>
        </p:nvSpPr>
        <p:spPr>
          <a:xfrm>
            <a:off x="7624278" y="2574263"/>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2.4</a:t>
            </a:r>
          </a:p>
        </p:txBody>
      </p:sp>
      <p:sp>
        <p:nvSpPr>
          <p:cNvPr id="119" name="Rectangle 118">
            <a:extLst>
              <a:ext uri="{FF2B5EF4-FFF2-40B4-BE49-F238E27FC236}">
                <a16:creationId xmlns:a16="http://schemas.microsoft.com/office/drawing/2014/main" id="{F5F962FA-9BEB-C30C-F99E-872A84560BAE}"/>
              </a:ext>
            </a:extLst>
          </p:cNvPr>
          <p:cNvSpPr>
            <a:spLocks/>
          </p:cNvSpPr>
          <p:nvPr/>
        </p:nvSpPr>
        <p:spPr>
          <a:xfrm>
            <a:off x="11456096" y="2561244"/>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3.1</a:t>
            </a:r>
          </a:p>
        </p:txBody>
      </p:sp>
      <p:sp>
        <p:nvSpPr>
          <p:cNvPr id="120" name="Rectangle 119">
            <a:extLst>
              <a:ext uri="{FF2B5EF4-FFF2-40B4-BE49-F238E27FC236}">
                <a16:creationId xmlns:a16="http://schemas.microsoft.com/office/drawing/2014/main" id="{E3D77B22-BEDC-AF75-9BCE-939E87305894}"/>
              </a:ext>
            </a:extLst>
          </p:cNvPr>
          <p:cNvSpPr/>
          <p:nvPr/>
        </p:nvSpPr>
        <p:spPr bwMode="gray">
          <a:xfrm>
            <a:off x="456855" y="5337512"/>
            <a:ext cx="449566" cy="1139487"/>
          </a:xfrm>
          <a:prstGeom prst="rect">
            <a:avLst/>
          </a:prstGeom>
          <a:solidFill>
            <a:srgbClr val="43B02A"/>
          </a:solidFill>
          <a:ln w="19050" algn="ctr">
            <a:no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GB" sz="1400" b="1" i="0" u="none" strike="noStrike" kern="0" cap="none" spc="0" normalizeH="0" baseline="0" noProof="0">
                <a:ln>
                  <a:noFill/>
                </a:ln>
                <a:solidFill>
                  <a:prstClr val="white"/>
                </a:solidFill>
                <a:effectLst/>
                <a:uLnTx/>
                <a:uFillTx/>
                <a:latin typeface="Aptos" panose="02110004020202020204"/>
                <a:ea typeface="+mn-ea"/>
                <a:cs typeface="+mn-cs"/>
              </a:rPr>
              <a:t>Key Outputs</a:t>
            </a:r>
          </a:p>
        </p:txBody>
      </p:sp>
      <p:sp>
        <p:nvSpPr>
          <p:cNvPr id="121" name="TextBox 120">
            <a:extLst>
              <a:ext uri="{FF2B5EF4-FFF2-40B4-BE49-F238E27FC236}">
                <a16:creationId xmlns:a16="http://schemas.microsoft.com/office/drawing/2014/main" id="{C4D5FDF9-8E01-A452-5552-6632715ADCA2}"/>
              </a:ext>
            </a:extLst>
          </p:cNvPr>
          <p:cNvSpPr txBox="1"/>
          <p:nvPr/>
        </p:nvSpPr>
        <p:spPr>
          <a:xfrm>
            <a:off x="1372059" y="5431710"/>
            <a:ext cx="3188189"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srgbClr val="313131"/>
                </a:solidFill>
                <a:effectLst/>
                <a:uLnTx/>
                <a:uFillTx/>
                <a:latin typeface="Aptos" panose="02110004020202020204"/>
                <a:ea typeface="+mn-ea"/>
                <a:cs typeface="+mn-cs"/>
              </a:rPr>
              <a:t>As-is analysis report </a:t>
            </a:r>
            <a:r>
              <a:rPr kumimoji="0" lang="en-GB" sz="1100" b="0" i="0" u="none" strike="noStrike" kern="0" cap="none" spc="0" normalizeH="0" baseline="0" noProof="0">
                <a:ln>
                  <a:noFill/>
                </a:ln>
                <a:solidFill>
                  <a:srgbClr val="313131"/>
                </a:solidFill>
                <a:effectLst/>
                <a:uLnTx/>
                <a:uFillTx/>
                <a:latin typeface="Aptos" panose="02110004020202020204"/>
                <a:ea typeface="+mn-ea"/>
                <a:cs typeface="+mn-cs"/>
              </a:rPr>
              <a:t>(process maps, data flow diagrams, gap analysis, root cause overview)</a:t>
            </a:r>
          </a:p>
        </p:txBody>
      </p:sp>
      <p:sp>
        <p:nvSpPr>
          <p:cNvPr id="125" name="TextBox 124">
            <a:extLst>
              <a:ext uri="{FF2B5EF4-FFF2-40B4-BE49-F238E27FC236}">
                <a16:creationId xmlns:a16="http://schemas.microsoft.com/office/drawing/2014/main" id="{05537F6B-7A0C-55E8-C4EC-E325AF7F48F1}"/>
              </a:ext>
            </a:extLst>
          </p:cNvPr>
          <p:cNvSpPr txBox="1"/>
          <p:nvPr/>
        </p:nvSpPr>
        <p:spPr>
          <a:xfrm>
            <a:off x="4990195" y="5788494"/>
            <a:ext cx="313601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srgbClr val="313131"/>
                </a:solidFill>
                <a:effectLst/>
                <a:uLnTx/>
                <a:uFillTx/>
                <a:latin typeface="Aptos" panose="02110004020202020204"/>
                <a:ea typeface="+mn-ea"/>
                <a:cs typeface="+mn-cs"/>
              </a:rPr>
              <a:t>Reconciliation Framework Blueprint</a:t>
            </a:r>
            <a:endParaRPr kumimoji="0" lang="en-GB" sz="1100" b="0" i="0" u="none" strike="noStrike" kern="0" cap="none" spc="0" normalizeH="0" baseline="0" noProof="0">
              <a:ln>
                <a:noFill/>
              </a:ln>
              <a:solidFill>
                <a:srgbClr val="313131"/>
              </a:solidFill>
              <a:effectLst/>
              <a:uLnTx/>
              <a:uFillTx/>
              <a:latin typeface="Aptos" panose="02110004020202020204"/>
              <a:ea typeface="+mn-ea"/>
              <a:cs typeface="+mn-cs"/>
            </a:endParaRPr>
          </a:p>
        </p:txBody>
      </p:sp>
      <p:sp>
        <p:nvSpPr>
          <p:cNvPr id="126" name="TextBox 125">
            <a:extLst>
              <a:ext uri="{FF2B5EF4-FFF2-40B4-BE49-F238E27FC236}">
                <a16:creationId xmlns:a16="http://schemas.microsoft.com/office/drawing/2014/main" id="{814D5F60-B48F-5ABF-82D8-E83EC8FF6D86}"/>
              </a:ext>
            </a:extLst>
          </p:cNvPr>
          <p:cNvSpPr txBox="1"/>
          <p:nvPr/>
        </p:nvSpPr>
        <p:spPr>
          <a:xfrm>
            <a:off x="5024836" y="5416861"/>
            <a:ext cx="3082282"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srgbClr val="313131"/>
                </a:solidFill>
                <a:effectLst/>
                <a:uLnTx/>
                <a:uFillTx/>
                <a:latin typeface="Aptos" panose="02110004020202020204"/>
                <a:ea typeface="+mn-ea"/>
                <a:cs typeface="+mn-cs"/>
              </a:rPr>
              <a:t>Target-State Design Document</a:t>
            </a:r>
            <a:endParaRPr kumimoji="0" lang="en-GB" sz="1100" b="0" i="0" u="none" strike="noStrike" kern="0" cap="none" spc="0" normalizeH="0" baseline="0" noProof="0">
              <a:ln>
                <a:noFill/>
              </a:ln>
              <a:solidFill>
                <a:srgbClr val="313131"/>
              </a:solidFill>
              <a:effectLst/>
              <a:uLnTx/>
              <a:uFillTx/>
              <a:latin typeface="Aptos" panose="02110004020202020204"/>
              <a:ea typeface="+mn-ea"/>
              <a:cs typeface="+mn-cs"/>
            </a:endParaRPr>
          </a:p>
        </p:txBody>
      </p:sp>
      <p:sp>
        <p:nvSpPr>
          <p:cNvPr id="127" name="TextBox 126">
            <a:extLst>
              <a:ext uri="{FF2B5EF4-FFF2-40B4-BE49-F238E27FC236}">
                <a16:creationId xmlns:a16="http://schemas.microsoft.com/office/drawing/2014/main" id="{0E01E256-DAA8-0B50-01EC-CCBA508316B3}"/>
              </a:ext>
            </a:extLst>
          </p:cNvPr>
          <p:cNvSpPr txBox="1"/>
          <p:nvPr/>
        </p:nvSpPr>
        <p:spPr>
          <a:xfrm>
            <a:off x="9734432" y="5347071"/>
            <a:ext cx="1997313"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srgbClr val="313131"/>
                </a:solidFill>
                <a:effectLst/>
                <a:uLnTx/>
                <a:uFillTx/>
                <a:latin typeface="Aptos" panose="02110004020202020204"/>
                <a:ea typeface="+mn-ea"/>
                <a:cs typeface="+mn-cs"/>
              </a:rPr>
              <a:t>Documentation &amp; handover meetings</a:t>
            </a:r>
            <a:endParaRPr kumimoji="0" lang="en-GB" sz="1100" b="0" i="0" u="none" strike="noStrike" kern="0" cap="none" spc="0" normalizeH="0" baseline="0" noProof="0">
              <a:ln>
                <a:noFill/>
              </a:ln>
              <a:solidFill>
                <a:srgbClr val="313131"/>
              </a:solidFill>
              <a:effectLst/>
              <a:uLnTx/>
              <a:uFillTx/>
              <a:latin typeface="Aptos" panose="02110004020202020204"/>
              <a:ea typeface="+mn-ea"/>
              <a:cs typeface="+mn-cs"/>
            </a:endParaRPr>
          </a:p>
        </p:txBody>
      </p:sp>
      <p:sp>
        <p:nvSpPr>
          <p:cNvPr id="128" name="TextBox 127">
            <a:extLst>
              <a:ext uri="{FF2B5EF4-FFF2-40B4-BE49-F238E27FC236}">
                <a16:creationId xmlns:a16="http://schemas.microsoft.com/office/drawing/2014/main" id="{321940B0-F751-8170-21AE-9D2B4F13FBB0}"/>
              </a:ext>
            </a:extLst>
          </p:cNvPr>
          <p:cNvSpPr txBox="1"/>
          <p:nvPr>
            <p:custDataLst>
              <p:tags r:id="rId5"/>
            </p:custDataLst>
          </p:nvPr>
        </p:nvSpPr>
        <p:spPr>
          <a:xfrm>
            <a:off x="2816043" y="1517062"/>
            <a:ext cx="1991600" cy="252000"/>
          </a:xfrm>
          <a:prstGeom prst="rect">
            <a:avLst/>
          </a:prstGeom>
          <a:solidFill>
            <a:srgbClr val="43B02A">
              <a:lumMod val="20000"/>
              <a:lumOff val="80000"/>
            </a:srgbClr>
          </a:solidFill>
          <a:ln w="3175">
            <a:no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Nov (KW 44 - 49)</a:t>
            </a:r>
          </a:p>
        </p:txBody>
      </p:sp>
      <p:sp>
        <p:nvSpPr>
          <p:cNvPr id="133" name="TextBox 132">
            <a:extLst>
              <a:ext uri="{FF2B5EF4-FFF2-40B4-BE49-F238E27FC236}">
                <a16:creationId xmlns:a16="http://schemas.microsoft.com/office/drawing/2014/main" id="{7BC1D760-E26D-BE51-8CC6-0FC7B281AA86}"/>
              </a:ext>
            </a:extLst>
          </p:cNvPr>
          <p:cNvSpPr txBox="1"/>
          <p:nvPr>
            <p:custDataLst>
              <p:tags r:id="rId6"/>
            </p:custDataLst>
          </p:nvPr>
        </p:nvSpPr>
        <p:spPr>
          <a:xfrm>
            <a:off x="98335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40</a:t>
            </a:r>
          </a:p>
        </p:txBody>
      </p:sp>
      <p:sp>
        <p:nvSpPr>
          <p:cNvPr id="134" name="TextBox 133">
            <a:extLst>
              <a:ext uri="{FF2B5EF4-FFF2-40B4-BE49-F238E27FC236}">
                <a16:creationId xmlns:a16="http://schemas.microsoft.com/office/drawing/2014/main" id="{A977F5F8-E883-E79C-3829-7F5AF5BA29C3}"/>
              </a:ext>
            </a:extLst>
          </p:cNvPr>
          <p:cNvSpPr txBox="1"/>
          <p:nvPr>
            <p:custDataLst>
              <p:tags r:id="rId7"/>
            </p:custDataLst>
          </p:nvPr>
        </p:nvSpPr>
        <p:spPr>
          <a:xfrm>
            <a:off x="137598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41</a:t>
            </a:r>
          </a:p>
        </p:txBody>
      </p:sp>
      <p:sp>
        <p:nvSpPr>
          <p:cNvPr id="135" name="TextBox 134">
            <a:extLst>
              <a:ext uri="{FF2B5EF4-FFF2-40B4-BE49-F238E27FC236}">
                <a16:creationId xmlns:a16="http://schemas.microsoft.com/office/drawing/2014/main" id="{3099DE40-1E62-0AAC-8D6F-2C8C3D29FD25}"/>
              </a:ext>
            </a:extLst>
          </p:cNvPr>
          <p:cNvSpPr txBox="1"/>
          <p:nvPr>
            <p:custDataLst>
              <p:tags r:id="rId8"/>
            </p:custDataLst>
          </p:nvPr>
        </p:nvSpPr>
        <p:spPr>
          <a:xfrm>
            <a:off x="176861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42</a:t>
            </a:r>
          </a:p>
        </p:txBody>
      </p:sp>
      <p:sp>
        <p:nvSpPr>
          <p:cNvPr id="136" name="TextBox 135">
            <a:extLst>
              <a:ext uri="{FF2B5EF4-FFF2-40B4-BE49-F238E27FC236}">
                <a16:creationId xmlns:a16="http://schemas.microsoft.com/office/drawing/2014/main" id="{6B23A6A7-C87F-AD14-E457-FC41908C362A}"/>
              </a:ext>
            </a:extLst>
          </p:cNvPr>
          <p:cNvSpPr txBox="1"/>
          <p:nvPr>
            <p:custDataLst>
              <p:tags r:id="rId9"/>
            </p:custDataLst>
          </p:nvPr>
        </p:nvSpPr>
        <p:spPr>
          <a:xfrm>
            <a:off x="216124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43</a:t>
            </a:r>
          </a:p>
        </p:txBody>
      </p:sp>
      <p:sp>
        <p:nvSpPr>
          <p:cNvPr id="137" name="TextBox 136">
            <a:extLst>
              <a:ext uri="{FF2B5EF4-FFF2-40B4-BE49-F238E27FC236}">
                <a16:creationId xmlns:a16="http://schemas.microsoft.com/office/drawing/2014/main" id="{971A42F5-1B36-2C56-AE12-35445F9582EF}"/>
              </a:ext>
            </a:extLst>
          </p:cNvPr>
          <p:cNvSpPr txBox="1"/>
          <p:nvPr>
            <p:custDataLst>
              <p:tags r:id="rId10"/>
            </p:custDataLst>
          </p:nvPr>
        </p:nvSpPr>
        <p:spPr>
          <a:xfrm>
            <a:off x="255387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44</a:t>
            </a:r>
          </a:p>
        </p:txBody>
      </p:sp>
      <p:sp>
        <p:nvSpPr>
          <p:cNvPr id="138" name="TextBox 137">
            <a:extLst>
              <a:ext uri="{FF2B5EF4-FFF2-40B4-BE49-F238E27FC236}">
                <a16:creationId xmlns:a16="http://schemas.microsoft.com/office/drawing/2014/main" id="{03143535-C74C-1BFE-7301-3CE696855F1D}"/>
              </a:ext>
            </a:extLst>
          </p:cNvPr>
          <p:cNvSpPr txBox="1"/>
          <p:nvPr>
            <p:custDataLst>
              <p:tags r:id="rId11"/>
            </p:custDataLst>
          </p:nvPr>
        </p:nvSpPr>
        <p:spPr>
          <a:xfrm>
            <a:off x="294650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45</a:t>
            </a:r>
          </a:p>
        </p:txBody>
      </p:sp>
      <p:sp>
        <p:nvSpPr>
          <p:cNvPr id="139" name="TextBox 138">
            <a:extLst>
              <a:ext uri="{FF2B5EF4-FFF2-40B4-BE49-F238E27FC236}">
                <a16:creationId xmlns:a16="http://schemas.microsoft.com/office/drawing/2014/main" id="{C6BB56FE-3117-DCDE-68DF-6C6849026763}"/>
              </a:ext>
            </a:extLst>
          </p:cNvPr>
          <p:cNvSpPr txBox="1"/>
          <p:nvPr>
            <p:custDataLst>
              <p:tags r:id="rId12"/>
            </p:custDataLst>
          </p:nvPr>
        </p:nvSpPr>
        <p:spPr>
          <a:xfrm>
            <a:off x="333913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46</a:t>
            </a:r>
          </a:p>
        </p:txBody>
      </p:sp>
      <p:sp>
        <p:nvSpPr>
          <p:cNvPr id="140" name="TextBox 139">
            <a:extLst>
              <a:ext uri="{FF2B5EF4-FFF2-40B4-BE49-F238E27FC236}">
                <a16:creationId xmlns:a16="http://schemas.microsoft.com/office/drawing/2014/main" id="{8B1F57C5-1A9E-B2A9-E52A-1DBB3368022C}"/>
              </a:ext>
            </a:extLst>
          </p:cNvPr>
          <p:cNvSpPr txBox="1"/>
          <p:nvPr>
            <p:custDataLst>
              <p:tags r:id="rId13"/>
            </p:custDataLst>
          </p:nvPr>
        </p:nvSpPr>
        <p:spPr>
          <a:xfrm>
            <a:off x="373176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47</a:t>
            </a:r>
          </a:p>
        </p:txBody>
      </p:sp>
      <p:sp>
        <p:nvSpPr>
          <p:cNvPr id="141" name="TextBox 140">
            <a:extLst>
              <a:ext uri="{FF2B5EF4-FFF2-40B4-BE49-F238E27FC236}">
                <a16:creationId xmlns:a16="http://schemas.microsoft.com/office/drawing/2014/main" id="{F776A642-E3F2-7F37-816E-BC6D02C66306}"/>
              </a:ext>
            </a:extLst>
          </p:cNvPr>
          <p:cNvSpPr txBox="1"/>
          <p:nvPr>
            <p:custDataLst>
              <p:tags r:id="rId14"/>
            </p:custDataLst>
          </p:nvPr>
        </p:nvSpPr>
        <p:spPr>
          <a:xfrm>
            <a:off x="412439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48</a:t>
            </a:r>
          </a:p>
        </p:txBody>
      </p:sp>
      <p:sp>
        <p:nvSpPr>
          <p:cNvPr id="142" name="TextBox 141">
            <a:extLst>
              <a:ext uri="{FF2B5EF4-FFF2-40B4-BE49-F238E27FC236}">
                <a16:creationId xmlns:a16="http://schemas.microsoft.com/office/drawing/2014/main" id="{3E79AC4B-5281-2F5E-03CA-540A418B507F}"/>
              </a:ext>
            </a:extLst>
          </p:cNvPr>
          <p:cNvSpPr txBox="1"/>
          <p:nvPr>
            <p:custDataLst>
              <p:tags r:id="rId15"/>
            </p:custDataLst>
          </p:nvPr>
        </p:nvSpPr>
        <p:spPr>
          <a:xfrm>
            <a:off x="451702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49</a:t>
            </a:r>
          </a:p>
        </p:txBody>
      </p:sp>
      <p:sp>
        <p:nvSpPr>
          <p:cNvPr id="143" name="TextBox 142">
            <a:extLst>
              <a:ext uri="{FF2B5EF4-FFF2-40B4-BE49-F238E27FC236}">
                <a16:creationId xmlns:a16="http://schemas.microsoft.com/office/drawing/2014/main" id="{23BDAA36-4BC2-7990-035D-3DB38074A79A}"/>
              </a:ext>
            </a:extLst>
          </p:cNvPr>
          <p:cNvSpPr txBox="1"/>
          <p:nvPr>
            <p:custDataLst>
              <p:tags r:id="rId16"/>
            </p:custDataLst>
          </p:nvPr>
        </p:nvSpPr>
        <p:spPr>
          <a:xfrm>
            <a:off x="490965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50</a:t>
            </a:r>
          </a:p>
        </p:txBody>
      </p:sp>
      <p:sp>
        <p:nvSpPr>
          <p:cNvPr id="146" name="TextBox 145">
            <a:extLst>
              <a:ext uri="{FF2B5EF4-FFF2-40B4-BE49-F238E27FC236}">
                <a16:creationId xmlns:a16="http://schemas.microsoft.com/office/drawing/2014/main" id="{EFAEF378-75A0-C00D-F3A8-4A482DDED55E}"/>
              </a:ext>
            </a:extLst>
          </p:cNvPr>
          <p:cNvSpPr txBox="1"/>
          <p:nvPr>
            <p:custDataLst>
              <p:tags r:id="rId17"/>
            </p:custDataLst>
          </p:nvPr>
        </p:nvSpPr>
        <p:spPr>
          <a:xfrm>
            <a:off x="530228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51</a:t>
            </a:r>
          </a:p>
        </p:txBody>
      </p:sp>
      <p:sp>
        <p:nvSpPr>
          <p:cNvPr id="147" name="Flowchart: Decision 146">
            <a:extLst>
              <a:ext uri="{FF2B5EF4-FFF2-40B4-BE49-F238E27FC236}">
                <a16:creationId xmlns:a16="http://schemas.microsoft.com/office/drawing/2014/main" id="{14B387AA-1290-1CF6-5153-019F1F40528E}"/>
              </a:ext>
            </a:extLst>
          </p:cNvPr>
          <p:cNvSpPr>
            <a:spLocks/>
          </p:cNvSpPr>
          <p:nvPr/>
        </p:nvSpPr>
        <p:spPr>
          <a:xfrm>
            <a:off x="1091869" y="5427031"/>
            <a:ext cx="177516" cy="178635"/>
          </a:xfrm>
          <a:prstGeom prst="flowChartDecision">
            <a:avLst/>
          </a:prstGeom>
          <a:solidFill>
            <a:srgbClr val="43B02A"/>
          </a:solidFill>
          <a:ln w="19050" cap="flat" cmpd="sng" algn="ctr">
            <a:noFill/>
            <a:prstDash val="solid"/>
            <a:miter lim="800000"/>
            <a:headEnd type="none" w="med" len="med"/>
            <a:tailEnd type="none" w="med" len="med"/>
          </a:ln>
          <a:effectLst/>
        </p:spPr>
        <p:txBody>
          <a:bodyPr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endParaRPr kumimoji="0" lang="en-GB" sz="1270" b="0" i="0" u="none" strike="noStrike" kern="0" cap="none" spc="0" normalizeH="0" baseline="0" noProof="0">
              <a:ln>
                <a:noFill/>
              </a:ln>
              <a:solidFill>
                <a:prstClr val="white"/>
              </a:solidFill>
              <a:effectLst/>
              <a:uLnTx/>
              <a:uFillTx/>
              <a:latin typeface="Aptos"/>
              <a:ea typeface="+mn-ea"/>
              <a:cs typeface="+mn-cs"/>
            </a:endParaRPr>
          </a:p>
        </p:txBody>
      </p:sp>
      <p:sp>
        <p:nvSpPr>
          <p:cNvPr id="148" name="Flowchart: Decision 147">
            <a:extLst>
              <a:ext uri="{FF2B5EF4-FFF2-40B4-BE49-F238E27FC236}">
                <a16:creationId xmlns:a16="http://schemas.microsoft.com/office/drawing/2014/main" id="{08FAB7C4-5647-B12D-E8FF-3E3C092AA29B}"/>
              </a:ext>
            </a:extLst>
          </p:cNvPr>
          <p:cNvSpPr>
            <a:spLocks/>
          </p:cNvSpPr>
          <p:nvPr/>
        </p:nvSpPr>
        <p:spPr>
          <a:xfrm>
            <a:off x="4763896" y="5455968"/>
            <a:ext cx="177516" cy="178635"/>
          </a:xfrm>
          <a:prstGeom prst="flowChartDecision">
            <a:avLst/>
          </a:prstGeom>
          <a:solidFill>
            <a:srgbClr val="43B02A"/>
          </a:solidFill>
          <a:ln w="19050" cap="flat" cmpd="sng" algn="ctr">
            <a:noFill/>
            <a:prstDash val="solid"/>
            <a:miter lim="800000"/>
            <a:headEnd type="none" w="med" len="med"/>
            <a:tailEnd type="none" w="med" len="med"/>
          </a:ln>
          <a:effectLst/>
        </p:spPr>
        <p:txBody>
          <a:bodyPr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endParaRPr kumimoji="0" lang="en-GB" sz="1270" b="0" i="0" u="none" strike="noStrike" kern="0" cap="none" spc="0" normalizeH="0" baseline="0" noProof="0">
              <a:ln>
                <a:noFill/>
              </a:ln>
              <a:solidFill>
                <a:prstClr val="white"/>
              </a:solidFill>
              <a:effectLst/>
              <a:uLnTx/>
              <a:uFillTx/>
              <a:latin typeface="Aptos"/>
              <a:ea typeface="+mn-ea"/>
              <a:cs typeface="+mn-cs"/>
            </a:endParaRPr>
          </a:p>
        </p:txBody>
      </p:sp>
      <p:sp>
        <p:nvSpPr>
          <p:cNvPr id="149" name="Flowchart: Decision 148">
            <a:extLst>
              <a:ext uri="{FF2B5EF4-FFF2-40B4-BE49-F238E27FC236}">
                <a16:creationId xmlns:a16="http://schemas.microsoft.com/office/drawing/2014/main" id="{8BAD12EF-5AE3-9FD8-7534-EC7255B7275B}"/>
              </a:ext>
            </a:extLst>
          </p:cNvPr>
          <p:cNvSpPr>
            <a:spLocks/>
          </p:cNvSpPr>
          <p:nvPr/>
        </p:nvSpPr>
        <p:spPr>
          <a:xfrm>
            <a:off x="4755926" y="5834744"/>
            <a:ext cx="177516" cy="178635"/>
          </a:xfrm>
          <a:prstGeom prst="flowChartDecision">
            <a:avLst/>
          </a:prstGeom>
          <a:solidFill>
            <a:srgbClr val="43B02A"/>
          </a:solidFill>
          <a:ln w="19050" cap="flat" cmpd="sng" algn="ctr">
            <a:noFill/>
            <a:prstDash val="solid"/>
            <a:miter lim="800000"/>
            <a:headEnd type="none" w="med" len="med"/>
            <a:tailEnd type="none" w="med" len="med"/>
          </a:ln>
          <a:effectLst/>
        </p:spPr>
        <p:txBody>
          <a:bodyPr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endParaRPr kumimoji="0" lang="en-GB" sz="1270" b="0" i="0" u="none" strike="noStrike" kern="0" cap="none" spc="0" normalizeH="0" baseline="0" noProof="0">
              <a:ln>
                <a:noFill/>
              </a:ln>
              <a:solidFill>
                <a:prstClr val="white"/>
              </a:solidFill>
              <a:effectLst/>
              <a:uLnTx/>
              <a:uFillTx/>
              <a:latin typeface="Aptos"/>
              <a:ea typeface="+mn-ea"/>
              <a:cs typeface="+mn-cs"/>
            </a:endParaRPr>
          </a:p>
        </p:txBody>
      </p:sp>
      <p:sp>
        <p:nvSpPr>
          <p:cNvPr id="150" name="Flowchart: Decision 149">
            <a:extLst>
              <a:ext uri="{FF2B5EF4-FFF2-40B4-BE49-F238E27FC236}">
                <a16:creationId xmlns:a16="http://schemas.microsoft.com/office/drawing/2014/main" id="{6A1D8203-342E-125A-A80F-91B40D2C9F19}"/>
              </a:ext>
            </a:extLst>
          </p:cNvPr>
          <p:cNvSpPr>
            <a:spLocks/>
          </p:cNvSpPr>
          <p:nvPr/>
        </p:nvSpPr>
        <p:spPr>
          <a:xfrm>
            <a:off x="9433356" y="5427031"/>
            <a:ext cx="177516" cy="178635"/>
          </a:xfrm>
          <a:prstGeom prst="flowChartDecision">
            <a:avLst/>
          </a:prstGeom>
          <a:solidFill>
            <a:srgbClr val="43B02A"/>
          </a:solidFill>
          <a:ln w="19050" cap="flat" cmpd="sng" algn="ctr">
            <a:noFill/>
            <a:prstDash val="solid"/>
            <a:miter lim="800000"/>
            <a:headEnd type="none" w="med" len="med"/>
            <a:tailEnd type="none" w="med" len="med"/>
          </a:ln>
          <a:effectLst/>
        </p:spPr>
        <p:txBody>
          <a:bodyPr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endParaRPr kumimoji="0" lang="en-GB" sz="1270" b="0" i="0" u="none" strike="noStrike" kern="0" cap="none" spc="0" normalizeH="0" baseline="0" noProof="0">
              <a:ln>
                <a:noFill/>
              </a:ln>
              <a:solidFill>
                <a:prstClr val="white"/>
              </a:solidFill>
              <a:effectLst/>
              <a:uLnTx/>
              <a:uFillTx/>
              <a:latin typeface="Aptos"/>
              <a:ea typeface="+mn-ea"/>
              <a:cs typeface="+mn-cs"/>
            </a:endParaRPr>
          </a:p>
        </p:txBody>
      </p:sp>
      <p:grpSp>
        <p:nvGrpSpPr>
          <p:cNvPr id="151" name="Graphic 4">
            <a:extLst>
              <a:ext uri="{FF2B5EF4-FFF2-40B4-BE49-F238E27FC236}">
                <a16:creationId xmlns:a16="http://schemas.microsoft.com/office/drawing/2014/main" id="{E37E2663-CD41-54C0-53E7-BC8CEA039215}"/>
              </a:ext>
            </a:extLst>
          </p:cNvPr>
          <p:cNvGrpSpPr/>
          <p:nvPr/>
        </p:nvGrpSpPr>
        <p:grpSpPr>
          <a:xfrm>
            <a:off x="4770347" y="2638814"/>
            <a:ext cx="362309" cy="361971"/>
            <a:chOff x="1515054" y="3339623"/>
            <a:chExt cx="362309" cy="361971"/>
          </a:xfrm>
          <a:solidFill>
            <a:srgbClr val="43B02A"/>
          </a:solidFill>
        </p:grpSpPr>
        <p:sp>
          <p:nvSpPr>
            <p:cNvPr id="152" name="Graphic 4">
              <a:extLst>
                <a:ext uri="{FF2B5EF4-FFF2-40B4-BE49-F238E27FC236}">
                  <a16:creationId xmlns:a16="http://schemas.microsoft.com/office/drawing/2014/main" id="{0DE8606C-40F4-0198-9F22-8ABF29EBB496}"/>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53" name="Graphic 4">
              <a:extLst>
                <a:ext uri="{FF2B5EF4-FFF2-40B4-BE49-F238E27FC236}">
                  <a16:creationId xmlns:a16="http://schemas.microsoft.com/office/drawing/2014/main" id="{EEB13FB1-A231-1C3E-A3CE-662A3ADB5EFE}"/>
                </a:ext>
              </a:extLst>
            </p:cNvPr>
            <p:cNvSpPr/>
            <p:nvPr/>
          </p:nvSpPr>
          <p:spPr>
            <a:xfrm>
              <a:off x="1577036" y="3402186"/>
              <a:ext cx="237705" cy="237484"/>
            </a:xfrm>
            <a:custGeom>
              <a:avLst/>
              <a:gdLst>
                <a:gd name="connsiteX0" fmla="*/ 118853 w 237705"/>
                <a:gd name="connsiteY0" fmla="*/ 0 h 237484"/>
                <a:gd name="connsiteX1" fmla="*/ 0 w 237705"/>
                <a:gd name="connsiteY1" fmla="*/ 118742 h 237484"/>
                <a:gd name="connsiteX2" fmla="*/ 118853 w 237705"/>
                <a:gd name="connsiteY2" fmla="*/ 237484 h 237484"/>
                <a:gd name="connsiteX3" fmla="*/ 237706 w 237705"/>
                <a:gd name="connsiteY3" fmla="*/ 118742 h 237484"/>
                <a:gd name="connsiteX4" fmla="*/ 118853 w 237705"/>
                <a:gd name="connsiteY4" fmla="*/ 0 h 237484"/>
                <a:gd name="connsiteX5" fmla="*/ 125243 w 237705"/>
                <a:gd name="connsiteY5" fmla="*/ 224078 h 237484"/>
                <a:gd name="connsiteX6" fmla="*/ 125243 w 237705"/>
                <a:gd name="connsiteY6" fmla="*/ 215140 h 237484"/>
                <a:gd name="connsiteX7" fmla="*/ 118853 w 237705"/>
                <a:gd name="connsiteY7" fmla="*/ 208756 h 237484"/>
                <a:gd name="connsiteX8" fmla="*/ 112463 w 237705"/>
                <a:gd name="connsiteY8" fmla="*/ 215140 h 237484"/>
                <a:gd name="connsiteX9" fmla="*/ 112463 w 237705"/>
                <a:gd name="connsiteY9" fmla="*/ 224716 h 237484"/>
                <a:gd name="connsiteX10" fmla="*/ 13419 w 237705"/>
                <a:gd name="connsiteY10" fmla="*/ 125765 h 237484"/>
                <a:gd name="connsiteX11" fmla="*/ 23004 w 237705"/>
                <a:gd name="connsiteY11" fmla="*/ 125765 h 237484"/>
                <a:gd name="connsiteX12" fmla="*/ 29394 w 237705"/>
                <a:gd name="connsiteY12" fmla="*/ 119381 h 237484"/>
                <a:gd name="connsiteX13" fmla="*/ 23004 w 237705"/>
                <a:gd name="connsiteY13" fmla="*/ 112997 h 237484"/>
                <a:gd name="connsiteX14" fmla="*/ 13419 w 237705"/>
                <a:gd name="connsiteY14" fmla="*/ 112997 h 237484"/>
                <a:gd name="connsiteX15" fmla="*/ 112463 w 237705"/>
                <a:gd name="connsiteY15" fmla="*/ 14045 h 237484"/>
                <a:gd name="connsiteX16" fmla="*/ 112463 w 237705"/>
                <a:gd name="connsiteY16" fmla="*/ 23621 h 237484"/>
                <a:gd name="connsiteX17" fmla="*/ 118853 w 237705"/>
                <a:gd name="connsiteY17" fmla="*/ 30005 h 237484"/>
                <a:gd name="connsiteX18" fmla="*/ 125243 w 237705"/>
                <a:gd name="connsiteY18" fmla="*/ 23621 h 237484"/>
                <a:gd name="connsiteX19" fmla="*/ 125243 w 237705"/>
                <a:gd name="connsiteY19" fmla="*/ 14045 h 237484"/>
                <a:gd name="connsiteX20" fmla="*/ 224287 w 237705"/>
                <a:gd name="connsiteY20" fmla="*/ 112997 h 237484"/>
                <a:gd name="connsiteX21" fmla="*/ 214702 w 237705"/>
                <a:gd name="connsiteY21" fmla="*/ 112997 h 237484"/>
                <a:gd name="connsiteX22" fmla="*/ 208312 w 237705"/>
                <a:gd name="connsiteY22" fmla="*/ 119381 h 237484"/>
                <a:gd name="connsiteX23" fmla="*/ 214702 w 237705"/>
                <a:gd name="connsiteY23" fmla="*/ 125765 h 237484"/>
                <a:gd name="connsiteX24" fmla="*/ 224287 w 237705"/>
                <a:gd name="connsiteY24" fmla="*/ 125765 h 237484"/>
                <a:gd name="connsiteX25" fmla="*/ 125243 w 237705"/>
                <a:gd name="connsiteY25" fmla="*/ 224078 h 237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705" h="237484">
                  <a:moveTo>
                    <a:pt x="118853" y="0"/>
                  </a:moveTo>
                  <a:cubicBezTo>
                    <a:pt x="53036" y="0"/>
                    <a:pt x="0" y="52987"/>
                    <a:pt x="0" y="118742"/>
                  </a:cubicBezTo>
                  <a:cubicBezTo>
                    <a:pt x="0" y="184497"/>
                    <a:pt x="53036" y="237484"/>
                    <a:pt x="118853" y="237484"/>
                  </a:cubicBezTo>
                  <a:cubicBezTo>
                    <a:pt x="184669" y="237484"/>
                    <a:pt x="237706" y="184497"/>
                    <a:pt x="237706" y="118742"/>
                  </a:cubicBezTo>
                  <a:cubicBezTo>
                    <a:pt x="237706" y="52987"/>
                    <a:pt x="184669" y="0"/>
                    <a:pt x="118853" y="0"/>
                  </a:cubicBezTo>
                  <a:close/>
                  <a:moveTo>
                    <a:pt x="125243" y="224078"/>
                  </a:moveTo>
                  <a:lnTo>
                    <a:pt x="125243" y="215140"/>
                  </a:lnTo>
                  <a:cubicBezTo>
                    <a:pt x="125243" y="211310"/>
                    <a:pt x="122687" y="208756"/>
                    <a:pt x="118853" y="208756"/>
                  </a:cubicBezTo>
                  <a:cubicBezTo>
                    <a:pt x="115019" y="208756"/>
                    <a:pt x="112463" y="211310"/>
                    <a:pt x="112463" y="215140"/>
                  </a:cubicBezTo>
                  <a:lnTo>
                    <a:pt x="112463" y="224716"/>
                  </a:lnTo>
                  <a:cubicBezTo>
                    <a:pt x="58787" y="221524"/>
                    <a:pt x="16614" y="178752"/>
                    <a:pt x="13419" y="125765"/>
                  </a:cubicBezTo>
                  <a:lnTo>
                    <a:pt x="23004" y="125765"/>
                  </a:lnTo>
                  <a:cubicBezTo>
                    <a:pt x="26838" y="125765"/>
                    <a:pt x="29394" y="123211"/>
                    <a:pt x="29394" y="119381"/>
                  </a:cubicBezTo>
                  <a:cubicBezTo>
                    <a:pt x="29394" y="115550"/>
                    <a:pt x="26838" y="112997"/>
                    <a:pt x="23004" y="112997"/>
                  </a:cubicBezTo>
                  <a:lnTo>
                    <a:pt x="13419" y="112997"/>
                  </a:lnTo>
                  <a:cubicBezTo>
                    <a:pt x="16614" y="59371"/>
                    <a:pt x="59426" y="17237"/>
                    <a:pt x="112463" y="14045"/>
                  </a:cubicBezTo>
                  <a:lnTo>
                    <a:pt x="112463" y="23621"/>
                  </a:lnTo>
                  <a:cubicBezTo>
                    <a:pt x="112463" y="27451"/>
                    <a:pt x="115019" y="30005"/>
                    <a:pt x="118853" y="30005"/>
                  </a:cubicBezTo>
                  <a:cubicBezTo>
                    <a:pt x="122687" y="30005"/>
                    <a:pt x="125243" y="27451"/>
                    <a:pt x="125243" y="23621"/>
                  </a:cubicBezTo>
                  <a:lnTo>
                    <a:pt x="125243" y="14045"/>
                  </a:lnTo>
                  <a:cubicBezTo>
                    <a:pt x="178918" y="17237"/>
                    <a:pt x="221092" y="60010"/>
                    <a:pt x="224287" y="112997"/>
                  </a:cubicBezTo>
                  <a:lnTo>
                    <a:pt x="214702" y="112997"/>
                  </a:lnTo>
                  <a:cubicBezTo>
                    <a:pt x="210868" y="112997"/>
                    <a:pt x="208312" y="115550"/>
                    <a:pt x="208312" y="119381"/>
                  </a:cubicBezTo>
                  <a:cubicBezTo>
                    <a:pt x="208312" y="123211"/>
                    <a:pt x="210868" y="125765"/>
                    <a:pt x="214702" y="125765"/>
                  </a:cubicBezTo>
                  <a:lnTo>
                    <a:pt x="224287" y="125765"/>
                  </a:lnTo>
                  <a:cubicBezTo>
                    <a:pt x="221092" y="178752"/>
                    <a:pt x="178279" y="220886"/>
                    <a:pt x="125243" y="22407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54" name="Graphic 4">
              <a:extLst>
                <a:ext uri="{FF2B5EF4-FFF2-40B4-BE49-F238E27FC236}">
                  <a16:creationId xmlns:a16="http://schemas.microsoft.com/office/drawing/2014/main" id="{B9708D6F-AD63-B76E-C628-0BA0E756E49A}"/>
                </a:ext>
              </a:extLst>
            </p:cNvPr>
            <p:cNvSpPr/>
            <p:nvPr/>
          </p:nvSpPr>
          <p:spPr>
            <a:xfrm>
              <a:off x="1644104" y="3469192"/>
              <a:ext cx="104207" cy="103446"/>
            </a:xfrm>
            <a:custGeom>
              <a:avLst/>
              <a:gdLst>
                <a:gd name="connsiteX0" fmla="*/ 94597 w 104207"/>
                <a:gd name="connsiteY0" fmla="*/ 664 h 103446"/>
                <a:gd name="connsiteX1" fmla="*/ 31975 w 104207"/>
                <a:gd name="connsiteY1" fmla="*/ 28754 h 103446"/>
                <a:gd name="connsiteX2" fmla="*/ 28781 w 104207"/>
                <a:gd name="connsiteY2" fmla="*/ 31946 h 103446"/>
                <a:gd name="connsiteX3" fmla="*/ 665 w 104207"/>
                <a:gd name="connsiteY3" fmla="*/ 94509 h 103446"/>
                <a:gd name="connsiteX4" fmla="*/ 1943 w 104207"/>
                <a:gd name="connsiteY4" fmla="*/ 101531 h 103446"/>
                <a:gd name="connsiteX5" fmla="*/ 6416 w 104207"/>
                <a:gd name="connsiteY5" fmla="*/ 103446 h 103446"/>
                <a:gd name="connsiteX6" fmla="*/ 8972 w 104207"/>
                <a:gd name="connsiteY6" fmla="*/ 102808 h 103446"/>
                <a:gd name="connsiteX7" fmla="*/ 71593 w 104207"/>
                <a:gd name="connsiteY7" fmla="*/ 74080 h 103446"/>
                <a:gd name="connsiteX8" fmla="*/ 74788 w 104207"/>
                <a:gd name="connsiteY8" fmla="*/ 71526 h 103446"/>
                <a:gd name="connsiteX9" fmla="*/ 103543 w 104207"/>
                <a:gd name="connsiteY9" fmla="*/ 8963 h 103446"/>
                <a:gd name="connsiteX10" fmla="*/ 102265 w 104207"/>
                <a:gd name="connsiteY10" fmla="*/ 1941 h 103446"/>
                <a:gd name="connsiteX11" fmla="*/ 94597 w 104207"/>
                <a:gd name="connsiteY11" fmla="*/ 664 h 103446"/>
                <a:gd name="connsiteX12" fmla="*/ 37088 w 104207"/>
                <a:gd name="connsiteY12" fmla="*/ 45352 h 103446"/>
                <a:gd name="connsiteX13" fmla="*/ 58174 w 104207"/>
                <a:gd name="connsiteY13" fmla="*/ 66419 h 103446"/>
                <a:gd name="connsiteX14" fmla="*/ 19835 w 104207"/>
                <a:gd name="connsiteY14" fmla="*/ 83656 h 103446"/>
                <a:gd name="connsiteX15" fmla="*/ 37088 w 104207"/>
                <a:gd name="connsiteY15" fmla="*/ 45352 h 103446"/>
                <a:gd name="connsiteX16" fmla="*/ 67120 w 104207"/>
                <a:gd name="connsiteY16" fmla="*/ 57482 h 103446"/>
                <a:gd name="connsiteX17" fmla="*/ 46033 w 104207"/>
                <a:gd name="connsiteY17" fmla="*/ 36415 h 103446"/>
                <a:gd name="connsiteX18" fmla="*/ 84373 w 104207"/>
                <a:gd name="connsiteY18" fmla="*/ 18539 h 103446"/>
                <a:gd name="connsiteX19" fmla="*/ 67120 w 104207"/>
                <a:gd name="connsiteY19" fmla="*/ 57482 h 1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4207" h="103446">
                  <a:moveTo>
                    <a:pt x="94597" y="664"/>
                  </a:moveTo>
                  <a:lnTo>
                    <a:pt x="31975" y="28754"/>
                  </a:lnTo>
                  <a:cubicBezTo>
                    <a:pt x="30698" y="29392"/>
                    <a:pt x="29420" y="30669"/>
                    <a:pt x="28781" y="31946"/>
                  </a:cubicBezTo>
                  <a:lnTo>
                    <a:pt x="665" y="94509"/>
                  </a:lnTo>
                  <a:cubicBezTo>
                    <a:pt x="-613" y="97062"/>
                    <a:pt x="26" y="99616"/>
                    <a:pt x="1943" y="101531"/>
                  </a:cubicBezTo>
                  <a:cubicBezTo>
                    <a:pt x="3221" y="102808"/>
                    <a:pt x="4499" y="103446"/>
                    <a:pt x="6416" y="103446"/>
                  </a:cubicBezTo>
                  <a:cubicBezTo>
                    <a:pt x="7055" y="103446"/>
                    <a:pt x="8333" y="103446"/>
                    <a:pt x="8972" y="102808"/>
                  </a:cubicBezTo>
                  <a:lnTo>
                    <a:pt x="71593" y="74080"/>
                  </a:lnTo>
                  <a:cubicBezTo>
                    <a:pt x="72871" y="73442"/>
                    <a:pt x="74149" y="72803"/>
                    <a:pt x="74788" y="71526"/>
                  </a:cubicBezTo>
                  <a:lnTo>
                    <a:pt x="103543" y="8963"/>
                  </a:lnTo>
                  <a:cubicBezTo>
                    <a:pt x="104821" y="6410"/>
                    <a:pt x="104182" y="3856"/>
                    <a:pt x="102265" y="1941"/>
                  </a:cubicBezTo>
                  <a:cubicBezTo>
                    <a:pt x="100348" y="26"/>
                    <a:pt x="97153" y="-613"/>
                    <a:pt x="94597" y="664"/>
                  </a:cubicBezTo>
                  <a:close/>
                  <a:moveTo>
                    <a:pt x="37088" y="45352"/>
                  </a:moveTo>
                  <a:lnTo>
                    <a:pt x="58174" y="66419"/>
                  </a:lnTo>
                  <a:lnTo>
                    <a:pt x="19835" y="83656"/>
                  </a:lnTo>
                  <a:lnTo>
                    <a:pt x="37088" y="45352"/>
                  </a:lnTo>
                  <a:close/>
                  <a:moveTo>
                    <a:pt x="67120" y="57482"/>
                  </a:moveTo>
                  <a:lnTo>
                    <a:pt x="46033" y="36415"/>
                  </a:lnTo>
                  <a:lnTo>
                    <a:pt x="84373" y="18539"/>
                  </a:lnTo>
                  <a:lnTo>
                    <a:pt x="67120" y="5748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grpSp>
        <p:nvGrpSpPr>
          <p:cNvPr id="155" name="Graphic 4">
            <a:extLst>
              <a:ext uri="{FF2B5EF4-FFF2-40B4-BE49-F238E27FC236}">
                <a16:creationId xmlns:a16="http://schemas.microsoft.com/office/drawing/2014/main" id="{685D0E67-EBA7-A380-7D27-ABB075FE88DB}"/>
              </a:ext>
            </a:extLst>
          </p:cNvPr>
          <p:cNvGrpSpPr/>
          <p:nvPr/>
        </p:nvGrpSpPr>
        <p:grpSpPr>
          <a:xfrm>
            <a:off x="9456017" y="2640072"/>
            <a:ext cx="362312" cy="361971"/>
            <a:chOff x="8840477" y="4793256"/>
            <a:chExt cx="362312" cy="361971"/>
          </a:xfrm>
          <a:solidFill>
            <a:srgbClr val="43B02A"/>
          </a:solidFill>
        </p:grpSpPr>
        <p:sp>
          <p:nvSpPr>
            <p:cNvPr id="156" name="Graphic 4">
              <a:extLst>
                <a:ext uri="{FF2B5EF4-FFF2-40B4-BE49-F238E27FC236}">
                  <a16:creationId xmlns:a16="http://schemas.microsoft.com/office/drawing/2014/main" id="{613C8540-8F7C-1293-51BB-4B9C058C3686}"/>
                </a:ext>
              </a:extLst>
            </p:cNvPr>
            <p:cNvSpPr/>
            <p:nvPr/>
          </p:nvSpPr>
          <p:spPr>
            <a:xfrm>
              <a:off x="8840477" y="4793256"/>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29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4"/>
                    <a:pt x="12780" y="180667"/>
                  </a:cubicBezTo>
                  <a:cubicBezTo>
                    <a:pt x="12780" y="87461"/>
                    <a:pt x="88181" y="12129"/>
                    <a:pt x="180836" y="12129"/>
                  </a:cubicBezTo>
                  <a:cubicBezTo>
                    <a:pt x="274128" y="12129"/>
                    <a:pt x="349529" y="87461"/>
                    <a:pt x="349529" y="180028"/>
                  </a:cubicBezTo>
                  <a:cubicBezTo>
                    <a:pt x="349529" y="180028"/>
                    <a:pt x="349529" y="180028"/>
                    <a:pt x="349529" y="180028"/>
                  </a:cubicBezTo>
                  <a:cubicBezTo>
                    <a:pt x="350169"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7" name="Graphic 4">
              <a:extLst>
                <a:ext uri="{FF2B5EF4-FFF2-40B4-BE49-F238E27FC236}">
                  <a16:creationId xmlns:a16="http://schemas.microsoft.com/office/drawing/2014/main" id="{AC800BCF-61CE-1961-54B4-FE57F73CF628}"/>
                </a:ext>
              </a:extLst>
            </p:cNvPr>
            <p:cNvSpPr/>
            <p:nvPr/>
          </p:nvSpPr>
          <p:spPr>
            <a:xfrm>
              <a:off x="9009172" y="4894761"/>
              <a:ext cx="120130" cy="158323"/>
            </a:xfrm>
            <a:custGeom>
              <a:avLst/>
              <a:gdLst>
                <a:gd name="connsiteX0" fmla="*/ 113740 w 120130"/>
                <a:gd name="connsiteY0" fmla="*/ 0 h 158323"/>
                <a:gd name="connsiteX1" fmla="*/ 6390 w 120130"/>
                <a:gd name="connsiteY1" fmla="*/ 0 h 158323"/>
                <a:gd name="connsiteX2" fmla="*/ 0 w 120130"/>
                <a:gd name="connsiteY2" fmla="*/ 6384 h 158323"/>
                <a:gd name="connsiteX3" fmla="*/ 0 w 120130"/>
                <a:gd name="connsiteY3" fmla="*/ 64478 h 158323"/>
                <a:gd name="connsiteX4" fmla="*/ 6390 w 120130"/>
                <a:gd name="connsiteY4" fmla="*/ 70862 h 158323"/>
                <a:gd name="connsiteX5" fmla="*/ 12780 w 120130"/>
                <a:gd name="connsiteY5" fmla="*/ 64478 h 158323"/>
                <a:gd name="connsiteX6" fmla="*/ 12780 w 120130"/>
                <a:gd name="connsiteY6" fmla="*/ 12768 h 158323"/>
                <a:gd name="connsiteX7" fmla="*/ 107350 w 120130"/>
                <a:gd name="connsiteY7" fmla="*/ 12768 h 158323"/>
                <a:gd name="connsiteX8" fmla="*/ 107350 w 120130"/>
                <a:gd name="connsiteY8" fmla="*/ 145555 h 158323"/>
                <a:gd name="connsiteX9" fmla="*/ 12780 w 120130"/>
                <a:gd name="connsiteY9" fmla="*/ 145555 h 158323"/>
                <a:gd name="connsiteX10" fmla="*/ 12780 w 120130"/>
                <a:gd name="connsiteY10" fmla="*/ 137256 h 158323"/>
                <a:gd name="connsiteX11" fmla="*/ 6390 w 120130"/>
                <a:gd name="connsiteY11" fmla="*/ 130872 h 158323"/>
                <a:gd name="connsiteX12" fmla="*/ 0 w 120130"/>
                <a:gd name="connsiteY12" fmla="*/ 137256 h 158323"/>
                <a:gd name="connsiteX13" fmla="*/ 0 w 120130"/>
                <a:gd name="connsiteY13" fmla="*/ 151939 h 158323"/>
                <a:gd name="connsiteX14" fmla="*/ 6390 w 120130"/>
                <a:gd name="connsiteY14" fmla="*/ 158323 h 158323"/>
                <a:gd name="connsiteX15" fmla="*/ 113740 w 120130"/>
                <a:gd name="connsiteY15" fmla="*/ 158323 h 158323"/>
                <a:gd name="connsiteX16" fmla="*/ 120130 w 120130"/>
                <a:gd name="connsiteY16" fmla="*/ 151939 h 158323"/>
                <a:gd name="connsiteX17" fmla="*/ 120130 w 120130"/>
                <a:gd name="connsiteY17" fmla="*/ 6384 h 158323"/>
                <a:gd name="connsiteX18" fmla="*/ 113740 w 120130"/>
                <a:gd name="connsiteY18" fmla="*/ 0 h 158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0130" h="158323">
                  <a:moveTo>
                    <a:pt x="113740" y="0"/>
                  </a:moveTo>
                  <a:lnTo>
                    <a:pt x="6390" y="0"/>
                  </a:lnTo>
                  <a:cubicBezTo>
                    <a:pt x="2556" y="0"/>
                    <a:pt x="0" y="2554"/>
                    <a:pt x="0" y="6384"/>
                  </a:cubicBezTo>
                  <a:lnTo>
                    <a:pt x="0" y="64478"/>
                  </a:lnTo>
                  <a:cubicBezTo>
                    <a:pt x="0" y="68309"/>
                    <a:pt x="2556" y="70862"/>
                    <a:pt x="6390" y="70862"/>
                  </a:cubicBezTo>
                  <a:cubicBezTo>
                    <a:pt x="10224" y="70862"/>
                    <a:pt x="12780" y="68309"/>
                    <a:pt x="12780" y="64478"/>
                  </a:cubicBezTo>
                  <a:lnTo>
                    <a:pt x="12780" y="12768"/>
                  </a:lnTo>
                  <a:lnTo>
                    <a:pt x="107350" y="12768"/>
                  </a:lnTo>
                  <a:lnTo>
                    <a:pt x="107350" y="145555"/>
                  </a:lnTo>
                  <a:lnTo>
                    <a:pt x="12780" y="145555"/>
                  </a:lnTo>
                  <a:lnTo>
                    <a:pt x="12780" y="137256"/>
                  </a:lnTo>
                  <a:cubicBezTo>
                    <a:pt x="12780" y="133425"/>
                    <a:pt x="10224" y="130872"/>
                    <a:pt x="6390" y="130872"/>
                  </a:cubicBezTo>
                  <a:cubicBezTo>
                    <a:pt x="2556" y="130872"/>
                    <a:pt x="0" y="133425"/>
                    <a:pt x="0" y="137256"/>
                  </a:cubicBezTo>
                  <a:lnTo>
                    <a:pt x="0" y="151939"/>
                  </a:lnTo>
                  <a:cubicBezTo>
                    <a:pt x="0" y="155769"/>
                    <a:pt x="2556" y="158323"/>
                    <a:pt x="6390" y="158323"/>
                  </a:cubicBezTo>
                  <a:lnTo>
                    <a:pt x="113740" y="158323"/>
                  </a:lnTo>
                  <a:cubicBezTo>
                    <a:pt x="117575" y="158323"/>
                    <a:pt x="120130" y="155769"/>
                    <a:pt x="120130" y="151939"/>
                  </a:cubicBezTo>
                  <a:lnTo>
                    <a:pt x="120130" y="6384"/>
                  </a:lnTo>
                  <a:cubicBezTo>
                    <a:pt x="120130" y="3192"/>
                    <a:pt x="116935" y="0"/>
                    <a:pt x="11374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8" name="Graphic 4">
              <a:extLst>
                <a:ext uri="{FF2B5EF4-FFF2-40B4-BE49-F238E27FC236}">
                  <a16:creationId xmlns:a16="http://schemas.microsoft.com/office/drawing/2014/main" id="{E025FE0B-AB5F-2983-BDFF-30D7B5C7E013}"/>
                </a:ext>
              </a:extLst>
            </p:cNvPr>
            <p:cNvSpPr/>
            <p:nvPr/>
          </p:nvSpPr>
          <p:spPr>
            <a:xfrm>
              <a:off x="8927380" y="4901145"/>
              <a:ext cx="51119" cy="51071"/>
            </a:xfrm>
            <a:custGeom>
              <a:avLst/>
              <a:gdLst>
                <a:gd name="connsiteX0" fmla="*/ 25560 w 51119"/>
                <a:gd name="connsiteY0" fmla="*/ 51072 h 51071"/>
                <a:gd name="connsiteX1" fmla="*/ 51119 w 51119"/>
                <a:gd name="connsiteY1" fmla="*/ 25536 h 51071"/>
                <a:gd name="connsiteX2" fmla="*/ 25560 w 51119"/>
                <a:gd name="connsiteY2" fmla="*/ 0 h 51071"/>
                <a:gd name="connsiteX3" fmla="*/ 0 w 51119"/>
                <a:gd name="connsiteY3" fmla="*/ 25536 h 51071"/>
                <a:gd name="connsiteX4" fmla="*/ 25560 w 51119"/>
                <a:gd name="connsiteY4" fmla="*/ 51072 h 51071"/>
                <a:gd name="connsiteX5" fmla="*/ 25560 w 51119"/>
                <a:gd name="connsiteY5" fmla="*/ 12768 h 51071"/>
                <a:gd name="connsiteX6" fmla="*/ 38340 w 51119"/>
                <a:gd name="connsiteY6" fmla="*/ 25536 h 51071"/>
                <a:gd name="connsiteX7" fmla="*/ 25560 w 51119"/>
                <a:gd name="connsiteY7" fmla="*/ 38304 h 51071"/>
                <a:gd name="connsiteX8" fmla="*/ 12780 w 51119"/>
                <a:gd name="connsiteY8" fmla="*/ 25536 h 51071"/>
                <a:gd name="connsiteX9" fmla="*/ 25560 w 51119"/>
                <a:gd name="connsiteY9" fmla="*/ 12768 h 51071"/>
                <a:gd name="connsiteX10" fmla="*/ 25560 w 51119"/>
                <a:gd name="connsiteY10" fmla="*/ 12768 h 51071"/>
                <a:gd name="connsiteX11" fmla="*/ 25560 w 51119"/>
                <a:gd name="connsiteY11" fmla="*/ 12768 h 5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19" h="51071">
                  <a:moveTo>
                    <a:pt x="25560" y="51072"/>
                  </a:moveTo>
                  <a:cubicBezTo>
                    <a:pt x="39618" y="51072"/>
                    <a:pt x="51119" y="39581"/>
                    <a:pt x="51119" y="25536"/>
                  </a:cubicBezTo>
                  <a:cubicBezTo>
                    <a:pt x="51119" y="11491"/>
                    <a:pt x="39618" y="0"/>
                    <a:pt x="25560" y="0"/>
                  </a:cubicBezTo>
                  <a:cubicBezTo>
                    <a:pt x="11502" y="0"/>
                    <a:pt x="0" y="11491"/>
                    <a:pt x="0" y="25536"/>
                  </a:cubicBezTo>
                  <a:cubicBezTo>
                    <a:pt x="0" y="39581"/>
                    <a:pt x="11502" y="51072"/>
                    <a:pt x="25560" y="51072"/>
                  </a:cubicBezTo>
                  <a:close/>
                  <a:moveTo>
                    <a:pt x="25560" y="12768"/>
                  </a:moveTo>
                  <a:cubicBezTo>
                    <a:pt x="32589" y="12768"/>
                    <a:pt x="38340" y="18514"/>
                    <a:pt x="38340" y="25536"/>
                  </a:cubicBezTo>
                  <a:cubicBezTo>
                    <a:pt x="38340" y="32559"/>
                    <a:pt x="32589" y="38304"/>
                    <a:pt x="25560" y="38304"/>
                  </a:cubicBezTo>
                  <a:cubicBezTo>
                    <a:pt x="18531" y="38304"/>
                    <a:pt x="12780" y="32559"/>
                    <a:pt x="12780" y="25536"/>
                  </a:cubicBezTo>
                  <a:cubicBezTo>
                    <a:pt x="12780" y="18514"/>
                    <a:pt x="18531" y="12768"/>
                    <a:pt x="25560" y="12768"/>
                  </a:cubicBezTo>
                  <a:cubicBezTo>
                    <a:pt x="25560" y="12768"/>
                    <a:pt x="25560" y="12768"/>
                    <a:pt x="25560" y="12768"/>
                  </a:cubicBezTo>
                  <a:lnTo>
                    <a:pt x="25560"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9" name="Graphic 4">
              <a:extLst>
                <a:ext uri="{FF2B5EF4-FFF2-40B4-BE49-F238E27FC236}">
                  <a16:creationId xmlns:a16="http://schemas.microsoft.com/office/drawing/2014/main" id="{D7B7B870-88F7-14FC-698C-EC29944D8FC3}"/>
                </a:ext>
              </a:extLst>
            </p:cNvPr>
            <p:cNvSpPr/>
            <p:nvPr/>
          </p:nvSpPr>
          <p:spPr>
            <a:xfrm>
              <a:off x="8915239" y="4966953"/>
              <a:ext cx="141218" cy="87407"/>
            </a:xfrm>
            <a:custGeom>
              <a:avLst/>
              <a:gdLst>
                <a:gd name="connsiteX0" fmla="*/ 106712 w 141218"/>
                <a:gd name="connsiteY0" fmla="*/ 49104 h 87407"/>
                <a:gd name="connsiteX1" fmla="*/ 111185 w 141218"/>
                <a:gd name="connsiteY1" fmla="*/ 47189 h 87407"/>
                <a:gd name="connsiteX2" fmla="*/ 139301 w 141218"/>
                <a:gd name="connsiteY2" fmla="*/ 17823 h 87407"/>
                <a:gd name="connsiteX3" fmla="*/ 139301 w 141218"/>
                <a:gd name="connsiteY3" fmla="*/ 8885 h 87407"/>
                <a:gd name="connsiteX4" fmla="*/ 130355 w 141218"/>
                <a:gd name="connsiteY4" fmla="*/ 8885 h 87407"/>
                <a:gd name="connsiteX5" fmla="*/ 106074 w 141218"/>
                <a:gd name="connsiteY5" fmla="*/ 34421 h 87407"/>
                <a:gd name="connsiteX6" fmla="*/ 74763 w 141218"/>
                <a:gd name="connsiteY6" fmla="*/ 10800 h 87407"/>
                <a:gd name="connsiteX7" fmla="*/ 74763 w 141218"/>
                <a:gd name="connsiteY7" fmla="*/ 10800 h 87407"/>
                <a:gd name="connsiteX8" fmla="*/ 74763 w 141218"/>
                <a:gd name="connsiteY8" fmla="*/ 10800 h 87407"/>
                <a:gd name="connsiteX9" fmla="*/ 3195 w 141218"/>
                <a:gd name="connsiteY9" fmla="*/ 8247 h 87407"/>
                <a:gd name="connsiteX10" fmla="*/ 0 w 141218"/>
                <a:gd name="connsiteY10" fmla="*/ 13992 h 87407"/>
                <a:gd name="connsiteX11" fmla="*/ 0 w 141218"/>
                <a:gd name="connsiteY11" fmla="*/ 80385 h 87407"/>
                <a:gd name="connsiteX12" fmla="*/ 6390 w 141218"/>
                <a:gd name="connsiteY12" fmla="*/ 86769 h 87407"/>
                <a:gd name="connsiteX13" fmla="*/ 12780 w 141218"/>
                <a:gd name="connsiteY13" fmla="*/ 80385 h 87407"/>
                <a:gd name="connsiteX14" fmla="*/ 12780 w 141218"/>
                <a:gd name="connsiteY14" fmla="*/ 18461 h 87407"/>
                <a:gd name="connsiteX15" fmla="*/ 65178 w 141218"/>
                <a:gd name="connsiteY15" fmla="*/ 20376 h 87407"/>
                <a:gd name="connsiteX16" fmla="*/ 65178 w 141218"/>
                <a:gd name="connsiteY16" fmla="*/ 81024 h 87407"/>
                <a:gd name="connsiteX17" fmla="*/ 71568 w 141218"/>
                <a:gd name="connsiteY17" fmla="*/ 87408 h 87407"/>
                <a:gd name="connsiteX18" fmla="*/ 77958 w 141218"/>
                <a:gd name="connsiteY18" fmla="*/ 81024 h 87407"/>
                <a:gd name="connsiteX19" fmla="*/ 77958 w 141218"/>
                <a:gd name="connsiteY19" fmla="*/ 29952 h 87407"/>
                <a:gd name="connsiteX20" fmla="*/ 103517 w 141218"/>
                <a:gd name="connsiteY20" fmla="*/ 49104 h 87407"/>
                <a:gd name="connsiteX21" fmla="*/ 106712 w 141218"/>
                <a:gd name="connsiteY21" fmla="*/ 49104 h 8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1218" h="87407">
                  <a:moveTo>
                    <a:pt x="106712" y="49104"/>
                  </a:moveTo>
                  <a:cubicBezTo>
                    <a:pt x="108629" y="49104"/>
                    <a:pt x="109907" y="48466"/>
                    <a:pt x="111185" y="47189"/>
                  </a:cubicBezTo>
                  <a:lnTo>
                    <a:pt x="139301" y="17823"/>
                  </a:lnTo>
                  <a:cubicBezTo>
                    <a:pt x="141857" y="15269"/>
                    <a:pt x="141857" y="11439"/>
                    <a:pt x="139301" y="8885"/>
                  </a:cubicBezTo>
                  <a:cubicBezTo>
                    <a:pt x="136745" y="6331"/>
                    <a:pt x="132911" y="6331"/>
                    <a:pt x="130355" y="8885"/>
                  </a:cubicBezTo>
                  <a:lnTo>
                    <a:pt x="106074" y="34421"/>
                  </a:lnTo>
                  <a:lnTo>
                    <a:pt x="74763" y="10800"/>
                  </a:lnTo>
                  <a:lnTo>
                    <a:pt x="74763" y="10800"/>
                  </a:lnTo>
                  <a:lnTo>
                    <a:pt x="74763" y="10800"/>
                  </a:lnTo>
                  <a:cubicBezTo>
                    <a:pt x="41535" y="-11544"/>
                    <a:pt x="5112" y="7608"/>
                    <a:pt x="3195" y="8247"/>
                  </a:cubicBezTo>
                  <a:cubicBezTo>
                    <a:pt x="1278" y="9523"/>
                    <a:pt x="0" y="11439"/>
                    <a:pt x="0" y="13992"/>
                  </a:cubicBezTo>
                  <a:lnTo>
                    <a:pt x="0" y="80385"/>
                  </a:lnTo>
                  <a:cubicBezTo>
                    <a:pt x="0" y="84216"/>
                    <a:pt x="2556" y="86769"/>
                    <a:pt x="6390" y="86769"/>
                  </a:cubicBezTo>
                  <a:cubicBezTo>
                    <a:pt x="10225" y="86769"/>
                    <a:pt x="12780" y="84216"/>
                    <a:pt x="12780" y="80385"/>
                  </a:cubicBezTo>
                  <a:lnTo>
                    <a:pt x="12780" y="18461"/>
                  </a:lnTo>
                  <a:cubicBezTo>
                    <a:pt x="21087" y="15269"/>
                    <a:pt x="44091" y="7608"/>
                    <a:pt x="65178" y="20376"/>
                  </a:cubicBezTo>
                  <a:lnTo>
                    <a:pt x="65178" y="81024"/>
                  </a:lnTo>
                  <a:cubicBezTo>
                    <a:pt x="65178" y="84854"/>
                    <a:pt x="67734" y="87408"/>
                    <a:pt x="71568" y="87408"/>
                  </a:cubicBezTo>
                  <a:cubicBezTo>
                    <a:pt x="75402" y="87408"/>
                    <a:pt x="77958" y="84854"/>
                    <a:pt x="77958" y="81024"/>
                  </a:cubicBezTo>
                  <a:lnTo>
                    <a:pt x="77958" y="29952"/>
                  </a:lnTo>
                  <a:lnTo>
                    <a:pt x="103517" y="49104"/>
                  </a:lnTo>
                  <a:cubicBezTo>
                    <a:pt x="104156" y="48466"/>
                    <a:pt x="105434" y="49104"/>
                    <a:pt x="106712" y="491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0" name="Graphic 4">
            <a:extLst>
              <a:ext uri="{FF2B5EF4-FFF2-40B4-BE49-F238E27FC236}">
                <a16:creationId xmlns:a16="http://schemas.microsoft.com/office/drawing/2014/main" id="{65D2BC75-333B-FF6D-8A7F-79823DF86790}"/>
              </a:ext>
            </a:extLst>
          </p:cNvPr>
          <p:cNvGrpSpPr/>
          <p:nvPr/>
        </p:nvGrpSpPr>
        <p:grpSpPr>
          <a:xfrm>
            <a:off x="7065803" y="2621803"/>
            <a:ext cx="361674" cy="361333"/>
            <a:chOff x="5708769" y="3339623"/>
            <a:chExt cx="361674" cy="361333"/>
          </a:xfrm>
          <a:solidFill>
            <a:srgbClr val="43B02A"/>
          </a:solidFill>
        </p:grpSpPr>
        <p:sp>
          <p:nvSpPr>
            <p:cNvPr id="161" name="Graphic 4">
              <a:extLst>
                <a:ext uri="{FF2B5EF4-FFF2-40B4-BE49-F238E27FC236}">
                  <a16:creationId xmlns:a16="http://schemas.microsoft.com/office/drawing/2014/main" id="{E791F4D7-6440-C681-DFA7-BCF46C799594}"/>
                </a:ext>
              </a:extLst>
            </p:cNvPr>
            <p:cNvSpPr/>
            <p:nvPr/>
          </p:nvSpPr>
          <p:spPr>
            <a:xfrm>
              <a:off x="5708769" y="3339623"/>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180835 w 361674"/>
                <a:gd name="connsiteY5" fmla="*/ 349204 h 361333"/>
                <a:gd name="connsiteX6" fmla="*/ 12780 w 361674"/>
                <a:gd name="connsiteY6" fmla="*/ 181305 h 361333"/>
                <a:gd name="connsiteX7" fmla="*/ 180835 w 361674"/>
                <a:gd name="connsiteY7" fmla="*/ 13406 h 361333"/>
                <a:gd name="connsiteX8" fmla="*/ 348890 w 361674"/>
                <a:gd name="connsiteY8" fmla="*/ 181305 h 361333"/>
                <a:gd name="connsiteX9" fmla="*/ 180835 w 361674"/>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close/>
                  <a:moveTo>
                    <a:pt x="180835" y="349204"/>
                  </a:moveTo>
                  <a:cubicBezTo>
                    <a:pt x="88181" y="349204"/>
                    <a:pt x="12780" y="273873"/>
                    <a:pt x="12780" y="181305"/>
                  </a:cubicBezTo>
                  <a:cubicBezTo>
                    <a:pt x="12780" y="88738"/>
                    <a:pt x="88181" y="13406"/>
                    <a:pt x="180835" y="13406"/>
                  </a:cubicBezTo>
                  <a:cubicBezTo>
                    <a:pt x="273489" y="13406"/>
                    <a:pt x="348890" y="88738"/>
                    <a:pt x="348890" y="181305"/>
                  </a:cubicBezTo>
                  <a:cubicBezTo>
                    <a:pt x="349529"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62" name="Graphic 4">
              <a:extLst>
                <a:ext uri="{FF2B5EF4-FFF2-40B4-BE49-F238E27FC236}">
                  <a16:creationId xmlns:a16="http://schemas.microsoft.com/office/drawing/2014/main" id="{0EBC3205-837E-660A-0F63-AC9B4FAD716F}"/>
                </a:ext>
              </a:extLst>
            </p:cNvPr>
            <p:cNvSpPr/>
            <p:nvPr/>
          </p:nvSpPr>
          <p:spPr>
            <a:xfrm>
              <a:off x="5821232" y="3414316"/>
              <a:ext cx="65177" cy="213863"/>
            </a:xfrm>
            <a:custGeom>
              <a:avLst/>
              <a:gdLst>
                <a:gd name="connsiteX0" fmla="*/ 54314 w 65177"/>
                <a:gd name="connsiteY0" fmla="*/ 176836 h 213863"/>
                <a:gd name="connsiteX1" fmla="*/ 38978 w 65177"/>
                <a:gd name="connsiteY1" fmla="*/ 192158 h 213863"/>
                <a:gd name="connsiteX2" fmla="*/ 38978 w 65177"/>
                <a:gd name="connsiteY2" fmla="*/ 6384 h 213863"/>
                <a:gd name="connsiteX3" fmla="*/ 32588 w 65177"/>
                <a:gd name="connsiteY3" fmla="*/ 0 h 213863"/>
                <a:gd name="connsiteX4" fmla="*/ 26198 w 65177"/>
                <a:gd name="connsiteY4" fmla="*/ 6384 h 213863"/>
                <a:gd name="connsiteX5" fmla="*/ 26198 w 65177"/>
                <a:gd name="connsiteY5" fmla="*/ 192158 h 213863"/>
                <a:gd name="connsiteX6" fmla="*/ 10863 w 65177"/>
                <a:gd name="connsiteY6" fmla="*/ 176836 h 213863"/>
                <a:gd name="connsiteX7" fmla="*/ 1917 w 65177"/>
                <a:gd name="connsiteY7" fmla="*/ 176836 h 213863"/>
                <a:gd name="connsiteX8" fmla="*/ 1917 w 65177"/>
                <a:gd name="connsiteY8" fmla="*/ 185774 h 213863"/>
                <a:gd name="connsiteX9" fmla="*/ 28116 w 65177"/>
                <a:gd name="connsiteY9" fmla="*/ 211948 h 213863"/>
                <a:gd name="connsiteX10" fmla="*/ 30033 w 65177"/>
                <a:gd name="connsiteY10" fmla="*/ 213225 h 213863"/>
                <a:gd name="connsiteX11" fmla="*/ 32588 w 65177"/>
                <a:gd name="connsiteY11" fmla="*/ 213863 h 213863"/>
                <a:gd name="connsiteX12" fmla="*/ 35145 w 65177"/>
                <a:gd name="connsiteY12" fmla="*/ 213225 h 213863"/>
                <a:gd name="connsiteX13" fmla="*/ 37061 w 65177"/>
                <a:gd name="connsiteY13" fmla="*/ 211948 h 213863"/>
                <a:gd name="connsiteX14" fmla="*/ 63260 w 65177"/>
                <a:gd name="connsiteY14" fmla="*/ 185774 h 213863"/>
                <a:gd name="connsiteX15" fmla="*/ 63260 w 65177"/>
                <a:gd name="connsiteY15" fmla="*/ 176836 h 213863"/>
                <a:gd name="connsiteX16" fmla="*/ 54314 w 65177"/>
                <a:gd name="connsiteY16" fmla="*/ 176836 h 21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177" h="213863">
                  <a:moveTo>
                    <a:pt x="54314" y="176836"/>
                  </a:moveTo>
                  <a:lnTo>
                    <a:pt x="38978" y="192158"/>
                  </a:lnTo>
                  <a:lnTo>
                    <a:pt x="38978" y="6384"/>
                  </a:lnTo>
                  <a:cubicBezTo>
                    <a:pt x="38978" y="2553"/>
                    <a:pt x="36423" y="0"/>
                    <a:pt x="32588" y="0"/>
                  </a:cubicBezTo>
                  <a:cubicBezTo>
                    <a:pt x="28755" y="0"/>
                    <a:pt x="26198" y="2553"/>
                    <a:pt x="26198" y="6384"/>
                  </a:cubicBezTo>
                  <a:lnTo>
                    <a:pt x="26198" y="192158"/>
                  </a:lnTo>
                  <a:lnTo>
                    <a:pt x="10863" y="176836"/>
                  </a:lnTo>
                  <a:cubicBezTo>
                    <a:pt x="8307" y="174283"/>
                    <a:pt x="4473" y="174283"/>
                    <a:pt x="1917" y="176836"/>
                  </a:cubicBezTo>
                  <a:cubicBezTo>
                    <a:pt x="-639" y="179390"/>
                    <a:pt x="-639" y="183220"/>
                    <a:pt x="1917" y="185774"/>
                  </a:cubicBezTo>
                  <a:lnTo>
                    <a:pt x="28116" y="211948"/>
                  </a:lnTo>
                  <a:cubicBezTo>
                    <a:pt x="28755" y="212587"/>
                    <a:pt x="29393" y="213225"/>
                    <a:pt x="30033" y="213225"/>
                  </a:cubicBezTo>
                  <a:cubicBezTo>
                    <a:pt x="30672" y="213863"/>
                    <a:pt x="31950" y="213863"/>
                    <a:pt x="32588" y="213863"/>
                  </a:cubicBezTo>
                  <a:cubicBezTo>
                    <a:pt x="33228" y="213863"/>
                    <a:pt x="34506" y="213863"/>
                    <a:pt x="35145" y="213225"/>
                  </a:cubicBezTo>
                  <a:cubicBezTo>
                    <a:pt x="35783" y="212587"/>
                    <a:pt x="36423" y="212587"/>
                    <a:pt x="37061" y="211948"/>
                  </a:cubicBezTo>
                  <a:lnTo>
                    <a:pt x="63260" y="185774"/>
                  </a:lnTo>
                  <a:cubicBezTo>
                    <a:pt x="65816" y="183220"/>
                    <a:pt x="65816" y="179390"/>
                    <a:pt x="63260" y="176836"/>
                  </a:cubicBezTo>
                  <a:cubicBezTo>
                    <a:pt x="60704" y="174283"/>
                    <a:pt x="56871" y="174283"/>
                    <a:pt x="54314" y="176836"/>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63" name="Graphic 4">
              <a:extLst>
                <a:ext uri="{FF2B5EF4-FFF2-40B4-BE49-F238E27FC236}">
                  <a16:creationId xmlns:a16="http://schemas.microsoft.com/office/drawing/2014/main" id="{310C2872-01EE-5729-490C-A8FBEFC498C2}"/>
                </a:ext>
              </a:extLst>
            </p:cNvPr>
            <p:cNvSpPr/>
            <p:nvPr/>
          </p:nvSpPr>
          <p:spPr>
            <a:xfrm>
              <a:off x="5907660" y="3413677"/>
              <a:ext cx="36259" cy="81715"/>
            </a:xfrm>
            <a:custGeom>
              <a:avLst/>
              <a:gdLst>
                <a:gd name="connsiteX0" fmla="*/ 10060 w 36259"/>
                <a:gd name="connsiteY0" fmla="*/ 26175 h 81715"/>
                <a:gd name="connsiteX1" fmla="*/ 23479 w 36259"/>
                <a:gd name="connsiteY1" fmla="*/ 15960 h 81715"/>
                <a:gd name="connsiteX2" fmla="*/ 23479 w 36259"/>
                <a:gd name="connsiteY2" fmla="*/ 75331 h 81715"/>
                <a:gd name="connsiteX3" fmla="*/ 29869 w 36259"/>
                <a:gd name="connsiteY3" fmla="*/ 81715 h 81715"/>
                <a:gd name="connsiteX4" fmla="*/ 36259 w 36259"/>
                <a:gd name="connsiteY4" fmla="*/ 75331 h 81715"/>
                <a:gd name="connsiteX5" fmla="*/ 36259 w 36259"/>
                <a:gd name="connsiteY5" fmla="*/ 6384 h 81715"/>
                <a:gd name="connsiteX6" fmla="*/ 29869 w 36259"/>
                <a:gd name="connsiteY6" fmla="*/ 0 h 81715"/>
                <a:gd name="connsiteX7" fmla="*/ 25396 w 36259"/>
                <a:gd name="connsiteY7" fmla="*/ 0 h 81715"/>
                <a:gd name="connsiteX8" fmla="*/ 21562 w 36259"/>
                <a:gd name="connsiteY8" fmla="*/ 1277 h 81715"/>
                <a:gd name="connsiteX9" fmla="*/ 2393 w 36259"/>
                <a:gd name="connsiteY9" fmla="*/ 15960 h 81715"/>
                <a:gd name="connsiteX10" fmla="*/ 1115 w 36259"/>
                <a:gd name="connsiteY10" fmla="*/ 24898 h 81715"/>
                <a:gd name="connsiteX11" fmla="*/ 10060 w 36259"/>
                <a:gd name="connsiteY11" fmla="*/ 26175 h 8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59" h="81715">
                  <a:moveTo>
                    <a:pt x="10060" y="26175"/>
                  </a:moveTo>
                  <a:lnTo>
                    <a:pt x="23479" y="15960"/>
                  </a:lnTo>
                  <a:lnTo>
                    <a:pt x="23479" y="75331"/>
                  </a:lnTo>
                  <a:cubicBezTo>
                    <a:pt x="23479" y="79162"/>
                    <a:pt x="26035" y="81715"/>
                    <a:pt x="29869" y="81715"/>
                  </a:cubicBezTo>
                  <a:cubicBezTo>
                    <a:pt x="33703" y="81715"/>
                    <a:pt x="36259" y="79162"/>
                    <a:pt x="36259" y="75331"/>
                  </a:cubicBezTo>
                  <a:lnTo>
                    <a:pt x="36259" y="6384"/>
                  </a:lnTo>
                  <a:cubicBezTo>
                    <a:pt x="36259" y="2554"/>
                    <a:pt x="33703" y="0"/>
                    <a:pt x="29869" y="0"/>
                  </a:cubicBezTo>
                  <a:lnTo>
                    <a:pt x="25396" y="0"/>
                  </a:lnTo>
                  <a:cubicBezTo>
                    <a:pt x="24118" y="0"/>
                    <a:pt x="22840" y="639"/>
                    <a:pt x="21562" y="1277"/>
                  </a:cubicBezTo>
                  <a:lnTo>
                    <a:pt x="2393" y="15960"/>
                  </a:lnTo>
                  <a:cubicBezTo>
                    <a:pt x="-163" y="17875"/>
                    <a:pt x="-802" y="22344"/>
                    <a:pt x="1115" y="24898"/>
                  </a:cubicBezTo>
                  <a:cubicBezTo>
                    <a:pt x="3032" y="27451"/>
                    <a:pt x="7505" y="28090"/>
                    <a:pt x="10060" y="2617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64" name="Graphic 4">
              <a:extLst>
                <a:ext uri="{FF2B5EF4-FFF2-40B4-BE49-F238E27FC236}">
                  <a16:creationId xmlns:a16="http://schemas.microsoft.com/office/drawing/2014/main" id="{237858FD-7F11-5013-FFDE-7122EAB22C67}"/>
                </a:ext>
              </a:extLst>
            </p:cNvPr>
            <p:cNvSpPr/>
            <p:nvPr/>
          </p:nvSpPr>
          <p:spPr>
            <a:xfrm>
              <a:off x="5904688" y="3548251"/>
              <a:ext cx="52669" cy="78651"/>
            </a:xfrm>
            <a:custGeom>
              <a:avLst/>
              <a:gdLst>
                <a:gd name="connsiteX0" fmla="*/ 48816 w 52669"/>
                <a:gd name="connsiteY0" fmla="*/ 16089 h 78651"/>
                <a:gd name="connsiteX1" fmla="*/ 36036 w 52669"/>
                <a:gd name="connsiteY1" fmla="*/ 2044 h 78651"/>
                <a:gd name="connsiteX2" fmla="*/ 11754 w 52669"/>
                <a:gd name="connsiteY2" fmla="*/ 3321 h 78651"/>
                <a:gd name="connsiteX3" fmla="*/ 252 w 52669"/>
                <a:gd name="connsiteY3" fmla="*/ 21834 h 78651"/>
                <a:gd name="connsiteX4" fmla="*/ 6003 w 52669"/>
                <a:gd name="connsiteY4" fmla="*/ 42901 h 78651"/>
                <a:gd name="connsiteX5" fmla="*/ 23895 w 52669"/>
                <a:gd name="connsiteY5" fmla="*/ 49924 h 78651"/>
                <a:gd name="connsiteX6" fmla="*/ 39231 w 52669"/>
                <a:gd name="connsiteY6" fmla="*/ 44817 h 78651"/>
                <a:gd name="connsiteX7" fmla="*/ 37953 w 52669"/>
                <a:gd name="connsiteY7" fmla="*/ 51839 h 78651"/>
                <a:gd name="connsiteX8" fmla="*/ 29007 w 52669"/>
                <a:gd name="connsiteY8" fmla="*/ 63969 h 78651"/>
                <a:gd name="connsiteX9" fmla="*/ 11115 w 52669"/>
                <a:gd name="connsiteY9" fmla="*/ 64607 h 78651"/>
                <a:gd name="connsiteX10" fmla="*/ 2808 w 52669"/>
                <a:gd name="connsiteY10" fmla="*/ 68437 h 78651"/>
                <a:gd name="connsiteX11" fmla="*/ 6642 w 52669"/>
                <a:gd name="connsiteY11" fmla="*/ 76736 h 78651"/>
                <a:gd name="connsiteX12" fmla="*/ 19422 w 52669"/>
                <a:gd name="connsiteY12" fmla="*/ 78652 h 78651"/>
                <a:gd name="connsiteX13" fmla="*/ 34758 w 52669"/>
                <a:gd name="connsiteY13" fmla="*/ 75460 h 78651"/>
                <a:gd name="connsiteX14" fmla="*/ 50094 w 52669"/>
                <a:gd name="connsiteY14" fmla="*/ 55031 h 78651"/>
                <a:gd name="connsiteX15" fmla="*/ 49455 w 52669"/>
                <a:gd name="connsiteY15" fmla="*/ 17366 h 78651"/>
                <a:gd name="connsiteX16" fmla="*/ 48816 w 52669"/>
                <a:gd name="connsiteY16" fmla="*/ 16089 h 78651"/>
                <a:gd name="connsiteX17" fmla="*/ 35397 w 52669"/>
                <a:gd name="connsiteY17" fmla="*/ 32687 h 78651"/>
                <a:gd name="connsiteX18" fmla="*/ 23895 w 52669"/>
                <a:gd name="connsiteY18" fmla="*/ 37794 h 78651"/>
                <a:gd name="connsiteX19" fmla="*/ 16227 w 52669"/>
                <a:gd name="connsiteY19" fmla="*/ 34602 h 78651"/>
                <a:gd name="connsiteX20" fmla="*/ 13671 w 52669"/>
                <a:gd name="connsiteY20" fmla="*/ 23750 h 78651"/>
                <a:gd name="connsiteX21" fmla="*/ 19422 w 52669"/>
                <a:gd name="connsiteY21" fmla="*/ 14812 h 78651"/>
                <a:gd name="connsiteX22" fmla="*/ 26451 w 52669"/>
                <a:gd name="connsiteY22" fmla="*/ 12897 h 78651"/>
                <a:gd name="connsiteX23" fmla="*/ 32202 w 52669"/>
                <a:gd name="connsiteY23" fmla="*/ 14174 h 78651"/>
                <a:gd name="connsiteX24" fmla="*/ 38592 w 52669"/>
                <a:gd name="connsiteY24" fmla="*/ 21834 h 78651"/>
                <a:gd name="connsiteX25" fmla="*/ 35397 w 52669"/>
                <a:gd name="connsiteY25" fmla="*/ 32687 h 7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669" h="78651">
                  <a:moveTo>
                    <a:pt x="48816" y="16089"/>
                  </a:moveTo>
                  <a:cubicBezTo>
                    <a:pt x="45621" y="9066"/>
                    <a:pt x="41148" y="3959"/>
                    <a:pt x="36036" y="2044"/>
                  </a:cubicBezTo>
                  <a:cubicBezTo>
                    <a:pt x="28368" y="-1148"/>
                    <a:pt x="18783" y="-510"/>
                    <a:pt x="11754" y="3321"/>
                  </a:cubicBezTo>
                  <a:cubicBezTo>
                    <a:pt x="5364" y="7151"/>
                    <a:pt x="891" y="13535"/>
                    <a:pt x="252" y="21834"/>
                  </a:cubicBezTo>
                  <a:cubicBezTo>
                    <a:pt x="-1026" y="32687"/>
                    <a:pt x="2808" y="39709"/>
                    <a:pt x="6003" y="42901"/>
                  </a:cubicBezTo>
                  <a:cubicBezTo>
                    <a:pt x="10476" y="48009"/>
                    <a:pt x="17505" y="50562"/>
                    <a:pt x="23895" y="49924"/>
                  </a:cubicBezTo>
                  <a:cubicBezTo>
                    <a:pt x="26451" y="49924"/>
                    <a:pt x="32841" y="49285"/>
                    <a:pt x="39231" y="44817"/>
                  </a:cubicBezTo>
                  <a:cubicBezTo>
                    <a:pt x="38592" y="46732"/>
                    <a:pt x="38592" y="49285"/>
                    <a:pt x="37953" y="51839"/>
                  </a:cubicBezTo>
                  <a:cubicBezTo>
                    <a:pt x="36036" y="57585"/>
                    <a:pt x="33480" y="62053"/>
                    <a:pt x="29007" y="63969"/>
                  </a:cubicBezTo>
                  <a:cubicBezTo>
                    <a:pt x="21339" y="67799"/>
                    <a:pt x="11115" y="64607"/>
                    <a:pt x="11115" y="64607"/>
                  </a:cubicBezTo>
                  <a:cubicBezTo>
                    <a:pt x="7920" y="63330"/>
                    <a:pt x="4086" y="65245"/>
                    <a:pt x="2808" y="68437"/>
                  </a:cubicBezTo>
                  <a:cubicBezTo>
                    <a:pt x="1530" y="71629"/>
                    <a:pt x="3447" y="75460"/>
                    <a:pt x="6642" y="76736"/>
                  </a:cubicBezTo>
                  <a:cubicBezTo>
                    <a:pt x="7281" y="76736"/>
                    <a:pt x="12393" y="78652"/>
                    <a:pt x="19422" y="78652"/>
                  </a:cubicBezTo>
                  <a:cubicBezTo>
                    <a:pt x="23895" y="78652"/>
                    <a:pt x="29646" y="78013"/>
                    <a:pt x="34758" y="75460"/>
                  </a:cubicBezTo>
                  <a:cubicBezTo>
                    <a:pt x="42426" y="71629"/>
                    <a:pt x="47538" y="64607"/>
                    <a:pt x="50094" y="55031"/>
                  </a:cubicBezTo>
                  <a:cubicBezTo>
                    <a:pt x="53928" y="40348"/>
                    <a:pt x="53289" y="27580"/>
                    <a:pt x="49455" y="17366"/>
                  </a:cubicBezTo>
                  <a:cubicBezTo>
                    <a:pt x="50094" y="17366"/>
                    <a:pt x="49455" y="16727"/>
                    <a:pt x="48816" y="16089"/>
                  </a:cubicBezTo>
                  <a:close/>
                  <a:moveTo>
                    <a:pt x="35397" y="32687"/>
                  </a:moveTo>
                  <a:cubicBezTo>
                    <a:pt x="32841" y="35879"/>
                    <a:pt x="27729" y="37794"/>
                    <a:pt x="23895" y="37794"/>
                  </a:cubicBezTo>
                  <a:cubicBezTo>
                    <a:pt x="21339" y="37794"/>
                    <a:pt x="18144" y="37156"/>
                    <a:pt x="16227" y="34602"/>
                  </a:cubicBezTo>
                  <a:cubicBezTo>
                    <a:pt x="13671" y="32049"/>
                    <a:pt x="13032" y="28218"/>
                    <a:pt x="13671" y="23750"/>
                  </a:cubicBezTo>
                  <a:cubicBezTo>
                    <a:pt x="14310" y="19281"/>
                    <a:pt x="16227" y="16727"/>
                    <a:pt x="19422" y="14812"/>
                  </a:cubicBezTo>
                  <a:cubicBezTo>
                    <a:pt x="21339" y="13535"/>
                    <a:pt x="23895" y="12897"/>
                    <a:pt x="26451" y="12897"/>
                  </a:cubicBezTo>
                  <a:cubicBezTo>
                    <a:pt x="28368" y="12897"/>
                    <a:pt x="30285" y="13535"/>
                    <a:pt x="32202" y="14174"/>
                  </a:cubicBezTo>
                  <a:cubicBezTo>
                    <a:pt x="34119" y="14812"/>
                    <a:pt x="36675" y="17366"/>
                    <a:pt x="38592" y="21834"/>
                  </a:cubicBezTo>
                  <a:cubicBezTo>
                    <a:pt x="37953" y="26303"/>
                    <a:pt x="37314" y="30133"/>
                    <a:pt x="35397" y="3268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grpSp>
        <p:nvGrpSpPr>
          <p:cNvPr id="165" name="Graphic 5">
            <a:extLst>
              <a:ext uri="{FF2B5EF4-FFF2-40B4-BE49-F238E27FC236}">
                <a16:creationId xmlns:a16="http://schemas.microsoft.com/office/drawing/2014/main" id="{83538EA2-FE35-E7A0-8342-0BDCBEEECF63}"/>
              </a:ext>
            </a:extLst>
          </p:cNvPr>
          <p:cNvGrpSpPr/>
          <p:nvPr/>
        </p:nvGrpSpPr>
        <p:grpSpPr>
          <a:xfrm>
            <a:off x="1087451" y="2608512"/>
            <a:ext cx="361674" cy="361971"/>
            <a:chOff x="9887788" y="4309350"/>
            <a:chExt cx="361674" cy="361971"/>
          </a:xfrm>
          <a:solidFill>
            <a:srgbClr val="43B02A"/>
          </a:solidFill>
        </p:grpSpPr>
        <p:sp>
          <p:nvSpPr>
            <p:cNvPr id="166" name="Graphic 5">
              <a:extLst>
                <a:ext uri="{FF2B5EF4-FFF2-40B4-BE49-F238E27FC236}">
                  <a16:creationId xmlns:a16="http://schemas.microsoft.com/office/drawing/2014/main" id="{0CE9832B-5E7C-4EDE-09C7-22C4218744C1}"/>
                </a:ext>
              </a:extLst>
            </p:cNvPr>
            <p:cNvSpPr/>
            <p:nvPr/>
          </p:nvSpPr>
          <p:spPr>
            <a:xfrm>
              <a:off x="9887788" y="4309350"/>
              <a:ext cx="361674" cy="361971"/>
            </a:xfrm>
            <a:custGeom>
              <a:avLst/>
              <a:gdLst>
                <a:gd name="connsiteX0" fmla="*/ 180835 w 361674"/>
                <a:gd name="connsiteY0" fmla="*/ 0 h 361971"/>
                <a:gd name="connsiteX1" fmla="*/ 0 w 361674"/>
                <a:gd name="connsiteY1" fmla="*/ 180667 h 361971"/>
                <a:gd name="connsiteX2" fmla="*/ 180835 w 361674"/>
                <a:gd name="connsiteY2" fmla="*/ 361971 h 361971"/>
                <a:gd name="connsiteX3" fmla="*/ 361670 w 361674"/>
                <a:gd name="connsiteY3" fmla="*/ 181305 h 361971"/>
                <a:gd name="connsiteX4" fmla="*/ 361670 w 361674"/>
                <a:gd name="connsiteY4" fmla="*/ 181305 h 361971"/>
                <a:gd name="connsiteX5" fmla="*/ 180835 w 361674"/>
                <a:gd name="connsiteY5" fmla="*/ 0 h 361971"/>
                <a:gd name="connsiteX6" fmla="*/ 180835 w 361674"/>
                <a:gd name="connsiteY6" fmla="*/ 0 h 361971"/>
                <a:gd name="connsiteX7" fmla="*/ 180835 w 361674"/>
                <a:gd name="connsiteY7" fmla="*/ 349204 h 361971"/>
                <a:gd name="connsiteX8" fmla="*/ 12780 w 361674"/>
                <a:gd name="connsiteY8" fmla="*/ 181305 h 361971"/>
                <a:gd name="connsiteX9" fmla="*/ 180835 w 361674"/>
                <a:gd name="connsiteY9" fmla="*/ 12768 h 361971"/>
                <a:gd name="connsiteX10" fmla="*/ 348890 w 361674"/>
                <a:gd name="connsiteY10" fmla="*/ 180667 h 361971"/>
                <a:gd name="connsiteX11" fmla="*/ 348890 w 361674"/>
                <a:gd name="connsiteY11" fmla="*/ 180667 h 361971"/>
                <a:gd name="connsiteX12" fmla="*/ 180835 w 361674"/>
                <a:gd name="connsiteY12" fmla="*/ 349204 h 361971"/>
                <a:gd name="connsiteX13" fmla="*/ 180835 w 361674"/>
                <a:gd name="connsiteY13"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1674" h="361971">
                  <a:moveTo>
                    <a:pt x="180835" y="0"/>
                  </a:moveTo>
                  <a:cubicBezTo>
                    <a:pt x="80513" y="0"/>
                    <a:pt x="0" y="81076"/>
                    <a:pt x="0" y="180667"/>
                  </a:cubicBezTo>
                  <a:cubicBezTo>
                    <a:pt x="0" y="280895"/>
                    <a:pt x="81152" y="361971"/>
                    <a:pt x="180835" y="361971"/>
                  </a:cubicBezTo>
                  <a:cubicBezTo>
                    <a:pt x="281157" y="361971"/>
                    <a:pt x="361670" y="280895"/>
                    <a:pt x="361670" y="181305"/>
                  </a:cubicBezTo>
                  <a:lnTo>
                    <a:pt x="361670" y="181305"/>
                  </a:lnTo>
                  <a:cubicBezTo>
                    <a:pt x="362309" y="81076"/>
                    <a:pt x="281157" y="0"/>
                    <a:pt x="180835" y="0"/>
                  </a:cubicBezTo>
                  <a:cubicBezTo>
                    <a:pt x="180835" y="0"/>
                    <a:pt x="180835" y="0"/>
                    <a:pt x="180835" y="0"/>
                  </a:cubicBezTo>
                  <a:close/>
                  <a:moveTo>
                    <a:pt x="180835" y="349204"/>
                  </a:moveTo>
                  <a:cubicBezTo>
                    <a:pt x="87542" y="349204"/>
                    <a:pt x="12780" y="273873"/>
                    <a:pt x="12780" y="181305"/>
                  </a:cubicBezTo>
                  <a:cubicBezTo>
                    <a:pt x="12780" y="88099"/>
                    <a:pt x="88181" y="12768"/>
                    <a:pt x="180835" y="12768"/>
                  </a:cubicBezTo>
                  <a:cubicBezTo>
                    <a:pt x="274128" y="12768"/>
                    <a:pt x="348890" y="88099"/>
                    <a:pt x="348890" y="180667"/>
                  </a:cubicBezTo>
                  <a:lnTo>
                    <a:pt x="348890" y="180667"/>
                  </a:lnTo>
                  <a:cubicBezTo>
                    <a:pt x="349529" y="273873"/>
                    <a:pt x="274128"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67" name="Graphic 5">
              <a:extLst>
                <a:ext uri="{FF2B5EF4-FFF2-40B4-BE49-F238E27FC236}">
                  <a16:creationId xmlns:a16="http://schemas.microsoft.com/office/drawing/2014/main" id="{3A1CB702-2C58-8AE3-09A4-6B5D59E5C022}"/>
                </a:ext>
              </a:extLst>
            </p:cNvPr>
            <p:cNvSpPr/>
            <p:nvPr/>
          </p:nvSpPr>
          <p:spPr>
            <a:xfrm>
              <a:off x="10089634" y="4425538"/>
              <a:ext cx="107227" cy="130871"/>
            </a:xfrm>
            <a:custGeom>
              <a:avLst/>
              <a:gdLst>
                <a:gd name="connsiteX0" fmla="*/ 104232 w 107227"/>
                <a:gd name="connsiteY0" fmla="*/ 118742 h 130871"/>
                <a:gd name="connsiteX1" fmla="*/ 83145 w 107227"/>
                <a:gd name="connsiteY1" fmla="*/ 112997 h 130871"/>
                <a:gd name="connsiteX2" fmla="*/ 70365 w 107227"/>
                <a:gd name="connsiteY2" fmla="*/ 109805 h 130871"/>
                <a:gd name="connsiteX3" fmla="*/ 65253 w 107227"/>
                <a:gd name="connsiteY3" fmla="*/ 92568 h 130871"/>
                <a:gd name="connsiteX4" fmla="*/ 79311 w 107227"/>
                <a:gd name="connsiteY4" fmla="*/ 60010 h 130871"/>
                <a:gd name="connsiteX5" fmla="*/ 73560 w 107227"/>
                <a:gd name="connsiteY5" fmla="*/ 14683 h 130871"/>
                <a:gd name="connsiteX6" fmla="*/ 40972 w 107227"/>
                <a:gd name="connsiteY6" fmla="*/ 0 h 130871"/>
                <a:gd name="connsiteX7" fmla="*/ 8383 w 107227"/>
                <a:gd name="connsiteY7" fmla="*/ 14683 h 130871"/>
                <a:gd name="connsiteX8" fmla="*/ 2632 w 107227"/>
                <a:gd name="connsiteY8" fmla="*/ 60010 h 130871"/>
                <a:gd name="connsiteX9" fmla="*/ 16690 w 107227"/>
                <a:gd name="connsiteY9" fmla="*/ 92568 h 130871"/>
                <a:gd name="connsiteX10" fmla="*/ 11578 w 107227"/>
                <a:gd name="connsiteY10" fmla="*/ 109805 h 130871"/>
                <a:gd name="connsiteX11" fmla="*/ 10300 w 107227"/>
                <a:gd name="connsiteY11" fmla="*/ 118742 h 130871"/>
                <a:gd name="connsiteX12" fmla="*/ 19246 w 107227"/>
                <a:gd name="connsiteY12" fmla="*/ 120019 h 130871"/>
                <a:gd name="connsiteX13" fmla="*/ 27553 w 107227"/>
                <a:gd name="connsiteY13" fmla="*/ 84907 h 130871"/>
                <a:gd name="connsiteX14" fmla="*/ 15412 w 107227"/>
                <a:gd name="connsiteY14" fmla="*/ 56818 h 130871"/>
                <a:gd name="connsiteX15" fmla="*/ 18607 w 107227"/>
                <a:gd name="connsiteY15" fmla="*/ 22344 h 130871"/>
                <a:gd name="connsiteX16" fmla="*/ 41610 w 107227"/>
                <a:gd name="connsiteY16" fmla="*/ 12768 h 130871"/>
                <a:gd name="connsiteX17" fmla="*/ 63975 w 107227"/>
                <a:gd name="connsiteY17" fmla="*/ 22344 h 130871"/>
                <a:gd name="connsiteX18" fmla="*/ 67170 w 107227"/>
                <a:gd name="connsiteY18" fmla="*/ 56818 h 130871"/>
                <a:gd name="connsiteX19" fmla="*/ 55029 w 107227"/>
                <a:gd name="connsiteY19" fmla="*/ 84907 h 130871"/>
                <a:gd name="connsiteX20" fmla="*/ 63975 w 107227"/>
                <a:gd name="connsiteY20" fmla="*/ 120019 h 130871"/>
                <a:gd name="connsiteX21" fmla="*/ 81867 w 107227"/>
                <a:gd name="connsiteY21" fmla="*/ 125126 h 130871"/>
                <a:gd name="connsiteX22" fmla="*/ 97842 w 107227"/>
                <a:gd name="connsiteY22" fmla="*/ 129595 h 130871"/>
                <a:gd name="connsiteX23" fmla="*/ 101037 w 107227"/>
                <a:gd name="connsiteY23" fmla="*/ 130872 h 130871"/>
                <a:gd name="connsiteX24" fmla="*/ 106149 w 107227"/>
                <a:gd name="connsiteY24" fmla="*/ 127680 h 130871"/>
                <a:gd name="connsiteX25" fmla="*/ 104232 w 107227"/>
                <a:gd name="connsiteY25" fmla="*/ 118742 h 130871"/>
                <a:gd name="connsiteX26" fmla="*/ 104232 w 107227"/>
                <a:gd name="connsiteY26" fmla="*/ 118742 h 13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227" h="130871">
                  <a:moveTo>
                    <a:pt x="104232" y="118742"/>
                  </a:moveTo>
                  <a:cubicBezTo>
                    <a:pt x="97842" y="115550"/>
                    <a:pt x="90174" y="112997"/>
                    <a:pt x="83145" y="112997"/>
                  </a:cubicBezTo>
                  <a:cubicBezTo>
                    <a:pt x="78672" y="112358"/>
                    <a:pt x="74199" y="111720"/>
                    <a:pt x="70365" y="109805"/>
                  </a:cubicBezTo>
                  <a:cubicBezTo>
                    <a:pt x="65893" y="105336"/>
                    <a:pt x="63336" y="98952"/>
                    <a:pt x="65253" y="92568"/>
                  </a:cubicBezTo>
                  <a:cubicBezTo>
                    <a:pt x="71643" y="82354"/>
                    <a:pt x="76755" y="71501"/>
                    <a:pt x="79311" y="60010"/>
                  </a:cubicBezTo>
                  <a:cubicBezTo>
                    <a:pt x="83784" y="40858"/>
                    <a:pt x="81867" y="24898"/>
                    <a:pt x="73560" y="14683"/>
                  </a:cubicBezTo>
                  <a:cubicBezTo>
                    <a:pt x="65253" y="5107"/>
                    <a:pt x="53113" y="0"/>
                    <a:pt x="40972" y="0"/>
                  </a:cubicBezTo>
                  <a:cubicBezTo>
                    <a:pt x="28192" y="0"/>
                    <a:pt x="16690" y="5107"/>
                    <a:pt x="8383" y="14683"/>
                  </a:cubicBezTo>
                  <a:cubicBezTo>
                    <a:pt x="76" y="25536"/>
                    <a:pt x="-2480" y="40858"/>
                    <a:pt x="2632" y="60010"/>
                  </a:cubicBezTo>
                  <a:cubicBezTo>
                    <a:pt x="5188" y="71501"/>
                    <a:pt x="10300" y="82354"/>
                    <a:pt x="16690" y="92568"/>
                  </a:cubicBezTo>
                  <a:cubicBezTo>
                    <a:pt x="17968" y="98952"/>
                    <a:pt x="16051" y="105336"/>
                    <a:pt x="11578" y="109805"/>
                  </a:cubicBezTo>
                  <a:cubicBezTo>
                    <a:pt x="9022" y="111720"/>
                    <a:pt x="8383" y="116189"/>
                    <a:pt x="10300" y="118742"/>
                  </a:cubicBezTo>
                  <a:cubicBezTo>
                    <a:pt x="12217" y="121296"/>
                    <a:pt x="16690" y="121934"/>
                    <a:pt x="19246" y="120019"/>
                  </a:cubicBezTo>
                  <a:cubicBezTo>
                    <a:pt x="30748" y="111081"/>
                    <a:pt x="32664" y="92568"/>
                    <a:pt x="27553" y="84907"/>
                  </a:cubicBezTo>
                  <a:cubicBezTo>
                    <a:pt x="21802" y="75970"/>
                    <a:pt x="17968" y="67032"/>
                    <a:pt x="15412" y="56818"/>
                  </a:cubicBezTo>
                  <a:cubicBezTo>
                    <a:pt x="11578" y="41496"/>
                    <a:pt x="12856" y="30005"/>
                    <a:pt x="18607" y="22344"/>
                  </a:cubicBezTo>
                  <a:cubicBezTo>
                    <a:pt x="24358" y="15960"/>
                    <a:pt x="32664" y="12768"/>
                    <a:pt x="41610" y="12768"/>
                  </a:cubicBezTo>
                  <a:cubicBezTo>
                    <a:pt x="49918" y="12768"/>
                    <a:pt x="58224" y="16599"/>
                    <a:pt x="63975" y="22344"/>
                  </a:cubicBezTo>
                  <a:cubicBezTo>
                    <a:pt x="69726" y="30005"/>
                    <a:pt x="71004" y="41496"/>
                    <a:pt x="67170" y="56818"/>
                  </a:cubicBezTo>
                  <a:cubicBezTo>
                    <a:pt x="64614" y="67032"/>
                    <a:pt x="60780" y="76608"/>
                    <a:pt x="55029" y="84907"/>
                  </a:cubicBezTo>
                  <a:cubicBezTo>
                    <a:pt x="49918" y="91930"/>
                    <a:pt x="51195" y="111081"/>
                    <a:pt x="63975" y="120019"/>
                  </a:cubicBezTo>
                  <a:cubicBezTo>
                    <a:pt x="69726" y="122573"/>
                    <a:pt x="76116" y="124488"/>
                    <a:pt x="81867" y="125126"/>
                  </a:cubicBezTo>
                  <a:cubicBezTo>
                    <a:pt x="87618" y="125765"/>
                    <a:pt x="92730" y="127041"/>
                    <a:pt x="97842" y="129595"/>
                  </a:cubicBezTo>
                  <a:cubicBezTo>
                    <a:pt x="99120" y="130233"/>
                    <a:pt x="99759" y="130872"/>
                    <a:pt x="101037" y="130872"/>
                  </a:cubicBezTo>
                  <a:cubicBezTo>
                    <a:pt x="102954" y="130872"/>
                    <a:pt x="105510" y="129595"/>
                    <a:pt x="106149" y="127680"/>
                  </a:cubicBezTo>
                  <a:cubicBezTo>
                    <a:pt x="108066" y="124488"/>
                    <a:pt x="107427" y="120657"/>
                    <a:pt x="104232" y="118742"/>
                  </a:cubicBezTo>
                  <a:cubicBezTo>
                    <a:pt x="104232" y="118742"/>
                    <a:pt x="104232" y="118742"/>
                    <a:pt x="104232" y="11874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68" name="Graphic 5">
              <a:extLst>
                <a:ext uri="{FF2B5EF4-FFF2-40B4-BE49-F238E27FC236}">
                  <a16:creationId xmlns:a16="http://schemas.microsoft.com/office/drawing/2014/main" id="{B5D8FB42-8069-3AF1-C27D-386FD051D239}"/>
                </a:ext>
              </a:extLst>
            </p:cNvPr>
            <p:cNvSpPr/>
            <p:nvPr/>
          </p:nvSpPr>
          <p:spPr>
            <a:xfrm>
              <a:off x="9941063" y="4407663"/>
              <a:ext cx="169733" cy="164468"/>
            </a:xfrm>
            <a:custGeom>
              <a:avLst/>
              <a:gdLst>
                <a:gd name="connsiteX0" fmla="*/ 165260 w 169733"/>
                <a:gd name="connsiteY0" fmla="*/ 152577 h 164468"/>
                <a:gd name="connsiteX1" fmla="*/ 135867 w 169733"/>
                <a:gd name="connsiteY1" fmla="*/ 146193 h 164468"/>
                <a:gd name="connsiteX2" fmla="*/ 122448 w 169733"/>
                <a:gd name="connsiteY2" fmla="*/ 143640 h 164468"/>
                <a:gd name="connsiteX3" fmla="*/ 112224 w 169733"/>
                <a:gd name="connsiteY3" fmla="*/ 116189 h 164468"/>
                <a:gd name="connsiteX4" fmla="*/ 130116 w 169733"/>
                <a:gd name="connsiteY4" fmla="*/ 74693 h 164468"/>
                <a:gd name="connsiteX5" fmla="*/ 123087 w 169733"/>
                <a:gd name="connsiteY5" fmla="*/ 17237 h 164468"/>
                <a:gd name="connsiteX6" fmla="*/ 84747 w 169733"/>
                <a:gd name="connsiteY6" fmla="*/ 0 h 164468"/>
                <a:gd name="connsiteX7" fmla="*/ 46408 w 169733"/>
                <a:gd name="connsiteY7" fmla="*/ 17237 h 164468"/>
                <a:gd name="connsiteX8" fmla="*/ 39379 w 169733"/>
                <a:gd name="connsiteY8" fmla="*/ 74693 h 164468"/>
                <a:gd name="connsiteX9" fmla="*/ 57270 w 169733"/>
                <a:gd name="connsiteY9" fmla="*/ 115550 h 164468"/>
                <a:gd name="connsiteX10" fmla="*/ 47047 w 169733"/>
                <a:gd name="connsiteY10" fmla="*/ 143001 h 164468"/>
                <a:gd name="connsiteX11" fmla="*/ 33628 w 169733"/>
                <a:gd name="connsiteY11" fmla="*/ 145555 h 164468"/>
                <a:gd name="connsiteX12" fmla="*/ 4234 w 169733"/>
                <a:gd name="connsiteY12" fmla="*/ 151939 h 164468"/>
                <a:gd name="connsiteX13" fmla="*/ 401 w 169733"/>
                <a:gd name="connsiteY13" fmla="*/ 160238 h 164468"/>
                <a:gd name="connsiteX14" fmla="*/ 8707 w 169733"/>
                <a:gd name="connsiteY14" fmla="*/ 164068 h 164468"/>
                <a:gd name="connsiteX15" fmla="*/ 9346 w 169733"/>
                <a:gd name="connsiteY15" fmla="*/ 163430 h 164468"/>
                <a:gd name="connsiteX16" fmla="*/ 34267 w 169733"/>
                <a:gd name="connsiteY16" fmla="*/ 158323 h 164468"/>
                <a:gd name="connsiteX17" fmla="*/ 53437 w 169733"/>
                <a:gd name="connsiteY17" fmla="*/ 154492 h 164468"/>
                <a:gd name="connsiteX18" fmla="*/ 69411 w 169733"/>
                <a:gd name="connsiteY18" fmla="*/ 128957 h 164468"/>
                <a:gd name="connsiteX19" fmla="*/ 68134 w 169733"/>
                <a:gd name="connsiteY19" fmla="*/ 108528 h 164468"/>
                <a:gd name="connsiteX20" fmla="*/ 52159 w 169733"/>
                <a:gd name="connsiteY20" fmla="*/ 71501 h 164468"/>
                <a:gd name="connsiteX21" fmla="*/ 56631 w 169733"/>
                <a:gd name="connsiteY21" fmla="*/ 24898 h 164468"/>
                <a:gd name="connsiteX22" fmla="*/ 110946 w 169733"/>
                <a:gd name="connsiteY22" fmla="*/ 22344 h 164468"/>
                <a:gd name="connsiteX23" fmla="*/ 113502 w 169733"/>
                <a:gd name="connsiteY23" fmla="*/ 24898 h 164468"/>
                <a:gd name="connsiteX24" fmla="*/ 117975 w 169733"/>
                <a:gd name="connsiteY24" fmla="*/ 71501 h 164468"/>
                <a:gd name="connsiteX25" fmla="*/ 102000 w 169733"/>
                <a:gd name="connsiteY25" fmla="*/ 108528 h 164468"/>
                <a:gd name="connsiteX26" fmla="*/ 100722 w 169733"/>
                <a:gd name="connsiteY26" fmla="*/ 128957 h 164468"/>
                <a:gd name="connsiteX27" fmla="*/ 116697 w 169733"/>
                <a:gd name="connsiteY27" fmla="*/ 154492 h 164468"/>
                <a:gd name="connsiteX28" fmla="*/ 135867 w 169733"/>
                <a:gd name="connsiteY28" fmla="*/ 158323 h 164468"/>
                <a:gd name="connsiteX29" fmla="*/ 160788 w 169733"/>
                <a:gd name="connsiteY29" fmla="*/ 163430 h 164468"/>
                <a:gd name="connsiteX30" fmla="*/ 163344 w 169733"/>
                <a:gd name="connsiteY30" fmla="*/ 164068 h 164468"/>
                <a:gd name="connsiteX31" fmla="*/ 169734 w 169733"/>
                <a:gd name="connsiteY31" fmla="*/ 157684 h 164468"/>
                <a:gd name="connsiteX32" fmla="*/ 165260 w 169733"/>
                <a:gd name="connsiteY32" fmla="*/ 152577 h 164468"/>
                <a:gd name="connsiteX33" fmla="*/ 165260 w 169733"/>
                <a:gd name="connsiteY33" fmla="*/ 152577 h 164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9733" h="164468">
                  <a:moveTo>
                    <a:pt x="165260" y="152577"/>
                  </a:moveTo>
                  <a:cubicBezTo>
                    <a:pt x="155676" y="148747"/>
                    <a:pt x="146091" y="146193"/>
                    <a:pt x="135867" y="146193"/>
                  </a:cubicBezTo>
                  <a:cubicBezTo>
                    <a:pt x="131394" y="146193"/>
                    <a:pt x="126282" y="145555"/>
                    <a:pt x="122448" y="143640"/>
                  </a:cubicBezTo>
                  <a:cubicBezTo>
                    <a:pt x="115419" y="139809"/>
                    <a:pt x="110946" y="120657"/>
                    <a:pt x="112224" y="116189"/>
                  </a:cubicBezTo>
                  <a:cubicBezTo>
                    <a:pt x="120531" y="103421"/>
                    <a:pt x="126282" y="89376"/>
                    <a:pt x="130116" y="74693"/>
                  </a:cubicBezTo>
                  <a:cubicBezTo>
                    <a:pt x="136506" y="49795"/>
                    <a:pt x="133950" y="30005"/>
                    <a:pt x="123087" y="17237"/>
                  </a:cubicBezTo>
                  <a:cubicBezTo>
                    <a:pt x="113502" y="6384"/>
                    <a:pt x="99445" y="0"/>
                    <a:pt x="84747" y="0"/>
                  </a:cubicBezTo>
                  <a:cubicBezTo>
                    <a:pt x="70050" y="0"/>
                    <a:pt x="55993" y="6384"/>
                    <a:pt x="46408" y="17237"/>
                  </a:cubicBezTo>
                  <a:cubicBezTo>
                    <a:pt x="35545" y="30643"/>
                    <a:pt x="33628" y="49795"/>
                    <a:pt x="39379" y="74693"/>
                  </a:cubicBezTo>
                  <a:cubicBezTo>
                    <a:pt x="42574" y="89376"/>
                    <a:pt x="48964" y="103421"/>
                    <a:pt x="57270" y="115550"/>
                  </a:cubicBezTo>
                  <a:cubicBezTo>
                    <a:pt x="59188" y="120019"/>
                    <a:pt x="54075" y="139171"/>
                    <a:pt x="47047" y="143001"/>
                  </a:cubicBezTo>
                  <a:cubicBezTo>
                    <a:pt x="42574" y="144916"/>
                    <a:pt x="38101" y="145555"/>
                    <a:pt x="33628" y="145555"/>
                  </a:cubicBezTo>
                  <a:cubicBezTo>
                    <a:pt x="23404" y="145555"/>
                    <a:pt x="13180" y="148108"/>
                    <a:pt x="4234" y="151939"/>
                  </a:cubicBezTo>
                  <a:cubicBezTo>
                    <a:pt x="1039" y="153216"/>
                    <a:pt x="-878" y="157046"/>
                    <a:pt x="401" y="160238"/>
                  </a:cubicBezTo>
                  <a:cubicBezTo>
                    <a:pt x="1678" y="163430"/>
                    <a:pt x="5512" y="165345"/>
                    <a:pt x="8707" y="164068"/>
                  </a:cubicBezTo>
                  <a:cubicBezTo>
                    <a:pt x="8707" y="164068"/>
                    <a:pt x="9346" y="164068"/>
                    <a:pt x="9346" y="163430"/>
                  </a:cubicBezTo>
                  <a:cubicBezTo>
                    <a:pt x="17014" y="160238"/>
                    <a:pt x="25321" y="158323"/>
                    <a:pt x="34267" y="158323"/>
                  </a:cubicBezTo>
                  <a:cubicBezTo>
                    <a:pt x="40657" y="158323"/>
                    <a:pt x="47685" y="157046"/>
                    <a:pt x="53437" y="154492"/>
                  </a:cubicBezTo>
                  <a:cubicBezTo>
                    <a:pt x="61744" y="150024"/>
                    <a:pt x="66855" y="138533"/>
                    <a:pt x="69411" y="128957"/>
                  </a:cubicBezTo>
                  <a:cubicBezTo>
                    <a:pt x="71329" y="122573"/>
                    <a:pt x="71329" y="114912"/>
                    <a:pt x="68134" y="108528"/>
                  </a:cubicBezTo>
                  <a:cubicBezTo>
                    <a:pt x="61105" y="97037"/>
                    <a:pt x="55354" y="84907"/>
                    <a:pt x="52159" y="71501"/>
                  </a:cubicBezTo>
                  <a:cubicBezTo>
                    <a:pt x="47047" y="50434"/>
                    <a:pt x="48325" y="35112"/>
                    <a:pt x="56631" y="24898"/>
                  </a:cubicBezTo>
                  <a:cubicBezTo>
                    <a:pt x="70690" y="9576"/>
                    <a:pt x="94971" y="8299"/>
                    <a:pt x="110946" y="22344"/>
                  </a:cubicBezTo>
                  <a:cubicBezTo>
                    <a:pt x="111585" y="22983"/>
                    <a:pt x="112863" y="23621"/>
                    <a:pt x="113502" y="24898"/>
                  </a:cubicBezTo>
                  <a:cubicBezTo>
                    <a:pt x="121809" y="35112"/>
                    <a:pt x="123087" y="50434"/>
                    <a:pt x="117975" y="71501"/>
                  </a:cubicBezTo>
                  <a:cubicBezTo>
                    <a:pt x="114780" y="84269"/>
                    <a:pt x="109668" y="97037"/>
                    <a:pt x="102000" y="108528"/>
                  </a:cubicBezTo>
                  <a:cubicBezTo>
                    <a:pt x="98805" y="114912"/>
                    <a:pt x="98805" y="121934"/>
                    <a:pt x="100722" y="128957"/>
                  </a:cubicBezTo>
                  <a:cubicBezTo>
                    <a:pt x="102640" y="138533"/>
                    <a:pt x="108390" y="150024"/>
                    <a:pt x="116697" y="154492"/>
                  </a:cubicBezTo>
                  <a:cubicBezTo>
                    <a:pt x="122448" y="157046"/>
                    <a:pt x="129477" y="158323"/>
                    <a:pt x="135867" y="158323"/>
                  </a:cubicBezTo>
                  <a:cubicBezTo>
                    <a:pt x="144174" y="158323"/>
                    <a:pt x="152481" y="160238"/>
                    <a:pt x="160788" y="163430"/>
                  </a:cubicBezTo>
                  <a:cubicBezTo>
                    <a:pt x="161427" y="164068"/>
                    <a:pt x="162704" y="164068"/>
                    <a:pt x="163344" y="164068"/>
                  </a:cubicBezTo>
                  <a:cubicBezTo>
                    <a:pt x="167178" y="164068"/>
                    <a:pt x="169734" y="161515"/>
                    <a:pt x="169734" y="157684"/>
                  </a:cubicBezTo>
                  <a:cubicBezTo>
                    <a:pt x="169094" y="155769"/>
                    <a:pt x="167178" y="153854"/>
                    <a:pt x="165260" y="152577"/>
                  </a:cubicBezTo>
                  <a:lnTo>
                    <a:pt x="165260" y="15257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169" name="Rectangle: Rounded Corners 168">
            <a:extLst>
              <a:ext uri="{FF2B5EF4-FFF2-40B4-BE49-F238E27FC236}">
                <a16:creationId xmlns:a16="http://schemas.microsoft.com/office/drawing/2014/main" id="{6BCFE333-651E-F6F1-A85C-1041929E3DCE}"/>
              </a:ext>
            </a:extLst>
          </p:cNvPr>
          <p:cNvSpPr/>
          <p:nvPr/>
        </p:nvSpPr>
        <p:spPr bwMode="gray">
          <a:xfrm>
            <a:off x="2327523" y="-227621"/>
            <a:ext cx="2007183" cy="164854"/>
          </a:xfrm>
          <a:prstGeom prst="roundRect">
            <a:avLst>
              <a:gd name="adj" fmla="val 289"/>
            </a:avLst>
          </a:prstGeom>
          <a:solidFill>
            <a:srgbClr val="0076A8">
              <a:alpha val="20000"/>
            </a:srgbClr>
          </a:solidFill>
          <a:ln w="19050" algn="ctr">
            <a:noFill/>
            <a:miter lim="800000"/>
            <a:headEnd/>
            <a:tailEnd/>
          </a:ln>
        </p:spPr>
        <p:txBody>
          <a:bodyPr rot="0" spcFirstLastPara="0" vertOverflow="overflow" horzOverflow="overflow" vert="horz" wrap="square" lIns="36000" tIns="88900" rIns="36000" bIns="88900" numCol="1" spcCol="0" rtlCol="0" fromWordArt="0" anchor="ctr" anchorCtr="0" forceAA="0" compatLnSpc="1">
            <a:prstTxWarp prst="textNoShape">
              <a:avLst/>
            </a:prstTxWarp>
            <a:noAutofit/>
          </a:bodyPr>
          <a:lstStyle/>
          <a:p>
            <a:pPr marL="0" marR="0" lvl="0" indent="0" algn="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900" b="1" i="0" u="none" strike="noStrike" kern="0" cap="none" spc="0" normalizeH="0" baseline="30000" noProof="0">
              <a:ln>
                <a:noFill/>
              </a:ln>
              <a:solidFill>
                <a:srgbClr val="000000">
                  <a:alpha val="50000"/>
                </a:srgbClr>
              </a:solidFill>
              <a:effectLst/>
              <a:highlight>
                <a:srgbClr val="FFFF00"/>
              </a:highlight>
              <a:uLnTx/>
              <a:uFillTx/>
              <a:latin typeface="Aptos" panose="02110004020202020204"/>
              <a:ea typeface="+mn-ea"/>
              <a:cs typeface="+mn-cs"/>
            </a:endParaRPr>
          </a:p>
        </p:txBody>
      </p:sp>
      <p:sp>
        <p:nvSpPr>
          <p:cNvPr id="170" name="L-Shape 169">
            <a:extLst>
              <a:ext uri="{FF2B5EF4-FFF2-40B4-BE49-F238E27FC236}">
                <a16:creationId xmlns:a16="http://schemas.microsoft.com/office/drawing/2014/main" id="{3119FE9F-207B-17FC-030D-9E5490FED890}"/>
              </a:ext>
            </a:extLst>
          </p:cNvPr>
          <p:cNvSpPr/>
          <p:nvPr/>
        </p:nvSpPr>
        <p:spPr bwMode="gray">
          <a:xfrm rot="16200000">
            <a:off x="915823" y="2617857"/>
            <a:ext cx="2603609" cy="2468541"/>
          </a:xfrm>
          <a:prstGeom prst="corner">
            <a:avLst>
              <a:gd name="adj1" fmla="val 62781"/>
              <a:gd name="adj2" fmla="val 63300"/>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vert="vert" lIns="38098" tIns="38098" rIns="38098" bIns="38098" rtlCol="0" anchor="t"/>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0" i="0" u="none" strike="noStrike" kern="0" cap="none" spc="0" normalizeH="0" baseline="0" noProof="0">
              <a:ln>
                <a:noFill/>
              </a:ln>
              <a:solidFill>
                <a:prstClr val="black"/>
              </a:solidFill>
              <a:effectLst/>
              <a:uLnTx/>
              <a:uFillTx/>
              <a:latin typeface="Aptos"/>
              <a:ea typeface="+mn-ea"/>
              <a:cs typeface="+mn-cs"/>
            </a:endParaRPr>
          </a:p>
        </p:txBody>
      </p:sp>
      <p:grpSp>
        <p:nvGrpSpPr>
          <p:cNvPr id="171" name="Graphic 1100">
            <a:extLst>
              <a:ext uri="{FF2B5EF4-FFF2-40B4-BE49-F238E27FC236}">
                <a16:creationId xmlns:a16="http://schemas.microsoft.com/office/drawing/2014/main" id="{69FB86D2-EE24-668E-64A2-D7C1CC2EC219}"/>
              </a:ext>
            </a:extLst>
          </p:cNvPr>
          <p:cNvGrpSpPr/>
          <p:nvPr/>
        </p:nvGrpSpPr>
        <p:grpSpPr>
          <a:xfrm>
            <a:off x="1959066" y="2604823"/>
            <a:ext cx="362309" cy="361971"/>
            <a:chOff x="6754802" y="1897007"/>
            <a:chExt cx="362309" cy="361971"/>
          </a:xfrm>
          <a:solidFill>
            <a:srgbClr val="43B02A"/>
          </a:solidFill>
        </p:grpSpPr>
        <p:sp>
          <p:nvSpPr>
            <p:cNvPr id="172" name="Graphic 1100">
              <a:extLst>
                <a:ext uri="{FF2B5EF4-FFF2-40B4-BE49-F238E27FC236}">
                  <a16:creationId xmlns:a16="http://schemas.microsoft.com/office/drawing/2014/main" id="{6E878C7F-54A7-4125-BCB5-B1C6BCA95266}"/>
                </a:ext>
              </a:extLst>
            </p:cNvPr>
            <p:cNvSpPr/>
            <p:nvPr/>
          </p:nvSpPr>
          <p:spPr>
            <a:xfrm>
              <a:off x="6754802" y="1897007"/>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349204 h 361971"/>
                <a:gd name="connsiteX7" fmla="*/ 12780 w 362309"/>
                <a:gd name="connsiteY7" fmla="*/ 181305 h 361971"/>
                <a:gd name="connsiteX8" fmla="*/ 180836 w 362309"/>
                <a:gd name="connsiteY8" fmla="*/ 12768 h 361971"/>
                <a:gd name="connsiteX9" fmla="*/ 349530 w 362309"/>
                <a:gd name="connsiteY9" fmla="*/ 180667 h 361971"/>
                <a:gd name="connsiteX10" fmla="*/ 349530 w 362309"/>
                <a:gd name="connsiteY10" fmla="*/ 180667 h 361971"/>
                <a:gd name="connsiteX11" fmla="*/ 181474 w 362309"/>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1971">
                  <a:moveTo>
                    <a:pt x="181474" y="0"/>
                  </a:moveTo>
                  <a:cubicBezTo>
                    <a:pt x="81153" y="0"/>
                    <a:pt x="0" y="81077"/>
                    <a:pt x="0" y="180667"/>
                  </a:cubicBezTo>
                  <a:cubicBezTo>
                    <a:pt x="0" y="280895"/>
                    <a:pt x="81153" y="361972"/>
                    <a:pt x="180836" y="361972"/>
                  </a:cubicBezTo>
                  <a:cubicBezTo>
                    <a:pt x="281157" y="361972"/>
                    <a:pt x="362310" y="280895"/>
                    <a:pt x="362310" y="181305"/>
                  </a:cubicBezTo>
                  <a:cubicBezTo>
                    <a:pt x="362310" y="181305"/>
                    <a:pt x="362310" y="181305"/>
                    <a:pt x="362310" y="181305"/>
                  </a:cubicBezTo>
                  <a:cubicBezTo>
                    <a:pt x="362310" y="81077"/>
                    <a:pt x="281796" y="0"/>
                    <a:pt x="181474" y="0"/>
                  </a:cubicBezTo>
                  <a:close/>
                  <a:moveTo>
                    <a:pt x="181474" y="349204"/>
                  </a:moveTo>
                  <a:cubicBezTo>
                    <a:pt x="88181" y="349204"/>
                    <a:pt x="12780" y="273873"/>
                    <a:pt x="12780" y="181305"/>
                  </a:cubicBezTo>
                  <a:cubicBezTo>
                    <a:pt x="12780" y="88099"/>
                    <a:pt x="88181" y="12768"/>
                    <a:pt x="180836" y="12768"/>
                  </a:cubicBezTo>
                  <a:cubicBezTo>
                    <a:pt x="274128" y="12768"/>
                    <a:pt x="349530" y="88099"/>
                    <a:pt x="349530" y="180667"/>
                  </a:cubicBezTo>
                  <a:cubicBezTo>
                    <a:pt x="349530" y="180667"/>
                    <a:pt x="349530" y="180667"/>
                    <a:pt x="349530" y="180667"/>
                  </a:cubicBezTo>
                  <a:cubicBezTo>
                    <a:pt x="349530" y="273873"/>
                    <a:pt x="274767" y="349204"/>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73" name="Graphic 1100">
              <a:extLst>
                <a:ext uri="{FF2B5EF4-FFF2-40B4-BE49-F238E27FC236}">
                  <a16:creationId xmlns:a16="http://schemas.microsoft.com/office/drawing/2014/main" id="{B19B87EB-B7CB-BBDC-3344-4CF9A9416759}"/>
                </a:ext>
              </a:extLst>
            </p:cNvPr>
            <p:cNvSpPr/>
            <p:nvPr/>
          </p:nvSpPr>
          <p:spPr>
            <a:xfrm>
              <a:off x="6825091" y="1995959"/>
              <a:ext cx="224537" cy="164068"/>
            </a:xfrm>
            <a:custGeom>
              <a:avLst/>
              <a:gdLst>
                <a:gd name="connsiteX0" fmla="*/ 217258 w 224537"/>
                <a:gd name="connsiteY0" fmla="*/ 45326 h 164068"/>
                <a:gd name="connsiteX1" fmla="*/ 193615 w 224537"/>
                <a:gd name="connsiteY1" fmla="*/ 45326 h 164068"/>
                <a:gd name="connsiteX2" fmla="*/ 193615 w 224537"/>
                <a:gd name="connsiteY2" fmla="*/ 21706 h 164068"/>
                <a:gd name="connsiteX3" fmla="*/ 187225 w 224537"/>
                <a:gd name="connsiteY3" fmla="*/ 15322 h 164068"/>
                <a:gd name="connsiteX4" fmla="*/ 69012 w 224537"/>
                <a:gd name="connsiteY4" fmla="*/ 15322 h 164068"/>
                <a:gd name="connsiteX5" fmla="*/ 55593 w 224537"/>
                <a:gd name="connsiteY5" fmla="*/ 1915 h 164068"/>
                <a:gd name="connsiteX6" fmla="*/ 51119 w 224537"/>
                <a:gd name="connsiteY6" fmla="*/ 0 h 164068"/>
                <a:gd name="connsiteX7" fmla="*/ 6390 w 224537"/>
                <a:gd name="connsiteY7" fmla="*/ 0 h 164068"/>
                <a:gd name="connsiteX8" fmla="*/ 0 w 224537"/>
                <a:gd name="connsiteY8" fmla="*/ 6384 h 164068"/>
                <a:gd name="connsiteX9" fmla="*/ 0 w 224537"/>
                <a:gd name="connsiteY9" fmla="*/ 157684 h 164068"/>
                <a:gd name="connsiteX10" fmla="*/ 0 w 224537"/>
                <a:gd name="connsiteY10" fmla="*/ 157684 h 164068"/>
                <a:gd name="connsiteX11" fmla="*/ 1917 w 224537"/>
                <a:gd name="connsiteY11" fmla="*/ 162153 h 164068"/>
                <a:gd name="connsiteX12" fmla="*/ 1917 w 224537"/>
                <a:gd name="connsiteY12" fmla="*/ 162153 h 164068"/>
                <a:gd name="connsiteX13" fmla="*/ 3195 w 224537"/>
                <a:gd name="connsiteY13" fmla="*/ 162792 h 164068"/>
                <a:gd name="connsiteX14" fmla="*/ 6390 w 224537"/>
                <a:gd name="connsiteY14" fmla="*/ 164068 h 164068"/>
                <a:gd name="connsiteX15" fmla="*/ 187864 w 224537"/>
                <a:gd name="connsiteY15" fmla="*/ 164068 h 164068"/>
                <a:gd name="connsiteX16" fmla="*/ 194254 w 224537"/>
                <a:gd name="connsiteY16" fmla="*/ 159600 h 164068"/>
                <a:gd name="connsiteX17" fmla="*/ 224287 w 224537"/>
                <a:gd name="connsiteY17" fmla="*/ 53625 h 164068"/>
                <a:gd name="connsiteX18" fmla="*/ 223009 w 224537"/>
                <a:gd name="connsiteY18" fmla="*/ 47880 h 164068"/>
                <a:gd name="connsiteX19" fmla="*/ 217258 w 224537"/>
                <a:gd name="connsiteY19" fmla="*/ 45326 h 164068"/>
                <a:gd name="connsiteX20" fmla="*/ 11502 w 224537"/>
                <a:gd name="connsiteY20" fmla="*/ 12768 h 164068"/>
                <a:gd name="connsiteX21" fmla="*/ 47925 w 224537"/>
                <a:gd name="connsiteY21" fmla="*/ 12768 h 164068"/>
                <a:gd name="connsiteX22" fmla="*/ 61343 w 224537"/>
                <a:gd name="connsiteY22" fmla="*/ 26174 h 164068"/>
                <a:gd name="connsiteX23" fmla="*/ 65817 w 224537"/>
                <a:gd name="connsiteY23" fmla="*/ 28089 h 164068"/>
                <a:gd name="connsiteX24" fmla="*/ 180197 w 224537"/>
                <a:gd name="connsiteY24" fmla="*/ 28089 h 164068"/>
                <a:gd name="connsiteX25" fmla="*/ 180197 w 224537"/>
                <a:gd name="connsiteY25" fmla="*/ 45326 h 164068"/>
                <a:gd name="connsiteX26" fmla="*/ 42813 w 224537"/>
                <a:gd name="connsiteY26" fmla="*/ 45326 h 164068"/>
                <a:gd name="connsiteX27" fmla="*/ 37062 w 224537"/>
                <a:gd name="connsiteY27" fmla="*/ 49795 h 164068"/>
                <a:gd name="connsiteX28" fmla="*/ 11502 w 224537"/>
                <a:gd name="connsiteY28" fmla="*/ 120657 h 164068"/>
                <a:gd name="connsiteX29" fmla="*/ 11502 w 224537"/>
                <a:gd name="connsiteY29" fmla="*/ 12768 h 164068"/>
                <a:gd name="connsiteX30" fmla="*/ 182113 w 224537"/>
                <a:gd name="connsiteY30" fmla="*/ 151300 h 164068"/>
                <a:gd name="connsiteX31" fmla="*/ 14697 w 224537"/>
                <a:gd name="connsiteY31" fmla="*/ 151300 h 164068"/>
                <a:gd name="connsiteX32" fmla="*/ 47925 w 224537"/>
                <a:gd name="connsiteY32" fmla="*/ 58094 h 164068"/>
                <a:gd name="connsiteX33" fmla="*/ 208951 w 224537"/>
                <a:gd name="connsiteY33" fmla="*/ 58094 h 164068"/>
                <a:gd name="connsiteX34" fmla="*/ 182113 w 224537"/>
                <a:gd name="connsiteY34" fmla="*/ 151300 h 164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4537" h="164068">
                  <a:moveTo>
                    <a:pt x="217258" y="45326"/>
                  </a:moveTo>
                  <a:lnTo>
                    <a:pt x="193615" y="45326"/>
                  </a:lnTo>
                  <a:lnTo>
                    <a:pt x="193615" y="21706"/>
                  </a:lnTo>
                  <a:cubicBezTo>
                    <a:pt x="193615" y="17875"/>
                    <a:pt x="191059" y="15322"/>
                    <a:pt x="187225" y="15322"/>
                  </a:cubicBezTo>
                  <a:lnTo>
                    <a:pt x="69012" y="15322"/>
                  </a:lnTo>
                  <a:lnTo>
                    <a:pt x="55593" y="1915"/>
                  </a:lnTo>
                  <a:cubicBezTo>
                    <a:pt x="54314" y="638"/>
                    <a:pt x="53037" y="0"/>
                    <a:pt x="51119" y="0"/>
                  </a:cubicBezTo>
                  <a:lnTo>
                    <a:pt x="6390" y="0"/>
                  </a:lnTo>
                  <a:cubicBezTo>
                    <a:pt x="2556" y="0"/>
                    <a:pt x="0" y="2554"/>
                    <a:pt x="0" y="6384"/>
                  </a:cubicBezTo>
                  <a:lnTo>
                    <a:pt x="0" y="157684"/>
                  </a:lnTo>
                  <a:lnTo>
                    <a:pt x="0" y="157684"/>
                  </a:lnTo>
                  <a:cubicBezTo>
                    <a:pt x="0" y="159600"/>
                    <a:pt x="639" y="160876"/>
                    <a:pt x="1917" y="162153"/>
                  </a:cubicBezTo>
                  <a:lnTo>
                    <a:pt x="1917" y="162153"/>
                  </a:lnTo>
                  <a:cubicBezTo>
                    <a:pt x="1917" y="162792"/>
                    <a:pt x="2556" y="162792"/>
                    <a:pt x="3195" y="162792"/>
                  </a:cubicBezTo>
                  <a:cubicBezTo>
                    <a:pt x="3834" y="163430"/>
                    <a:pt x="5112" y="164068"/>
                    <a:pt x="6390" y="164068"/>
                  </a:cubicBezTo>
                  <a:lnTo>
                    <a:pt x="187864" y="164068"/>
                  </a:lnTo>
                  <a:cubicBezTo>
                    <a:pt x="191059" y="164068"/>
                    <a:pt x="193615" y="162153"/>
                    <a:pt x="194254" y="159600"/>
                  </a:cubicBezTo>
                  <a:lnTo>
                    <a:pt x="224287" y="53625"/>
                  </a:lnTo>
                  <a:cubicBezTo>
                    <a:pt x="224926" y="51710"/>
                    <a:pt x="224287" y="49795"/>
                    <a:pt x="223009" y="47880"/>
                  </a:cubicBezTo>
                  <a:cubicBezTo>
                    <a:pt x="221092" y="45965"/>
                    <a:pt x="219175" y="45326"/>
                    <a:pt x="217258" y="45326"/>
                  </a:cubicBezTo>
                  <a:close/>
                  <a:moveTo>
                    <a:pt x="11502" y="12768"/>
                  </a:moveTo>
                  <a:lnTo>
                    <a:pt x="47925" y="12768"/>
                  </a:lnTo>
                  <a:lnTo>
                    <a:pt x="61343" y="26174"/>
                  </a:lnTo>
                  <a:cubicBezTo>
                    <a:pt x="62622" y="27451"/>
                    <a:pt x="63899" y="28089"/>
                    <a:pt x="65817" y="28089"/>
                  </a:cubicBezTo>
                  <a:lnTo>
                    <a:pt x="180197" y="28089"/>
                  </a:lnTo>
                  <a:lnTo>
                    <a:pt x="180197" y="45326"/>
                  </a:lnTo>
                  <a:lnTo>
                    <a:pt x="42813" y="45326"/>
                  </a:lnTo>
                  <a:cubicBezTo>
                    <a:pt x="40257" y="45326"/>
                    <a:pt x="37701" y="47241"/>
                    <a:pt x="37062" y="49795"/>
                  </a:cubicBezTo>
                  <a:lnTo>
                    <a:pt x="11502" y="120657"/>
                  </a:lnTo>
                  <a:lnTo>
                    <a:pt x="11502" y="12768"/>
                  </a:lnTo>
                  <a:close/>
                  <a:moveTo>
                    <a:pt x="182113" y="151300"/>
                  </a:moveTo>
                  <a:lnTo>
                    <a:pt x="14697" y="151300"/>
                  </a:lnTo>
                  <a:lnTo>
                    <a:pt x="47925" y="58094"/>
                  </a:lnTo>
                  <a:lnTo>
                    <a:pt x="208951" y="58094"/>
                  </a:lnTo>
                  <a:lnTo>
                    <a:pt x="182113" y="1513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174" name="Rectangle 173">
            <a:extLst>
              <a:ext uri="{FF2B5EF4-FFF2-40B4-BE49-F238E27FC236}">
                <a16:creationId xmlns:a16="http://schemas.microsoft.com/office/drawing/2014/main" id="{B1420874-293B-92B5-5DEE-16A865B1B80B}"/>
              </a:ext>
            </a:extLst>
          </p:cNvPr>
          <p:cNvSpPr/>
          <p:nvPr/>
        </p:nvSpPr>
        <p:spPr bwMode="gray">
          <a:xfrm>
            <a:off x="3518623" y="2547743"/>
            <a:ext cx="1063795" cy="1825204"/>
          </a:xfrm>
          <a:prstGeom prst="rect">
            <a:avLst/>
          </a:prstGeom>
          <a:solidFill>
            <a:sysClr val="window" lastClr="FFFFFF"/>
          </a:solidFill>
          <a:ln w="12700" cap="flat" cmpd="sng" algn="ctr">
            <a:solidFill>
              <a:srgbClr val="646464"/>
            </a:solidFill>
            <a:prstDash val="solid"/>
            <a:miter lim="800000"/>
            <a:headEnd type="none" w="med" len="med"/>
            <a:tailEnd type="none" w="med" len="med"/>
          </a:ln>
          <a:effectLst/>
        </p:spPr>
        <p:txBody>
          <a:bodyPr lIns="38098" tIns="38098" rIns="38098" bIns="38098" rtlCol="0" anchor="b"/>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Identification of weaknesses and improvement opportunities</a:t>
            </a:r>
            <a:endParaRPr kumimoji="0" lang="en-GB" sz="1100" b="0" i="0" u="none" strike="noStrike" kern="0" cap="none" spc="0" normalizeH="0" baseline="0" noProof="0">
              <a:ln>
                <a:noFill/>
              </a:ln>
              <a:solidFill>
                <a:prstClr val="black"/>
              </a:solidFill>
              <a:effectLst/>
              <a:uLnTx/>
              <a:uFillTx/>
              <a:latin typeface="Aptos"/>
              <a:ea typeface="+mn-ea"/>
              <a:cs typeface="+mn-cs"/>
            </a:endParaRPr>
          </a:p>
        </p:txBody>
      </p:sp>
      <p:grpSp>
        <p:nvGrpSpPr>
          <p:cNvPr id="175" name="Graphic 4">
            <a:extLst>
              <a:ext uri="{FF2B5EF4-FFF2-40B4-BE49-F238E27FC236}">
                <a16:creationId xmlns:a16="http://schemas.microsoft.com/office/drawing/2014/main" id="{7AC85CF8-3667-94D5-D77B-FDB0F63269E7}"/>
              </a:ext>
            </a:extLst>
          </p:cNvPr>
          <p:cNvGrpSpPr/>
          <p:nvPr/>
        </p:nvGrpSpPr>
        <p:grpSpPr>
          <a:xfrm>
            <a:off x="3563153" y="2578869"/>
            <a:ext cx="362309" cy="361971"/>
            <a:chOff x="1514415" y="2855717"/>
            <a:chExt cx="362309" cy="361971"/>
          </a:xfrm>
          <a:solidFill>
            <a:srgbClr val="43B02A"/>
          </a:solidFill>
        </p:grpSpPr>
        <p:sp>
          <p:nvSpPr>
            <p:cNvPr id="176" name="Graphic 4">
              <a:extLst>
                <a:ext uri="{FF2B5EF4-FFF2-40B4-BE49-F238E27FC236}">
                  <a16:creationId xmlns:a16="http://schemas.microsoft.com/office/drawing/2014/main" id="{FB02A2E0-1EDF-5164-06AB-998AF20752B3}"/>
                </a:ext>
              </a:extLst>
            </p:cNvPr>
            <p:cNvSpPr/>
            <p:nvPr/>
          </p:nvSpPr>
          <p:spPr>
            <a:xfrm>
              <a:off x="1514415" y="2855717"/>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349204 h 361971"/>
                <a:gd name="connsiteX7" fmla="*/ 12780 w 362309"/>
                <a:gd name="connsiteY7" fmla="*/ 181305 h 361971"/>
                <a:gd name="connsiteX8" fmla="*/ 180835 w 362309"/>
                <a:gd name="connsiteY8" fmla="*/ 12768 h 361971"/>
                <a:gd name="connsiteX9" fmla="*/ 349530 w 362309"/>
                <a:gd name="connsiteY9" fmla="*/ 180667 h 361971"/>
                <a:gd name="connsiteX10" fmla="*/ 349530 w 362309"/>
                <a:gd name="connsiteY10" fmla="*/ 180667 h 361971"/>
                <a:gd name="connsiteX11" fmla="*/ 181474 w 362309"/>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1971">
                  <a:moveTo>
                    <a:pt x="181474" y="0"/>
                  </a:moveTo>
                  <a:cubicBezTo>
                    <a:pt x="81152" y="0"/>
                    <a:pt x="0" y="81076"/>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310" y="80438"/>
                    <a:pt x="281157" y="0"/>
                    <a:pt x="181474" y="0"/>
                  </a:cubicBezTo>
                  <a:close/>
                  <a:moveTo>
                    <a:pt x="181474" y="349204"/>
                  </a:moveTo>
                  <a:cubicBezTo>
                    <a:pt x="88181" y="349204"/>
                    <a:pt x="12780" y="273873"/>
                    <a:pt x="12780" y="181305"/>
                  </a:cubicBezTo>
                  <a:cubicBezTo>
                    <a:pt x="12780" y="88737"/>
                    <a:pt x="88181" y="12768"/>
                    <a:pt x="180835" y="12768"/>
                  </a:cubicBezTo>
                  <a:cubicBezTo>
                    <a:pt x="274128" y="12768"/>
                    <a:pt x="349530" y="88099"/>
                    <a:pt x="349530" y="180667"/>
                  </a:cubicBezTo>
                  <a:cubicBezTo>
                    <a:pt x="349530" y="180667"/>
                    <a:pt x="349530" y="180667"/>
                    <a:pt x="349530" y="180667"/>
                  </a:cubicBezTo>
                  <a:cubicBezTo>
                    <a:pt x="349530" y="273234"/>
                    <a:pt x="274128" y="348565"/>
                    <a:pt x="181474"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78" name="Graphic 4">
              <a:extLst>
                <a:ext uri="{FF2B5EF4-FFF2-40B4-BE49-F238E27FC236}">
                  <a16:creationId xmlns:a16="http://schemas.microsoft.com/office/drawing/2014/main" id="{29BB7BB8-39CB-280F-5165-5CDA9113B2C4}"/>
                </a:ext>
              </a:extLst>
            </p:cNvPr>
            <p:cNvSpPr/>
            <p:nvPr/>
          </p:nvSpPr>
          <p:spPr>
            <a:xfrm>
              <a:off x="1711374" y="2965400"/>
              <a:ext cx="108479" cy="109288"/>
            </a:xfrm>
            <a:custGeom>
              <a:avLst/>
              <a:gdLst>
                <a:gd name="connsiteX0" fmla="*/ 107841 w 108479"/>
                <a:gd name="connsiteY0" fmla="*/ 47364 h 109288"/>
                <a:gd name="connsiteX1" fmla="*/ 102090 w 108479"/>
                <a:gd name="connsiteY1" fmla="*/ 39703 h 109288"/>
                <a:gd name="connsiteX2" fmla="*/ 96978 w 108479"/>
                <a:gd name="connsiteY2" fmla="*/ 38426 h 109288"/>
                <a:gd name="connsiteX3" fmla="*/ 95700 w 108479"/>
                <a:gd name="connsiteY3" fmla="*/ 35234 h 109288"/>
                <a:gd name="connsiteX4" fmla="*/ 98256 w 108479"/>
                <a:gd name="connsiteY4" fmla="*/ 30766 h 109288"/>
                <a:gd name="connsiteX5" fmla="*/ 96978 w 108479"/>
                <a:gd name="connsiteY5" fmla="*/ 21190 h 109288"/>
                <a:gd name="connsiteX6" fmla="*/ 90588 w 108479"/>
                <a:gd name="connsiteY6" fmla="*/ 14167 h 109288"/>
                <a:gd name="connsiteX7" fmla="*/ 81003 w 108479"/>
                <a:gd name="connsiteY7" fmla="*/ 12252 h 109288"/>
                <a:gd name="connsiteX8" fmla="*/ 76530 w 108479"/>
                <a:gd name="connsiteY8" fmla="*/ 14167 h 109288"/>
                <a:gd name="connsiteX9" fmla="*/ 73974 w 108479"/>
                <a:gd name="connsiteY9" fmla="*/ 12890 h 109288"/>
                <a:gd name="connsiteX10" fmla="*/ 73335 w 108479"/>
                <a:gd name="connsiteY10" fmla="*/ 7783 h 109288"/>
                <a:gd name="connsiteX11" fmla="*/ 66306 w 108479"/>
                <a:gd name="connsiteY11" fmla="*/ 1399 h 109288"/>
                <a:gd name="connsiteX12" fmla="*/ 56721 w 108479"/>
                <a:gd name="connsiteY12" fmla="*/ 122 h 109288"/>
                <a:gd name="connsiteX13" fmla="*/ 48414 w 108479"/>
                <a:gd name="connsiteY13" fmla="*/ 4591 h 109288"/>
                <a:gd name="connsiteX14" fmla="*/ 45858 w 108479"/>
                <a:gd name="connsiteY14" fmla="*/ 9060 h 109288"/>
                <a:gd name="connsiteX15" fmla="*/ 42663 w 108479"/>
                <a:gd name="connsiteY15" fmla="*/ 9698 h 109288"/>
                <a:gd name="connsiteX16" fmla="*/ 38829 w 108479"/>
                <a:gd name="connsiteY16" fmla="*/ 6506 h 109288"/>
                <a:gd name="connsiteX17" fmla="*/ 29244 w 108479"/>
                <a:gd name="connsiteY17" fmla="*/ 5868 h 109288"/>
                <a:gd name="connsiteX18" fmla="*/ 20938 w 108479"/>
                <a:gd name="connsiteY18" fmla="*/ 10975 h 109288"/>
                <a:gd name="connsiteX19" fmla="*/ 17104 w 108479"/>
                <a:gd name="connsiteY19" fmla="*/ 19913 h 109288"/>
                <a:gd name="connsiteX20" fmla="*/ 18382 w 108479"/>
                <a:gd name="connsiteY20" fmla="*/ 25020 h 109288"/>
                <a:gd name="connsiteX21" fmla="*/ 16465 w 108479"/>
                <a:gd name="connsiteY21" fmla="*/ 27574 h 109288"/>
                <a:gd name="connsiteX22" fmla="*/ 11353 w 108479"/>
                <a:gd name="connsiteY22" fmla="*/ 27574 h 109288"/>
                <a:gd name="connsiteX23" fmla="*/ 3685 w 108479"/>
                <a:gd name="connsiteY23" fmla="*/ 33319 h 109288"/>
                <a:gd name="connsiteX24" fmla="*/ 490 w 108479"/>
                <a:gd name="connsiteY24" fmla="*/ 42895 h 109288"/>
                <a:gd name="connsiteX25" fmla="*/ 3685 w 108479"/>
                <a:gd name="connsiteY25" fmla="*/ 51833 h 109288"/>
                <a:gd name="connsiteX26" fmla="*/ 7519 w 108479"/>
                <a:gd name="connsiteY26" fmla="*/ 55025 h 109288"/>
                <a:gd name="connsiteX27" fmla="*/ 7519 w 108479"/>
                <a:gd name="connsiteY27" fmla="*/ 58217 h 109288"/>
                <a:gd name="connsiteX28" fmla="*/ 3685 w 108479"/>
                <a:gd name="connsiteY28" fmla="*/ 61409 h 109288"/>
                <a:gd name="connsiteX29" fmla="*/ 1768 w 108479"/>
                <a:gd name="connsiteY29" fmla="*/ 70346 h 109288"/>
                <a:gd name="connsiteX30" fmla="*/ 5602 w 108479"/>
                <a:gd name="connsiteY30" fmla="*/ 79284 h 109288"/>
                <a:gd name="connsiteX31" fmla="*/ 13270 w 108479"/>
                <a:gd name="connsiteY31" fmla="*/ 84391 h 109288"/>
                <a:gd name="connsiteX32" fmla="*/ 18382 w 108479"/>
                <a:gd name="connsiteY32" fmla="*/ 84391 h 109288"/>
                <a:gd name="connsiteX33" fmla="*/ 20299 w 108479"/>
                <a:gd name="connsiteY33" fmla="*/ 86945 h 109288"/>
                <a:gd name="connsiteX34" fmla="*/ 19659 w 108479"/>
                <a:gd name="connsiteY34" fmla="*/ 92052 h 109288"/>
                <a:gd name="connsiteX35" fmla="*/ 24133 w 108479"/>
                <a:gd name="connsiteY35" fmla="*/ 100351 h 109288"/>
                <a:gd name="connsiteX36" fmla="*/ 33078 w 108479"/>
                <a:gd name="connsiteY36" fmla="*/ 104820 h 109288"/>
                <a:gd name="connsiteX37" fmla="*/ 42663 w 108479"/>
                <a:gd name="connsiteY37" fmla="*/ 103543 h 109288"/>
                <a:gd name="connsiteX38" fmla="*/ 46497 w 108479"/>
                <a:gd name="connsiteY38" fmla="*/ 100351 h 109288"/>
                <a:gd name="connsiteX39" fmla="*/ 49692 w 108479"/>
                <a:gd name="connsiteY39" fmla="*/ 100989 h 109288"/>
                <a:gd name="connsiteX40" fmla="*/ 52248 w 108479"/>
                <a:gd name="connsiteY40" fmla="*/ 105458 h 109288"/>
                <a:gd name="connsiteX41" fmla="*/ 59277 w 108479"/>
                <a:gd name="connsiteY41" fmla="*/ 109288 h 109288"/>
                <a:gd name="connsiteX42" fmla="*/ 61194 w 108479"/>
                <a:gd name="connsiteY42" fmla="*/ 109288 h 109288"/>
                <a:gd name="connsiteX43" fmla="*/ 70779 w 108479"/>
                <a:gd name="connsiteY43" fmla="*/ 107373 h 109288"/>
                <a:gd name="connsiteX44" fmla="*/ 77169 w 108479"/>
                <a:gd name="connsiteY44" fmla="*/ 100351 h 109288"/>
                <a:gd name="connsiteX45" fmla="*/ 77808 w 108479"/>
                <a:gd name="connsiteY45" fmla="*/ 95244 h 109288"/>
                <a:gd name="connsiteX46" fmla="*/ 80364 w 108479"/>
                <a:gd name="connsiteY46" fmla="*/ 93329 h 109288"/>
                <a:gd name="connsiteX47" fmla="*/ 85476 w 108479"/>
                <a:gd name="connsiteY47" fmla="*/ 95244 h 109288"/>
                <a:gd name="connsiteX48" fmla="*/ 94422 w 108479"/>
                <a:gd name="connsiteY48" fmla="*/ 92690 h 109288"/>
                <a:gd name="connsiteX49" fmla="*/ 100812 w 108479"/>
                <a:gd name="connsiteY49" fmla="*/ 85029 h 109288"/>
                <a:gd name="connsiteX50" fmla="*/ 100812 w 108479"/>
                <a:gd name="connsiteY50" fmla="*/ 75453 h 109288"/>
                <a:gd name="connsiteX51" fmla="*/ 98256 w 108479"/>
                <a:gd name="connsiteY51" fmla="*/ 70985 h 109288"/>
                <a:gd name="connsiteX52" fmla="*/ 98895 w 108479"/>
                <a:gd name="connsiteY52" fmla="*/ 67793 h 109288"/>
                <a:gd name="connsiteX53" fmla="*/ 103368 w 108479"/>
                <a:gd name="connsiteY53" fmla="*/ 65877 h 109288"/>
                <a:gd name="connsiteX54" fmla="*/ 108480 w 108479"/>
                <a:gd name="connsiteY54" fmla="*/ 58217 h 109288"/>
                <a:gd name="connsiteX55" fmla="*/ 107841 w 108479"/>
                <a:gd name="connsiteY55" fmla="*/ 47364 h 109288"/>
                <a:gd name="connsiteX56" fmla="*/ 90588 w 108479"/>
                <a:gd name="connsiteY56" fmla="*/ 56301 h 109288"/>
                <a:gd name="connsiteX57" fmla="*/ 86754 w 108479"/>
                <a:gd name="connsiteY57" fmla="*/ 60132 h 109288"/>
                <a:gd name="connsiteX58" fmla="*/ 84198 w 108479"/>
                <a:gd name="connsiteY58" fmla="*/ 69069 h 109288"/>
                <a:gd name="connsiteX59" fmla="*/ 84837 w 108479"/>
                <a:gd name="connsiteY59" fmla="*/ 74815 h 109288"/>
                <a:gd name="connsiteX60" fmla="*/ 87393 w 108479"/>
                <a:gd name="connsiteY60" fmla="*/ 78645 h 109288"/>
                <a:gd name="connsiteX61" fmla="*/ 85476 w 108479"/>
                <a:gd name="connsiteY61" fmla="*/ 81199 h 109288"/>
                <a:gd name="connsiteX62" fmla="*/ 81003 w 108479"/>
                <a:gd name="connsiteY62" fmla="*/ 79922 h 109288"/>
                <a:gd name="connsiteX63" fmla="*/ 75252 w 108479"/>
                <a:gd name="connsiteY63" fmla="*/ 80561 h 109288"/>
                <a:gd name="connsiteX64" fmla="*/ 67584 w 108479"/>
                <a:gd name="connsiteY64" fmla="*/ 85668 h 109288"/>
                <a:gd name="connsiteX65" fmla="*/ 64389 w 108479"/>
                <a:gd name="connsiteY65" fmla="*/ 90137 h 109288"/>
                <a:gd name="connsiteX66" fmla="*/ 63750 w 108479"/>
                <a:gd name="connsiteY66" fmla="*/ 94605 h 109288"/>
                <a:gd name="connsiteX67" fmla="*/ 60555 w 108479"/>
                <a:gd name="connsiteY67" fmla="*/ 95244 h 109288"/>
                <a:gd name="connsiteX68" fmla="*/ 57999 w 108479"/>
                <a:gd name="connsiteY68" fmla="*/ 91413 h 109288"/>
                <a:gd name="connsiteX69" fmla="*/ 53526 w 108479"/>
                <a:gd name="connsiteY69" fmla="*/ 88221 h 109288"/>
                <a:gd name="connsiteX70" fmla="*/ 43941 w 108479"/>
                <a:gd name="connsiteY70" fmla="*/ 86945 h 109288"/>
                <a:gd name="connsiteX71" fmla="*/ 43302 w 108479"/>
                <a:gd name="connsiteY71" fmla="*/ 86945 h 109288"/>
                <a:gd name="connsiteX72" fmla="*/ 38829 w 108479"/>
                <a:gd name="connsiteY72" fmla="*/ 88860 h 109288"/>
                <a:gd name="connsiteX73" fmla="*/ 35634 w 108479"/>
                <a:gd name="connsiteY73" fmla="*/ 92052 h 109288"/>
                <a:gd name="connsiteX74" fmla="*/ 32439 w 108479"/>
                <a:gd name="connsiteY74" fmla="*/ 90775 h 109288"/>
                <a:gd name="connsiteX75" fmla="*/ 33078 w 108479"/>
                <a:gd name="connsiteY75" fmla="*/ 86306 h 109288"/>
                <a:gd name="connsiteX76" fmla="*/ 31800 w 108479"/>
                <a:gd name="connsiteY76" fmla="*/ 81199 h 109288"/>
                <a:gd name="connsiteX77" fmla="*/ 25410 w 108479"/>
                <a:gd name="connsiteY77" fmla="*/ 74177 h 109288"/>
                <a:gd name="connsiteX78" fmla="*/ 20299 w 108479"/>
                <a:gd name="connsiteY78" fmla="*/ 72261 h 109288"/>
                <a:gd name="connsiteX79" fmla="*/ 15187 w 108479"/>
                <a:gd name="connsiteY79" fmla="*/ 72261 h 109288"/>
                <a:gd name="connsiteX80" fmla="*/ 13909 w 108479"/>
                <a:gd name="connsiteY80" fmla="*/ 69069 h 109288"/>
                <a:gd name="connsiteX81" fmla="*/ 17743 w 108479"/>
                <a:gd name="connsiteY81" fmla="*/ 65877 h 109288"/>
                <a:gd name="connsiteX82" fmla="*/ 19659 w 108479"/>
                <a:gd name="connsiteY82" fmla="*/ 60770 h 109288"/>
                <a:gd name="connsiteX83" fmla="*/ 19659 w 108479"/>
                <a:gd name="connsiteY83" fmla="*/ 51833 h 109288"/>
                <a:gd name="connsiteX84" fmla="*/ 17104 w 108479"/>
                <a:gd name="connsiteY84" fmla="*/ 46726 h 109288"/>
                <a:gd name="connsiteX85" fmla="*/ 13270 w 108479"/>
                <a:gd name="connsiteY85" fmla="*/ 44172 h 109288"/>
                <a:gd name="connsiteX86" fmla="*/ 14548 w 108479"/>
                <a:gd name="connsiteY86" fmla="*/ 40980 h 109288"/>
                <a:gd name="connsiteX87" fmla="*/ 19659 w 108479"/>
                <a:gd name="connsiteY87" fmla="*/ 40980 h 109288"/>
                <a:gd name="connsiteX88" fmla="*/ 24772 w 108479"/>
                <a:gd name="connsiteY88" fmla="*/ 38426 h 109288"/>
                <a:gd name="connsiteX89" fmla="*/ 30522 w 108479"/>
                <a:gd name="connsiteY89" fmla="*/ 31404 h 109288"/>
                <a:gd name="connsiteX90" fmla="*/ 31800 w 108479"/>
                <a:gd name="connsiteY90" fmla="*/ 25658 h 109288"/>
                <a:gd name="connsiteX91" fmla="*/ 30522 w 108479"/>
                <a:gd name="connsiteY91" fmla="*/ 21190 h 109288"/>
                <a:gd name="connsiteX92" fmla="*/ 33078 w 108479"/>
                <a:gd name="connsiteY92" fmla="*/ 19274 h 109288"/>
                <a:gd name="connsiteX93" fmla="*/ 36912 w 108479"/>
                <a:gd name="connsiteY93" fmla="*/ 22466 h 109288"/>
                <a:gd name="connsiteX94" fmla="*/ 42024 w 108479"/>
                <a:gd name="connsiteY94" fmla="*/ 23743 h 109288"/>
                <a:gd name="connsiteX95" fmla="*/ 50970 w 108479"/>
                <a:gd name="connsiteY95" fmla="*/ 21828 h 109288"/>
                <a:gd name="connsiteX96" fmla="*/ 55443 w 108479"/>
                <a:gd name="connsiteY96" fmla="*/ 18636 h 109288"/>
                <a:gd name="connsiteX97" fmla="*/ 57360 w 108479"/>
                <a:gd name="connsiteY97" fmla="*/ 14167 h 109288"/>
                <a:gd name="connsiteX98" fmla="*/ 60555 w 108479"/>
                <a:gd name="connsiteY98" fmla="*/ 14806 h 109288"/>
                <a:gd name="connsiteX99" fmla="*/ 61194 w 108479"/>
                <a:gd name="connsiteY99" fmla="*/ 19274 h 109288"/>
                <a:gd name="connsiteX100" fmla="*/ 64389 w 108479"/>
                <a:gd name="connsiteY100" fmla="*/ 23743 h 109288"/>
                <a:gd name="connsiteX101" fmla="*/ 72696 w 108479"/>
                <a:gd name="connsiteY101" fmla="*/ 28212 h 109288"/>
                <a:gd name="connsiteX102" fmla="*/ 78447 w 108479"/>
                <a:gd name="connsiteY102" fmla="*/ 28212 h 109288"/>
                <a:gd name="connsiteX103" fmla="*/ 82920 w 108479"/>
                <a:gd name="connsiteY103" fmla="*/ 26297 h 109288"/>
                <a:gd name="connsiteX104" fmla="*/ 85476 w 108479"/>
                <a:gd name="connsiteY104" fmla="*/ 28850 h 109288"/>
                <a:gd name="connsiteX105" fmla="*/ 82920 w 108479"/>
                <a:gd name="connsiteY105" fmla="*/ 33319 h 109288"/>
                <a:gd name="connsiteX106" fmla="*/ 82920 w 108479"/>
                <a:gd name="connsiteY106" fmla="*/ 39065 h 109288"/>
                <a:gd name="connsiteX107" fmla="*/ 86754 w 108479"/>
                <a:gd name="connsiteY107" fmla="*/ 48002 h 109288"/>
                <a:gd name="connsiteX108" fmla="*/ 90588 w 108479"/>
                <a:gd name="connsiteY108" fmla="*/ 51833 h 109288"/>
                <a:gd name="connsiteX109" fmla="*/ 95061 w 108479"/>
                <a:gd name="connsiteY109" fmla="*/ 53109 h 109288"/>
                <a:gd name="connsiteX110" fmla="*/ 95061 w 108479"/>
                <a:gd name="connsiteY110" fmla="*/ 56301 h 109288"/>
                <a:gd name="connsiteX111" fmla="*/ 90588 w 108479"/>
                <a:gd name="connsiteY111" fmla="*/ 56301 h 10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08479" h="109288">
                  <a:moveTo>
                    <a:pt x="107841" y="47364"/>
                  </a:moveTo>
                  <a:cubicBezTo>
                    <a:pt x="107841" y="44172"/>
                    <a:pt x="105285" y="40980"/>
                    <a:pt x="102090" y="39703"/>
                  </a:cubicBezTo>
                  <a:lnTo>
                    <a:pt x="96978" y="38426"/>
                  </a:lnTo>
                  <a:lnTo>
                    <a:pt x="95700" y="35234"/>
                  </a:lnTo>
                  <a:lnTo>
                    <a:pt x="98256" y="30766"/>
                  </a:lnTo>
                  <a:cubicBezTo>
                    <a:pt x="100173" y="27574"/>
                    <a:pt x="99534" y="23743"/>
                    <a:pt x="96978" y="21190"/>
                  </a:cubicBezTo>
                  <a:lnTo>
                    <a:pt x="90588" y="14167"/>
                  </a:lnTo>
                  <a:cubicBezTo>
                    <a:pt x="88032" y="11614"/>
                    <a:pt x="84837" y="10975"/>
                    <a:pt x="81003" y="12252"/>
                  </a:cubicBezTo>
                  <a:lnTo>
                    <a:pt x="76530" y="14167"/>
                  </a:lnTo>
                  <a:lnTo>
                    <a:pt x="73974" y="12890"/>
                  </a:lnTo>
                  <a:lnTo>
                    <a:pt x="73335" y="7783"/>
                  </a:lnTo>
                  <a:cubicBezTo>
                    <a:pt x="72696" y="4591"/>
                    <a:pt x="70140" y="2038"/>
                    <a:pt x="66306" y="1399"/>
                  </a:cubicBezTo>
                  <a:lnTo>
                    <a:pt x="56721" y="122"/>
                  </a:lnTo>
                  <a:cubicBezTo>
                    <a:pt x="53526" y="-516"/>
                    <a:pt x="49692" y="1399"/>
                    <a:pt x="48414" y="4591"/>
                  </a:cubicBezTo>
                  <a:lnTo>
                    <a:pt x="45858" y="9060"/>
                  </a:lnTo>
                  <a:lnTo>
                    <a:pt x="42663" y="9698"/>
                  </a:lnTo>
                  <a:lnTo>
                    <a:pt x="38829" y="6506"/>
                  </a:lnTo>
                  <a:cubicBezTo>
                    <a:pt x="36273" y="4591"/>
                    <a:pt x="32439" y="3953"/>
                    <a:pt x="29244" y="5868"/>
                  </a:cubicBezTo>
                  <a:lnTo>
                    <a:pt x="20938" y="10975"/>
                  </a:lnTo>
                  <a:cubicBezTo>
                    <a:pt x="17743" y="12890"/>
                    <a:pt x="16465" y="16082"/>
                    <a:pt x="17104" y="19913"/>
                  </a:cubicBezTo>
                  <a:lnTo>
                    <a:pt x="18382" y="25020"/>
                  </a:lnTo>
                  <a:lnTo>
                    <a:pt x="16465" y="27574"/>
                  </a:lnTo>
                  <a:lnTo>
                    <a:pt x="11353" y="27574"/>
                  </a:lnTo>
                  <a:cubicBezTo>
                    <a:pt x="8158" y="27574"/>
                    <a:pt x="4963" y="30127"/>
                    <a:pt x="3685" y="33319"/>
                  </a:cubicBezTo>
                  <a:lnTo>
                    <a:pt x="490" y="42895"/>
                  </a:lnTo>
                  <a:cubicBezTo>
                    <a:pt x="-788" y="46087"/>
                    <a:pt x="490" y="49918"/>
                    <a:pt x="3685" y="51833"/>
                  </a:cubicBezTo>
                  <a:lnTo>
                    <a:pt x="7519" y="55025"/>
                  </a:lnTo>
                  <a:lnTo>
                    <a:pt x="7519" y="58217"/>
                  </a:lnTo>
                  <a:lnTo>
                    <a:pt x="3685" y="61409"/>
                  </a:lnTo>
                  <a:cubicBezTo>
                    <a:pt x="1129" y="63962"/>
                    <a:pt x="-149" y="67154"/>
                    <a:pt x="1768" y="70346"/>
                  </a:cubicBezTo>
                  <a:lnTo>
                    <a:pt x="5602" y="79284"/>
                  </a:lnTo>
                  <a:cubicBezTo>
                    <a:pt x="6880" y="82476"/>
                    <a:pt x="10075" y="84391"/>
                    <a:pt x="13270" y="84391"/>
                  </a:cubicBezTo>
                  <a:lnTo>
                    <a:pt x="18382" y="84391"/>
                  </a:lnTo>
                  <a:lnTo>
                    <a:pt x="20299" y="86945"/>
                  </a:lnTo>
                  <a:lnTo>
                    <a:pt x="19659" y="92052"/>
                  </a:lnTo>
                  <a:cubicBezTo>
                    <a:pt x="19020" y="95244"/>
                    <a:pt x="20938" y="99074"/>
                    <a:pt x="24133" y="100351"/>
                  </a:cubicBezTo>
                  <a:lnTo>
                    <a:pt x="33078" y="104820"/>
                  </a:lnTo>
                  <a:cubicBezTo>
                    <a:pt x="36273" y="106735"/>
                    <a:pt x="40107" y="106096"/>
                    <a:pt x="42663" y="103543"/>
                  </a:cubicBezTo>
                  <a:lnTo>
                    <a:pt x="46497" y="100351"/>
                  </a:lnTo>
                  <a:lnTo>
                    <a:pt x="49692" y="100989"/>
                  </a:lnTo>
                  <a:lnTo>
                    <a:pt x="52248" y="105458"/>
                  </a:lnTo>
                  <a:cubicBezTo>
                    <a:pt x="53526" y="108012"/>
                    <a:pt x="56082" y="109288"/>
                    <a:pt x="59277" y="109288"/>
                  </a:cubicBezTo>
                  <a:lnTo>
                    <a:pt x="61194" y="109288"/>
                  </a:lnTo>
                  <a:lnTo>
                    <a:pt x="70779" y="107373"/>
                  </a:lnTo>
                  <a:cubicBezTo>
                    <a:pt x="73974" y="106735"/>
                    <a:pt x="76530" y="103543"/>
                    <a:pt x="77169" y="100351"/>
                  </a:cubicBezTo>
                  <a:lnTo>
                    <a:pt x="77808" y="95244"/>
                  </a:lnTo>
                  <a:lnTo>
                    <a:pt x="80364" y="93329"/>
                  </a:lnTo>
                  <a:lnTo>
                    <a:pt x="85476" y="95244"/>
                  </a:lnTo>
                  <a:cubicBezTo>
                    <a:pt x="88671" y="96521"/>
                    <a:pt x="92505" y="95244"/>
                    <a:pt x="94422" y="92690"/>
                  </a:cubicBezTo>
                  <a:lnTo>
                    <a:pt x="100812" y="85029"/>
                  </a:lnTo>
                  <a:cubicBezTo>
                    <a:pt x="102729" y="82476"/>
                    <a:pt x="102729" y="78645"/>
                    <a:pt x="100812" y="75453"/>
                  </a:cubicBezTo>
                  <a:lnTo>
                    <a:pt x="98256" y="70985"/>
                  </a:lnTo>
                  <a:lnTo>
                    <a:pt x="98895" y="67793"/>
                  </a:lnTo>
                  <a:lnTo>
                    <a:pt x="103368" y="65877"/>
                  </a:lnTo>
                  <a:cubicBezTo>
                    <a:pt x="106563" y="64601"/>
                    <a:pt x="108480" y="61409"/>
                    <a:pt x="108480" y="58217"/>
                  </a:cubicBezTo>
                  <a:lnTo>
                    <a:pt x="107841" y="47364"/>
                  </a:lnTo>
                  <a:close/>
                  <a:moveTo>
                    <a:pt x="90588" y="56301"/>
                  </a:moveTo>
                  <a:cubicBezTo>
                    <a:pt x="88671" y="56940"/>
                    <a:pt x="87393" y="58217"/>
                    <a:pt x="86754" y="60132"/>
                  </a:cubicBezTo>
                  <a:lnTo>
                    <a:pt x="84198" y="69069"/>
                  </a:lnTo>
                  <a:cubicBezTo>
                    <a:pt x="83559" y="70985"/>
                    <a:pt x="84198" y="72900"/>
                    <a:pt x="84837" y="74815"/>
                  </a:cubicBezTo>
                  <a:lnTo>
                    <a:pt x="87393" y="78645"/>
                  </a:lnTo>
                  <a:lnTo>
                    <a:pt x="85476" y="81199"/>
                  </a:lnTo>
                  <a:lnTo>
                    <a:pt x="81003" y="79922"/>
                  </a:lnTo>
                  <a:cubicBezTo>
                    <a:pt x="79086" y="79284"/>
                    <a:pt x="77169" y="79284"/>
                    <a:pt x="75252" y="80561"/>
                  </a:cubicBezTo>
                  <a:lnTo>
                    <a:pt x="67584" y="85668"/>
                  </a:lnTo>
                  <a:cubicBezTo>
                    <a:pt x="65667" y="86945"/>
                    <a:pt x="65028" y="88221"/>
                    <a:pt x="64389" y="90137"/>
                  </a:cubicBezTo>
                  <a:lnTo>
                    <a:pt x="63750" y="94605"/>
                  </a:lnTo>
                  <a:lnTo>
                    <a:pt x="60555" y="95244"/>
                  </a:lnTo>
                  <a:lnTo>
                    <a:pt x="57999" y="91413"/>
                  </a:lnTo>
                  <a:cubicBezTo>
                    <a:pt x="56721" y="89498"/>
                    <a:pt x="55443" y="88860"/>
                    <a:pt x="53526" y="88221"/>
                  </a:cubicBezTo>
                  <a:lnTo>
                    <a:pt x="43941" y="86945"/>
                  </a:lnTo>
                  <a:lnTo>
                    <a:pt x="43302" y="86945"/>
                  </a:lnTo>
                  <a:cubicBezTo>
                    <a:pt x="41385" y="86945"/>
                    <a:pt x="40107" y="87583"/>
                    <a:pt x="38829" y="88860"/>
                  </a:cubicBezTo>
                  <a:lnTo>
                    <a:pt x="35634" y="92052"/>
                  </a:lnTo>
                  <a:lnTo>
                    <a:pt x="32439" y="90775"/>
                  </a:lnTo>
                  <a:lnTo>
                    <a:pt x="33078" y="86306"/>
                  </a:lnTo>
                  <a:cubicBezTo>
                    <a:pt x="33078" y="84391"/>
                    <a:pt x="33078" y="82476"/>
                    <a:pt x="31800" y="81199"/>
                  </a:cubicBezTo>
                  <a:lnTo>
                    <a:pt x="25410" y="74177"/>
                  </a:lnTo>
                  <a:cubicBezTo>
                    <a:pt x="24133" y="72900"/>
                    <a:pt x="22215" y="72261"/>
                    <a:pt x="20299" y="72261"/>
                  </a:cubicBezTo>
                  <a:lnTo>
                    <a:pt x="15187" y="72261"/>
                  </a:lnTo>
                  <a:lnTo>
                    <a:pt x="13909" y="69069"/>
                  </a:lnTo>
                  <a:lnTo>
                    <a:pt x="17743" y="65877"/>
                  </a:lnTo>
                  <a:cubicBezTo>
                    <a:pt x="19020" y="64601"/>
                    <a:pt x="20299" y="62685"/>
                    <a:pt x="19659" y="60770"/>
                  </a:cubicBezTo>
                  <a:lnTo>
                    <a:pt x="19659" y="51833"/>
                  </a:lnTo>
                  <a:cubicBezTo>
                    <a:pt x="19659" y="49918"/>
                    <a:pt x="18382" y="48002"/>
                    <a:pt x="17104" y="46726"/>
                  </a:cubicBezTo>
                  <a:lnTo>
                    <a:pt x="13270" y="44172"/>
                  </a:lnTo>
                  <a:lnTo>
                    <a:pt x="14548" y="40980"/>
                  </a:lnTo>
                  <a:lnTo>
                    <a:pt x="19659" y="40980"/>
                  </a:lnTo>
                  <a:cubicBezTo>
                    <a:pt x="21577" y="40980"/>
                    <a:pt x="23493" y="39703"/>
                    <a:pt x="24772" y="38426"/>
                  </a:cubicBezTo>
                  <a:lnTo>
                    <a:pt x="30522" y="31404"/>
                  </a:lnTo>
                  <a:cubicBezTo>
                    <a:pt x="31800" y="30127"/>
                    <a:pt x="32439" y="27574"/>
                    <a:pt x="31800" y="25658"/>
                  </a:cubicBezTo>
                  <a:lnTo>
                    <a:pt x="30522" y="21190"/>
                  </a:lnTo>
                  <a:lnTo>
                    <a:pt x="33078" y="19274"/>
                  </a:lnTo>
                  <a:lnTo>
                    <a:pt x="36912" y="22466"/>
                  </a:lnTo>
                  <a:cubicBezTo>
                    <a:pt x="38190" y="23743"/>
                    <a:pt x="40107" y="24382"/>
                    <a:pt x="42024" y="23743"/>
                  </a:cubicBezTo>
                  <a:lnTo>
                    <a:pt x="50970" y="21828"/>
                  </a:lnTo>
                  <a:cubicBezTo>
                    <a:pt x="52887" y="21190"/>
                    <a:pt x="54165" y="19913"/>
                    <a:pt x="55443" y="18636"/>
                  </a:cubicBezTo>
                  <a:lnTo>
                    <a:pt x="57360" y="14167"/>
                  </a:lnTo>
                  <a:lnTo>
                    <a:pt x="60555" y="14806"/>
                  </a:lnTo>
                  <a:lnTo>
                    <a:pt x="61194" y="19274"/>
                  </a:lnTo>
                  <a:cubicBezTo>
                    <a:pt x="61833" y="21190"/>
                    <a:pt x="63111" y="23105"/>
                    <a:pt x="64389" y="23743"/>
                  </a:cubicBezTo>
                  <a:lnTo>
                    <a:pt x="72696" y="28212"/>
                  </a:lnTo>
                  <a:cubicBezTo>
                    <a:pt x="74613" y="28850"/>
                    <a:pt x="76530" y="28850"/>
                    <a:pt x="78447" y="28212"/>
                  </a:cubicBezTo>
                  <a:lnTo>
                    <a:pt x="82920" y="26297"/>
                  </a:lnTo>
                  <a:lnTo>
                    <a:pt x="85476" y="28850"/>
                  </a:lnTo>
                  <a:lnTo>
                    <a:pt x="82920" y="33319"/>
                  </a:lnTo>
                  <a:cubicBezTo>
                    <a:pt x="82281" y="35234"/>
                    <a:pt x="81642" y="37150"/>
                    <a:pt x="82920" y="39065"/>
                  </a:cubicBezTo>
                  <a:lnTo>
                    <a:pt x="86754" y="48002"/>
                  </a:lnTo>
                  <a:cubicBezTo>
                    <a:pt x="87393" y="49918"/>
                    <a:pt x="88671" y="51194"/>
                    <a:pt x="90588" y="51833"/>
                  </a:cubicBezTo>
                  <a:lnTo>
                    <a:pt x="95061" y="53109"/>
                  </a:lnTo>
                  <a:lnTo>
                    <a:pt x="95061" y="56301"/>
                  </a:lnTo>
                  <a:lnTo>
                    <a:pt x="90588" y="5630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79" name="Graphic 4">
              <a:extLst>
                <a:ext uri="{FF2B5EF4-FFF2-40B4-BE49-F238E27FC236}">
                  <a16:creationId xmlns:a16="http://schemas.microsoft.com/office/drawing/2014/main" id="{25072251-939E-B62B-3453-63EC8E57FC42}"/>
                </a:ext>
              </a:extLst>
            </p:cNvPr>
            <p:cNvSpPr/>
            <p:nvPr/>
          </p:nvSpPr>
          <p:spPr>
            <a:xfrm>
              <a:off x="1732290" y="2987227"/>
              <a:ext cx="65859" cy="66393"/>
            </a:xfrm>
            <a:custGeom>
              <a:avLst/>
              <a:gdLst>
                <a:gd name="connsiteX0" fmla="*/ 31333 w 65859"/>
                <a:gd name="connsiteY0" fmla="*/ 0 h 66393"/>
                <a:gd name="connsiteX1" fmla="*/ 31333 w 65859"/>
                <a:gd name="connsiteY1" fmla="*/ 0 h 66393"/>
                <a:gd name="connsiteX2" fmla="*/ 22 w 65859"/>
                <a:gd name="connsiteY2" fmla="*/ 35112 h 66393"/>
                <a:gd name="connsiteX3" fmla="*/ 32611 w 65859"/>
                <a:gd name="connsiteY3" fmla="*/ 66394 h 66393"/>
                <a:gd name="connsiteX4" fmla="*/ 33888 w 65859"/>
                <a:gd name="connsiteY4" fmla="*/ 66394 h 66393"/>
                <a:gd name="connsiteX5" fmla="*/ 65838 w 65859"/>
                <a:gd name="connsiteY5" fmla="*/ 32558 h 66393"/>
                <a:gd name="connsiteX6" fmla="*/ 31972 w 65859"/>
                <a:gd name="connsiteY6" fmla="*/ 638 h 66393"/>
                <a:gd name="connsiteX7" fmla="*/ 31333 w 65859"/>
                <a:gd name="connsiteY7" fmla="*/ 0 h 66393"/>
                <a:gd name="connsiteX8" fmla="*/ 33888 w 65859"/>
                <a:gd name="connsiteY8" fmla="*/ 52987 h 66393"/>
                <a:gd name="connsiteX9" fmla="*/ 12802 w 65859"/>
                <a:gd name="connsiteY9" fmla="*/ 33835 h 66393"/>
                <a:gd name="connsiteX10" fmla="*/ 17914 w 65859"/>
                <a:gd name="connsiteY10" fmla="*/ 19152 h 66393"/>
                <a:gd name="connsiteX11" fmla="*/ 46668 w 65859"/>
                <a:gd name="connsiteY11" fmla="*/ 17875 h 66393"/>
                <a:gd name="connsiteX12" fmla="*/ 53058 w 65859"/>
                <a:gd name="connsiteY12" fmla="*/ 31920 h 66393"/>
                <a:gd name="connsiteX13" fmla="*/ 33888 w 65859"/>
                <a:gd name="connsiteY13" fmla="*/ 52987 h 66393"/>
                <a:gd name="connsiteX14" fmla="*/ 33888 w 65859"/>
                <a:gd name="connsiteY14" fmla="*/ 52987 h 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859" h="66393">
                  <a:moveTo>
                    <a:pt x="31333" y="0"/>
                  </a:moveTo>
                  <a:lnTo>
                    <a:pt x="31333" y="0"/>
                  </a:lnTo>
                  <a:cubicBezTo>
                    <a:pt x="12802" y="1277"/>
                    <a:pt x="-617" y="16598"/>
                    <a:pt x="22" y="35112"/>
                  </a:cubicBezTo>
                  <a:cubicBezTo>
                    <a:pt x="1300" y="52349"/>
                    <a:pt x="15358" y="65755"/>
                    <a:pt x="32611" y="66394"/>
                  </a:cubicBezTo>
                  <a:lnTo>
                    <a:pt x="33888" y="66394"/>
                  </a:lnTo>
                  <a:cubicBezTo>
                    <a:pt x="52419" y="65755"/>
                    <a:pt x="66477" y="50434"/>
                    <a:pt x="65838" y="32558"/>
                  </a:cubicBezTo>
                  <a:cubicBezTo>
                    <a:pt x="65199" y="14045"/>
                    <a:pt x="49863" y="0"/>
                    <a:pt x="31972" y="638"/>
                  </a:cubicBezTo>
                  <a:cubicBezTo>
                    <a:pt x="31972" y="0"/>
                    <a:pt x="31333" y="0"/>
                    <a:pt x="31333" y="0"/>
                  </a:cubicBezTo>
                  <a:close/>
                  <a:moveTo>
                    <a:pt x="33888" y="52987"/>
                  </a:moveTo>
                  <a:cubicBezTo>
                    <a:pt x="22387" y="53626"/>
                    <a:pt x="13441" y="44688"/>
                    <a:pt x="12802" y="33835"/>
                  </a:cubicBezTo>
                  <a:cubicBezTo>
                    <a:pt x="12802" y="28728"/>
                    <a:pt x="14719" y="22982"/>
                    <a:pt x="17914" y="19152"/>
                  </a:cubicBezTo>
                  <a:cubicBezTo>
                    <a:pt x="25582" y="10853"/>
                    <a:pt x="38362" y="10214"/>
                    <a:pt x="46668" y="17875"/>
                  </a:cubicBezTo>
                  <a:cubicBezTo>
                    <a:pt x="50502" y="21706"/>
                    <a:pt x="53058" y="26813"/>
                    <a:pt x="53058" y="31920"/>
                  </a:cubicBezTo>
                  <a:cubicBezTo>
                    <a:pt x="53697" y="42773"/>
                    <a:pt x="44751" y="52349"/>
                    <a:pt x="33888" y="52987"/>
                  </a:cubicBezTo>
                  <a:lnTo>
                    <a:pt x="33888" y="5298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80" name="Graphic 4">
              <a:extLst>
                <a:ext uri="{FF2B5EF4-FFF2-40B4-BE49-F238E27FC236}">
                  <a16:creationId xmlns:a16="http://schemas.microsoft.com/office/drawing/2014/main" id="{8FE1E897-989C-5EC8-C117-E7DB0DC6E204}"/>
                </a:ext>
              </a:extLst>
            </p:cNvPr>
            <p:cNvSpPr/>
            <p:nvPr/>
          </p:nvSpPr>
          <p:spPr>
            <a:xfrm>
              <a:off x="1637251" y="3045838"/>
              <a:ext cx="108479" cy="109288"/>
            </a:xfrm>
            <a:custGeom>
              <a:avLst/>
              <a:gdLst>
                <a:gd name="connsiteX0" fmla="*/ 102090 w 108479"/>
                <a:gd name="connsiteY0" fmla="*/ 39703 h 109288"/>
                <a:gd name="connsiteX1" fmla="*/ 96978 w 108479"/>
                <a:gd name="connsiteY1" fmla="*/ 38426 h 109288"/>
                <a:gd name="connsiteX2" fmla="*/ 95700 w 108479"/>
                <a:gd name="connsiteY2" fmla="*/ 35234 h 109288"/>
                <a:gd name="connsiteX3" fmla="*/ 98256 w 108479"/>
                <a:gd name="connsiteY3" fmla="*/ 30765 h 109288"/>
                <a:gd name="connsiteX4" fmla="*/ 96978 w 108479"/>
                <a:gd name="connsiteY4" fmla="*/ 21189 h 109288"/>
                <a:gd name="connsiteX5" fmla="*/ 90588 w 108479"/>
                <a:gd name="connsiteY5" fmla="*/ 14167 h 109288"/>
                <a:gd name="connsiteX6" fmla="*/ 81003 w 108479"/>
                <a:gd name="connsiteY6" fmla="*/ 12252 h 109288"/>
                <a:gd name="connsiteX7" fmla="*/ 76530 w 108479"/>
                <a:gd name="connsiteY7" fmla="*/ 14167 h 109288"/>
                <a:gd name="connsiteX8" fmla="*/ 73335 w 108479"/>
                <a:gd name="connsiteY8" fmla="*/ 12890 h 109288"/>
                <a:gd name="connsiteX9" fmla="*/ 72696 w 108479"/>
                <a:gd name="connsiteY9" fmla="*/ 7783 h 109288"/>
                <a:gd name="connsiteX10" fmla="*/ 65667 w 108479"/>
                <a:gd name="connsiteY10" fmla="*/ 1399 h 109288"/>
                <a:gd name="connsiteX11" fmla="*/ 56082 w 108479"/>
                <a:gd name="connsiteY11" fmla="*/ 122 h 109288"/>
                <a:gd name="connsiteX12" fmla="*/ 47775 w 108479"/>
                <a:gd name="connsiteY12" fmla="*/ 4591 h 109288"/>
                <a:gd name="connsiteX13" fmla="*/ 45219 w 108479"/>
                <a:gd name="connsiteY13" fmla="*/ 9060 h 109288"/>
                <a:gd name="connsiteX14" fmla="*/ 42024 w 108479"/>
                <a:gd name="connsiteY14" fmla="*/ 9698 h 109288"/>
                <a:gd name="connsiteX15" fmla="*/ 38190 w 108479"/>
                <a:gd name="connsiteY15" fmla="*/ 6506 h 109288"/>
                <a:gd name="connsiteX16" fmla="*/ 28606 w 108479"/>
                <a:gd name="connsiteY16" fmla="*/ 5868 h 109288"/>
                <a:gd name="connsiteX17" fmla="*/ 20299 w 108479"/>
                <a:gd name="connsiteY17" fmla="*/ 10975 h 109288"/>
                <a:gd name="connsiteX18" fmla="*/ 16465 w 108479"/>
                <a:gd name="connsiteY18" fmla="*/ 19913 h 109288"/>
                <a:gd name="connsiteX19" fmla="*/ 17743 w 108479"/>
                <a:gd name="connsiteY19" fmla="*/ 25020 h 109288"/>
                <a:gd name="connsiteX20" fmla="*/ 15826 w 108479"/>
                <a:gd name="connsiteY20" fmla="*/ 27573 h 109288"/>
                <a:gd name="connsiteX21" fmla="*/ 11353 w 108479"/>
                <a:gd name="connsiteY21" fmla="*/ 27573 h 109288"/>
                <a:gd name="connsiteX22" fmla="*/ 3685 w 108479"/>
                <a:gd name="connsiteY22" fmla="*/ 33319 h 109288"/>
                <a:gd name="connsiteX23" fmla="*/ 490 w 108479"/>
                <a:gd name="connsiteY23" fmla="*/ 42895 h 109288"/>
                <a:gd name="connsiteX24" fmla="*/ 3685 w 108479"/>
                <a:gd name="connsiteY24" fmla="*/ 51833 h 109288"/>
                <a:gd name="connsiteX25" fmla="*/ 7519 w 108479"/>
                <a:gd name="connsiteY25" fmla="*/ 55025 h 109288"/>
                <a:gd name="connsiteX26" fmla="*/ 7519 w 108479"/>
                <a:gd name="connsiteY26" fmla="*/ 58217 h 109288"/>
                <a:gd name="connsiteX27" fmla="*/ 3685 w 108479"/>
                <a:gd name="connsiteY27" fmla="*/ 61409 h 109288"/>
                <a:gd name="connsiteX28" fmla="*/ 1768 w 108479"/>
                <a:gd name="connsiteY28" fmla="*/ 70346 h 109288"/>
                <a:gd name="connsiteX29" fmla="*/ 5602 w 108479"/>
                <a:gd name="connsiteY29" fmla="*/ 79284 h 109288"/>
                <a:gd name="connsiteX30" fmla="*/ 13270 w 108479"/>
                <a:gd name="connsiteY30" fmla="*/ 84391 h 109288"/>
                <a:gd name="connsiteX31" fmla="*/ 18382 w 108479"/>
                <a:gd name="connsiteY31" fmla="*/ 84391 h 109288"/>
                <a:gd name="connsiteX32" fmla="*/ 20299 w 108479"/>
                <a:gd name="connsiteY32" fmla="*/ 86945 h 109288"/>
                <a:gd name="connsiteX33" fmla="*/ 19659 w 108479"/>
                <a:gd name="connsiteY33" fmla="*/ 92052 h 109288"/>
                <a:gd name="connsiteX34" fmla="*/ 24133 w 108479"/>
                <a:gd name="connsiteY34" fmla="*/ 100351 h 109288"/>
                <a:gd name="connsiteX35" fmla="*/ 33078 w 108479"/>
                <a:gd name="connsiteY35" fmla="*/ 104820 h 109288"/>
                <a:gd name="connsiteX36" fmla="*/ 42663 w 108479"/>
                <a:gd name="connsiteY36" fmla="*/ 103543 h 109288"/>
                <a:gd name="connsiteX37" fmla="*/ 46497 w 108479"/>
                <a:gd name="connsiteY37" fmla="*/ 100351 h 109288"/>
                <a:gd name="connsiteX38" fmla="*/ 49692 w 108479"/>
                <a:gd name="connsiteY38" fmla="*/ 100989 h 109288"/>
                <a:gd name="connsiteX39" fmla="*/ 52248 w 108479"/>
                <a:gd name="connsiteY39" fmla="*/ 105458 h 109288"/>
                <a:gd name="connsiteX40" fmla="*/ 59277 w 108479"/>
                <a:gd name="connsiteY40" fmla="*/ 109288 h 109288"/>
                <a:gd name="connsiteX41" fmla="*/ 61194 w 108479"/>
                <a:gd name="connsiteY41" fmla="*/ 109288 h 109288"/>
                <a:gd name="connsiteX42" fmla="*/ 70779 w 108479"/>
                <a:gd name="connsiteY42" fmla="*/ 107373 h 109288"/>
                <a:gd name="connsiteX43" fmla="*/ 77169 w 108479"/>
                <a:gd name="connsiteY43" fmla="*/ 100351 h 109288"/>
                <a:gd name="connsiteX44" fmla="*/ 77808 w 108479"/>
                <a:gd name="connsiteY44" fmla="*/ 95244 h 109288"/>
                <a:gd name="connsiteX45" fmla="*/ 80364 w 108479"/>
                <a:gd name="connsiteY45" fmla="*/ 93329 h 109288"/>
                <a:gd name="connsiteX46" fmla="*/ 85476 w 108479"/>
                <a:gd name="connsiteY46" fmla="*/ 94605 h 109288"/>
                <a:gd name="connsiteX47" fmla="*/ 94422 w 108479"/>
                <a:gd name="connsiteY47" fmla="*/ 92052 h 109288"/>
                <a:gd name="connsiteX48" fmla="*/ 100812 w 108479"/>
                <a:gd name="connsiteY48" fmla="*/ 84391 h 109288"/>
                <a:gd name="connsiteX49" fmla="*/ 100812 w 108479"/>
                <a:gd name="connsiteY49" fmla="*/ 74815 h 109288"/>
                <a:gd name="connsiteX50" fmla="*/ 98256 w 108479"/>
                <a:gd name="connsiteY50" fmla="*/ 70346 h 109288"/>
                <a:gd name="connsiteX51" fmla="*/ 98895 w 108479"/>
                <a:gd name="connsiteY51" fmla="*/ 67154 h 109288"/>
                <a:gd name="connsiteX52" fmla="*/ 103368 w 108479"/>
                <a:gd name="connsiteY52" fmla="*/ 65239 h 109288"/>
                <a:gd name="connsiteX53" fmla="*/ 108480 w 108479"/>
                <a:gd name="connsiteY53" fmla="*/ 57578 h 109288"/>
                <a:gd name="connsiteX54" fmla="*/ 107841 w 108479"/>
                <a:gd name="connsiteY54" fmla="*/ 47364 h 109288"/>
                <a:gd name="connsiteX55" fmla="*/ 102090 w 108479"/>
                <a:gd name="connsiteY55" fmla="*/ 39703 h 109288"/>
                <a:gd name="connsiteX56" fmla="*/ 91227 w 108479"/>
                <a:gd name="connsiteY56" fmla="*/ 56301 h 109288"/>
                <a:gd name="connsiteX57" fmla="*/ 87393 w 108479"/>
                <a:gd name="connsiteY57" fmla="*/ 60132 h 109288"/>
                <a:gd name="connsiteX58" fmla="*/ 84837 w 108479"/>
                <a:gd name="connsiteY58" fmla="*/ 69069 h 109288"/>
                <a:gd name="connsiteX59" fmla="*/ 85476 w 108479"/>
                <a:gd name="connsiteY59" fmla="*/ 74815 h 109288"/>
                <a:gd name="connsiteX60" fmla="*/ 88032 w 108479"/>
                <a:gd name="connsiteY60" fmla="*/ 78645 h 109288"/>
                <a:gd name="connsiteX61" fmla="*/ 86115 w 108479"/>
                <a:gd name="connsiteY61" fmla="*/ 81199 h 109288"/>
                <a:gd name="connsiteX62" fmla="*/ 81642 w 108479"/>
                <a:gd name="connsiteY62" fmla="*/ 79922 h 109288"/>
                <a:gd name="connsiteX63" fmla="*/ 75891 w 108479"/>
                <a:gd name="connsiteY63" fmla="*/ 80561 h 109288"/>
                <a:gd name="connsiteX64" fmla="*/ 68223 w 108479"/>
                <a:gd name="connsiteY64" fmla="*/ 85668 h 109288"/>
                <a:gd name="connsiteX65" fmla="*/ 65028 w 108479"/>
                <a:gd name="connsiteY65" fmla="*/ 90137 h 109288"/>
                <a:gd name="connsiteX66" fmla="*/ 64389 w 108479"/>
                <a:gd name="connsiteY66" fmla="*/ 95244 h 109288"/>
                <a:gd name="connsiteX67" fmla="*/ 61194 w 108479"/>
                <a:gd name="connsiteY67" fmla="*/ 95882 h 109288"/>
                <a:gd name="connsiteX68" fmla="*/ 58638 w 108479"/>
                <a:gd name="connsiteY68" fmla="*/ 92052 h 109288"/>
                <a:gd name="connsiteX69" fmla="*/ 54165 w 108479"/>
                <a:gd name="connsiteY69" fmla="*/ 88860 h 109288"/>
                <a:gd name="connsiteX70" fmla="*/ 45219 w 108479"/>
                <a:gd name="connsiteY70" fmla="*/ 87583 h 109288"/>
                <a:gd name="connsiteX71" fmla="*/ 44580 w 108479"/>
                <a:gd name="connsiteY71" fmla="*/ 87583 h 109288"/>
                <a:gd name="connsiteX72" fmla="*/ 40107 w 108479"/>
                <a:gd name="connsiteY72" fmla="*/ 89498 h 109288"/>
                <a:gd name="connsiteX73" fmla="*/ 36912 w 108479"/>
                <a:gd name="connsiteY73" fmla="*/ 92690 h 109288"/>
                <a:gd name="connsiteX74" fmla="*/ 33717 w 108479"/>
                <a:gd name="connsiteY74" fmla="*/ 91413 h 109288"/>
                <a:gd name="connsiteX75" fmla="*/ 34356 w 108479"/>
                <a:gd name="connsiteY75" fmla="*/ 86306 h 109288"/>
                <a:gd name="connsiteX76" fmla="*/ 33078 w 108479"/>
                <a:gd name="connsiteY76" fmla="*/ 81199 h 109288"/>
                <a:gd name="connsiteX77" fmla="*/ 26688 w 108479"/>
                <a:gd name="connsiteY77" fmla="*/ 74177 h 109288"/>
                <a:gd name="connsiteX78" fmla="*/ 21577 w 108479"/>
                <a:gd name="connsiteY78" fmla="*/ 72261 h 109288"/>
                <a:gd name="connsiteX79" fmla="*/ 16465 w 108479"/>
                <a:gd name="connsiteY79" fmla="*/ 72261 h 109288"/>
                <a:gd name="connsiteX80" fmla="*/ 15187 w 108479"/>
                <a:gd name="connsiteY80" fmla="*/ 69069 h 109288"/>
                <a:gd name="connsiteX81" fmla="*/ 19021 w 108479"/>
                <a:gd name="connsiteY81" fmla="*/ 65877 h 109288"/>
                <a:gd name="connsiteX82" fmla="*/ 20938 w 108479"/>
                <a:gd name="connsiteY82" fmla="*/ 60770 h 109288"/>
                <a:gd name="connsiteX83" fmla="*/ 20299 w 108479"/>
                <a:gd name="connsiteY83" fmla="*/ 51194 h 109288"/>
                <a:gd name="connsiteX84" fmla="*/ 17743 w 108479"/>
                <a:gd name="connsiteY84" fmla="*/ 46087 h 109288"/>
                <a:gd name="connsiteX85" fmla="*/ 13909 w 108479"/>
                <a:gd name="connsiteY85" fmla="*/ 43533 h 109288"/>
                <a:gd name="connsiteX86" fmla="*/ 15187 w 108479"/>
                <a:gd name="connsiteY86" fmla="*/ 40341 h 109288"/>
                <a:gd name="connsiteX87" fmla="*/ 20299 w 108479"/>
                <a:gd name="connsiteY87" fmla="*/ 40341 h 109288"/>
                <a:gd name="connsiteX88" fmla="*/ 25411 w 108479"/>
                <a:gd name="connsiteY88" fmla="*/ 37788 h 109288"/>
                <a:gd name="connsiteX89" fmla="*/ 31161 w 108479"/>
                <a:gd name="connsiteY89" fmla="*/ 30765 h 109288"/>
                <a:gd name="connsiteX90" fmla="*/ 32439 w 108479"/>
                <a:gd name="connsiteY90" fmla="*/ 25020 h 109288"/>
                <a:gd name="connsiteX91" fmla="*/ 31161 w 108479"/>
                <a:gd name="connsiteY91" fmla="*/ 20551 h 109288"/>
                <a:gd name="connsiteX92" fmla="*/ 33717 w 108479"/>
                <a:gd name="connsiteY92" fmla="*/ 18636 h 109288"/>
                <a:gd name="connsiteX93" fmla="*/ 37551 w 108479"/>
                <a:gd name="connsiteY93" fmla="*/ 21828 h 109288"/>
                <a:gd name="connsiteX94" fmla="*/ 42663 w 108479"/>
                <a:gd name="connsiteY94" fmla="*/ 23105 h 109288"/>
                <a:gd name="connsiteX95" fmla="*/ 51609 w 108479"/>
                <a:gd name="connsiteY95" fmla="*/ 21189 h 109288"/>
                <a:gd name="connsiteX96" fmla="*/ 56082 w 108479"/>
                <a:gd name="connsiteY96" fmla="*/ 17997 h 109288"/>
                <a:gd name="connsiteX97" fmla="*/ 57999 w 108479"/>
                <a:gd name="connsiteY97" fmla="*/ 13529 h 109288"/>
                <a:gd name="connsiteX98" fmla="*/ 61194 w 108479"/>
                <a:gd name="connsiteY98" fmla="*/ 14167 h 109288"/>
                <a:gd name="connsiteX99" fmla="*/ 61833 w 108479"/>
                <a:gd name="connsiteY99" fmla="*/ 18636 h 109288"/>
                <a:gd name="connsiteX100" fmla="*/ 65028 w 108479"/>
                <a:gd name="connsiteY100" fmla="*/ 23105 h 109288"/>
                <a:gd name="connsiteX101" fmla="*/ 73335 w 108479"/>
                <a:gd name="connsiteY101" fmla="*/ 27573 h 109288"/>
                <a:gd name="connsiteX102" fmla="*/ 79086 w 108479"/>
                <a:gd name="connsiteY102" fmla="*/ 27573 h 109288"/>
                <a:gd name="connsiteX103" fmla="*/ 83559 w 108479"/>
                <a:gd name="connsiteY103" fmla="*/ 25658 h 109288"/>
                <a:gd name="connsiteX104" fmla="*/ 86115 w 108479"/>
                <a:gd name="connsiteY104" fmla="*/ 28212 h 109288"/>
                <a:gd name="connsiteX105" fmla="*/ 83559 w 108479"/>
                <a:gd name="connsiteY105" fmla="*/ 32681 h 109288"/>
                <a:gd name="connsiteX106" fmla="*/ 83559 w 108479"/>
                <a:gd name="connsiteY106" fmla="*/ 38426 h 109288"/>
                <a:gd name="connsiteX107" fmla="*/ 87393 w 108479"/>
                <a:gd name="connsiteY107" fmla="*/ 46725 h 109288"/>
                <a:gd name="connsiteX108" fmla="*/ 91227 w 108479"/>
                <a:gd name="connsiteY108" fmla="*/ 50556 h 109288"/>
                <a:gd name="connsiteX109" fmla="*/ 95700 w 108479"/>
                <a:gd name="connsiteY109" fmla="*/ 51833 h 109288"/>
                <a:gd name="connsiteX110" fmla="*/ 95700 w 108479"/>
                <a:gd name="connsiteY110" fmla="*/ 55025 h 109288"/>
                <a:gd name="connsiteX111" fmla="*/ 91227 w 108479"/>
                <a:gd name="connsiteY111" fmla="*/ 56301 h 10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08479" h="109288">
                  <a:moveTo>
                    <a:pt x="102090" y="39703"/>
                  </a:moveTo>
                  <a:lnTo>
                    <a:pt x="96978" y="38426"/>
                  </a:lnTo>
                  <a:lnTo>
                    <a:pt x="95700" y="35234"/>
                  </a:lnTo>
                  <a:lnTo>
                    <a:pt x="98256" y="30765"/>
                  </a:lnTo>
                  <a:cubicBezTo>
                    <a:pt x="100173" y="27573"/>
                    <a:pt x="99534" y="23743"/>
                    <a:pt x="96978" y="21189"/>
                  </a:cubicBezTo>
                  <a:lnTo>
                    <a:pt x="90588" y="14167"/>
                  </a:lnTo>
                  <a:cubicBezTo>
                    <a:pt x="88032" y="11613"/>
                    <a:pt x="84837" y="10975"/>
                    <a:pt x="81003" y="12252"/>
                  </a:cubicBezTo>
                  <a:lnTo>
                    <a:pt x="76530" y="14167"/>
                  </a:lnTo>
                  <a:lnTo>
                    <a:pt x="73335" y="12890"/>
                  </a:lnTo>
                  <a:lnTo>
                    <a:pt x="72696" y="7783"/>
                  </a:lnTo>
                  <a:cubicBezTo>
                    <a:pt x="72057" y="4591"/>
                    <a:pt x="69501" y="2037"/>
                    <a:pt x="65667" y="1399"/>
                  </a:cubicBezTo>
                  <a:lnTo>
                    <a:pt x="56082" y="122"/>
                  </a:lnTo>
                  <a:cubicBezTo>
                    <a:pt x="52887" y="-516"/>
                    <a:pt x="49053" y="1399"/>
                    <a:pt x="47775" y="4591"/>
                  </a:cubicBezTo>
                  <a:lnTo>
                    <a:pt x="45219" y="9060"/>
                  </a:lnTo>
                  <a:lnTo>
                    <a:pt x="42024" y="9698"/>
                  </a:lnTo>
                  <a:lnTo>
                    <a:pt x="38190" y="6506"/>
                  </a:lnTo>
                  <a:cubicBezTo>
                    <a:pt x="35634" y="4591"/>
                    <a:pt x="31801" y="3953"/>
                    <a:pt x="28606" y="5868"/>
                  </a:cubicBezTo>
                  <a:lnTo>
                    <a:pt x="20299" y="10975"/>
                  </a:lnTo>
                  <a:cubicBezTo>
                    <a:pt x="17104" y="12890"/>
                    <a:pt x="15826" y="16082"/>
                    <a:pt x="16465" y="19913"/>
                  </a:cubicBezTo>
                  <a:lnTo>
                    <a:pt x="17743" y="25020"/>
                  </a:lnTo>
                  <a:lnTo>
                    <a:pt x="15826" y="27573"/>
                  </a:lnTo>
                  <a:lnTo>
                    <a:pt x="11353" y="27573"/>
                  </a:lnTo>
                  <a:cubicBezTo>
                    <a:pt x="8158" y="27573"/>
                    <a:pt x="4963" y="30127"/>
                    <a:pt x="3685" y="33319"/>
                  </a:cubicBezTo>
                  <a:lnTo>
                    <a:pt x="490" y="42895"/>
                  </a:lnTo>
                  <a:cubicBezTo>
                    <a:pt x="-788" y="46087"/>
                    <a:pt x="490" y="49917"/>
                    <a:pt x="3685" y="51833"/>
                  </a:cubicBezTo>
                  <a:lnTo>
                    <a:pt x="7519" y="55025"/>
                  </a:lnTo>
                  <a:lnTo>
                    <a:pt x="7519" y="58217"/>
                  </a:lnTo>
                  <a:lnTo>
                    <a:pt x="3685" y="61409"/>
                  </a:lnTo>
                  <a:cubicBezTo>
                    <a:pt x="1129" y="63962"/>
                    <a:pt x="490" y="67154"/>
                    <a:pt x="1768" y="70346"/>
                  </a:cubicBezTo>
                  <a:lnTo>
                    <a:pt x="5602" y="79284"/>
                  </a:lnTo>
                  <a:cubicBezTo>
                    <a:pt x="6880" y="82476"/>
                    <a:pt x="10075" y="84391"/>
                    <a:pt x="13270" y="84391"/>
                  </a:cubicBezTo>
                  <a:lnTo>
                    <a:pt x="18382" y="84391"/>
                  </a:lnTo>
                  <a:lnTo>
                    <a:pt x="20299" y="86945"/>
                  </a:lnTo>
                  <a:lnTo>
                    <a:pt x="19659" y="92052"/>
                  </a:lnTo>
                  <a:cubicBezTo>
                    <a:pt x="19021" y="95244"/>
                    <a:pt x="20938" y="99074"/>
                    <a:pt x="24133" y="100351"/>
                  </a:cubicBezTo>
                  <a:lnTo>
                    <a:pt x="33078" y="104820"/>
                  </a:lnTo>
                  <a:cubicBezTo>
                    <a:pt x="36273" y="106735"/>
                    <a:pt x="40107" y="106096"/>
                    <a:pt x="42663" y="103543"/>
                  </a:cubicBezTo>
                  <a:lnTo>
                    <a:pt x="46497" y="100351"/>
                  </a:lnTo>
                  <a:lnTo>
                    <a:pt x="49692" y="100989"/>
                  </a:lnTo>
                  <a:lnTo>
                    <a:pt x="52248" y="105458"/>
                  </a:lnTo>
                  <a:cubicBezTo>
                    <a:pt x="53526" y="108012"/>
                    <a:pt x="56082" y="109288"/>
                    <a:pt x="59277" y="109288"/>
                  </a:cubicBezTo>
                  <a:cubicBezTo>
                    <a:pt x="59916" y="109288"/>
                    <a:pt x="60555" y="109288"/>
                    <a:pt x="61194" y="109288"/>
                  </a:cubicBezTo>
                  <a:lnTo>
                    <a:pt x="70779" y="107373"/>
                  </a:lnTo>
                  <a:cubicBezTo>
                    <a:pt x="73974" y="106735"/>
                    <a:pt x="76530" y="103543"/>
                    <a:pt x="77169" y="100351"/>
                  </a:cubicBezTo>
                  <a:lnTo>
                    <a:pt x="77808" y="95244"/>
                  </a:lnTo>
                  <a:lnTo>
                    <a:pt x="80364" y="93329"/>
                  </a:lnTo>
                  <a:lnTo>
                    <a:pt x="85476" y="94605"/>
                  </a:lnTo>
                  <a:cubicBezTo>
                    <a:pt x="88671" y="95882"/>
                    <a:pt x="92505" y="94605"/>
                    <a:pt x="94422" y="92052"/>
                  </a:cubicBezTo>
                  <a:lnTo>
                    <a:pt x="100812" y="84391"/>
                  </a:lnTo>
                  <a:cubicBezTo>
                    <a:pt x="102729" y="81837"/>
                    <a:pt x="102729" y="78007"/>
                    <a:pt x="100812" y="74815"/>
                  </a:cubicBezTo>
                  <a:lnTo>
                    <a:pt x="98256" y="70346"/>
                  </a:lnTo>
                  <a:lnTo>
                    <a:pt x="98895" y="67154"/>
                  </a:lnTo>
                  <a:lnTo>
                    <a:pt x="103368" y="65239"/>
                  </a:lnTo>
                  <a:cubicBezTo>
                    <a:pt x="106563" y="63962"/>
                    <a:pt x="108480" y="60770"/>
                    <a:pt x="108480" y="57578"/>
                  </a:cubicBezTo>
                  <a:lnTo>
                    <a:pt x="107841" y="47364"/>
                  </a:lnTo>
                  <a:cubicBezTo>
                    <a:pt x="107841" y="43533"/>
                    <a:pt x="105924" y="40980"/>
                    <a:pt x="102090" y="39703"/>
                  </a:cubicBezTo>
                  <a:close/>
                  <a:moveTo>
                    <a:pt x="91227" y="56301"/>
                  </a:moveTo>
                  <a:cubicBezTo>
                    <a:pt x="89310" y="56940"/>
                    <a:pt x="88032" y="58217"/>
                    <a:pt x="87393" y="60132"/>
                  </a:cubicBezTo>
                  <a:lnTo>
                    <a:pt x="84837" y="69069"/>
                  </a:lnTo>
                  <a:cubicBezTo>
                    <a:pt x="84198" y="70985"/>
                    <a:pt x="84837" y="72900"/>
                    <a:pt x="85476" y="74815"/>
                  </a:cubicBezTo>
                  <a:lnTo>
                    <a:pt x="88032" y="78645"/>
                  </a:lnTo>
                  <a:lnTo>
                    <a:pt x="86115" y="81199"/>
                  </a:lnTo>
                  <a:lnTo>
                    <a:pt x="81642" y="79922"/>
                  </a:lnTo>
                  <a:cubicBezTo>
                    <a:pt x="79725" y="79284"/>
                    <a:pt x="77808" y="79284"/>
                    <a:pt x="75891" y="80561"/>
                  </a:cubicBezTo>
                  <a:lnTo>
                    <a:pt x="68223" y="85668"/>
                  </a:lnTo>
                  <a:cubicBezTo>
                    <a:pt x="66306" y="86945"/>
                    <a:pt x="65667" y="88221"/>
                    <a:pt x="65028" y="90137"/>
                  </a:cubicBezTo>
                  <a:lnTo>
                    <a:pt x="64389" y="95244"/>
                  </a:lnTo>
                  <a:lnTo>
                    <a:pt x="61194" y="95882"/>
                  </a:lnTo>
                  <a:lnTo>
                    <a:pt x="58638" y="92052"/>
                  </a:lnTo>
                  <a:cubicBezTo>
                    <a:pt x="57360" y="90137"/>
                    <a:pt x="56082" y="89498"/>
                    <a:pt x="54165" y="88860"/>
                  </a:cubicBezTo>
                  <a:lnTo>
                    <a:pt x="45219" y="87583"/>
                  </a:lnTo>
                  <a:lnTo>
                    <a:pt x="44580" y="87583"/>
                  </a:lnTo>
                  <a:cubicBezTo>
                    <a:pt x="42663" y="87583"/>
                    <a:pt x="41385" y="88221"/>
                    <a:pt x="40107" y="89498"/>
                  </a:cubicBezTo>
                  <a:lnTo>
                    <a:pt x="36912" y="92690"/>
                  </a:lnTo>
                  <a:lnTo>
                    <a:pt x="33717" y="91413"/>
                  </a:lnTo>
                  <a:lnTo>
                    <a:pt x="34356" y="86306"/>
                  </a:lnTo>
                  <a:cubicBezTo>
                    <a:pt x="34356" y="84391"/>
                    <a:pt x="34356" y="82476"/>
                    <a:pt x="33078" y="81199"/>
                  </a:cubicBezTo>
                  <a:lnTo>
                    <a:pt x="26688" y="74177"/>
                  </a:lnTo>
                  <a:cubicBezTo>
                    <a:pt x="25411" y="72900"/>
                    <a:pt x="23493" y="72261"/>
                    <a:pt x="21577" y="72261"/>
                  </a:cubicBezTo>
                  <a:lnTo>
                    <a:pt x="16465" y="72261"/>
                  </a:lnTo>
                  <a:lnTo>
                    <a:pt x="15187" y="69069"/>
                  </a:lnTo>
                  <a:lnTo>
                    <a:pt x="19021" y="65877"/>
                  </a:lnTo>
                  <a:cubicBezTo>
                    <a:pt x="20299" y="64601"/>
                    <a:pt x="21577" y="62685"/>
                    <a:pt x="20938" y="60770"/>
                  </a:cubicBezTo>
                  <a:lnTo>
                    <a:pt x="20299" y="51194"/>
                  </a:lnTo>
                  <a:cubicBezTo>
                    <a:pt x="20299" y="49279"/>
                    <a:pt x="19021" y="47364"/>
                    <a:pt x="17743" y="46087"/>
                  </a:cubicBezTo>
                  <a:lnTo>
                    <a:pt x="13909" y="43533"/>
                  </a:lnTo>
                  <a:lnTo>
                    <a:pt x="15187" y="40341"/>
                  </a:lnTo>
                  <a:lnTo>
                    <a:pt x="20299" y="40341"/>
                  </a:lnTo>
                  <a:cubicBezTo>
                    <a:pt x="22216" y="40341"/>
                    <a:pt x="24133" y="39065"/>
                    <a:pt x="25411" y="37788"/>
                  </a:cubicBezTo>
                  <a:lnTo>
                    <a:pt x="31161" y="30765"/>
                  </a:lnTo>
                  <a:cubicBezTo>
                    <a:pt x="32439" y="29489"/>
                    <a:pt x="33078" y="26935"/>
                    <a:pt x="32439" y="25020"/>
                  </a:cubicBezTo>
                  <a:lnTo>
                    <a:pt x="31161" y="20551"/>
                  </a:lnTo>
                  <a:lnTo>
                    <a:pt x="33717" y="18636"/>
                  </a:lnTo>
                  <a:lnTo>
                    <a:pt x="37551" y="21828"/>
                  </a:lnTo>
                  <a:cubicBezTo>
                    <a:pt x="38829" y="23105"/>
                    <a:pt x="40746" y="23743"/>
                    <a:pt x="42663" y="23105"/>
                  </a:cubicBezTo>
                  <a:lnTo>
                    <a:pt x="51609" y="21189"/>
                  </a:lnTo>
                  <a:cubicBezTo>
                    <a:pt x="53526" y="20551"/>
                    <a:pt x="54804" y="19274"/>
                    <a:pt x="56082" y="17997"/>
                  </a:cubicBezTo>
                  <a:lnTo>
                    <a:pt x="57999" y="13529"/>
                  </a:lnTo>
                  <a:lnTo>
                    <a:pt x="61194" y="14167"/>
                  </a:lnTo>
                  <a:lnTo>
                    <a:pt x="61833" y="18636"/>
                  </a:lnTo>
                  <a:cubicBezTo>
                    <a:pt x="62472" y="20551"/>
                    <a:pt x="63111" y="21828"/>
                    <a:pt x="65028" y="23105"/>
                  </a:cubicBezTo>
                  <a:lnTo>
                    <a:pt x="73335" y="27573"/>
                  </a:lnTo>
                  <a:cubicBezTo>
                    <a:pt x="75252" y="28212"/>
                    <a:pt x="77169" y="28212"/>
                    <a:pt x="79086" y="27573"/>
                  </a:cubicBezTo>
                  <a:lnTo>
                    <a:pt x="83559" y="25658"/>
                  </a:lnTo>
                  <a:lnTo>
                    <a:pt x="86115" y="28212"/>
                  </a:lnTo>
                  <a:lnTo>
                    <a:pt x="83559" y="32681"/>
                  </a:lnTo>
                  <a:cubicBezTo>
                    <a:pt x="82920" y="34596"/>
                    <a:pt x="82281" y="36511"/>
                    <a:pt x="83559" y="38426"/>
                  </a:cubicBezTo>
                  <a:lnTo>
                    <a:pt x="87393" y="46725"/>
                  </a:lnTo>
                  <a:cubicBezTo>
                    <a:pt x="88032" y="48641"/>
                    <a:pt x="89310" y="49917"/>
                    <a:pt x="91227" y="50556"/>
                  </a:cubicBezTo>
                  <a:lnTo>
                    <a:pt x="95700" y="51833"/>
                  </a:lnTo>
                  <a:lnTo>
                    <a:pt x="95700" y="55025"/>
                  </a:lnTo>
                  <a:lnTo>
                    <a:pt x="91227" y="5630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81" name="Graphic 4">
              <a:extLst>
                <a:ext uri="{FF2B5EF4-FFF2-40B4-BE49-F238E27FC236}">
                  <a16:creationId xmlns:a16="http://schemas.microsoft.com/office/drawing/2014/main" id="{6927472F-ED9E-CFE0-A620-6B775EB11577}"/>
                </a:ext>
              </a:extLst>
            </p:cNvPr>
            <p:cNvSpPr/>
            <p:nvPr/>
          </p:nvSpPr>
          <p:spPr>
            <a:xfrm>
              <a:off x="1658805" y="3067006"/>
              <a:ext cx="65221" cy="66414"/>
            </a:xfrm>
            <a:custGeom>
              <a:avLst/>
              <a:gdLst>
                <a:gd name="connsiteX0" fmla="*/ 31333 w 65221"/>
                <a:gd name="connsiteY0" fmla="*/ 21 h 66414"/>
                <a:gd name="connsiteX1" fmla="*/ 22 w 65221"/>
                <a:gd name="connsiteY1" fmla="*/ 35133 h 66414"/>
                <a:gd name="connsiteX2" fmla="*/ 32611 w 65221"/>
                <a:gd name="connsiteY2" fmla="*/ 66414 h 66414"/>
                <a:gd name="connsiteX3" fmla="*/ 33888 w 65221"/>
                <a:gd name="connsiteY3" fmla="*/ 66414 h 66414"/>
                <a:gd name="connsiteX4" fmla="*/ 65199 w 65221"/>
                <a:gd name="connsiteY4" fmla="*/ 31303 h 66414"/>
                <a:gd name="connsiteX5" fmla="*/ 31333 w 65221"/>
                <a:gd name="connsiteY5" fmla="*/ 21 h 66414"/>
                <a:gd name="connsiteX6" fmla="*/ 33249 w 65221"/>
                <a:gd name="connsiteY6" fmla="*/ 53647 h 66414"/>
                <a:gd name="connsiteX7" fmla="*/ 12802 w 65221"/>
                <a:gd name="connsiteY7" fmla="*/ 33218 h 66414"/>
                <a:gd name="connsiteX8" fmla="*/ 31333 w 65221"/>
                <a:gd name="connsiteY8" fmla="*/ 12789 h 66414"/>
                <a:gd name="connsiteX9" fmla="*/ 31972 w 65221"/>
                <a:gd name="connsiteY9" fmla="*/ 12789 h 66414"/>
                <a:gd name="connsiteX10" fmla="*/ 52419 w 65221"/>
                <a:gd name="connsiteY10" fmla="*/ 32579 h 66414"/>
                <a:gd name="connsiteX11" fmla="*/ 33249 w 65221"/>
                <a:gd name="connsiteY11" fmla="*/ 53647 h 66414"/>
                <a:gd name="connsiteX12" fmla="*/ 33249 w 65221"/>
                <a:gd name="connsiteY12" fmla="*/ 53647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221" h="66414">
                  <a:moveTo>
                    <a:pt x="31333" y="21"/>
                  </a:moveTo>
                  <a:cubicBezTo>
                    <a:pt x="12802" y="1298"/>
                    <a:pt x="-617" y="16619"/>
                    <a:pt x="22" y="35133"/>
                  </a:cubicBezTo>
                  <a:cubicBezTo>
                    <a:pt x="1300" y="52370"/>
                    <a:pt x="15358" y="65776"/>
                    <a:pt x="32611" y="66414"/>
                  </a:cubicBezTo>
                  <a:lnTo>
                    <a:pt x="33888" y="66414"/>
                  </a:lnTo>
                  <a:cubicBezTo>
                    <a:pt x="52419" y="65138"/>
                    <a:pt x="65838" y="49816"/>
                    <a:pt x="65199" y="31303"/>
                  </a:cubicBezTo>
                  <a:cubicBezTo>
                    <a:pt x="64560" y="13427"/>
                    <a:pt x="49224" y="-617"/>
                    <a:pt x="31333" y="21"/>
                  </a:cubicBezTo>
                  <a:close/>
                  <a:moveTo>
                    <a:pt x="33249" y="53647"/>
                  </a:moveTo>
                  <a:cubicBezTo>
                    <a:pt x="21748" y="53647"/>
                    <a:pt x="12802" y="44709"/>
                    <a:pt x="12802" y="33218"/>
                  </a:cubicBezTo>
                  <a:cubicBezTo>
                    <a:pt x="12802" y="22365"/>
                    <a:pt x="21109" y="13427"/>
                    <a:pt x="31333" y="12789"/>
                  </a:cubicBezTo>
                  <a:lnTo>
                    <a:pt x="31972" y="12789"/>
                  </a:lnTo>
                  <a:cubicBezTo>
                    <a:pt x="43473" y="12789"/>
                    <a:pt x="52419" y="21727"/>
                    <a:pt x="52419" y="32579"/>
                  </a:cubicBezTo>
                  <a:cubicBezTo>
                    <a:pt x="52419" y="43432"/>
                    <a:pt x="44751" y="53647"/>
                    <a:pt x="33249" y="53647"/>
                  </a:cubicBezTo>
                  <a:lnTo>
                    <a:pt x="33249" y="5364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83" name="Graphic 4">
              <a:extLst>
                <a:ext uri="{FF2B5EF4-FFF2-40B4-BE49-F238E27FC236}">
                  <a16:creationId xmlns:a16="http://schemas.microsoft.com/office/drawing/2014/main" id="{C050B1B5-608E-CF1F-32D5-F54CB032A421}"/>
                </a:ext>
              </a:extLst>
            </p:cNvPr>
            <p:cNvSpPr/>
            <p:nvPr/>
          </p:nvSpPr>
          <p:spPr>
            <a:xfrm>
              <a:off x="1573681" y="2918430"/>
              <a:ext cx="135748" cy="135829"/>
            </a:xfrm>
            <a:custGeom>
              <a:avLst/>
              <a:gdLst>
                <a:gd name="connsiteX0" fmla="*/ 83868 w 135748"/>
                <a:gd name="connsiteY0" fmla="*/ 129446 h 135829"/>
                <a:gd name="connsiteX1" fmla="*/ 85785 w 135748"/>
                <a:gd name="connsiteY1" fmla="*/ 122423 h 135829"/>
                <a:gd name="connsiteX2" fmla="*/ 91536 w 135748"/>
                <a:gd name="connsiteY2" fmla="*/ 119870 h 135829"/>
                <a:gd name="connsiteX3" fmla="*/ 97926 w 135748"/>
                <a:gd name="connsiteY3" fmla="*/ 123700 h 135829"/>
                <a:gd name="connsiteX4" fmla="*/ 108150 w 135748"/>
                <a:gd name="connsiteY4" fmla="*/ 122423 h 135829"/>
                <a:gd name="connsiteX5" fmla="*/ 117735 w 135748"/>
                <a:gd name="connsiteY5" fmla="*/ 113486 h 135829"/>
                <a:gd name="connsiteX6" fmla="*/ 119652 w 135748"/>
                <a:gd name="connsiteY6" fmla="*/ 103910 h 135829"/>
                <a:gd name="connsiteX7" fmla="*/ 116457 w 135748"/>
                <a:gd name="connsiteY7" fmla="*/ 96887 h 135829"/>
                <a:gd name="connsiteX8" fmla="*/ 119652 w 135748"/>
                <a:gd name="connsiteY8" fmla="*/ 91780 h 135829"/>
                <a:gd name="connsiteX9" fmla="*/ 126681 w 135748"/>
                <a:gd name="connsiteY9" fmla="*/ 90503 h 135829"/>
                <a:gd name="connsiteX10" fmla="*/ 133710 w 135748"/>
                <a:gd name="connsiteY10" fmla="*/ 83481 h 135829"/>
                <a:gd name="connsiteX11" fmla="*/ 135626 w 135748"/>
                <a:gd name="connsiteY11" fmla="*/ 70713 h 135829"/>
                <a:gd name="connsiteX12" fmla="*/ 131153 w 135748"/>
                <a:gd name="connsiteY12" fmla="*/ 61776 h 135829"/>
                <a:gd name="connsiteX13" fmla="*/ 124763 w 135748"/>
                <a:gd name="connsiteY13" fmla="*/ 58584 h 135829"/>
                <a:gd name="connsiteX14" fmla="*/ 123486 w 135748"/>
                <a:gd name="connsiteY14" fmla="*/ 52838 h 135829"/>
                <a:gd name="connsiteX15" fmla="*/ 127958 w 135748"/>
                <a:gd name="connsiteY15" fmla="*/ 47092 h 135829"/>
                <a:gd name="connsiteX16" fmla="*/ 128597 w 135748"/>
                <a:gd name="connsiteY16" fmla="*/ 36878 h 135829"/>
                <a:gd name="connsiteX17" fmla="*/ 121568 w 135748"/>
                <a:gd name="connsiteY17" fmla="*/ 26025 h 135829"/>
                <a:gd name="connsiteX18" fmla="*/ 111984 w 135748"/>
                <a:gd name="connsiteY18" fmla="*/ 22195 h 135829"/>
                <a:gd name="connsiteX19" fmla="*/ 104955 w 135748"/>
                <a:gd name="connsiteY19" fmla="*/ 24110 h 135829"/>
                <a:gd name="connsiteX20" fmla="*/ 100482 w 135748"/>
                <a:gd name="connsiteY20" fmla="*/ 20280 h 135829"/>
                <a:gd name="connsiteX21" fmla="*/ 100482 w 135748"/>
                <a:gd name="connsiteY21" fmla="*/ 12619 h 135829"/>
                <a:gd name="connsiteX22" fmla="*/ 94731 w 135748"/>
                <a:gd name="connsiteY22" fmla="*/ 4320 h 135829"/>
                <a:gd name="connsiteX23" fmla="*/ 82590 w 135748"/>
                <a:gd name="connsiteY23" fmla="*/ 489 h 135829"/>
                <a:gd name="connsiteX24" fmla="*/ 73005 w 135748"/>
                <a:gd name="connsiteY24" fmla="*/ 3681 h 135829"/>
                <a:gd name="connsiteX25" fmla="*/ 68532 w 135748"/>
                <a:gd name="connsiteY25" fmla="*/ 9427 h 135829"/>
                <a:gd name="connsiteX26" fmla="*/ 62781 w 135748"/>
                <a:gd name="connsiteY26" fmla="*/ 9427 h 135829"/>
                <a:gd name="connsiteX27" fmla="*/ 57669 w 135748"/>
                <a:gd name="connsiteY27" fmla="*/ 3681 h 135829"/>
                <a:gd name="connsiteX28" fmla="*/ 48084 w 135748"/>
                <a:gd name="connsiteY28" fmla="*/ 1128 h 135829"/>
                <a:gd name="connsiteX29" fmla="*/ 35943 w 135748"/>
                <a:gd name="connsiteY29" fmla="*/ 6235 h 135829"/>
                <a:gd name="connsiteX30" fmla="*/ 30831 w 135748"/>
                <a:gd name="connsiteY30" fmla="*/ 14534 h 135829"/>
                <a:gd name="connsiteX31" fmla="*/ 30831 w 135748"/>
                <a:gd name="connsiteY31" fmla="*/ 21556 h 135829"/>
                <a:gd name="connsiteX32" fmla="*/ 26358 w 135748"/>
                <a:gd name="connsiteY32" fmla="*/ 25387 h 135829"/>
                <a:gd name="connsiteX33" fmla="*/ 19330 w 135748"/>
                <a:gd name="connsiteY33" fmla="*/ 24110 h 135829"/>
                <a:gd name="connsiteX34" fmla="*/ 10384 w 135748"/>
                <a:gd name="connsiteY34" fmla="*/ 28579 h 135829"/>
                <a:gd name="connsiteX35" fmla="*/ 4633 w 135748"/>
                <a:gd name="connsiteY35" fmla="*/ 40070 h 135829"/>
                <a:gd name="connsiteX36" fmla="*/ 5911 w 135748"/>
                <a:gd name="connsiteY36" fmla="*/ 50284 h 135829"/>
                <a:gd name="connsiteX37" fmla="*/ 11023 w 135748"/>
                <a:gd name="connsiteY37" fmla="*/ 56030 h 135829"/>
                <a:gd name="connsiteX38" fmla="*/ 10384 w 135748"/>
                <a:gd name="connsiteY38" fmla="*/ 61776 h 135829"/>
                <a:gd name="connsiteX39" fmla="*/ 3994 w 135748"/>
                <a:gd name="connsiteY39" fmla="*/ 65606 h 135829"/>
                <a:gd name="connsiteX40" fmla="*/ 160 w 135748"/>
                <a:gd name="connsiteY40" fmla="*/ 74544 h 135829"/>
                <a:gd name="connsiteX41" fmla="*/ 2716 w 135748"/>
                <a:gd name="connsiteY41" fmla="*/ 87312 h 135829"/>
                <a:gd name="connsiteX42" fmla="*/ 10384 w 135748"/>
                <a:gd name="connsiteY42" fmla="*/ 94334 h 135829"/>
                <a:gd name="connsiteX43" fmla="*/ 18052 w 135748"/>
                <a:gd name="connsiteY43" fmla="*/ 94972 h 135829"/>
                <a:gd name="connsiteX44" fmla="*/ 21247 w 135748"/>
                <a:gd name="connsiteY44" fmla="*/ 100079 h 135829"/>
                <a:gd name="connsiteX45" fmla="*/ 18691 w 135748"/>
                <a:gd name="connsiteY45" fmla="*/ 107102 h 135829"/>
                <a:gd name="connsiteX46" fmla="*/ 21247 w 135748"/>
                <a:gd name="connsiteY46" fmla="*/ 116678 h 135829"/>
                <a:gd name="connsiteX47" fmla="*/ 31470 w 135748"/>
                <a:gd name="connsiteY47" fmla="*/ 124339 h 135829"/>
                <a:gd name="connsiteX48" fmla="*/ 41694 w 135748"/>
                <a:gd name="connsiteY48" fmla="*/ 124977 h 135829"/>
                <a:gd name="connsiteX49" fmla="*/ 48084 w 135748"/>
                <a:gd name="connsiteY49" fmla="*/ 121147 h 135829"/>
                <a:gd name="connsiteX50" fmla="*/ 53835 w 135748"/>
                <a:gd name="connsiteY50" fmla="*/ 123062 h 135829"/>
                <a:gd name="connsiteX51" fmla="*/ 56391 w 135748"/>
                <a:gd name="connsiteY51" fmla="*/ 130084 h 135829"/>
                <a:gd name="connsiteX52" fmla="*/ 64698 w 135748"/>
                <a:gd name="connsiteY52" fmla="*/ 135830 h 135829"/>
                <a:gd name="connsiteX53" fmla="*/ 64698 w 135748"/>
                <a:gd name="connsiteY53" fmla="*/ 135830 h 135829"/>
                <a:gd name="connsiteX54" fmla="*/ 77478 w 135748"/>
                <a:gd name="connsiteY54" fmla="*/ 135191 h 135829"/>
                <a:gd name="connsiteX55" fmla="*/ 83868 w 135748"/>
                <a:gd name="connsiteY55" fmla="*/ 129446 h 135829"/>
                <a:gd name="connsiteX56" fmla="*/ 72366 w 135748"/>
                <a:gd name="connsiteY56" fmla="*/ 123062 h 135829"/>
                <a:gd name="connsiteX57" fmla="*/ 65337 w 135748"/>
                <a:gd name="connsiteY57" fmla="*/ 123062 h 135829"/>
                <a:gd name="connsiteX58" fmla="*/ 62781 w 135748"/>
                <a:gd name="connsiteY58" fmla="*/ 116039 h 135829"/>
                <a:gd name="connsiteX59" fmla="*/ 58947 w 135748"/>
                <a:gd name="connsiteY59" fmla="*/ 112209 h 135829"/>
                <a:gd name="connsiteX60" fmla="*/ 47445 w 135748"/>
                <a:gd name="connsiteY60" fmla="*/ 108379 h 135829"/>
                <a:gd name="connsiteX61" fmla="*/ 45528 w 135748"/>
                <a:gd name="connsiteY61" fmla="*/ 108379 h 135829"/>
                <a:gd name="connsiteX62" fmla="*/ 41694 w 135748"/>
                <a:gd name="connsiteY62" fmla="*/ 109655 h 135829"/>
                <a:gd name="connsiteX63" fmla="*/ 35304 w 135748"/>
                <a:gd name="connsiteY63" fmla="*/ 113486 h 135829"/>
                <a:gd name="connsiteX64" fmla="*/ 29553 w 135748"/>
                <a:gd name="connsiteY64" fmla="*/ 109017 h 135829"/>
                <a:gd name="connsiteX65" fmla="*/ 32109 w 135748"/>
                <a:gd name="connsiteY65" fmla="*/ 101995 h 135829"/>
                <a:gd name="connsiteX66" fmla="*/ 31470 w 135748"/>
                <a:gd name="connsiteY66" fmla="*/ 96249 h 135829"/>
                <a:gd name="connsiteX67" fmla="*/ 25080 w 135748"/>
                <a:gd name="connsiteY67" fmla="*/ 86035 h 135829"/>
                <a:gd name="connsiteX68" fmla="*/ 20608 w 135748"/>
                <a:gd name="connsiteY68" fmla="*/ 82843 h 135829"/>
                <a:gd name="connsiteX69" fmla="*/ 12940 w 135748"/>
                <a:gd name="connsiteY69" fmla="*/ 82204 h 135829"/>
                <a:gd name="connsiteX70" fmla="*/ 11662 w 135748"/>
                <a:gd name="connsiteY70" fmla="*/ 75182 h 135829"/>
                <a:gd name="connsiteX71" fmla="*/ 18052 w 135748"/>
                <a:gd name="connsiteY71" fmla="*/ 71352 h 135829"/>
                <a:gd name="connsiteX72" fmla="*/ 21247 w 135748"/>
                <a:gd name="connsiteY72" fmla="*/ 66883 h 135829"/>
                <a:gd name="connsiteX73" fmla="*/ 23163 w 135748"/>
                <a:gd name="connsiteY73" fmla="*/ 54753 h 135829"/>
                <a:gd name="connsiteX74" fmla="*/ 21247 w 135748"/>
                <a:gd name="connsiteY74" fmla="*/ 49646 h 135829"/>
                <a:gd name="connsiteX75" fmla="*/ 16135 w 135748"/>
                <a:gd name="connsiteY75" fmla="*/ 43900 h 135829"/>
                <a:gd name="connsiteX76" fmla="*/ 19330 w 135748"/>
                <a:gd name="connsiteY76" fmla="*/ 37516 h 135829"/>
                <a:gd name="connsiteX77" fmla="*/ 26997 w 135748"/>
                <a:gd name="connsiteY77" fmla="*/ 38793 h 135829"/>
                <a:gd name="connsiteX78" fmla="*/ 32109 w 135748"/>
                <a:gd name="connsiteY78" fmla="*/ 37516 h 135829"/>
                <a:gd name="connsiteX79" fmla="*/ 41055 w 135748"/>
                <a:gd name="connsiteY79" fmla="*/ 29217 h 135829"/>
                <a:gd name="connsiteX80" fmla="*/ 42972 w 135748"/>
                <a:gd name="connsiteY80" fmla="*/ 24110 h 135829"/>
                <a:gd name="connsiteX81" fmla="*/ 42972 w 135748"/>
                <a:gd name="connsiteY81" fmla="*/ 16449 h 135829"/>
                <a:gd name="connsiteX82" fmla="*/ 49362 w 135748"/>
                <a:gd name="connsiteY82" fmla="*/ 13896 h 135829"/>
                <a:gd name="connsiteX83" fmla="*/ 54474 w 135748"/>
                <a:gd name="connsiteY83" fmla="*/ 19641 h 135829"/>
                <a:gd name="connsiteX84" fmla="*/ 59586 w 135748"/>
                <a:gd name="connsiteY84" fmla="*/ 21556 h 135829"/>
                <a:gd name="connsiteX85" fmla="*/ 71727 w 135748"/>
                <a:gd name="connsiteY85" fmla="*/ 20918 h 135829"/>
                <a:gd name="connsiteX86" fmla="*/ 76839 w 135748"/>
                <a:gd name="connsiteY86" fmla="*/ 18364 h 135829"/>
                <a:gd name="connsiteX87" fmla="*/ 81312 w 135748"/>
                <a:gd name="connsiteY87" fmla="*/ 12619 h 135829"/>
                <a:gd name="connsiteX88" fmla="*/ 87702 w 135748"/>
                <a:gd name="connsiteY88" fmla="*/ 14534 h 135829"/>
                <a:gd name="connsiteX89" fmla="*/ 87702 w 135748"/>
                <a:gd name="connsiteY89" fmla="*/ 22195 h 135829"/>
                <a:gd name="connsiteX90" fmla="*/ 90258 w 135748"/>
                <a:gd name="connsiteY90" fmla="*/ 27302 h 135829"/>
                <a:gd name="connsiteX91" fmla="*/ 99843 w 135748"/>
                <a:gd name="connsiteY91" fmla="*/ 34963 h 135829"/>
                <a:gd name="connsiteX92" fmla="*/ 105594 w 135748"/>
                <a:gd name="connsiteY92" fmla="*/ 36240 h 135829"/>
                <a:gd name="connsiteX93" fmla="*/ 112623 w 135748"/>
                <a:gd name="connsiteY93" fmla="*/ 34324 h 135829"/>
                <a:gd name="connsiteX94" fmla="*/ 116457 w 135748"/>
                <a:gd name="connsiteY94" fmla="*/ 40070 h 135829"/>
                <a:gd name="connsiteX95" fmla="*/ 111345 w 135748"/>
                <a:gd name="connsiteY95" fmla="*/ 45816 h 135829"/>
                <a:gd name="connsiteX96" fmla="*/ 110067 w 135748"/>
                <a:gd name="connsiteY96" fmla="*/ 50923 h 135829"/>
                <a:gd name="connsiteX97" fmla="*/ 112623 w 135748"/>
                <a:gd name="connsiteY97" fmla="*/ 63052 h 135829"/>
                <a:gd name="connsiteX98" fmla="*/ 115818 w 135748"/>
                <a:gd name="connsiteY98" fmla="*/ 67521 h 135829"/>
                <a:gd name="connsiteX99" fmla="*/ 122208 w 135748"/>
                <a:gd name="connsiteY99" fmla="*/ 70713 h 135829"/>
                <a:gd name="connsiteX100" fmla="*/ 121568 w 135748"/>
                <a:gd name="connsiteY100" fmla="*/ 77736 h 135829"/>
                <a:gd name="connsiteX101" fmla="*/ 113901 w 135748"/>
                <a:gd name="connsiteY101" fmla="*/ 79012 h 135829"/>
                <a:gd name="connsiteX102" fmla="*/ 109428 w 135748"/>
                <a:gd name="connsiteY102" fmla="*/ 82204 h 135829"/>
                <a:gd name="connsiteX103" fmla="*/ 103677 w 135748"/>
                <a:gd name="connsiteY103" fmla="*/ 93057 h 135829"/>
                <a:gd name="connsiteX104" fmla="*/ 103677 w 135748"/>
                <a:gd name="connsiteY104" fmla="*/ 98803 h 135829"/>
                <a:gd name="connsiteX105" fmla="*/ 106872 w 135748"/>
                <a:gd name="connsiteY105" fmla="*/ 105825 h 135829"/>
                <a:gd name="connsiteX106" fmla="*/ 101760 w 135748"/>
                <a:gd name="connsiteY106" fmla="*/ 110294 h 135829"/>
                <a:gd name="connsiteX107" fmla="*/ 95370 w 135748"/>
                <a:gd name="connsiteY107" fmla="*/ 106463 h 135829"/>
                <a:gd name="connsiteX108" fmla="*/ 89619 w 135748"/>
                <a:gd name="connsiteY108" fmla="*/ 106463 h 135829"/>
                <a:gd name="connsiteX109" fmla="*/ 78117 w 135748"/>
                <a:gd name="connsiteY109" fmla="*/ 110932 h 135829"/>
                <a:gd name="connsiteX110" fmla="*/ 74283 w 135748"/>
                <a:gd name="connsiteY110" fmla="*/ 114763 h 135829"/>
                <a:gd name="connsiteX111" fmla="*/ 72366 w 135748"/>
                <a:gd name="connsiteY111" fmla="*/ 123062 h 13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35748" h="135829">
                  <a:moveTo>
                    <a:pt x="83868" y="129446"/>
                  </a:moveTo>
                  <a:lnTo>
                    <a:pt x="85785" y="122423"/>
                  </a:lnTo>
                  <a:lnTo>
                    <a:pt x="91536" y="119870"/>
                  </a:lnTo>
                  <a:lnTo>
                    <a:pt x="97926" y="123700"/>
                  </a:lnTo>
                  <a:cubicBezTo>
                    <a:pt x="101121" y="125615"/>
                    <a:pt x="104955" y="124977"/>
                    <a:pt x="108150" y="122423"/>
                  </a:cubicBezTo>
                  <a:lnTo>
                    <a:pt x="117735" y="113486"/>
                  </a:lnTo>
                  <a:cubicBezTo>
                    <a:pt x="120291" y="110932"/>
                    <a:pt x="121568" y="107102"/>
                    <a:pt x="119652" y="103910"/>
                  </a:cubicBezTo>
                  <a:lnTo>
                    <a:pt x="116457" y="96887"/>
                  </a:lnTo>
                  <a:lnTo>
                    <a:pt x="119652" y="91780"/>
                  </a:lnTo>
                  <a:lnTo>
                    <a:pt x="126681" y="90503"/>
                  </a:lnTo>
                  <a:cubicBezTo>
                    <a:pt x="130515" y="89865"/>
                    <a:pt x="133070" y="86673"/>
                    <a:pt x="133710" y="83481"/>
                  </a:cubicBezTo>
                  <a:lnTo>
                    <a:pt x="135626" y="70713"/>
                  </a:lnTo>
                  <a:cubicBezTo>
                    <a:pt x="136265" y="66883"/>
                    <a:pt x="134348" y="63691"/>
                    <a:pt x="131153" y="61776"/>
                  </a:cubicBezTo>
                  <a:lnTo>
                    <a:pt x="124763" y="58584"/>
                  </a:lnTo>
                  <a:lnTo>
                    <a:pt x="123486" y="52838"/>
                  </a:lnTo>
                  <a:lnTo>
                    <a:pt x="127958" y="47092"/>
                  </a:lnTo>
                  <a:cubicBezTo>
                    <a:pt x="130515" y="44539"/>
                    <a:pt x="130515" y="40070"/>
                    <a:pt x="128597" y="36878"/>
                  </a:cubicBezTo>
                  <a:lnTo>
                    <a:pt x="121568" y="26025"/>
                  </a:lnTo>
                  <a:cubicBezTo>
                    <a:pt x="119652" y="22833"/>
                    <a:pt x="115818" y="21556"/>
                    <a:pt x="111984" y="22195"/>
                  </a:cubicBezTo>
                  <a:lnTo>
                    <a:pt x="104955" y="24110"/>
                  </a:lnTo>
                  <a:lnTo>
                    <a:pt x="100482" y="20280"/>
                  </a:lnTo>
                  <a:lnTo>
                    <a:pt x="100482" y="12619"/>
                  </a:lnTo>
                  <a:cubicBezTo>
                    <a:pt x="100482" y="8788"/>
                    <a:pt x="97926" y="5596"/>
                    <a:pt x="94731" y="4320"/>
                  </a:cubicBezTo>
                  <a:lnTo>
                    <a:pt x="82590" y="489"/>
                  </a:lnTo>
                  <a:cubicBezTo>
                    <a:pt x="79395" y="-788"/>
                    <a:pt x="74922" y="489"/>
                    <a:pt x="73005" y="3681"/>
                  </a:cubicBezTo>
                  <a:lnTo>
                    <a:pt x="68532" y="9427"/>
                  </a:lnTo>
                  <a:lnTo>
                    <a:pt x="62781" y="9427"/>
                  </a:lnTo>
                  <a:lnTo>
                    <a:pt x="57669" y="3681"/>
                  </a:lnTo>
                  <a:cubicBezTo>
                    <a:pt x="55113" y="1128"/>
                    <a:pt x="51279" y="-149"/>
                    <a:pt x="48084" y="1128"/>
                  </a:cubicBezTo>
                  <a:lnTo>
                    <a:pt x="35943" y="6235"/>
                  </a:lnTo>
                  <a:cubicBezTo>
                    <a:pt x="32748" y="7512"/>
                    <a:pt x="30192" y="11342"/>
                    <a:pt x="30831" y="14534"/>
                  </a:cubicBezTo>
                  <a:lnTo>
                    <a:pt x="30831" y="21556"/>
                  </a:lnTo>
                  <a:lnTo>
                    <a:pt x="26358" y="25387"/>
                  </a:lnTo>
                  <a:lnTo>
                    <a:pt x="19330" y="24110"/>
                  </a:lnTo>
                  <a:cubicBezTo>
                    <a:pt x="15496" y="23472"/>
                    <a:pt x="12301" y="25387"/>
                    <a:pt x="10384" y="28579"/>
                  </a:cubicBezTo>
                  <a:lnTo>
                    <a:pt x="4633" y="40070"/>
                  </a:lnTo>
                  <a:cubicBezTo>
                    <a:pt x="2716" y="43262"/>
                    <a:pt x="3355" y="47092"/>
                    <a:pt x="5911" y="50284"/>
                  </a:cubicBezTo>
                  <a:lnTo>
                    <a:pt x="11023" y="56030"/>
                  </a:lnTo>
                  <a:lnTo>
                    <a:pt x="10384" y="61776"/>
                  </a:lnTo>
                  <a:lnTo>
                    <a:pt x="3994" y="65606"/>
                  </a:lnTo>
                  <a:cubicBezTo>
                    <a:pt x="799" y="67521"/>
                    <a:pt x="-479" y="71352"/>
                    <a:pt x="160" y="74544"/>
                  </a:cubicBezTo>
                  <a:lnTo>
                    <a:pt x="2716" y="87312"/>
                  </a:lnTo>
                  <a:cubicBezTo>
                    <a:pt x="3355" y="91142"/>
                    <a:pt x="6550" y="93695"/>
                    <a:pt x="10384" y="94334"/>
                  </a:cubicBezTo>
                  <a:lnTo>
                    <a:pt x="18052" y="94972"/>
                  </a:lnTo>
                  <a:lnTo>
                    <a:pt x="21247" y="100079"/>
                  </a:lnTo>
                  <a:lnTo>
                    <a:pt x="18691" y="107102"/>
                  </a:lnTo>
                  <a:cubicBezTo>
                    <a:pt x="17413" y="110294"/>
                    <a:pt x="18691" y="114763"/>
                    <a:pt x="21247" y="116678"/>
                  </a:cubicBezTo>
                  <a:lnTo>
                    <a:pt x="31470" y="124339"/>
                  </a:lnTo>
                  <a:cubicBezTo>
                    <a:pt x="34665" y="126892"/>
                    <a:pt x="38499" y="126892"/>
                    <a:pt x="41694" y="124977"/>
                  </a:cubicBezTo>
                  <a:lnTo>
                    <a:pt x="48084" y="121147"/>
                  </a:lnTo>
                  <a:lnTo>
                    <a:pt x="53835" y="123062"/>
                  </a:lnTo>
                  <a:lnTo>
                    <a:pt x="56391" y="130084"/>
                  </a:lnTo>
                  <a:cubicBezTo>
                    <a:pt x="57669" y="133276"/>
                    <a:pt x="60864" y="135830"/>
                    <a:pt x="64698" y="135830"/>
                  </a:cubicBezTo>
                  <a:lnTo>
                    <a:pt x="64698" y="135830"/>
                  </a:lnTo>
                  <a:lnTo>
                    <a:pt x="77478" y="135191"/>
                  </a:lnTo>
                  <a:cubicBezTo>
                    <a:pt x="79395" y="135191"/>
                    <a:pt x="82590" y="133276"/>
                    <a:pt x="83868" y="129446"/>
                  </a:cubicBezTo>
                  <a:close/>
                  <a:moveTo>
                    <a:pt x="72366" y="123062"/>
                  </a:moveTo>
                  <a:lnTo>
                    <a:pt x="65337" y="123062"/>
                  </a:lnTo>
                  <a:lnTo>
                    <a:pt x="62781" y="116039"/>
                  </a:lnTo>
                  <a:cubicBezTo>
                    <a:pt x="62142" y="114124"/>
                    <a:pt x="60864" y="112847"/>
                    <a:pt x="58947" y="112209"/>
                  </a:cubicBezTo>
                  <a:lnTo>
                    <a:pt x="47445" y="108379"/>
                  </a:lnTo>
                  <a:cubicBezTo>
                    <a:pt x="46806" y="108379"/>
                    <a:pt x="46167" y="108379"/>
                    <a:pt x="45528" y="108379"/>
                  </a:cubicBezTo>
                  <a:cubicBezTo>
                    <a:pt x="44250" y="108379"/>
                    <a:pt x="42972" y="109017"/>
                    <a:pt x="41694" y="109655"/>
                  </a:cubicBezTo>
                  <a:lnTo>
                    <a:pt x="35304" y="113486"/>
                  </a:lnTo>
                  <a:lnTo>
                    <a:pt x="29553" y="109017"/>
                  </a:lnTo>
                  <a:lnTo>
                    <a:pt x="32109" y="101995"/>
                  </a:lnTo>
                  <a:cubicBezTo>
                    <a:pt x="32748" y="100079"/>
                    <a:pt x="32748" y="98164"/>
                    <a:pt x="31470" y="96249"/>
                  </a:cubicBezTo>
                  <a:lnTo>
                    <a:pt x="25080" y="86035"/>
                  </a:lnTo>
                  <a:cubicBezTo>
                    <a:pt x="23803" y="84120"/>
                    <a:pt x="22525" y="83481"/>
                    <a:pt x="20608" y="82843"/>
                  </a:cubicBezTo>
                  <a:lnTo>
                    <a:pt x="12940" y="82204"/>
                  </a:lnTo>
                  <a:lnTo>
                    <a:pt x="11662" y="75182"/>
                  </a:lnTo>
                  <a:lnTo>
                    <a:pt x="18052" y="71352"/>
                  </a:lnTo>
                  <a:cubicBezTo>
                    <a:pt x="19969" y="70075"/>
                    <a:pt x="20608" y="68798"/>
                    <a:pt x="21247" y="66883"/>
                  </a:cubicBezTo>
                  <a:lnTo>
                    <a:pt x="23163" y="54753"/>
                  </a:lnTo>
                  <a:cubicBezTo>
                    <a:pt x="23163" y="52838"/>
                    <a:pt x="22525" y="50923"/>
                    <a:pt x="21247" y="49646"/>
                  </a:cubicBezTo>
                  <a:lnTo>
                    <a:pt x="16135" y="43900"/>
                  </a:lnTo>
                  <a:lnTo>
                    <a:pt x="19330" y="37516"/>
                  </a:lnTo>
                  <a:lnTo>
                    <a:pt x="26997" y="38793"/>
                  </a:lnTo>
                  <a:cubicBezTo>
                    <a:pt x="28914" y="38793"/>
                    <a:pt x="30831" y="38793"/>
                    <a:pt x="32109" y="37516"/>
                  </a:cubicBezTo>
                  <a:lnTo>
                    <a:pt x="41055" y="29217"/>
                  </a:lnTo>
                  <a:cubicBezTo>
                    <a:pt x="42333" y="27940"/>
                    <a:pt x="42972" y="26025"/>
                    <a:pt x="42972" y="24110"/>
                  </a:cubicBezTo>
                  <a:lnTo>
                    <a:pt x="42972" y="16449"/>
                  </a:lnTo>
                  <a:lnTo>
                    <a:pt x="49362" y="13896"/>
                  </a:lnTo>
                  <a:lnTo>
                    <a:pt x="54474" y="19641"/>
                  </a:lnTo>
                  <a:cubicBezTo>
                    <a:pt x="55752" y="20918"/>
                    <a:pt x="57669" y="22195"/>
                    <a:pt x="59586" y="21556"/>
                  </a:cubicBezTo>
                  <a:lnTo>
                    <a:pt x="71727" y="20918"/>
                  </a:lnTo>
                  <a:cubicBezTo>
                    <a:pt x="73644" y="20918"/>
                    <a:pt x="75561" y="19641"/>
                    <a:pt x="76839" y="18364"/>
                  </a:cubicBezTo>
                  <a:lnTo>
                    <a:pt x="81312" y="12619"/>
                  </a:lnTo>
                  <a:lnTo>
                    <a:pt x="87702" y="14534"/>
                  </a:lnTo>
                  <a:lnTo>
                    <a:pt x="87702" y="22195"/>
                  </a:lnTo>
                  <a:cubicBezTo>
                    <a:pt x="87702" y="24110"/>
                    <a:pt x="88341" y="26025"/>
                    <a:pt x="90258" y="27302"/>
                  </a:cubicBezTo>
                  <a:lnTo>
                    <a:pt x="99843" y="34963"/>
                  </a:lnTo>
                  <a:cubicBezTo>
                    <a:pt x="101121" y="36240"/>
                    <a:pt x="103677" y="36878"/>
                    <a:pt x="105594" y="36240"/>
                  </a:cubicBezTo>
                  <a:lnTo>
                    <a:pt x="112623" y="34324"/>
                  </a:lnTo>
                  <a:lnTo>
                    <a:pt x="116457" y="40070"/>
                  </a:lnTo>
                  <a:lnTo>
                    <a:pt x="111345" y="45816"/>
                  </a:lnTo>
                  <a:cubicBezTo>
                    <a:pt x="110067" y="47092"/>
                    <a:pt x="109428" y="49008"/>
                    <a:pt x="110067" y="50923"/>
                  </a:cubicBezTo>
                  <a:lnTo>
                    <a:pt x="112623" y="63052"/>
                  </a:lnTo>
                  <a:cubicBezTo>
                    <a:pt x="113262" y="64968"/>
                    <a:pt x="114540" y="66244"/>
                    <a:pt x="115818" y="67521"/>
                  </a:cubicBezTo>
                  <a:lnTo>
                    <a:pt x="122208" y="70713"/>
                  </a:lnTo>
                  <a:lnTo>
                    <a:pt x="121568" y="77736"/>
                  </a:lnTo>
                  <a:lnTo>
                    <a:pt x="113901" y="79012"/>
                  </a:lnTo>
                  <a:cubicBezTo>
                    <a:pt x="111984" y="79651"/>
                    <a:pt x="110067" y="80289"/>
                    <a:pt x="109428" y="82204"/>
                  </a:cubicBezTo>
                  <a:lnTo>
                    <a:pt x="103677" y="93057"/>
                  </a:lnTo>
                  <a:cubicBezTo>
                    <a:pt x="103038" y="94972"/>
                    <a:pt x="103038" y="96887"/>
                    <a:pt x="103677" y="98803"/>
                  </a:cubicBezTo>
                  <a:lnTo>
                    <a:pt x="106872" y="105825"/>
                  </a:lnTo>
                  <a:lnTo>
                    <a:pt x="101760" y="110294"/>
                  </a:lnTo>
                  <a:lnTo>
                    <a:pt x="95370" y="106463"/>
                  </a:lnTo>
                  <a:cubicBezTo>
                    <a:pt x="93453" y="105825"/>
                    <a:pt x="91536" y="105187"/>
                    <a:pt x="89619" y="106463"/>
                  </a:cubicBezTo>
                  <a:lnTo>
                    <a:pt x="78117" y="110932"/>
                  </a:lnTo>
                  <a:cubicBezTo>
                    <a:pt x="76200" y="111571"/>
                    <a:pt x="74922" y="112847"/>
                    <a:pt x="74283" y="114763"/>
                  </a:cubicBezTo>
                  <a:lnTo>
                    <a:pt x="72366" y="12306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84" name="Graphic 4">
              <a:extLst>
                <a:ext uri="{FF2B5EF4-FFF2-40B4-BE49-F238E27FC236}">
                  <a16:creationId xmlns:a16="http://schemas.microsoft.com/office/drawing/2014/main" id="{4D254021-127B-0CAC-B3A0-0A46A955E505}"/>
                </a:ext>
              </a:extLst>
            </p:cNvPr>
            <p:cNvSpPr/>
            <p:nvPr/>
          </p:nvSpPr>
          <p:spPr>
            <a:xfrm>
              <a:off x="1596936" y="2942006"/>
              <a:ext cx="87205" cy="86717"/>
            </a:xfrm>
            <a:custGeom>
              <a:avLst/>
              <a:gdLst>
                <a:gd name="connsiteX0" fmla="*/ 86812 w 87205"/>
                <a:gd name="connsiteY0" fmla="*/ 49691 h 86717"/>
                <a:gd name="connsiteX1" fmla="*/ 49750 w 87205"/>
                <a:gd name="connsiteY1" fmla="*/ 534 h 86717"/>
                <a:gd name="connsiteX2" fmla="*/ 548 w 87205"/>
                <a:gd name="connsiteY2" fmla="*/ 37561 h 86717"/>
                <a:gd name="connsiteX3" fmla="*/ 8855 w 87205"/>
                <a:gd name="connsiteY3" fmla="*/ 69481 h 86717"/>
                <a:gd name="connsiteX4" fmla="*/ 37610 w 87205"/>
                <a:gd name="connsiteY4" fmla="*/ 86079 h 86717"/>
                <a:gd name="connsiteX5" fmla="*/ 43999 w 87205"/>
                <a:gd name="connsiteY5" fmla="*/ 86718 h 86717"/>
                <a:gd name="connsiteX6" fmla="*/ 86812 w 87205"/>
                <a:gd name="connsiteY6" fmla="*/ 49691 h 86717"/>
                <a:gd name="connsiteX7" fmla="*/ 86812 w 87205"/>
                <a:gd name="connsiteY7" fmla="*/ 49691 h 86717"/>
                <a:gd name="connsiteX8" fmla="*/ 61891 w 87205"/>
                <a:gd name="connsiteY8" fmla="*/ 68204 h 86717"/>
                <a:gd name="connsiteX9" fmla="*/ 19079 w 87205"/>
                <a:gd name="connsiteY9" fmla="*/ 62459 h 86717"/>
                <a:gd name="connsiteX10" fmla="*/ 24830 w 87205"/>
                <a:gd name="connsiteY10" fmla="*/ 19686 h 86717"/>
                <a:gd name="connsiteX11" fmla="*/ 43361 w 87205"/>
                <a:gd name="connsiteY11" fmla="*/ 13302 h 86717"/>
                <a:gd name="connsiteX12" fmla="*/ 47833 w 87205"/>
                <a:gd name="connsiteY12" fmla="*/ 13302 h 86717"/>
                <a:gd name="connsiteX13" fmla="*/ 74032 w 87205"/>
                <a:gd name="connsiteY13" fmla="*/ 47776 h 86717"/>
                <a:gd name="connsiteX14" fmla="*/ 61891 w 87205"/>
                <a:gd name="connsiteY14" fmla="*/ 68204 h 8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205" h="86717">
                  <a:moveTo>
                    <a:pt x="86812" y="49691"/>
                  </a:moveTo>
                  <a:cubicBezTo>
                    <a:pt x="90007" y="26070"/>
                    <a:pt x="73393" y="4364"/>
                    <a:pt x="49750" y="534"/>
                  </a:cubicBezTo>
                  <a:cubicBezTo>
                    <a:pt x="26108" y="-3296"/>
                    <a:pt x="4382" y="13940"/>
                    <a:pt x="548" y="37561"/>
                  </a:cubicBezTo>
                  <a:cubicBezTo>
                    <a:pt x="-1369" y="49052"/>
                    <a:pt x="1826" y="60543"/>
                    <a:pt x="8855" y="69481"/>
                  </a:cubicBezTo>
                  <a:cubicBezTo>
                    <a:pt x="15884" y="78419"/>
                    <a:pt x="26108" y="84803"/>
                    <a:pt x="37610" y="86079"/>
                  </a:cubicBezTo>
                  <a:cubicBezTo>
                    <a:pt x="39527" y="86079"/>
                    <a:pt x="42082" y="86718"/>
                    <a:pt x="43999" y="86718"/>
                  </a:cubicBezTo>
                  <a:cubicBezTo>
                    <a:pt x="65086" y="86718"/>
                    <a:pt x="83617" y="71396"/>
                    <a:pt x="86812" y="49691"/>
                  </a:cubicBezTo>
                  <a:lnTo>
                    <a:pt x="86812" y="49691"/>
                  </a:lnTo>
                  <a:close/>
                  <a:moveTo>
                    <a:pt x="61891" y="68204"/>
                  </a:moveTo>
                  <a:cubicBezTo>
                    <a:pt x="48472" y="78419"/>
                    <a:pt x="29303" y="75865"/>
                    <a:pt x="19079" y="62459"/>
                  </a:cubicBezTo>
                  <a:cubicBezTo>
                    <a:pt x="8855" y="49052"/>
                    <a:pt x="11411" y="29900"/>
                    <a:pt x="24830" y="19686"/>
                  </a:cubicBezTo>
                  <a:cubicBezTo>
                    <a:pt x="29942" y="15856"/>
                    <a:pt x="36332" y="13302"/>
                    <a:pt x="43361" y="13302"/>
                  </a:cubicBezTo>
                  <a:cubicBezTo>
                    <a:pt x="44638" y="13302"/>
                    <a:pt x="46556" y="13302"/>
                    <a:pt x="47833" y="13302"/>
                  </a:cubicBezTo>
                  <a:cubicBezTo>
                    <a:pt x="64447" y="15856"/>
                    <a:pt x="75949" y="31177"/>
                    <a:pt x="74032" y="47776"/>
                  </a:cubicBezTo>
                  <a:cubicBezTo>
                    <a:pt x="72754" y="56075"/>
                    <a:pt x="68281" y="63097"/>
                    <a:pt x="61891" y="68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185" name="Rectangle 184">
            <a:extLst>
              <a:ext uri="{FF2B5EF4-FFF2-40B4-BE49-F238E27FC236}">
                <a16:creationId xmlns:a16="http://schemas.microsoft.com/office/drawing/2014/main" id="{FCE6C8A1-7B81-EF97-853F-3AB48B5DD4D5}"/>
              </a:ext>
            </a:extLst>
          </p:cNvPr>
          <p:cNvSpPr>
            <a:spLocks/>
          </p:cNvSpPr>
          <p:nvPr/>
        </p:nvSpPr>
        <p:spPr>
          <a:xfrm>
            <a:off x="3176247" y="2561244"/>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1.2</a:t>
            </a:r>
          </a:p>
        </p:txBody>
      </p:sp>
      <p:sp>
        <p:nvSpPr>
          <p:cNvPr id="186" name="Rectangle 185">
            <a:extLst>
              <a:ext uri="{FF2B5EF4-FFF2-40B4-BE49-F238E27FC236}">
                <a16:creationId xmlns:a16="http://schemas.microsoft.com/office/drawing/2014/main" id="{92D62AC0-3660-9440-90C6-6A3943580BDE}"/>
              </a:ext>
            </a:extLst>
          </p:cNvPr>
          <p:cNvSpPr>
            <a:spLocks/>
          </p:cNvSpPr>
          <p:nvPr/>
        </p:nvSpPr>
        <p:spPr>
          <a:xfrm>
            <a:off x="4306766" y="2543776"/>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1.3</a:t>
            </a:r>
          </a:p>
        </p:txBody>
      </p:sp>
      <p:sp>
        <p:nvSpPr>
          <p:cNvPr id="187" name="TextBox 186">
            <a:extLst>
              <a:ext uri="{FF2B5EF4-FFF2-40B4-BE49-F238E27FC236}">
                <a16:creationId xmlns:a16="http://schemas.microsoft.com/office/drawing/2014/main" id="{D3B935DE-27A3-F1F1-CE4E-31F98A6A0E80}"/>
              </a:ext>
            </a:extLst>
          </p:cNvPr>
          <p:cNvSpPr txBox="1"/>
          <p:nvPr/>
        </p:nvSpPr>
        <p:spPr>
          <a:xfrm>
            <a:off x="9382266" y="2085014"/>
            <a:ext cx="2272636" cy="333425"/>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90000"/>
              </a:lnSpc>
              <a:spcBef>
                <a:spcPts val="600"/>
              </a:spcBef>
              <a:spcAft>
                <a:spcPts val="0"/>
              </a:spcAft>
              <a:buClrTx/>
              <a:buSzPct val="100000"/>
              <a:buFontTx/>
              <a:buNone/>
              <a:tabLst/>
              <a:defRPr/>
            </a:pPr>
            <a:r>
              <a:rPr kumimoji="0" lang="en-GB" sz="1200" b="0" i="0" u="none" strike="noStrike" kern="0" cap="none" spc="0" normalizeH="0" baseline="0" noProof="0">
                <a:ln>
                  <a:noFill/>
                </a:ln>
                <a:solidFill>
                  <a:prstClr val="white"/>
                </a:solidFill>
                <a:effectLst/>
                <a:uLnTx/>
                <a:uFillTx/>
                <a:latin typeface="Aptos" panose="02110004020202020204"/>
                <a:ea typeface="+mn-ea"/>
                <a:cs typeface="+mn-cs"/>
              </a:rPr>
              <a:t>Phase 3: </a:t>
            </a:r>
            <a:br>
              <a:rPr kumimoji="0" lang="en-GB" sz="1200" b="1" i="0" u="none" strike="noStrike" kern="0" cap="none" spc="0" normalizeH="0" baseline="0" noProof="0">
                <a:ln>
                  <a:noFill/>
                </a:ln>
                <a:solidFill>
                  <a:prstClr val="white"/>
                </a:solidFill>
                <a:effectLst/>
                <a:uLnTx/>
                <a:uFillTx/>
                <a:latin typeface="Aptos" panose="02110004020202020204"/>
                <a:ea typeface="+mn-ea"/>
                <a:cs typeface="+mn-cs"/>
              </a:rPr>
            </a:br>
            <a:r>
              <a:rPr kumimoji="0" lang="en-GB" sz="1200" b="1" i="0" u="none" strike="noStrike" kern="0" cap="none" spc="0" normalizeH="0" baseline="0" noProof="0">
                <a:ln>
                  <a:noFill/>
                </a:ln>
                <a:solidFill>
                  <a:prstClr val="white"/>
                </a:solidFill>
                <a:effectLst/>
                <a:uLnTx/>
                <a:uFillTx/>
                <a:latin typeface="Aptos" panose="02110004020202020204"/>
                <a:ea typeface="+mn-ea"/>
                <a:cs typeface="+mn-cs"/>
              </a:rPr>
              <a:t>Handover &amp; Knowledge Transfer</a:t>
            </a:r>
          </a:p>
        </p:txBody>
      </p:sp>
      <p:grpSp>
        <p:nvGrpSpPr>
          <p:cNvPr id="234" name="Group 233">
            <a:extLst>
              <a:ext uri="{FF2B5EF4-FFF2-40B4-BE49-F238E27FC236}">
                <a16:creationId xmlns:a16="http://schemas.microsoft.com/office/drawing/2014/main" id="{E2DD75BF-16AD-11C3-642D-5224272EF144}"/>
              </a:ext>
            </a:extLst>
          </p:cNvPr>
          <p:cNvGrpSpPr/>
          <p:nvPr/>
        </p:nvGrpSpPr>
        <p:grpSpPr>
          <a:xfrm>
            <a:off x="3309843" y="2029390"/>
            <a:ext cx="3162354" cy="448921"/>
            <a:chOff x="4661873" y="2029390"/>
            <a:chExt cx="4334710" cy="448921"/>
          </a:xfrm>
        </p:grpSpPr>
        <p:sp>
          <p:nvSpPr>
            <p:cNvPr id="100" name="Arrow: Chevron 99">
              <a:extLst>
                <a:ext uri="{FF2B5EF4-FFF2-40B4-BE49-F238E27FC236}">
                  <a16:creationId xmlns:a16="http://schemas.microsoft.com/office/drawing/2014/main" id="{1970D86B-F2B6-CF0A-CE13-076FEEA3E454}"/>
                </a:ext>
              </a:extLst>
            </p:cNvPr>
            <p:cNvSpPr/>
            <p:nvPr/>
          </p:nvSpPr>
          <p:spPr bwMode="gray">
            <a:xfrm>
              <a:off x="4661873" y="2029390"/>
              <a:ext cx="4334710" cy="448921"/>
            </a:xfrm>
            <a:prstGeom prst="chevron">
              <a:avLst>
                <a:gd name="adj" fmla="val 22417"/>
              </a:avLst>
            </a:prstGeom>
            <a:solidFill>
              <a:srgbClr val="64646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88" name="TextBox 187">
              <a:extLst>
                <a:ext uri="{FF2B5EF4-FFF2-40B4-BE49-F238E27FC236}">
                  <a16:creationId xmlns:a16="http://schemas.microsoft.com/office/drawing/2014/main" id="{9287C974-2069-1088-DECE-98112354C287}"/>
                </a:ext>
              </a:extLst>
            </p:cNvPr>
            <p:cNvSpPr txBox="1"/>
            <p:nvPr/>
          </p:nvSpPr>
          <p:spPr>
            <a:xfrm>
              <a:off x="4732340" y="2098339"/>
              <a:ext cx="4028939" cy="305661"/>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Aptos" panose="02110004020202020204"/>
                  <a:ea typeface="+mn-ea"/>
                  <a:cs typeface="+mn-cs"/>
                </a:rPr>
                <a:t>Phase 2 (6-8 w): </a:t>
              </a:r>
              <a:br>
                <a:rPr kumimoji="0" lang="en-GB" sz="1100" b="1" i="0" u="none" strike="noStrike" kern="0" cap="none" spc="0" normalizeH="0" baseline="0" noProof="0">
                  <a:ln>
                    <a:noFill/>
                  </a:ln>
                  <a:solidFill>
                    <a:prstClr val="white"/>
                  </a:solidFill>
                  <a:effectLst/>
                  <a:uLnTx/>
                  <a:uFillTx/>
                  <a:latin typeface="Aptos" panose="02110004020202020204"/>
                  <a:ea typeface="+mn-ea"/>
                  <a:cs typeface="+mn-cs"/>
                </a:rPr>
              </a:br>
              <a:r>
                <a:rPr kumimoji="0" lang="en-GB" sz="1100" b="1" i="0" u="none" strike="noStrike" kern="0" cap="none" spc="0" normalizeH="0" baseline="0" noProof="0">
                  <a:ln>
                    <a:noFill/>
                  </a:ln>
                  <a:solidFill>
                    <a:prstClr val="white"/>
                  </a:solidFill>
                  <a:effectLst/>
                  <a:uLnTx/>
                  <a:uFillTx/>
                  <a:latin typeface="Aptos" panose="02110004020202020204"/>
                  <a:ea typeface="+mn-ea"/>
                  <a:cs typeface="+mn-cs"/>
                </a:rPr>
                <a:t>Target State Design &amp; Recommendations</a:t>
              </a:r>
            </a:p>
          </p:txBody>
        </p:sp>
      </p:grpSp>
      <p:sp>
        <p:nvSpPr>
          <p:cNvPr id="189" name="TextBox 188">
            <a:extLst>
              <a:ext uri="{FF2B5EF4-FFF2-40B4-BE49-F238E27FC236}">
                <a16:creationId xmlns:a16="http://schemas.microsoft.com/office/drawing/2014/main" id="{8D52FA56-41F4-0F58-FB40-BC0FC9A8EB09}"/>
              </a:ext>
            </a:extLst>
          </p:cNvPr>
          <p:cNvSpPr txBox="1"/>
          <p:nvPr/>
        </p:nvSpPr>
        <p:spPr>
          <a:xfrm>
            <a:off x="1966526" y="3041198"/>
            <a:ext cx="1447206" cy="84638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1" i="0" u="none" strike="noStrike" kern="0" cap="none" spc="0" normalizeH="0" baseline="0" noProof="0">
                <a:ln>
                  <a:noFill/>
                </a:ln>
                <a:solidFill>
                  <a:prstClr val="black"/>
                </a:solidFill>
                <a:effectLst/>
                <a:uLnTx/>
                <a:uFillTx/>
                <a:latin typeface="Aptos" panose="02110004020202020204"/>
                <a:ea typeface="+mn-ea"/>
                <a:cs typeface="+mn-cs"/>
              </a:rPr>
              <a:t>Structured walkthroughs </a:t>
            </a:r>
            <a:r>
              <a:rPr kumimoji="0" lang="en-US" sz="1100" b="0" i="0" u="none" strike="noStrike" kern="0" cap="none" spc="0" normalizeH="0" baseline="0" noProof="0">
                <a:ln>
                  <a:noFill/>
                </a:ln>
                <a:solidFill>
                  <a:prstClr val="black"/>
                </a:solidFill>
                <a:effectLst/>
                <a:uLnTx/>
                <a:uFillTx/>
                <a:latin typeface="Aptos" panose="02110004020202020204"/>
                <a:ea typeface="+mn-ea"/>
                <a:cs typeface="+mn-cs"/>
              </a:rPr>
              <a:t>of</a:t>
            </a:r>
            <a:br>
              <a:rPr kumimoji="0" lang="en-US" sz="1100" b="0" i="0" u="none" strike="noStrike" kern="0" cap="none" spc="0" normalizeH="0" baseline="0" noProof="0">
                <a:ln>
                  <a:noFill/>
                </a:ln>
                <a:solidFill>
                  <a:prstClr val="black"/>
                </a:solidFill>
                <a:effectLst/>
                <a:uLnTx/>
                <a:uFillTx/>
                <a:latin typeface="Aptos" panose="02110004020202020204"/>
                <a:ea typeface="+mn-ea"/>
                <a:cs typeface="+mn-cs"/>
              </a:rPr>
            </a:br>
            <a:r>
              <a:rPr kumimoji="0" lang="en-US" sz="1100" b="0" i="0" u="none" strike="noStrike" kern="0" cap="none" spc="0" normalizeH="0" baseline="0" noProof="0">
                <a:ln>
                  <a:noFill/>
                </a:ln>
                <a:solidFill>
                  <a:prstClr val="black"/>
                </a:solidFill>
                <a:effectLst/>
                <a:uLnTx/>
                <a:uFillTx/>
                <a:latin typeface="Aptos" panose="02110004020202020204"/>
                <a:ea typeface="+mn-ea"/>
                <a:cs typeface="+mn-cs"/>
              </a:rPr>
              <a:t>end-to-end processes and data flows from trading</a:t>
            </a:r>
            <a:endParaRPr kumimoji="0" lang="en-GB" sz="11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90" name="TextBox 189">
            <a:extLst>
              <a:ext uri="{FF2B5EF4-FFF2-40B4-BE49-F238E27FC236}">
                <a16:creationId xmlns:a16="http://schemas.microsoft.com/office/drawing/2014/main" id="{B50B306F-18E0-700C-0FC6-870B91D2430C}"/>
              </a:ext>
            </a:extLst>
          </p:cNvPr>
          <p:cNvSpPr txBox="1"/>
          <p:nvPr/>
        </p:nvSpPr>
        <p:spPr>
          <a:xfrm>
            <a:off x="1082453" y="3873680"/>
            <a:ext cx="2380089" cy="1261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0" cap="none" spc="0" normalizeH="0" baseline="0" noProof="0">
                <a:ln>
                  <a:noFill/>
                </a:ln>
                <a:solidFill>
                  <a:prstClr val="black"/>
                </a:solidFill>
                <a:effectLst/>
                <a:uLnTx/>
                <a:uFillTx/>
                <a:latin typeface="Aptos" panose="02110004020202020204"/>
                <a:ea typeface="+mn-ea"/>
                <a:cs typeface="+mn-cs"/>
              </a:rPr>
              <a:t>source systems </a:t>
            </a:r>
            <a: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t>into risk and Performance</a:t>
            </a:r>
            <a:b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br>
            <a: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t>Controlling P&amp;L on the one hand,</a:t>
            </a:r>
            <a:b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br>
            <a: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t>as well as into SAP and financial</a:t>
            </a:r>
            <a:b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br>
            <a: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t>reporting on the other hand.</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panose="02110004020202020204"/>
                <a:ea typeface="+mn-ea"/>
                <a:cs typeface="+mn-cs"/>
              </a:rPr>
              <a:t>Quantitative analysis </a:t>
            </a:r>
            <a: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t>(potentially</a:t>
            </a:r>
            <a:b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br>
            <a:r>
              <a:rPr kumimoji="0" lang="en-GB" sz="1100" b="0" i="0" u="none" strike="noStrike" kern="0" cap="none" spc="0" normalizeH="0" baseline="0" noProof="0">
                <a:ln>
                  <a:noFill/>
                </a:ln>
                <a:solidFill>
                  <a:prstClr val="black"/>
                </a:solidFill>
                <a:effectLst/>
                <a:uLnTx/>
                <a:uFillTx/>
                <a:latin typeface="Aptos" panose="02110004020202020204"/>
                <a:ea typeface="+mn-ea"/>
                <a:cs typeface="+mn-cs"/>
              </a:rPr>
              <a:t>using Process Bionics).</a:t>
            </a:r>
          </a:p>
        </p:txBody>
      </p:sp>
      <p:sp>
        <p:nvSpPr>
          <p:cNvPr id="192" name="Rectangle 191">
            <a:extLst>
              <a:ext uri="{FF2B5EF4-FFF2-40B4-BE49-F238E27FC236}">
                <a16:creationId xmlns:a16="http://schemas.microsoft.com/office/drawing/2014/main" id="{C7F376B2-8ECA-9353-C56D-395F2F6AC1A4}"/>
              </a:ext>
            </a:extLst>
          </p:cNvPr>
          <p:cNvSpPr/>
          <p:nvPr/>
        </p:nvSpPr>
        <p:spPr bwMode="gray">
          <a:xfrm>
            <a:off x="5875593" y="2576122"/>
            <a:ext cx="1105820" cy="2599837"/>
          </a:xfrm>
          <a:prstGeom prst="rect">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lIns="38098" tIns="38098" rIns="38098" bIns="38098" rtlCol="0" anchor="t"/>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Gap analysis </a:t>
            </a:r>
            <a:r>
              <a:rPr kumimoji="0" lang="en-GB" sz="1100" b="0" i="0" u="none" strike="noStrike" kern="0" cap="none" spc="0" normalizeH="0" baseline="0" noProof="0">
                <a:ln>
                  <a:noFill/>
                </a:ln>
                <a:solidFill>
                  <a:prstClr val="black"/>
                </a:solidFill>
                <a:effectLst/>
                <a:uLnTx/>
                <a:uFillTx/>
                <a:latin typeface="Aptos"/>
                <a:ea typeface="+mn-ea"/>
                <a:cs typeface="+mn-cs"/>
              </a:rPr>
              <a:t>between As-is report, Benchmarking &amp; TOM</a:t>
            </a:r>
          </a:p>
        </p:txBody>
      </p:sp>
      <p:grpSp>
        <p:nvGrpSpPr>
          <p:cNvPr id="193" name="Graphic 4">
            <a:extLst>
              <a:ext uri="{FF2B5EF4-FFF2-40B4-BE49-F238E27FC236}">
                <a16:creationId xmlns:a16="http://schemas.microsoft.com/office/drawing/2014/main" id="{89DE4C92-26F0-A2A0-9316-4933E1767176}"/>
              </a:ext>
            </a:extLst>
          </p:cNvPr>
          <p:cNvGrpSpPr/>
          <p:nvPr/>
        </p:nvGrpSpPr>
        <p:grpSpPr>
          <a:xfrm>
            <a:off x="5864352" y="2605352"/>
            <a:ext cx="361674" cy="361333"/>
            <a:chOff x="4661459" y="3339623"/>
            <a:chExt cx="361674" cy="361333"/>
          </a:xfrm>
          <a:solidFill>
            <a:srgbClr val="43B02A"/>
          </a:solidFill>
        </p:grpSpPr>
        <p:sp>
          <p:nvSpPr>
            <p:cNvPr id="194" name="Graphic 4">
              <a:extLst>
                <a:ext uri="{FF2B5EF4-FFF2-40B4-BE49-F238E27FC236}">
                  <a16:creationId xmlns:a16="http://schemas.microsoft.com/office/drawing/2014/main" id="{646CE532-388C-BFF2-F4BE-188585313AB1}"/>
                </a:ext>
              </a:extLst>
            </p:cNvPr>
            <p:cNvSpPr/>
            <p:nvPr/>
          </p:nvSpPr>
          <p:spPr>
            <a:xfrm>
              <a:off x="4661459" y="3339623"/>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180835 w 361674"/>
                <a:gd name="connsiteY5" fmla="*/ 349204 h 361333"/>
                <a:gd name="connsiteX6" fmla="*/ 12780 w 361674"/>
                <a:gd name="connsiteY6" fmla="*/ 181305 h 361333"/>
                <a:gd name="connsiteX7" fmla="*/ 180835 w 361674"/>
                <a:gd name="connsiteY7" fmla="*/ 13406 h 361333"/>
                <a:gd name="connsiteX8" fmla="*/ 348890 w 361674"/>
                <a:gd name="connsiteY8" fmla="*/ 181305 h 361333"/>
                <a:gd name="connsiteX9" fmla="*/ 180835 w 361674"/>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2310" y="81077"/>
                    <a:pt x="281157" y="0"/>
                    <a:pt x="180835" y="0"/>
                  </a:cubicBezTo>
                  <a:close/>
                  <a:moveTo>
                    <a:pt x="180835" y="349204"/>
                  </a:moveTo>
                  <a:cubicBezTo>
                    <a:pt x="88181" y="349204"/>
                    <a:pt x="12780" y="273873"/>
                    <a:pt x="12780" y="181305"/>
                  </a:cubicBezTo>
                  <a:cubicBezTo>
                    <a:pt x="12780" y="88738"/>
                    <a:pt x="88181" y="13406"/>
                    <a:pt x="180835" y="13406"/>
                  </a:cubicBezTo>
                  <a:cubicBezTo>
                    <a:pt x="273489" y="13406"/>
                    <a:pt x="348890" y="88738"/>
                    <a:pt x="348890" y="181305"/>
                  </a:cubicBezTo>
                  <a:cubicBezTo>
                    <a:pt x="348890"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95" name="Graphic 4">
              <a:extLst>
                <a:ext uri="{FF2B5EF4-FFF2-40B4-BE49-F238E27FC236}">
                  <a16:creationId xmlns:a16="http://schemas.microsoft.com/office/drawing/2014/main" id="{49D0E36C-2155-9B72-740B-E3AAD15ACF92}"/>
                </a:ext>
              </a:extLst>
            </p:cNvPr>
            <p:cNvSpPr/>
            <p:nvPr/>
          </p:nvSpPr>
          <p:spPr>
            <a:xfrm>
              <a:off x="4746445" y="3426445"/>
              <a:ext cx="191059" cy="188966"/>
            </a:xfrm>
            <a:custGeom>
              <a:avLst/>
              <a:gdLst>
                <a:gd name="connsiteX0" fmla="*/ 184669 w 191059"/>
                <a:gd name="connsiteY0" fmla="*/ 43411 h 188966"/>
                <a:gd name="connsiteX1" fmla="*/ 145690 w 191059"/>
                <a:gd name="connsiteY1" fmla="*/ 43411 h 188966"/>
                <a:gd name="connsiteX2" fmla="*/ 145690 w 191059"/>
                <a:gd name="connsiteY2" fmla="*/ 6384 h 188966"/>
                <a:gd name="connsiteX3" fmla="*/ 139301 w 191059"/>
                <a:gd name="connsiteY3" fmla="*/ 0 h 188966"/>
                <a:gd name="connsiteX4" fmla="*/ 6390 w 191059"/>
                <a:gd name="connsiteY4" fmla="*/ 0 h 188966"/>
                <a:gd name="connsiteX5" fmla="*/ 0 w 191059"/>
                <a:gd name="connsiteY5" fmla="*/ 6384 h 188966"/>
                <a:gd name="connsiteX6" fmla="*/ 0 w 191059"/>
                <a:gd name="connsiteY6" fmla="*/ 139171 h 188966"/>
                <a:gd name="connsiteX7" fmla="*/ 6390 w 191059"/>
                <a:gd name="connsiteY7" fmla="*/ 145555 h 188966"/>
                <a:gd name="connsiteX8" fmla="*/ 45369 w 191059"/>
                <a:gd name="connsiteY8" fmla="*/ 145555 h 188966"/>
                <a:gd name="connsiteX9" fmla="*/ 45369 w 191059"/>
                <a:gd name="connsiteY9" fmla="*/ 182582 h 188966"/>
                <a:gd name="connsiteX10" fmla="*/ 51759 w 191059"/>
                <a:gd name="connsiteY10" fmla="*/ 188966 h 188966"/>
                <a:gd name="connsiteX11" fmla="*/ 184669 w 191059"/>
                <a:gd name="connsiteY11" fmla="*/ 188966 h 188966"/>
                <a:gd name="connsiteX12" fmla="*/ 191059 w 191059"/>
                <a:gd name="connsiteY12" fmla="*/ 182582 h 188966"/>
                <a:gd name="connsiteX13" fmla="*/ 191059 w 191059"/>
                <a:gd name="connsiteY13" fmla="*/ 49795 h 188966"/>
                <a:gd name="connsiteX14" fmla="*/ 184669 w 191059"/>
                <a:gd name="connsiteY14" fmla="*/ 43411 h 188966"/>
                <a:gd name="connsiteX15" fmla="*/ 58149 w 191059"/>
                <a:gd name="connsiteY15" fmla="*/ 98313 h 188966"/>
                <a:gd name="connsiteX16" fmla="*/ 100961 w 191059"/>
                <a:gd name="connsiteY16" fmla="*/ 56179 h 188966"/>
                <a:gd name="connsiteX17" fmla="*/ 123965 w 191059"/>
                <a:gd name="connsiteY17" fmla="*/ 56179 h 188966"/>
                <a:gd name="connsiteX18" fmla="*/ 57509 w 191059"/>
                <a:gd name="connsiteY18" fmla="*/ 123211 h 188966"/>
                <a:gd name="connsiteX19" fmla="*/ 57509 w 191059"/>
                <a:gd name="connsiteY19" fmla="*/ 98313 h 188966"/>
                <a:gd name="connsiteX20" fmla="*/ 58149 w 191059"/>
                <a:gd name="connsiteY20" fmla="*/ 80438 h 188966"/>
                <a:gd name="connsiteX21" fmla="*/ 58149 w 191059"/>
                <a:gd name="connsiteY21" fmla="*/ 56179 h 188966"/>
                <a:gd name="connsiteX22" fmla="*/ 83069 w 191059"/>
                <a:gd name="connsiteY22" fmla="*/ 56179 h 188966"/>
                <a:gd name="connsiteX23" fmla="*/ 58149 w 191059"/>
                <a:gd name="connsiteY23" fmla="*/ 80438 h 188966"/>
                <a:gd name="connsiteX24" fmla="*/ 133550 w 191059"/>
                <a:gd name="connsiteY24" fmla="*/ 65755 h 188966"/>
                <a:gd name="connsiteX25" fmla="*/ 133550 w 191059"/>
                <a:gd name="connsiteY25" fmla="*/ 89376 h 188966"/>
                <a:gd name="connsiteX26" fmla="*/ 90098 w 191059"/>
                <a:gd name="connsiteY26" fmla="*/ 132787 h 188966"/>
                <a:gd name="connsiteX27" fmla="*/ 67094 w 191059"/>
                <a:gd name="connsiteY27" fmla="*/ 132787 h 188966"/>
                <a:gd name="connsiteX28" fmla="*/ 133550 w 191059"/>
                <a:gd name="connsiteY28" fmla="*/ 65755 h 188966"/>
                <a:gd name="connsiteX29" fmla="*/ 133550 w 191059"/>
                <a:gd name="connsiteY29" fmla="*/ 107251 h 188966"/>
                <a:gd name="connsiteX30" fmla="*/ 133550 w 191059"/>
                <a:gd name="connsiteY30" fmla="*/ 132787 h 188966"/>
                <a:gd name="connsiteX31" fmla="*/ 107990 w 191059"/>
                <a:gd name="connsiteY31" fmla="*/ 132787 h 188966"/>
                <a:gd name="connsiteX32" fmla="*/ 133550 w 191059"/>
                <a:gd name="connsiteY32" fmla="*/ 107251 h 188966"/>
                <a:gd name="connsiteX33" fmla="*/ 13419 w 191059"/>
                <a:gd name="connsiteY33" fmla="*/ 132787 h 188966"/>
                <a:gd name="connsiteX34" fmla="*/ 13419 w 191059"/>
                <a:gd name="connsiteY34" fmla="*/ 12768 h 188966"/>
                <a:gd name="connsiteX35" fmla="*/ 133550 w 191059"/>
                <a:gd name="connsiteY35" fmla="*/ 12768 h 188966"/>
                <a:gd name="connsiteX36" fmla="*/ 133550 w 191059"/>
                <a:gd name="connsiteY36" fmla="*/ 43411 h 188966"/>
                <a:gd name="connsiteX37" fmla="*/ 52398 w 191059"/>
                <a:gd name="connsiteY37" fmla="*/ 43411 h 188966"/>
                <a:gd name="connsiteX38" fmla="*/ 46008 w 191059"/>
                <a:gd name="connsiteY38" fmla="*/ 49795 h 188966"/>
                <a:gd name="connsiteX39" fmla="*/ 46008 w 191059"/>
                <a:gd name="connsiteY39" fmla="*/ 132787 h 188966"/>
                <a:gd name="connsiteX40" fmla="*/ 13419 w 191059"/>
                <a:gd name="connsiteY40" fmla="*/ 132787 h 188966"/>
                <a:gd name="connsiteX41" fmla="*/ 178279 w 191059"/>
                <a:gd name="connsiteY41" fmla="*/ 176198 h 188966"/>
                <a:gd name="connsiteX42" fmla="*/ 58149 w 191059"/>
                <a:gd name="connsiteY42" fmla="*/ 176198 h 188966"/>
                <a:gd name="connsiteX43" fmla="*/ 58149 w 191059"/>
                <a:gd name="connsiteY43" fmla="*/ 145555 h 188966"/>
                <a:gd name="connsiteX44" fmla="*/ 139301 w 191059"/>
                <a:gd name="connsiteY44" fmla="*/ 145555 h 188966"/>
                <a:gd name="connsiteX45" fmla="*/ 145690 w 191059"/>
                <a:gd name="connsiteY45" fmla="*/ 139171 h 188966"/>
                <a:gd name="connsiteX46" fmla="*/ 145690 w 191059"/>
                <a:gd name="connsiteY46" fmla="*/ 56179 h 188966"/>
                <a:gd name="connsiteX47" fmla="*/ 178279 w 191059"/>
                <a:gd name="connsiteY47" fmla="*/ 56179 h 188966"/>
                <a:gd name="connsiteX48" fmla="*/ 178279 w 191059"/>
                <a:gd name="connsiteY48" fmla="*/ 176198 h 18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91059" h="188966">
                  <a:moveTo>
                    <a:pt x="184669" y="43411"/>
                  </a:moveTo>
                  <a:lnTo>
                    <a:pt x="145690" y="43411"/>
                  </a:lnTo>
                  <a:lnTo>
                    <a:pt x="145690" y="6384"/>
                  </a:lnTo>
                  <a:cubicBezTo>
                    <a:pt x="145690" y="2554"/>
                    <a:pt x="143135" y="0"/>
                    <a:pt x="139301" y="0"/>
                  </a:cubicBezTo>
                  <a:lnTo>
                    <a:pt x="6390" y="0"/>
                  </a:lnTo>
                  <a:cubicBezTo>
                    <a:pt x="2556" y="0"/>
                    <a:pt x="0" y="2554"/>
                    <a:pt x="0" y="6384"/>
                  </a:cubicBezTo>
                  <a:lnTo>
                    <a:pt x="0" y="139171"/>
                  </a:lnTo>
                  <a:cubicBezTo>
                    <a:pt x="0" y="143001"/>
                    <a:pt x="2556" y="145555"/>
                    <a:pt x="6390" y="145555"/>
                  </a:cubicBezTo>
                  <a:lnTo>
                    <a:pt x="45369" y="145555"/>
                  </a:lnTo>
                  <a:lnTo>
                    <a:pt x="45369" y="182582"/>
                  </a:lnTo>
                  <a:cubicBezTo>
                    <a:pt x="45369" y="186412"/>
                    <a:pt x="47925" y="188966"/>
                    <a:pt x="51759" y="188966"/>
                  </a:cubicBezTo>
                  <a:lnTo>
                    <a:pt x="184669" y="188966"/>
                  </a:lnTo>
                  <a:cubicBezTo>
                    <a:pt x="188503" y="188966"/>
                    <a:pt x="191059" y="186412"/>
                    <a:pt x="191059" y="182582"/>
                  </a:cubicBezTo>
                  <a:lnTo>
                    <a:pt x="191059" y="49795"/>
                  </a:lnTo>
                  <a:cubicBezTo>
                    <a:pt x="191059" y="45965"/>
                    <a:pt x="188503" y="43411"/>
                    <a:pt x="184669" y="43411"/>
                  </a:cubicBezTo>
                  <a:close/>
                  <a:moveTo>
                    <a:pt x="58149" y="98313"/>
                  </a:moveTo>
                  <a:lnTo>
                    <a:pt x="100961" y="56179"/>
                  </a:lnTo>
                  <a:lnTo>
                    <a:pt x="123965" y="56179"/>
                  </a:lnTo>
                  <a:lnTo>
                    <a:pt x="57509" y="123211"/>
                  </a:lnTo>
                  <a:lnTo>
                    <a:pt x="57509" y="98313"/>
                  </a:lnTo>
                  <a:close/>
                  <a:moveTo>
                    <a:pt x="58149" y="80438"/>
                  </a:moveTo>
                  <a:lnTo>
                    <a:pt x="58149" y="56179"/>
                  </a:lnTo>
                  <a:lnTo>
                    <a:pt x="83069" y="56179"/>
                  </a:lnTo>
                  <a:lnTo>
                    <a:pt x="58149" y="80438"/>
                  </a:lnTo>
                  <a:close/>
                  <a:moveTo>
                    <a:pt x="133550" y="65755"/>
                  </a:moveTo>
                  <a:lnTo>
                    <a:pt x="133550" y="89376"/>
                  </a:lnTo>
                  <a:lnTo>
                    <a:pt x="90098" y="132787"/>
                  </a:lnTo>
                  <a:lnTo>
                    <a:pt x="67094" y="132787"/>
                  </a:lnTo>
                  <a:lnTo>
                    <a:pt x="133550" y="65755"/>
                  </a:lnTo>
                  <a:close/>
                  <a:moveTo>
                    <a:pt x="133550" y="107251"/>
                  </a:moveTo>
                  <a:lnTo>
                    <a:pt x="133550" y="132787"/>
                  </a:lnTo>
                  <a:lnTo>
                    <a:pt x="107990" y="132787"/>
                  </a:lnTo>
                  <a:lnTo>
                    <a:pt x="133550" y="107251"/>
                  </a:lnTo>
                  <a:close/>
                  <a:moveTo>
                    <a:pt x="13419" y="132787"/>
                  </a:moveTo>
                  <a:lnTo>
                    <a:pt x="13419" y="12768"/>
                  </a:lnTo>
                  <a:lnTo>
                    <a:pt x="133550" y="12768"/>
                  </a:lnTo>
                  <a:lnTo>
                    <a:pt x="133550" y="43411"/>
                  </a:lnTo>
                  <a:lnTo>
                    <a:pt x="52398" y="43411"/>
                  </a:lnTo>
                  <a:cubicBezTo>
                    <a:pt x="48564" y="43411"/>
                    <a:pt x="46008" y="45965"/>
                    <a:pt x="46008" y="49795"/>
                  </a:cubicBezTo>
                  <a:lnTo>
                    <a:pt x="46008" y="132787"/>
                  </a:lnTo>
                  <a:lnTo>
                    <a:pt x="13419" y="132787"/>
                  </a:lnTo>
                  <a:close/>
                  <a:moveTo>
                    <a:pt x="178279" y="176198"/>
                  </a:moveTo>
                  <a:lnTo>
                    <a:pt x="58149" y="176198"/>
                  </a:lnTo>
                  <a:lnTo>
                    <a:pt x="58149" y="145555"/>
                  </a:lnTo>
                  <a:lnTo>
                    <a:pt x="139301" y="145555"/>
                  </a:lnTo>
                  <a:cubicBezTo>
                    <a:pt x="143135" y="145555"/>
                    <a:pt x="145690" y="143001"/>
                    <a:pt x="145690" y="139171"/>
                  </a:cubicBezTo>
                  <a:lnTo>
                    <a:pt x="145690" y="56179"/>
                  </a:lnTo>
                  <a:lnTo>
                    <a:pt x="178279" y="56179"/>
                  </a:lnTo>
                  <a:lnTo>
                    <a:pt x="178279" y="17619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196" name="Rectangle 195">
            <a:extLst>
              <a:ext uri="{FF2B5EF4-FFF2-40B4-BE49-F238E27FC236}">
                <a16:creationId xmlns:a16="http://schemas.microsoft.com/office/drawing/2014/main" id="{DD3BD408-0587-58F0-859E-A5A4083D0AE1}"/>
              </a:ext>
            </a:extLst>
          </p:cNvPr>
          <p:cNvSpPr>
            <a:spLocks/>
          </p:cNvSpPr>
          <p:nvPr/>
        </p:nvSpPr>
        <p:spPr>
          <a:xfrm>
            <a:off x="6691402" y="2577087"/>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2.3</a:t>
            </a:r>
          </a:p>
        </p:txBody>
      </p:sp>
      <p:sp>
        <p:nvSpPr>
          <p:cNvPr id="197" name="TextBox 196">
            <a:extLst>
              <a:ext uri="{FF2B5EF4-FFF2-40B4-BE49-F238E27FC236}">
                <a16:creationId xmlns:a16="http://schemas.microsoft.com/office/drawing/2014/main" id="{A0C8CD0C-7195-BF5C-8D9B-8B8D16D05B64}"/>
              </a:ext>
            </a:extLst>
          </p:cNvPr>
          <p:cNvSpPr txBox="1"/>
          <p:nvPr/>
        </p:nvSpPr>
        <p:spPr>
          <a:xfrm>
            <a:off x="4997970" y="6042409"/>
            <a:ext cx="313601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srgbClr val="313131"/>
                </a:solidFill>
                <a:effectLst/>
                <a:uLnTx/>
                <a:uFillTx/>
                <a:latin typeface="Aptos" panose="02110004020202020204"/>
                <a:ea typeface="+mn-ea"/>
                <a:cs typeface="+mn-cs"/>
              </a:rPr>
              <a:t>Implementation Roadmap</a:t>
            </a:r>
            <a:endParaRPr kumimoji="0" lang="en-GB" sz="1100" b="0" i="0" u="none" strike="noStrike" kern="0" cap="none" spc="0" normalizeH="0" baseline="0" noProof="0">
              <a:ln>
                <a:noFill/>
              </a:ln>
              <a:solidFill>
                <a:srgbClr val="313131"/>
              </a:solidFill>
              <a:effectLst/>
              <a:uLnTx/>
              <a:uFillTx/>
              <a:latin typeface="Aptos" panose="02110004020202020204"/>
              <a:ea typeface="+mn-ea"/>
              <a:cs typeface="+mn-cs"/>
            </a:endParaRPr>
          </a:p>
        </p:txBody>
      </p:sp>
      <p:sp>
        <p:nvSpPr>
          <p:cNvPr id="198" name="TextBox 197">
            <a:extLst>
              <a:ext uri="{FF2B5EF4-FFF2-40B4-BE49-F238E27FC236}">
                <a16:creationId xmlns:a16="http://schemas.microsoft.com/office/drawing/2014/main" id="{E34C75F1-F06F-62FE-0FE0-2B1BEBAAC556}"/>
              </a:ext>
            </a:extLst>
          </p:cNvPr>
          <p:cNvSpPr txBox="1"/>
          <p:nvPr/>
        </p:nvSpPr>
        <p:spPr>
          <a:xfrm>
            <a:off x="5005745" y="6296324"/>
            <a:ext cx="3136014" cy="1692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srgbClr val="313131"/>
                </a:solidFill>
                <a:effectLst/>
                <a:uLnTx/>
                <a:uFillTx/>
                <a:latin typeface="Aptos" panose="02110004020202020204"/>
                <a:ea typeface="+mn-ea"/>
                <a:cs typeface="+mn-cs"/>
              </a:rPr>
              <a:t>Executive Board Presentation</a:t>
            </a:r>
            <a:endParaRPr kumimoji="0" lang="en-GB" sz="1100" b="0" i="0" u="none" strike="noStrike" kern="0" cap="none" spc="0" normalizeH="0" baseline="0" noProof="0">
              <a:ln>
                <a:noFill/>
              </a:ln>
              <a:solidFill>
                <a:srgbClr val="313131"/>
              </a:solidFill>
              <a:effectLst/>
              <a:uLnTx/>
              <a:uFillTx/>
              <a:latin typeface="Aptos" panose="02110004020202020204"/>
              <a:ea typeface="+mn-ea"/>
              <a:cs typeface="+mn-cs"/>
            </a:endParaRPr>
          </a:p>
        </p:txBody>
      </p:sp>
      <p:sp>
        <p:nvSpPr>
          <p:cNvPr id="199" name="Rectangle 198">
            <a:extLst>
              <a:ext uri="{FF2B5EF4-FFF2-40B4-BE49-F238E27FC236}">
                <a16:creationId xmlns:a16="http://schemas.microsoft.com/office/drawing/2014/main" id="{9128BCC3-57AF-DE58-6D04-A94BEF38D7E5}"/>
              </a:ext>
            </a:extLst>
          </p:cNvPr>
          <p:cNvSpPr/>
          <p:nvPr/>
        </p:nvSpPr>
        <p:spPr bwMode="gray">
          <a:xfrm>
            <a:off x="7968696" y="2567633"/>
            <a:ext cx="865584" cy="2591843"/>
          </a:xfrm>
          <a:prstGeom prst="rect">
            <a:avLst/>
          </a:prstGeom>
          <a:solidFill>
            <a:sysClr val="window" lastClr="FFFFFF">
              <a:lumMod val="100000"/>
            </a:sysClr>
          </a:solidFill>
          <a:ln w="12700" cap="flat" cmpd="sng" algn="ctr">
            <a:solidFill>
              <a:srgbClr val="646464"/>
            </a:solidFill>
            <a:prstDash val="solid"/>
            <a:miter lim="800000"/>
            <a:headEnd type="none" w="med" len="med"/>
            <a:tailEnd type="none" w="med" len="med"/>
          </a:ln>
          <a:effectLst/>
        </p:spPr>
        <p:txBody>
          <a:bodyPr lIns="38098" tIns="38098" rIns="38098" bIns="38098" rtlCol="0" anchor="t"/>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GB" sz="1100" b="1" i="0" u="none" strike="noStrike" kern="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GB" sz="1100" b="1" i="0" u="none" strike="noStrike" kern="0" cap="none" spc="0" normalizeH="0" baseline="0" noProof="0">
                <a:ln>
                  <a:noFill/>
                </a:ln>
                <a:solidFill>
                  <a:prstClr val="black"/>
                </a:solidFill>
                <a:effectLst/>
                <a:uLnTx/>
                <a:uFillTx/>
                <a:latin typeface="Aptos"/>
                <a:ea typeface="+mn-ea"/>
                <a:cs typeface="+mn-cs"/>
              </a:rPr>
              <a:t>Business Case Development</a:t>
            </a:r>
            <a:endParaRPr kumimoji="0" lang="en-GB" sz="1100" b="0" i="0" u="none" strike="noStrike" kern="0" cap="none" spc="0" normalizeH="0" baseline="0" noProof="0">
              <a:ln>
                <a:noFill/>
              </a:ln>
              <a:solidFill>
                <a:prstClr val="black"/>
              </a:solidFill>
              <a:effectLst/>
              <a:uLnTx/>
              <a:uFillTx/>
              <a:latin typeface="Aptos"/>
              <a:ea typeface="+mn-ea"/>
              <a:cs typeface="+mn-cs"/>
            </a:endParaRPr>
          </a:p>
        </p:txBody>
      </p:sp>
      <p:sp>
        <p:nvSpPr>
          <p:cNvPr id="200" name="Rectangle 199">
            <a:extLst>
              <a:ext uri="{FF2B5EF4-FFF2-40B4-BE49-F238E27FC236}">
                <a16:creationId xmlns:a16="http://schemas.microsoft.com/office/drawing/2014/main" id="{36ED301B-7AFA-5ED5-2AB6-859A7516E07E}"/>
              </a:ext>
            </a:extLst>
          </p:cNvPr>
          <p:cNvSpPr>
            <a:spLocks/>
          </p:cNvSpPr>
          <p:nvPr/>
        </p:nvSpPr>
        <p:spPr>
          <a:xfrm>
            <a:off x="8537052" y="2574263"/>
            <a:ext cx="275652" cy="156054"/>
          </a:xfrm>
          <a:prstGeom prst="rect">
            <a:avLst/>
          </a:prstGeom>
          <a:solidFill>
            <a:srgbClr val="43B02A"/>
          </a:solidFill>
          <a:ln w="12700" cap="flat" cmpd="sng" algn="ctr">
            <a:solidFill>
              <a:srgbClr val="43B02A"/>
            </a:solidFill>
            <a:prstDash val="solid"/>
          </a:ln>
          <a:effectLst/>
        </p:spPr>
        <p:txBody>
          <a:bodyPr lIns="0" tIns="0" rIns="0" bIns="0"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Aptos"/>
                <a:ea typeface="+mn-ea"/>
                <a:cs typeface="+mn-cs"/>
              </a:rPr>
              <a:t>2.5</a:t>
            </a:r>
          </a:p>
        </p:txBody>
      </p:sp>
      <p:grpSp>
        <p:nvGrpSpPr>
          <p:cNvPr id="201" name="Graphic 4">
            <a:extLst>
              <a:ext uri="{FF2B5EF4-FFF2-40B4-BE49-F238E27FC236}">
                <a16:creationId xmlns:a16="http://schemas.microsoft.com/office/drawing/2014/main" id="{2C95FB47-DEA2-CED9-785C-89412ED8B50B}"/>
              </a:ext>
            </a:extLst>
          </p:cNvPr>
          <p:cNvGrpSpPr/>
          <p:nvPr/>
        </p:nvGrpSpPr>
        <p:grpSpPr>
          <a:xfrm>
            <a:off x="8038049" y="2574864"/>
            <a:ext cx="361670" cy="361333"/>
            <a:chOff x="1515054" y="1893013"/>
            <a:chExt cx="361670" cy="361333"/>
          </a:xfrm>
          <a:solidFill>
            <a:srgbClr val="43B02A"/>
          </a:solidFill>
        </p:grpSpPr>
        <p:sp>
          <p:nvSpPr>
            <p:cNvPr id="202" name="Graphic 4">
              <a:extLst>
                <a:ext uri="{FF2B5EF4-FFF2-40B4-BE49-F238E27FC236}">
                  <a16:creationId xmlns:a16="http://schemas.microsoft.com/office/drawing/2014/main" id="{E8234671-08C3-3E83-12C1-05F7516CC3B4}"/>
                </a:ext>
              </a:extLst>
            </p:cNvPr>
            <p:cNvSpPr/>
            <p:nvPr/>
          </p:nvSpPr>
          <p:spPr>
            <a:xfrm>
              <a:off x="1515054" y="1893013"/>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3"/>
                    <a:pt x="180835" y="361333"/>
                  </a:cubicBezTo>
                  <a:cubicBezTo>
                    <a:pt x="280518" y="361333"/>
                    <a:pt x="361670" y="280257"/>
                    <a:pt x="361670" y="180667"/>
                  </a:cubicBezTo>
                  <a:cubicBezTo>
                    <a:pt x="361670" y="81077"/>
                    <a:pt x="280518" y="0"/>
                    <a:pt x="180835" y="0"/>
                  </a:cubicBezTo>
                  <a:close/>
                  <a:moveTo>
                    <a:pt x="180835" y="349204"/>
                  </a:moveTo>
                  <a:cubicBezTo>
                    <a:pt x="88181" y="349204"/>
                    <a:pt x="12780" y="273873"/>
                    <a:pt x="12780" y="181305"/>
                  </a:cubicBezTo>
                  <a:cubicBezTo>
                    <a:pt x="12780" y="88737"/>
                    <a:pt x="88181" y="13406"/>
                    <a:pt x="180835" y="13406"/>
                  </a:cubicBezTo>
                  <a:cubicBezTo>
                    <a:pt x="273489" y="13406"/>
                    <a:pt x="348891" y="88737"/>
                    <a:pt x="348891" y="181305"/>
                  </a:cubicBezTo>
                  <a:cubicBezTo>
                    <a:pt x="348891"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203" name="Graphic 4">
              <a:extLst>
                <a:ext uri="{FF2B5EF4-FFF2-40B4-BE49-F238E27FC236}">
                  <a16:creationId xmlns:a16="http://schemas.microsoft.com/office/drawing/2014/main" id="{F7E7491C-40FA-B385-12DF-55C7371D52A3}"/>
                </a:ext>
              </a:extLst>
            </p:cNvPr>
            <p:cNvSpPr/>
            <p:nvPr/>
          </p:nvSpPr>
          <p:spPr>
            <a:xfrm>
              <a:off x="1674163" y="1975366"/>
              <a:ext cx="43451" cy="196626"/>
            </a:xfrm>
            <a:custGeom>
              <a:avLst/>
              <a:gdLst>
                <a:gd name="connsiteX0" fmla="*/ 37062 w 43451"/>
                <a:gd name="connsiteY0" fmla="*/ 34474 h 196626"/>
                <a:gd name="connsiteX1" fmla="*/ 28116 w 43451"/>
                <a:gd name="connsiteY1" fmla="*/ 34474 h 196626"/>
                <a:gd name="connsiteX2" fmla="*/ 28116 w 43451"/>
                <a:gd name="connsiteY2" fmla="*/ 6384 h 196626"/>
                <a:gd name="connsiteX3" fmla="*/ 21726 w 43451"/>
                <a:gd name="connsiteY3" fmla="*/ 0 h 196626"/>
                <a:gd name="connsiteX4" fmla="*/ 15336 w 43451"/>
                <a:gd name="connsiteY4" fmla="*/ 6384 h 196626"/>
                <a:gd name="connsiteX5" fmla="*/ 15336 w 43451"/>
                <a:gd name="connsiteY5" fmla="*/ 34474 h 196626"/>
                <a:gd name="connsiteX6" fmla="*/ 6390 w 43451"/>
                <a:gd name="connsiteY6" fmla="*/ 34474 h 196626"/>
                <a:gd name="connsiteX7" fmla="*/ 0 w 43451"/>
                <a:gd name="connsiteY7" fmla="*/ 40858 h 196626"/>
                <a:gd name="connsiteX8" fmla="*/ 0 w 43451"/>
                <a:gd name="connsiteY8" fmla="*/ 79162 h 196626"/>
                <a:gd name="connsiteX9" fmla="*/ 6390 w 43451"/>
                <a:gd name="connsiteY9" fmla="*/ 85546 h 196626"/>
                <a:gd name="connsiteX10" fmla="*/ 15336 w 43451"/>
                <a:gd name="connsiteY10" fmla="*/ 85546 h 196626"/>
                <a:gd name="connsiteX11" fmla="*/ 15336 w 43451"/>
                <a:gd name="connsiteY11" fmla="*/ 190243 h 196626"/>
                <a:gd name="connsiteX12" fmla="*/ 21726 w 43451"/>
                <a:gd name="connsiteY12" fmla="*/ 196627 h 196626"/>
                <a:gd name="connsiteX13" fmla="*/ 28116 w 43451"/>
                <a:gd name="connsiteY13" fmla="*/ 190243 h 196626"/>
                <a:gd name="connsiteX14" fmla="*/ 28116 w 43451"/>
                <a:gd name="connsiteY14" fmla="*/ 85546 h 196626"/>
                <a:gd name="connsiteX15" fmla="*/ 37062 w 43451"/>
                <a:gd name="connsiteY15" fmla="*/ 85546 h 196626"/>
                <a:gd name="connsiteX16" fmla="*/ 43451 w 43451"/>
                <a:gd name="connsiteY16" fmla="*/ 79162 h 196626"/>
                <a:gd name="connsiteX17" fmla="*/ 43451 w 43451"/>
                <a:gd name="connsiteY17" fmla="*/ 40858 h 196626"/>
                <a:gd name="connsiteX18" fmla="*/ 37062 w 43451"/>
                <a:gd name="connsiteY18" fmla="*/ 34474 h 196626"/>
                <a:gd name="connsiteX19" fmla="*/ 30672 w 43451"/>
                <a:gd name="connsiteY19" fmla="*/ 72778 h 196626"/>
                <a:gd name="connsiteX20" fmla="*/ 12780 w 43451"/>
                <a:gd name="connsiteY20" fmla="*/ 72778 h 196626"/>
                <a:gd name="connsiteX21" fmla="*/ 12780 w 43451"/>
                <a:gd name="connsiteY21" fmla="*/ 47242 h 196626"/>
                <a:gd name="connsiteX22" fmla="*/ 30672 w 43451"/>
                <a:gd name="connsiteY22" fmla="*/ 47242 h 196626"/>
                <a:gd name="connsiteX23" fmla="*/ 30672 w 43451"/>
                <a:gd name="connsiteY23" fmla="*/ 72778 h 19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451" h="196626">
                  <a:moveTo>
                    <a:pt x="37062" y="34474"/>
                  </a:moveTo>
                  <a:lnTo>
                    <a:pt x="28116" y="34474"/>
                  </a:lnTo>
                  <a:lnTo>
                    <a:pt x="28116" y="6384"/>
                  </a:lnTo>
                  <a:cubicBezTo>
                    <a:pt x="28116" y="2554"/>
                    <a:pt x="25560" y="0"/>
                    <a:pt x="21726" y="0"/>
                  </a:cubicBezTo>
                  <a:cubicBezTo>
                    <a:pt x="17892" y="0"/>
                    <a:pt x="15336" y="2554"/>
                    <a:pt x="15336" y="6384"/>
                  </a:cubicBezTo>
                  <a:lnTo>
                    <a:pt x="15336" y="34474"/>
                  </a:lnTo>
                  <a:lnTo>
                    <a:pt x="6390" y="34474"/>
                  </a:lnTo>
                  <a:cubicBezTo>
                    <a:pt x="2556" y="34474"/>
                    <a:pt x="0" y="37027"/>
                    <a:pt x="0" y="40858"/>
                  </a:cubicBezTo>
                  <a:lnTo>
                    <a:pt x="0" y="79162"/>
                  </a:lnTo>
                  <a:cubicBezTo>
                    <a:pt x="0" y="82992"/>
                    <a:pt x="2556" y="85546"/>
                    <a:pt x="6390" y="85546"/>
                  </a:cubicBezTo>
                  <a:lnTo>
                    <a:pt x="15336" y="85546"/>
                  </a:lnTo>
                  <a:lnTo>
                    <a:pt x="15336" y="190243"/>
                  </a:lnTo>
                  <a:cubicBezTo>
                    <a:pt x="15336" y="194073"/>
                    <a:pt x="17892" y="196627"/>
                    <a:pt x="21726" y="196627"/>
                  </a:cubicBezTo>
                  <a:cubicBezTo>
                    <a:pt x="25560" y="196627"/>
                    <a:pt x="28116" y="194073"/>
                    <a:pt x="28116" y="190243"/>
                  </a:cubicBezTo>
                  <a:lnTo>
                    <a:pt x="28116" y="85546"/>
                  </a:lnTo>
                  <a:lnTo>
                    <a:pt x="37062" y="85546"/>
                  </a:lnTo>
                  <a:cubicBezTo>
                    <a:pt x="40896" y="85546"/>
                    <a:pt x="43451" y="82992"/>
                    <a:pt x="43451" y="79162"/>
                  </a:cubicBezTo>
                  <a:lnTo>
                    <a:pt x="43451" y="40858"/>
                  </a:lnTo>
                  <a:cubicBezTo>
                    <a:pt x="43451" y="37666"/>
                    <a:pt x="40257" y="34474"/>
                    <a:pt x="37062" y="34474"/>
                  </a:cubicBezTo>
                  <a:close/>
                  <a:moveTo>
                    <a:pt x="30672" y="72778"/>
                  </a:moveTo>
                  <a:lnTo>
                    <a:pt x="12780" y="72778"/>
                  </a:lnTo>
                  <a:lnTo>
                    <a:pt x="12780" y="47242"/>
                  </a:lnTo>
                  <a:lnTo>
                    <a:pt x="30672" y="47242"/>
                  </a:lnTo>
                  <a:lnTo>
                    <a:pt x="30672" y="7277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204" name="Graphic 4">
              <a:extLst>
                <a:ext uri="{FF2B5EF4-FFF2-40B4-BE49-F238E27FC236}">
                  <a16:creationId xmlns:a16="http://schemas.microsoft.com/office/drawing/2014/main" id="{7232384C-DFAF-4287-D7C9-30FA723A2555}"/>
                </a:ext>
              </a:extLst>
            </p:cNvPr>
            <p:cNvSpPr/>
            <p:nvPr/>
          </p:nvSpPr>
          <p:spPr>
            <a:xfrm>
              <a:off x="1602596" y="1975366"/>
              <a:ext cx="43451" cy="196626"/>
            </a:xfrm>
            <a:custGeom>
              <a:avLst/>
              <a:gdLst>
                <a:gd name="connsiteX0" fmla="*/ 37062 w 43451"/>
                <a:gd name="connsiteY0" fmla="*/ 72778 h 196626"/>
                <a:gd name="connsiteX1" fmla="*/ 28116 w 43451"/>
                <a:gd name="connsiteY1" fmla="*/ 72778 h 196626"/>
                <a:gd name="connsiteX2" fmla="*/ 28116 w 43451"/>
                <a:gd name="connsiteY2" fmla="*/ 6384 h 196626"/>
                <a:gd name="connsiteX3" fmla="*/ 21726 w 43451"/>
                <a:gd name="connsiteY3" fmla="*/ 0 h 196626"/>
                <a:gd name="connsiteX4" fmla="*/ 15336 w 43451"/>
                <a:gd name="connsiteY4" fmla="*/ 6384 h 196626"/>
                <a:gd name="connsiteX5" fmla="*/ 15336 w 43451"/>
                <a:gd name="connsiteY5" fmla="*/ 72778 h 196626"/>
                <a:gd name="connsiteX6" fmla="*/ 6390 w 43451"/>
                <a:gd name="connsiteY6" fmla="*/ 72778 h 196626"/>
                <a:gd name="connsiteX7" fmla="*/ 0 w 43451"/>
                <a:gd name="connsiteY7" fmla="*/ 79162 h 196626"/>
                <a:gd name="connsiteX8" fmla="*/ 0 w 43451"/>
                <a:gd name="connsiteY8" fmla="*/ 117465 h 196626"/>
                <a:gd name="connsiteX9" fmla="*/ 6390 w 43451"/>
                <a:gd name="connsiteY9" fmla="*/ 123849 h 196626"/>
                <a:gd name="connsiteX10" fmla="*/ 15336 w 43451"/>
                <a:gd name="connsiteY10" fmla="*/ 123849 h 196626"/>
                <a:gd name="connsiteX11" fmla="*/ 15336 w 43451"/>
                <a:gd name="connsiteY11" fmla="*/ 190243 h 196626"/>
                <a:gd name="connsiteX12" fmla="*/ 21726 w 43451"/>
                <a:gd name="connsiteY12" fmla="*/ 196627 h 196626"/>
                <a:gd name="connsiteX13" fmla="*/ 28116 w 43451"/>
                <a:gd name="connsiteY13" fmla="*/ 190243 h 196626"/>
                <a:gd name="connsiteX14" fmla="*/ 28116 w 43451"/>
                <a:gd name="connsiteY14" fmla="*/ 123849 h 196626"/>
                <a:gd name="connsiteX15" fmla="*/ 37062 w 43451"/>
                <a:gd name="connsiteY15" fmla="*/ 123849 h 196626"/>
                <a:gd name="connsiteX16" fmla="*/ 43452 w 43451"/>
                <a:gd name="connsiteY16" fmla="*/ 117465 h 196626"/>
                <a:gd name="connsiteX17" fmla="*/ 43452 w 43451"/>
                <a:gd name="connsiteY17" fmla="*/ 79162 h 196626"/>
                <a:gd name="connsiteX18" fmla="*/ 37062 w 43451"/>
                <a:gd name="connsiteY18" fmla="*/ 72778 h 196626"/>
                <a:gd name="connsiteX19" fmla="*/ 30672 w 43451"/>
                <a:gd name="connsiteY19" fmla="*/ 111081 h 196626"/>
                <a:gd name="connsiteX20" fmla="*/ 12780 w 43451"/>
                <a:gd name="connsiteY20" fmla="*/ 111081 h 196626"/>
                <a:gd name="connsiteX21" fmla="*/ 12780 w 43451"/>
                <a:gd name="connsiteY21" fmla="*/ 85546 h 196626"/>
                <a:gd name="connsiteX22" fmla="*/ 30672 w 43451"/>
                <a:gd name="connsiteY22" fmla="*/ 85546 h 196626"/>
                <a:gd name="connsiteX23" fmla="*/ 30672 w 43451"/>
                <a:gd name="connsiteY23" fmla="*/ 111081 h 19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451" h="196626">
                  <a:moveTo>
                    <a:pt x="37062" y="72778"/>
                  </a:moveTo>
                  <a:lnTo>
                    <a:pt x="28116" y="72778"/>
                  </a:lnTo>
                  <a:lnTo>
                    <a:pt x="28116" y="6384"/>
                  </a:lnTo>
                  <a:cubicBezTo>
                    <a:pt x="28116" y="2554"/>
                    <a:pt x="25560" y="0"/>
                    <a:pt x="21726" y="0"/>
                  </a:cubicBezTo>
                  <a:cubicBezTo>
                    <a:pt x="17892" y="0"/>
                    <a:pt x="15336" y="2554"/>
                    <a:pt x="15336" y="6384"/>
                  </a:cubicBezTo>
                  <a:lnTo>
                    <a:pt x="15336" y="72778"/>
                  </a:lnTo>
                  <a:lnTo>
                    <a:pt x="6390" y="72778"/>
                  </a:lnTo>
                  <a:cubicBezTo>
                    <a:pt x="2556" y="72778"/>
                    <a:pt x="0" y="75331"/>
                    <a:pt x="0" y="79162"/>
                  </a:cubicBezTo>
                  <a:lnTo>
                    <a:pt x="0" y="117465"/>
                  </a:lnTo>
                  <a:cubicBezTo>
                    <a:pt x="0" y="121296"/>
                    <a:pt x="2556" y="123849"/>
                    <a:pt x="6390" y="123849"/>
                  </a:cubicBezTo>
                  <a:lnTo>
                    <a:pt x="15336" y="123849"/>
                  </a:lnTo>
                  <a:lnTo>
                    <a:pt x="15336" y="190243"/>
                  </a:lnTo>
                  <a:cubicBezTo>
                    <a:pt x="15336" y="194073"/>
                    <a:pt x="17892" y="196627"/>
                    <a:pt x="21726" y="196627"/>
                  </a:cubicBezTo>
                  <a:cubicBezTo>
                    <a:pt x="25560" y="196627"/>
                    <a:pt x="28116" y="194073"/>
                    <a:pt x="28116" y="190243"/>
                  </a:cubicBezTo>
                  <a:lnTo>
                    <a:pt x="28116" y="123849"/>
                  </a:lnTo>
                  <a:lnTo>
                    <a:pt x="37062" y="123849"/>
                  </a:lnTo>
                  <a:cubicBezTo>
                    <a:pt x="40896" y="123849"/>
                    <a:pt x="43452" y="121296"/>
                    <a:pt x="43452" y="117465"/>
                  </a:cubicBezTo>
                  <a:lnTo>
                    <a:pt x="43452" y="79162"/>
                  </a:lnTo>
                  <a:cubicBezTo>
                    <a:pt x="43452" y="75970"/>
                    <a:pt x="40896" y="72778"/>
                    <a:pt x="37062" y="72778"/>
                  </a:cubicBezTo>
                  <a:close/>
                  <a:moveTo>
                    <a:pt x="30672" y="111081"/>
                  </a:moveTo>
                  <a:lnTo>
                    <a:pt x="12780" y="111081"/>
                  </a:lnTo>
                  <a:lnTo>
                    <a:pt x="12780" y="85546"/>
                  </a:lnTo>
                  <a:lnTo>
                    <a:pt x="30672" y="85546"/>
                  </a:lnTo>
                  <a:lnTo>
                    <a:pt x="30672" y="11108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205" name="Graphic 4">
              <a:extLst>
                <a:ext uri="{FF2B5EF4-FFF2-40B4-BE49-F238E27FC236}">
                  <a16:creationId xmlns:a16="http://schemas.microsoft.com/office/drawing/2014/main" id="{3E5BEF66-848B-621A-17BB-56FC9D5059FD}"/>
                </a:ext>
              </a:extLst>
            </p:cNvPr>
            <p:cNvSpPr/>
            <p:nvPr/>
          </p:nvSpPr>
          <p:spPr>
            <a:xfrm>
              <a:off x="1745730" y="1975366"/>
              <a:ext cx="43451" cy="196626"/>
            </a:xfrm>
            <a:custGeom>
              <a:avLst/>
              <a:gdLst>
                <a:gd name="connsiteX0" fmla="*/ 37062 w 43451"/>
                <a:gd name="connsiteY0" fmla="*/ 111081 h 196626"/>
                <a:gd name="connsiteX1" fmla="*/ 28116 w 43451"/>
                <a:gd name="connsiteY1" fmla="*/ 111081 h 196626"/>
                <a:gd name="connsiteX2" fmla="*/ 28116 w 43451"/>
                <a:gd name="connsiteY2" fmla="*/ 6384 h 196626"/>
                <a:gd name="connsiteX3" fmla="*/ 21726 w 43451"/>
                <a:gd name="connsiteY3" fmla="*/ 0 h 196626"/>
                <a:gd name="connsiteX4" fmla="*/ 15336 w 43451"/>
                <a:gd name="connsiteY4" fmla="*/ 6384 h 196626"/>
                <a:gd name="connsiteX5" fmla="*/ 15336 w 43451"/>
                <a:gd name="connsiteY5" fmla="*/ 111081 h 196626"/>
                <a:gd name="connsiteX6" fmla="*/ 6390 w 43451"/>
                <a:gd name="connsiteY6" fmla="*/ 111081 h 196626"/>
                <a:gd name="connsiteX7" fmla="*/ 0 w 43451"/>
                <a:gd name="connsiteY7" fmla="*/ 117465 h 196626"/>
                <a:gd name="connsiteX8" fmla="*/ 0 w 43451"/>
                <a:gd name="connsiteY8" fmla="*/ 155769 h 196626"/>
                <a:gd name="connsiteX9" fmla="*/ 6390 w 43451"/>
                <a:gd name="connsiteY9" fmla="*/ 162153 h 196626"/>
                <a:gd name="connsiteX10" fmla="*/ 15336 w 43451"/>
                <a:gd name="connsiteY10" fmla="*/ 162153 h 196626"/>
                <a:gd name="connsiteX11" fmla="*/ 15336 w 43451"/>
                <a:gd name="connsiteY11" fmla="*/ 190243 h 196626"/>
                <a:gd name="connsiteX12" fmla="*/ 21726 w 43451"/>
                <a:gd name="connsiteY12" fmla="*/ 196627 h 196626"/>
                <a:gd name="connsiteX13" fmla="*/ 28116 w 43451"/>
                <a:gd name="connsiteY13" fmla="*/ 190243 h 196626"/>
                <a:gd name="connsiteX14" fmla="*/ 28116 w 43451"/>
                <a:gd name="connsiteY14" fmla="*/ 162153 h 196626"/>
                <a:gd name="connsiteX15" fmla="*/ 37062 w 43451"/>
                <a:gd name="connsiteY15" fmla="*/ 162153 h 196626"/>
                <a:gd name="connsiteX16" fmla="*/ 43451 w 43451"/>
                <a:gd name="connsiteY16" fmla="*/ 155769 h 196626"/>
                <a:gd name="connsiteX17" fmla="*/ 43451 w 43451"/>
                <a:gd name="connsiteY17" fmla="*/ 117465 h 196626"/>
                <a:gd name="connsiteX18" fmla="*/ 37062 w 43451"/>
                <a:gd name="connsiteY18" fmla="*/ 111081 h 196626"/>
                <a:gd name="connsiteX19" fmla="*/ 30672 w 43451"/>
                <a:gd name="connsiteY19" fmla="*/ 149385 h 196626"/>
                <a:gd name="connsiteX20" fmla="*/ 12780 w 43451"/>
                <a:gd name="connsiteY20" fmla="*/ 149385 h 196626"/>
                <a:gd name="connsiteX21" fmla="*/ 12780 w 43451"/>
                <a:gd name="connsiteY21" fmla="*/ 123849 h 196626"/>
                <a:gd name="connsiteX22" fmla="*/ 30672 w 43451"/>
                <a:gd name="connsiteY22" fmla="*/ 123849 h 196626"/>
                <a:gd name="connsiteX23" fmla="*/ 30672 w 43451"/>
                <a:gd name="connsiteY23" fmla="*/ 149385 h 19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451" h="196626">
                  <a:moveTo>
                    <a:pt x="37062" y="111081"/>
                  </a:moveTo>
                  <a:lnTo>
                    <a:pt x="28116" y="111081"/>
                  </a:lnTo>
                  <a:lnTo>
                    <a:pt x="28116" y="6384"/>
                  </a:lnTo>
                  <a:cubicBezTo>
                    <a:pt x="28116" y="2554"/>
                    <a:pt x="25560" y="0"/>
                    <a:pt x="21726" y="0"/>
                  </a:cubicBezTo>
                  <a:cubicBezTo>
                    <a:pt x="17892" y="0"/>
                    <a:pt x="15336" y="2554"/>
                    <a:pt x="15336" y="6384"/>
                  </a:cubicBezTo>
                  <a:lnTo>
                    <a:pt x="15336" y="111081"/>
                  </a:lnTo>
                  <a:lnTo>
                    <a:pt x="6390" y="111081"/>
                  </a:lnTo>
                  <a:cubicBezTo>
                    <a:pt x="2556" y="111081"/>
                    <a:pt x="0" y="113635"/>
                    <a:pt x="0" y="117465"/>
                  </a:cubicBezTo>
                  <a:lnTo>
                    <a:pt x="0" y="155769"/>
                  </a:lnTo>
                  <a:cubicBezTo>
                    <a:pt x="0" y="159600"/>
                    <a:pt x="2556" y="162153"/>
                    <a:pt x="6390" y="162153"/>
                  </a:cubicBezTo>
                  <a:lnTo>
                    <a:pt x="15336" y="162153"/>
                  </a:lnTo>
                  <a:lnTo>
                    <a:pt x="15336" y="190243"/>
                  </a:lnTo>
                  <a:cubicBezTo>
                    <a:pt x="15336" y="194073"/>
                    <a:pt x="17892" y="196627"/>
                    <a:pt x="21726" y="196627"/>
                  </a:cubicBezTo>
                  <a:cubicBezTo>
                    <a:pt x="25560" y="196627"/>
                    <a:pt x="28116" y="194073"/>
                    <a:pt x="28116" y="190243"/>
                  </a:cubicBezTo>
                  <a:lnTo>
                    <a:pt x="28116" y="162153"/>
                  </a:lnTo>
                  <a:lnTo>
                    <a:pt x="37062" y="162153"/>
                  </a:lnTo>
                  <a:cubicBezTo>
                    <a:pt x="40896" y="162153"/>
                    <a:pt x="43451" y="159600"/>
                    <a:pt x="43451" y="155769"/>
                  </a:cubicBezTo>
                  <a:lnTo>
                    <a:pt x="43451" y="117465"/>
                  </a:lnTo>
                  <a:cubicBezTo>
                    <a:pt x="43451" y="114273"/>
                    <a:pt x="40257" y="111081"/>
                    <a:pt x="37062" y="111081"/>
                  </a:cubicBezTo>
                  <a:close/>
                  <a:moveTo>
                    <a:pt x="30672" y="149385"/>
                  </a:moveTo>
                  <a:lnTo>
                    <a:pt x="12780" y="149385"/>
                  </a:lnTo>
                  <a:lnTo>
                    <a:pt x="12780" y="123849"/>
                  </a:lnTo>
                  <a:lnTo>
                    <a:pt x="30672" y="123849"/>
                  </a:lnTo>
                  <a:lnTo>
                    <a:pt x="30672" y="149385"/>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ptos" panose="02110004020202020204"/>
                <a:ea typeface="+mn-ea"/>
                <a:cs typeface="+mn-cs"/>
              </a:endParaRPr>
            </a:p>
          </p:txBody>
        </p:sp>
      </p:grpSp>
      <p:sp>
        <p:nvSpPr>
          <p:cNvPr id="206" name="Flowchart: Decision 205">
            <a:extLst>
              <a:ext uri="{FF2B5EF4-FFF2-40B4-BE49-F238E27FC236}">
                <a16:creationId xmlns:a16="http://schemas.microsoft.com/office/drawing/2014/main" id="{1C6160FB-8B4F-1E42-E63F-D3BB7984F3AE}"/>
              </a:ext>
            </a:extLst>
          </p:cNvPr>
          <p:cNvSpPr>
            <a:spLocks/>
          </p:cNvSpPr>
          <p:nvPr/>
        </p:nvSpPr>
        <p:spPr>
          <a:xfrm>
            <a:off x="4763896" y="6069692"/>
            <a:ext cx="177516" cy="178635"/>
          </a:xfrm>
          <a:prstGeom prst="flowChartDecision">
            <a:avLst/>
          </a:prstGeom>
          <a:solidFill>
            <a:srgbClr val="43B02A"/>
          </a:solidFill>
          <a:ln w="19050" cap="flat" cmpd="sng" algn="ctr">
            <a:noFill/>
            <a:prstDash val="solid"/>
            <a:miter lim="800000"/>
            <a:headEnd type="none" w="med" len="med"/>
            <a:tailEnd type="none" w="med" len="med"/>
          </a:ln>
          <a:effectLst/>
        </p:spPr>
        <p:txBody>
          <a:bodyPr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endParaRPr kumimoji="0" lang="en-GB" sz="1270" b="0" i="0" u="none" strike="noStrike" kern="0" cap="none" spc="0" normalizeH="0" baseline="0" noProof="0">
              <a:ln>
                <a:noFill/>
              </a:ln>
              <a:solidFill>
                <a:prstClr val="white"/>
              </a:solidFill>
              <a:effectLst/>
              <a:uLnTx/>
              <a:uFillTx/>
              <a:latin typeface="Aptos"/>
              <a:ea typeface="+mn-ea"/>
              <a:cs typeface="+mn-cs"/>
            </a:endParaRPr>
          </a:p>
        </p:txBody>
      </p:sp>
      <p:sp>
        <p:nvSpPr>
          <p:cNvPr id="207" name="Flowchart: Decision 206">
            <a:extLst>
              <a:ext uri="{FF2B5EF4-FFF2-40B4-BE49-F238E27FC236}">
                <a16:creationId xmlns:a16="http://schemas.microsoft.com/office/drawing/2014/main" id="{81892F88-3D15-FB25-16F6-05EA3265E7C5}"/>
              </a:ext>
            </a:extLst>
          </p:cNvPr>
          <p:cNvSpPr>
            <a:spLocks/>
          </p:cNvSpPr>
          <p:nvPr/>
        </p:nvSpPr>
        <p:spPr>
          <a:xfrm>
            <a:off x="4750717" y="6304640"/>
            <a:ext cx="177516" cy="178635"/>
          </a:xfrm>
          <a:prstGeom prst="flowChartDecision">
            <a:avLst/>
          </a:prstGeom>
          <a:solidFill>
            <a:srgbClr val="43B02A"/>
          </a:solidFill>
          <a:ln w="19050" cap="flat" cmpd="sng" algn="ctr">
            <a:noFill/>
            <a:prstDash val="solid"/>
            <a:miter lim="800000"/>
            <a:headEnd type="none" w="med" len="med"/>
            <a:tailEnd type="none" w="med" len="med"/>
          </a:ln>
          <a:effectLst/>
        </p:spPr>
        <p:txBody>
          <a:bodyPr rtlCol="0" anchor="ctr"/>
          <a:lstStyle/>
          <a:p>
            <a:pPr marL="0" marR="0" lvl="0" indent="0" algn="ctr" defTabSz="483849" rtl="0" eaLnBrk="1" fontAlgn="auto" latinLnBrk="0" hangingPunct="1">
              <a:lnSpc>
                <a:spcPct val="100000"/>
              </a:lnSpc>
              <a:spcBef>
                <a:spcPts val="0"/>
              </a:spcBef>
              <a:spcAft>
                <a:spcPts val="0"/>
              </a:spcAft>
              <a:buClrTx/>
              <a:buSzTx/>
              <a:buFontTx/>
              <a:buNone/>
              <a:tabLst/>
              <a:defRPr/>
            </a:pPr>
            <a:endParaRPr kumimoji="0" lang="en-GB" sz="1270" b="0" i="0" u="none" strike="noStrike" kern="0" cap="none" spc="0" normalizeH="0" baseline="0" noProof="0">
              <a:ln>
                <a:noFill/>
              </a:ln>
              <a:solidFill>
                <a:prstClr val="white"/>
              </a:solidFill>
              <a:effectLst/>
              <a:uLnTx/>
              <a:uFillTx/>
              <a:latin typeface="Aptos"/>
              <a:ea typeface="+mn-ea"/>
              <a:cs typeface="+mn-cs"/>
            </a:endParaRPr>
          </a:p>
        </p:txBody>
      </p:sp>
      <p:sp>
        <p:nvSpPr>
          <p:cNvPr id="208" name="TextBox 207">
            <a:extLst>
              <a:ext uri="{FF2B5EF4-FFF2-40B4-BE49-F238E27FC236}">
                <a16:creationId xmlns:a16="http://schemas.microsoft.com/office/drawing/2014/main" id="{9C0330E8-879A-608F-1D6A-C2BA8A3E1997}"/>
              </a:ext>
            </a:extLst>
          </p:cNvPr>
          <p:cNvSpPr txBox="1"/>
          <p:nvPr>
            <p:custDataLst>
              <p:tags r:id="rId18"/>
            </p:custDataLst>
          </p:nvPr>
        </p:nvSpPr>
        <p:spPr>
          <a:xfrm>
            <a:off x="6383214" y="1517062"/>
            <a:ext cx="1274841" cy="252000"/>
          </a:xfrm>
          <a:prstGeom prst="rect">
            <a:avLst/>
          </a:prstGeom>
          <a:solidFill>
            <a:srgbClr val="43B02A">
              <a:lumMod val="20000"/>
              <a:lumOff val="80000"/>
            </a:srgbClr>
          </a:solidFill>
          <a:ln w="3175">
            <a:no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Jan (KW 53 - 4)</a:t>
            </a:r>
          </a:p>
        </p:txBody>
      </p:sp>
      <p:sp>
        <p:nvSpPr>
          <p:cNvPr id="209" name="TextBox 208">
            <a:extLst>
              <a:ext uri="{FF2B5EF4-FFF2-40B4-BE49-F238E27FC236}">
                <a16:creationId xmlns:a16="http://schemas.microsoft.com/office/drawing/2014/main" id="{36FA1FEC-D324-4D7C-1F23-358BC44D8BAF}"/>
              </a:ext>
            </a:extLst>
          </p:cNvPr>
          <p:cNvSpPr txBox="1"/>
          <p:nvPr>
            <p:custDataLst>
              <p:tags r:id="rId19"/>
            </p:custDataLst>
          </p:nvPr>
        </p:nvSpPr>
        <p:spPr>
          <a:xfrm>
            <a:off x="569491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52</a:t>
            </a:r>
          </a:p>
        </p:txBody>
      </p:sp>
      <p:sp>
        <p:nvSpPr>
          <p:cNvPr id="210" name="TextBox 209">
            <a:extLst>
              <a:ext uri="{FF2B5EF4-FFF2-40B4-BE49-F238E27FC236}">
                <a16:creationId xmlns:a16="http://schemas.microsoft.com/office/drawing/2014/main" id="{FCBEC80D-4EC2-8339-BF03-9FF47667CC51}"/>
              </a:ext>
            </a:extLst>
          </p:cNvPr>
          <p:cNvSpPr txBox="1"/>
          <p:nvPr>
            <p:custDataLst>
              <p:tags r:id="rId20"/>
            </p:custDataLst>
          </p:nvPr>
        </p:nvSpPr>
        <p:spPr>
          <a:xfrm>
            <a:off x="608754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53</a:t>
            </a:r>
          </a:p>
        </p:txBody>
      </p:sp>
      <p:sp>
        <p:nvSpPr>
          <p:cNvPr id="211" name="TextBox 210">
            <a:extLst>
              <a:ext uri="{FF2B5EF4-FFF2-40B4-BE49-F238E27FC236}">
                <a16:creationId xmlns:a16="http://schemas.microsoft.com/office/drawing/2014/main" id="{C44EB59D-9842-8CE8-BD00-1355F097971E}"/>
              </a:ext>
            </a:extLst>
          </p:cNvPr>
          <p:cNvSpPr txBox="1"/>
          <p:nvPr>
            <p:custDataLst>
              <p:tags r:id="rId21"/>
            </p:custDataLst>
          </p:nvPr>
        </p:nvSpPr>
        <p:spPr>
          <a:xfrm>
            <a:off x="648017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1</a:t>
            </a:r>
          </a:p>
        </p:txBody>
      </p:sp>
      <p:sp>
        <p:nvSpPr>
          <p:cNvPr id="212" name="TextBox 211">
            <a:extLst>
              <a:ext uri="{FF2B5EF4-FFF2-40B4-BE49-F238E27FC236}">
                <a16:creationId xmlns:a16="http://schemas.microsoft.com/office/drawing/2014/main" id="{4272C43F-449F-1332-6A4F-698507E5A99D}"/>
              </a:ext>
            </a:extLst>
          </p:cNvPr>
          <p:cNvSpPr txBox="1"/>
          <p:nvPr>
            <p:custDataLst>
              <p:tags r:id="rId22"/>
            </p:custDataLst>
          </p:nvPr>
        </p:nvSpPr>
        <p:spPr>
          <a:xfrm>
            <a:off x="687280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2</a:t>
            </a:r>
          </a:p>
        </p:txBody>
      </p:sp>
      <p:sp>
        <p:nvSpPr>
          <p:cNvPr id="213" name="TextBox 212">
            <a:extLst>
              <a:ext uri="{FF2B5EF4-FFF2-40B4-BE49-F238E27FC236}">
                <a16:creationId xmlns:a16="http://schemas.microsoft.com/office/drawing/2014/main" id="{256EB41C-82CE-94EF-C79F-A97AE0945A04}"/>
              </a:ext>
            </a:extLst>
          </p:cNvPr>
          <p:cNvSpPr txBox="1"/>
          <p:nvPr>
            <p:custDataLst>
              <p:tags r:id="rId23"/>
            </p:custDataLst>
          </p:nvPr>
        </p:nvSpPr>
        <p:spPr>
          <a:xfrm>
            <a:off x="726543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3</a:t>
            </a:r>
          </a:p>
        </p:txBody>
      </p:sp>
      <p:sp>
        <p:nvSpPr>
          <p:cNvPr id="214" name="TextBox 213">
            <a:extLst>
              <a:ext uri="{FF2B5EF4-FFF2-40B4-BE49-F238E27FC236}">
                <a16:creationId xmlns:a16="http://schemas.microsoft.com/office/drawing/2014/main" id="{815CC282-8C9A-AB3F-8BB1-185D9D7598D0}"/>
              </a:ext>
            </a:extLst>
          </p:cNvPr>
          <p:cNvSpPr txBox="1"/>
          <p:nvPr>
            <p:custDataLst>
              <p:tags r:id="rId24"/>
            </p:custDataLst>
          </p:nvPr>
        </p:nvSpPr>
        <p:spPr>
          <a:xfrm>
            <a:off x="765806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4</a:t>
            </a:r>
          </a:p>
        </p:txBody>
      </p:sp>
      <p:sp>
        <p:nvSpPr>
          <p:cNvPr id="215" name="TextBox 214">
            <a:extLst>
              <a:ext uri="{FF2B5EF4-FFF2-40B4-BE49-F238E27FC236}">
                <a16:creationId xmlns:a16="http://schemas.microsoft.com/office/drawing/2014/main" id="{85AF824B-355F-3037-9524-FB094A49D7FD}"/>
              </a:ext>
            </a:extLst>
          </p:cNvPr>
          <p:cNvSpPr txBox="1"/>
          <p:nvPr>
            <p:custDataLst>
              <p:tags r:id="rId25"/>
            </p:custDataLst>
          </p:nvPr>
        </p:nvSpPr>
        <p:spPr>
          <a:xfrm>
            <a:off x="805069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5</a:t>
            </a:r>
          </a:p>
        </p:txBody>
      </p:sp>
      <p:sp>
        <p:nvSpPr>
          <p:cNvPr id="216" name="TextBox 215">
            <a:extLst>
              <a:ext uri="{FF2B5EF4-FFF2-40B4-BE49-F238E27FC236}">
                <a16:creationId xmlns:a16="http://schemas.microsoft.com/office/drawing/2014/main" id="{52DA6FB0-9DA9-E394-A61F-8B37634E9E5A}"/>
              </a:ext>
            </a:extLst>
          </p:cNvPr>
          <p:cNvSpPr txBox="1"/>
          <p:nvPr>
            <p:custDataLst>
              <p:tags r:id="rId26"/>
            </p:custDataLst>
          </p:nvPr>
        </p:nvSpPr>
        <p:spPr>
          <a:xfrm>
            <a:off x="844332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6</a:t>
            </a:r>
          </a:p>
        </p:txBody>
      </p:sp>
      <p:sp>
        <p:nvSpPr>
          <p:cNvPr id="217" name="TextBox 216">
            <a:extLst>
              <a:ext uri="{FF2B5EF4-FFF2-40B4-BE49-F238E27FC236}">
                <a16:creationId xmlns:a16="http://schemas.microsoft.com/office/drawing/2014/main" id="{F3487901-A5FD-63CD-F6B6-6B50E825D1AF}"/>
              </a:ext>
            </a:extLst>
          </p:cNvPr>
          <p:cNvSpPr txBox="1"/>
          <p:nvPr>
            <p:custDataLst>
              <p:tags r:id="rId27"/>
            </p:custDataLst>
          </p:nvPr>
        </p:nvSpPr>
        <p:spPr>
          <a:xfrm>
            <a:off x="883595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7</a:t>
            </a:r>
          </a:p>
        </p:txBody>
      </p:sp>
      <p:sp>
        <p:nvSpPr>
          <p:cNvPr id="218" name="TextBox 217">
            <a:extLst>
              <a:ext uri="{FF2B5EF4-FFF2-40B4-BE49-F238E27FC236}">
                <a16:creationId xmlns:a16="http://schemas.microsoft.com/office/drawing/2014/main" id="{B3725AC4-B1B4-B136-D6EA-625B951B31FF}"/>
              </a:ext>
            </a:extLst>
          </p:cNvPr>
          <p:cNvSpPr txBox="1"/>
          <p:nvPr>
            <p:custDataLst>
              <p:tags r:id="rId28"/>
            </p:custDataLst>
          </p:nvPr>
        </p:nvSpPr>
        <p:spPr>
          <a:xfrm>
            <a:off x="922858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8</a:t>
            </a:r>
          </a:p>
        </p:txBody>
      </p:sp>
      <p:sp>
        <p:nvSpPr>
          <p:cNvPr id="221" name="TextBox 220">
            <a:extLst>
              <a:ext uri="{FF2B5EF4-FFF2-40B4-BE49-F238E27FC236}">
                <a16:creationId xmlns:a16="http://schemas.microsoft.com/office/drawing/2014/main" id="{6D44F518-48B9-95D7-383B-C435952C5837}"/>
              </a:ext>
            </a:extLst>
          </p:cNvPr>
          <p:cNvSpPr txBox="1"/>
          <p:nvPr>
            <p:custDataLst>
              <p:tags r:id="rId29"/>
            </p:custDataLst>
          </p:nvPr>
        </p:nvSpPr>
        <p:spPr>
          <a:xfrm>
            <a:off x="962121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9</a:t>
            </a:r>
          </a:p>
        </p:txBody>
      </p:sp>
      <p:sp>
        <p:nvSpPr>
          <p:cNvPr id="223" name="TextBox 222">
            <a:extLst>
              <a:ext uri="{FF2B5EF4-FFF2-40B4-BE49-F238E27FC236}">
                <a16:creationId xmlns:a16="http://schemas.microsoft.com/office/drawing/2014/main" id="{F7636175-5947-173E-86BD-A3CEB4161535}"/>
              </a:ext>
            </a:extLst>
          </p:cNvPr>
          <p:cNvSpPr txBox="1"/>
          <p:nvPr>
            <p:custDataLst>
              <p:tags r:id="rId30"/>
            </p:custDataLst>
          </p:nvPr>
        </p:nvSpPr>
        <p:spPr>
          <a:xfrm>
            <a:off x="1001384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10</a:t>
            </a:r>
          </a:p>
        </p:txBody>
      </p:sp>
      <p:sp>
        <p:nvSpPr>
          <p:cNvPr id="224" name="TextBox 223">
            <a:extLst>
              <a:ext uri="{FF2B5EF4-FFF2-40B4-BE49-F238E27FC236}">
                <a16:creationId xmlns:a16="http://schemas.microsoft.com/office/drawing/2014/main" id="{35E86042-58EE-9CF8-46C4-F223B18A1262}"/>
              </a:ext>
            </a:extLst>
          </p:cNvPr>
          <p:cNvSpPr txBox="1"/>
          <p:nvPr>
            <p:custDataLst>
              <p:tags r:id="rId31"/>
            </p:custDataLst>
          </p:nvPr>
        </p:nvSpPr>
        <p:spPr>
          <a:xfrm>
            <a:off x="1040647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11</a:t>
            </a:r>
          </a:p>
        </p:txBody>
      </p:sp>
      <p:sp>
        <p:nvSpPr>
          <p:cNvPr id="225" name="TextBox 224">
            <a:extLst>
              <a:ext uri="{FF2B5EF4-FFF2-40B4-BE49-F238E27FC236}">
                <a16:creationId xmlns:a16="http://schemas.microsoft.com/office/drawing/2014/main" id="{6986B476-3D05-442E-339D-791E07D598D3}"/>
              </a:ext>
            </a:extLst>
          </p:cNvPr>
          <p:cNvSpPr txBox="1"/>
          <p:nvPr>
            <p:custDataLst>
              <p:tags r:id="rId32"/>
            </p:custDataLst>
          </p:nvPr>
        </p:nvSpPr>
        <p:spPr>
          <a:xfrm>
            <a:off x="10799107"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12</a:t>
            </a:r>
          </a:p>
        </p:txBody>
      </p:sp>
      <p:sp>
        <p:nvSpPr>
          <p:cNvPr id="226" name="TextBox 225">
            <a:extLst>
              <a:ext uri="{FF2B5EF4-FFF2-40B4-BE49-F238E27FC236}">
                <a16:creationId xmlns:a16="http://schemas.microsoft.com/office/drawing/2014/main" id="{65D3944E-5632-88D5-BA90-407FAFC94C52}"/>
              </a:ext>
            </a:extLst>
          </p:cNvPr>
          <p:cNvSpPr txBox="1"/>
          <p:nvPr>
            <p:custDataLst>
              <p:tags r:id="rId33"/>
            </p:custDataLst>
          </p:nvPr>
        </p:nvSpPr>
        <p:spPr>
          <a:xfrm>
            <a:off x="11191749" y="1767409"/>
            <a:ext cx="540000" cy="171422"/>
          </a:xfrm>
          <a:prstGeom prst="rect">
            <a:avLst/>
          </a:prstGeom>
          <a:solidFill>
            <a:sysClr val="window" lastClr="FFFFFF">
              <a:lumMod val="85000"/>
            </a:sysClr>
          </a:solidFill>
          <a:ln w="3175">
            <a:solidFill>
              <a:sysClr val="window" lastClr="FFFFFF"/>
            </a:solid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13</a:t>
            </a:r>
          </a:p>
        </p:txBody>
      </p:sp>
      <p:sp>
        <p:nvSpPr>
          <p:cNvPr id="228" name="TextBox 227">
            <a:extLst>
              <a:ext uri="{FF2B5EF4-FFF2-40B4-BE49-F238E27FC236}">
                <a16:creationId xmlns:a16="http://schemas.microsoft.com/office/drawing/2014/main" id="{7F4D9AE8-FEA5-9D7D-BAB6-0CF2A378B701}"/>
              </a:ext>
            </a:extLst>
          </p:cNvPr>
          <p:cNvSpPr txBox="1"/>
          <p:nvPr>
            <p:custDataLst>
              <p:tags r:id="rId34"/>
            </p:custDataLst>
          </p:nvPr>
        </p:nvSpPr>
        <p:spPr>
          <a:xfrm>
            <a:off x="7658067" y="1515409"/>
            <a:ext cx="2146333" cy="252000"/>
          </a:xfrm>
          <a:prstGeom prst="rect">
            <a:avLst/>
          </a:prstGeom>
          <a:solidFill>
            <a:srgbClr val="43B02A">
              <a:lumMod val="20000"/>
              <a:lumOff val="80000"/>
            </a:srgbClr>
          </a:solidFill>
          <a:ln w="3175">
            <a:no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Feb (KW  4 - 9)</a:t>
            </a:r>
          </a:p>
        </p:txBody>
      </p:sp>
      <p:sp>
        <p:nvSpPr>
          <p:cNvPr id="233" name="TextBox 232">
            <a:extLst>
              <a:ext uri="{FF2B5EF4-FFF2-40B4-BE49-F238E27FC236}">
                <a16:creationId xmlns:a16="http://schemas.microsoft.com/office/drawing/2014/main" id="{DA5518E4-20D2-76D2-2EA7-2F00D2933AD1}"/>
              </a:ext>
            </a:extLst>
          </p:cNvPr>
          <p:cNvSpPr txBox="1"/>
          <p:nvPr>
            <p:custDataLst>
              <p:tags r:id="rId35"/>
            </p:custDataLst>
          </p:nvPr>
        </p:nvSpPr>
        <p:spPr>
          <a:xfrm>
            <a:off x="9804399" y="1515409"/>
            <a:ext cx="1927345" cy="252000"/>
          </a:xfrm>
          <a:prstGeom prst="rect">
            <a:avLst/>
          </a:prstGeom>
          <a:solidFill>
            <a:srgbClr val="43B02A">
              <a:lumMod val="20000"/>
              <a:lumOff val="80000"/>
            </a:srgbClr>
          </a:solidFill>
          <a:ln w="3175">
            <a:noFill/>
          </a:ln>
        </p:spPr>
        <p:txBody>
          <a:bodyPr vert="horz" wrap="none" lIns="1588" tIns="1588" rIns="1588" bIns="1588" rtlCol="0" anchor="ctr" anchorCtr="1">
            <a:noAutofit/>
          </a:bodyPr>
          <a:lstStyle/>
          <a:p>
            <a:pPr marL="0" marR="0" lvl="0" indent="0" algn="ctr" defTabSz="4953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prstClr val="black"/>
                </a:solidFill>
                <a:effectLst/>
                <a:highlight>
                  <a:srgbClr val="FFFF00"/>
                </a:highlight>
                <a:uLnTx/>
                <a:uFillTx/>
                <a:latin typeface="Aptos" panose="02110004020202020204"/>
                <a:ea typeface="+mn-ea"/>
                <a:cs typeface="+mn-cs"/>
              </a:rPr>
              <a:t>Mar (KW  9 – 13 )</a:t>
            </a:r>
          </a:p>
        </p:txBody>
      </p:sp>
    </p:spTree>
    <p:extLst>
      <p:ext uri="{BB962C8B-B14F-4D97-AF65-F5344CB8AC3E}">
        <p14:creationId xmlns:p14="http://schemas.microsoft.com/office/powerpoint/2010/main" val="18238265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FDF7AA11-4DBA-D14F-0CB5-778179BFD4A3}"/>
              </a:ext>
            </a:extLst>
          </p:cNvPr>
          <p:cNvSpPr/>
          <p:nvPr/>
        </p:nvSpPr>
        <p:spPr bwMode="gray">
          <a:xfrm>
            <a:off x="457200" y="5040760"/>
            <a:ext cx="11277600" cy="1476000"/>
          </a:xfrm>
          <a:prstGeom prst="rect">
            <a:avLst/>
          </a:prstGeom>
          <a:gradFill>
            <a:gsLst>
              <a:gs pos="22000">
                <a:srgbClr val="19624A"/>
              </a:gs>
              <a:gs pos="64000">
                <a:srgbClr val="009A44"/>
              </a:gs>
            </a:gsLst>
            <a:lin ang="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de-DE"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0" name="Rectangle 75">
            <a:extLst>
              <a:ext uri="{FF2B5EF4-FFF2-40B4-BE49-F238E27FC236}">
                <a16:creationId xmlns:a16="http://schemas.microsoft.com/office/drawing/2014/main" id="{AE025737-D1B6-1A75-523C-CFA1DDCE2BF4}"/>
              </a:ext>
            </a:extLst>
          </p:cNvPr>
          <p:cNvSpPr/>
          <p:nvPr/>
        </p:nvSpPr>
        <p:spPr>
          <a:xfrm>
            <a:off x="600042" y="5133656"/>
            <a:ext cx="5392160" cy="277813"/>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Proposed Deloitte Deliverables &amp; Sign Offs</a:t>
            </a:r>
          </a:p>
        </p:txBody>
      </p:sp>
      <p:sp>
        <p:nvSpPr>
          <p:cNvPr id="16" name="Isosceles Triangle 81">
            <a:extLst>
              <a:ext uri="{FF2B5EF4-FFF2-40B4-BE49-F238E27FC236}">
                <a16:creationId xmlns:a16="http://schemas.microsoft.com/office/drawing/2014/main" id="{93459D6C-0B88-2C85-3CC8-A809F9189CEF}"/>
              </a:ext>
            </a:extLst>
          </p:cNvPr>
          <p:cNvSpPr/>
          <p:nvPr/>
        </p:nvSpPr>
        <p:spPr bwMode="gray">
          <a:xfrm flipV="1">
            <a:off x="609600" y="3035437"/>
            <a:ext cx="10972802" cy="1857140"/>
          </a:xfrm>
          <a:prstGeom prst="triangle">
            <a:avLst/>
          </a:prstGeom>
          <a:gradFill flip="none" rotWithShape="1">
            <a:gsLst>
              <a:gs pos="96262">
                <a:srgbClr val="009A44">
                  <a:alpha val="0"/>
                </a:srgbClr>
              </a:gs>
              <a:gs pos="0">
                <a:srgbClr val="19624A">
                  <a:alpha val="63000"/>
                </a:srgbClr>
              </a:gs>
              <a:gs pos="64000">
                <a:srgbClr val="009A44">
                  <a:alpha val="25000"/>
                </a:srgbClr>
              </a:gs>
            </a:gsLst>
            <a:lin ang="5400000" scaled="1"/>
            <a:tileRect/>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2" name="Rechteck 11">
            <a:extLst>
              <a:ext uri="{FF2B5EF4-FFF2-40B4-BE49-F238E27FC236}">
                <a16:creationId xmlns:a16="http://schemas.microsoft.com/office/drawing/2014/main" id="{35A33A8F-F4F1-FE83-8063-E1D755CCDCFD}"/>
              </a:ext>
            </a:extLst>
          </p:cNvPr>
          <p:cNvSpPr/>
          <p:nvPr/>
        </p:nvSpPr>
        <p:spPr bwMode="gray">
          <a:xfrm>
            <a:off x="6248400" y="1394463"/>
            <a:ext cx="5490576" cy="3024000"/>
          </a:xfrm>
          <a:prstGeom prst="rect">
            <a:avLst/>
          </a:prstGeom>
          <a:gradFill>
            <a:gsLst>
              <a:gs pos="22000">
                <a:srgbClr val="19624A"/>
              </a:gs>
              <a:gs pos="64000">
                <a:srgbClr val="009A44"/>
              </a:gs>
            </a:gsLst>
            <a:lin ang="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de-DE"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3" name="Rectangle 75">
            <a:extLst>
              <a:ext uri="{FF2B5EF4-FFF2-40B4-BE49-F238E27FC236}">
                <a16:creationId xmlns:a16="http://schemas.microsoft.com/office/drawing/2014/main" id="{6C959BC0-38A4-C3B3-455A-233D7AC31F77}"/>
              </a:ext>
            </a:extLst>
          </p:cNvPr>
          <p:cNvSpPr/>
          <p:nvPr/>
        </p:nvSpPr>
        <p:spPr>
          <a:xfrm>
            <a:off x="6391242" y="1487359"/>
            <a:ext cx="3910342" cy="326568"/>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Key Challenges</a:t>
            </a:r>
          </a:p>
        </p:txBody>
      </p:sp>
      <p:graphicFrame>
        <p:nvGraphicFramePr>
          <p:cNvPr id="7" name="think-cell data - do not delete" hidden="1">
            <a:extLst>
              <a:ext uri="{FF2B5EF4-FFF2-40B4-BE49-F238E27FC236}">
                <a16:creationId xmlns:a16="http://schemas.microsoft.com/office/drawing/2014/main" id="{981132FA-E3FD-0CBF-A395-58D33E7297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7" name="think-cell data - do not delete" hidden="1">
                        <a:extLst>
                          <a:ext uri="{FF2B5EF4-FFF2-40B4-BE49-F238E27FC236}">
                            <a16:creationId xmlns:a16="http://schemas.microsoft.com/office/drawing/2014/main" id="{981132FA-E3FD-0CBF-A395-58D33E7297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4" name="Rectangle 83">
            <a:extLst>
              <a:ext uri="{FF2B5EF4-FFF2-40B4-BE49-F238E27FC236}">
                <a16:creationId xmlns:a16="http://schemas.microsoft.com/office/drawing/2014/main" id="{0B3B89A7-6F26-E90D-F789-D950334E0C1B}"/>
              </a:ext>
            </a:extLst>
          </p:cNvPr>
          <p:cNvSpPr/>
          <p:nvPr/>
        </p:nvSpPr>
        <p:spPr>
          <a:xfrm>
            <a:off x="600042" y="5551619"/>
            <a:ext cx="11003646" cy="82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72000" rtlCol="0" anchor="t" anchorCtr="0"/>
          <a:lstStyle/>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Comprehensive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impact and scope assessment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covering affected activities (please see exemplary slides 11 and 12 for more details).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Initial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accounting assessment</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and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position paper</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including preliminary conclusions on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PPE–RAB relationships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High-level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overview of impacted systems and identified implementation risks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(e.g. in tabular form).</a:t>
            </a:r>
            <a:endParaRPr kumimoji="0" lang="de-DE" sz="1200" b="0" i="0" u="none" strike="noStrike" kern="1200" cap="none" spc="0" normalizeH="0" baseline="0" noProof="0">
              <a:ln>
                <a:noFill/>
              </a:ln>
              <a:solidFill>
                <a:prstClr val="black"/>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3" name="Rectangle 82">
            <a:extLst>
              <a:ext uri="{FF2B5EF4-FFF2-40B4-BE49-F238E27FC236}">
                <a16:creationId xmlns:a16="http://schemas.microsoft.com/office/drawing/2014/main" id="{CC1EDB40-79F3-3840-8B20-F5B11AB5AE47}"/>
              </a:ext>
            </a:extLst>
          </p:cNvPr>
          <p:cNvSpPr/>
          <p:nvPr/>
        </p:nvSpPr>
        <p:spPr>
          <a:xfrm>
            <a:off x="6383688" y="1905323"/>
            <a:ext cx="5220000" cy="23649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72000" rtlCol="0" anchor="t" anchorCtr="0"/>
          <a:lstStyle/>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High complexity driven by hete</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rogeneous regulatory frameworks and country-specific regulations. </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Fragmented and locally customized system landscapes, making a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consistent impact assessment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and comparability across entities challenging.</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Identification</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and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alignment</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of dependent E.ON Group projects requiring adaptation due to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IFRS 20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(e.g. OPRES).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 name="Titel 2">
            <a:extLst>
              <a:ext uri="{FF2B5EF4-FFF2-40B4-BE49-F238E27FC236}">
                <a16:creationId xmlns:a16="http://schemas.microsoft.com/office/drawing/2014/main" id="{079C7BF5-167A-11E2-9758-B2F8B666DF46}"/>
              </a:ext>
            </a:extLst>
          </p:cNvPr>
          <p:cNvSpPr>
            <a:spLocks noGrp="1"/>
          </p:cNvSpPr>
          <p:nvPr>
            <p:ph type="title"/>
          </p:nvPr>
        </p:nvSpPr>
        <p:spPr/>
        <p:txBody>
          <a:bodyPr/>
          <a:lstStyle/>
          <a:p>
            <a:r>
              <a:rPr lang="de-DE"/>
              <a:t>Impact Analysis | Details</a:t>
            </a:r>
          </a:p>
        </p:txBody>
      </p:sp>
      <p:sp>
        <p:nvSpPr>
          <p:cNvPr id="4" name="Textplatzhalter 3">
            <a:extLst>
              <a:ext uri="{FF2B5EF4-FFF2-40B4-BE49-F238E27FC236}">
                <a16:creationId xmlns:a16="http://schemas.microsoft.com/office/drawing/2014/main" id="{1BD5BE35-2EE5-4520-0693-45D3ABE1ED48}"/>
              </a:ext>
            </a:extLst>
          </p:cNvPr>
          <p:cNvSpPr>
            <a:spLocks noGrp="1"/>
          </p:cNvSpPr>
          <p:nvPr>
            <p:ph type="body" sz="quarter" idx="10"/>
          </p:nvPr>
        </p:nvSpPr>
        <p:spPr>
          <a:xfrm>
            <a:off x="463295" y="634917"/>
            <a:ext cx="6114486" cy="277813"/>
          </a:xfrm>
        </p:spPr>
        <p:txBody>
          <a:bodyPr/>
          <a:lstStyle/>
          <a:p>
            <a:r>
              <a:rPr lang="en-US"/>
              <a:t>We provide transparency on accounting and system implications to define a clear and robust project scope</a:t>
            </a:r>
          </a:p>
        </p:txBody>
      </p:sp>
      <p:sp>
        <p:nvSpPr>
          <p:cNvPr id="8" name="Rechteck 7">
            <a:extLst>
              <a:ext uri="{FF2B5EF4-FFF2-40B4-BE49-F238E27FC236}">
                <a16:creationId xmlns:a16="http://schemas.microsoft.com/office/drawing/2014/main" id="{06269FEF-1621-9E28-40CE-CF3FE10F748B}"/>
              </a:ext>
            </a:extLst>
          </p:cNvPr>
          <p:cNvSpPr/>
          <p:nvPr/>
        </p:nvSpPr>
        <p:spPr bwMode="gray">
          <a:xfrm>
            <a:off x="457200" y="1394463"/>
            <a:ext cx="5490576" cy="3024000"/>
          </a:xfrm>
          <a:prstGeom prst="rect">
            <a:avLst/>
          </a:prstGeom>
          <a:gradFill>
            <a:gsLst>
              <a:gs pos="22000">
                <a:srgbClr val="19624A"/>
              </a:gs>
              <a:gs pos="64000">
                <a:srgbClr val="009A44"/>
              </a:gs>
            </a:gsLst>
            <a:lin ang="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de-DE"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9" name="Rectangle 45">
            <a:extLst>
              <a:ext uri="{FF2B5EF4-FFF2-40B4-BE49-F238E27FC236}">
                <a16:creationId xmlns:a16="http://schemas.microsoft.com/office/drawing/2014/main" id="{A94EF4F1-6F8B-58DB-2AA1-B0DF036AF54F}"/>
              </a:ext>
            </a:extLst>
          </p:cNvPr>
          <p:cNvSpPr/>
          <p:nvPr/>
        </p:nvSpPr>
        <p:spPr>
          <a:xfrm>
            <a:off x="600042" y="1905322"/>
            <a:ext cx="5220000" cy="23649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72000" rtlCol="0" anchor="t" anchorCtr="0"/>
          <a:lstStyle/>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Identify all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affected business activities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across countries taking into account the complexity of the group structure and regulatory regimes.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Perform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country-based workshops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including an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initial assessment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of how IFRS 20 impacts and conclude a preliminary evaluation of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direct and indirect relationships between PPE and RAB.</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Analyze high-level impacts on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finance, regulatory (e.g. ETS) and reporting systems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including consolidation solution (e.g. Tagetik), asset management systems and local general ledger environments (e.g. SAP FI/ IFRS).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Define clear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assumptions, dependencies and milestones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to pave the way for the detailed analysis phase.</a:t>
            </a:r>
          </a:p>
        </p:txBody>
      </p:sp>
      <p:sp>
        <p:nvSpPr>
          <p:cNvPr id="76" name="Rectangle 75">
            <a:extLst>
              <a:ext uri="{FF2B5EF4-FFF2-40B4-BE49-F238E27FC236}">
                <a16:creationId xmlns:a16="http://schemas.microsoft.com/office/drawing/2014/main" id="{5FD4710E-BB78-6C72-21A8-B8B1F28D0F16}"/>
              </a:ext>
            </a:extLst>
          </p:cNvPr>
          <p:cNvSpPr/>
          <p:nvPr/>
        </p:nvSpPr>
        <p:spPr>
          <a:xfrm>
            <a:off x="600042" y="1487359"/>
            <a:ext cx="5392160" cy="277813"/>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Deloitte activities</a:t>
            </a:r>
          </a:p>
        </p:txBody>
      </p:sp>
      <p:cxnSp>
        <p:nvCxnSpPr>
          <p:cNvPr id="2" name="Gerader Verbinder 1">
            <a:extLst>
              <a:ext uri="{FF2B5EF4-FFF2-40B4-BE49-F238E27FC236}">
                <a16:creationId xmlns:a16="http://schemas.microsoft.com/office/drawing/2014/main" id="{4A3679FB-C08E-7D70-650A-42BCA450F831}"/>
              </a:ext>
            </a:extLst>
          </p:cNvPr>
          <p:cNvCxnSpPr>
            <a:cxnSpLocks/>
          </p:cNvCxnSpPr>
          <p:nvPr/>
        </p:nvCxnSpPr>
        <p:spPr>
          <a:xfrm>
            <a:off x="-1" y="1286334"/>
            <a:ext cx="11740895"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grpSp>
        <p:nvGrpSpPr>
          <p:cNvPr id="14" name="Gruppieren 13">
            <a:extLst>
              <a:ext uri="{FF2B5EF4-FFF2-40B4-BE49-F238E27FC236}">
                <a16:creationId xmlns:a16="http://schemas.microsoft.com/office/drawing/2014/main" id="{DBB52EDE-13E7-C6EC-06C0-36549F61F3C0}"/>
              </a:ext>
            </a:extLst>
          </p:cNvPr>
          <p:cNvGrpSpPr/>
          <p:nvPr/>
        </p:nvGrpSpPr>
        <p:grpSpPr>
          <a:xfrm>
            <a:off x="10109200" y="342900"/>
            <a:ext cx="1631694" cy="239303"/>
            <a:chOff x="10109200" y="342900"/>
            <a:chExt cx="1631694" cy="239303"/>
          </a:xfrm>
        </p:grpSpPr>
        <p:sp>
          <p:nvSpPr>
            <p:cNvPr id="5" name="TextBox 3">
              <a:extLst>
                <a:ext uri="{FF2B5EF4-FFF2-40B4-BE49-F238E27FC236}">
                  <a16:creationId xmlns:a16="http://schemas.microsoft.com/office/drawing/2014/main" id="{8F527C89-DED4-9FCA-1D1B-5DB21C1F9FC7}"/>
                </a:ext>
              </a:extLst>
            </p:cNvPr>
            <p:cNvSpPr txBox="1"/>
            <p:nvPr/>
          </p:nvSpPr>
          <p:spPr>
            <a:xfrm>
              <a:off x="11479624" y="438203"/>
              <a:ext cx="26127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noProof="0" smtClean="0">
                  <a:ln>
                    <a:noFill/>
                  </a:ln>
                  <a:solidFill>
                    <a:srgbClr val="97999B"/>
                  </a:solidFill>
                  <a:effectLst/>
                  <a:uLnTx/>
                  <a:uFillTx/>
                  <a:latin typeface="Aptos" panose="02110004020202020204"/>
                  <a:ea typeface="+mn-ea"/>
                  <a:cs typeface="Calibri" panose="020F0502020204030204" pitchFamily="34" charset="0"/>
                </a:rPr>
                <a:pPr marL="0" marR="0" lvl="0" indent="0" algn="l" defTabSz="914400" rtl="0" eaLnBrk="1" fontAlgn="auto" latinLnBrk="0" hangingPunct="1">
                  <a:lnSpc>
                    <a:spcPct val="100000"/>
                  </a:lnSpc>
                  <a:spcBef>
                    <a:spcPts val="450"/>
                  </a:spcBef>
                  <a:spcAft>
                    <a:spcPts val="0"/>
                  </a:spcAft>
                  <a:buClrTx/>
                  <a:buSzPct val="100000"/>
                  <a:buFont typeface="Arial"/>
                  <a:buNone/>
                  <a:tabLst/>
                  <a:defRPr/>
                </a:pPr>
                <a:t>8</a:t>
              </a:fld>
              <a:endParaRPr kumimoji="0" lang="de-DE" sz="900" b="0" i="0" u="none" strike="noStrike" kern="1200" cap="none" spc="0" normalizeH="0" baseline="0" noProof="0">
                <a:ln>
                  <a:noFill/>
                </a:ln>
                <a:solidFill>
                  <a:srgbClr val="97999B"/>
                </a:solidFill>
                <a:effectLst/>
                <a:uLnTx/>
                <a:uFillTx/>
                <a:latin typeface="Aptos" panose="02110004020202020204"/>
                <a:ea typeface="+mn-ea"/>
                <a:cs typeface="Calibri" panose="020F0502020204030204" pitchFamily="34" charset="0"/>
              </a:endParaRPr>
            </a:p>
          </p:txBody>
        </p:sp>
        <p:sp>
          <p:nvSpPr>
            <p:cNvPr id="6" name="TextBox 3">
              <a:extLst>
                <a:ext uri="{FF2B5EF4-FFF2-40B4-BE49-F238E27FC236}">
                  <a16:creationId xmlns:a16="http://schemas.microsoft.com/office/drawing/2014/main" id="{E8CDA4E3-A043-48A6-7FBC-0683197CE58C}"/>
                </a:ext>
              </a:extLst>
            </p:cNvPr>
            <p:cNvSpPr txBox="1"/>
            <p:nvPr/>
          </p:nvSpPr>
          <p:spPr>
            <a:xfrm>
              <a:off x="10135650" y="438203"/>
              <a:ext cx="113030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r>
                <a:rPr kumimoji="0" lang="de-DE" sz="900" b="0" i="0" u="none" strike="noStrike" kern="1200" cap="none" spc="0" normalizeH="0" baseline="0" noProof="0">
                  <a:ln>
                    <a:noFill/>
                  </a:ln>
                  <a:solidFill>
                    <a:srgbClr val="97999B"/>
                  </a:solidFill>
                  <a:effectLst/>
                  <a:uLnTx/>
                  <a:uFillTx/>
                  <a:latin typeface="Aptos" panose="02110004020202020204"/>
                  <a:ea typeface="+mn-ea"/>
                  <a:cs typeface="Calibri" panose="020F0502020204030204" pitchFamily="34" charset="0"/>
                </a:rPr>
                <a:t>Deloitte </a:t>
              </a:r>
              <a:r>
                <a:rPr kumimoji="0" lang="de-DE" sz="900" b="0" i="0" u="none" strike="noStrike" kern="1200" cap="none" spc="0" normalizeH="0" baseline="0" noProof="0" err="1">
                  <a:ln>
                    <a:noFill/>
                  </a:ln>
                  <a:solidFill>
                    <a:srgbClr val="97999B"/>
                  </a:solidFill>
                  <a:effectLst/>
                  <a:uLnTx/>
                  <a:uFillTx/>
                  <a:latin typeface="Aptos" panose="02110004020202020204"/>
                  <a:ea typeface="+mn-ea"/>
                  <a:cs typeface="Calibri" panose="020F0502020204030204" pitchFamily="34" charset="0"/>
                </a:rPr>
                <a:t>for</a:t>
              </a:r>
              <a:r>
                <a:rPr kumimoji="0" lang="de-DE" sz="900" b="0" i="0" u="none" strike="noStrike" kern="1200" cap="none" spc="0" normalizeH="0" baseline="0" noProof="0">
                  <a:ln>
                    <a:noFill/>
                  </a:ln>
                  <a:solidFill>
                    <a:srgbClr val="97999B"/>
                  </a:solidFill>
                  <a:effectLst/>
                  <a:uLnTx/>
                  <a:uFillTx/>
                  <a:latin typeface="Aptos" panose="02110004020202020204"/>
                  <a:ea typeface="+mn-ea"/>
                  <a:cs typeface="Calibri" panose="020F0502020204030204" pitchFamily="34" charset="0"/>
                </a:rPr>
                <a:t> E.ON</a:t>
              </a:r>
            </a:p>
          </p:txBody>
        </p:sp>
        <p:cxnSp>
          <p:nvCxnSpPr>
            <p:cNvPr id="10" name="Gerader Verbinder 9">
              <a:extLst>
                <a:ext uri="{FF2B5EF4-FFF2-40B4-BE49-F238E27FC236}">
                  <a16:creationId xmlns:a16="http://schemas.microsoft.com/office/drawing/2014/main" id="{F1B0BF2F-2F9B-5141-5022-15E143D37E44}"/>
                </a:ext>
              </a:extLst>
            </p:cNvPr>
            <p:cNvCxnSpPr>
              <a:cxnSpLocks/>
            </p:cNvCxnSpPr>
            <p:nvPr/>
          </p:nvCxnSpPr>
          <p:spPr>
            <a:xfrm>
              <a:off x="10109200" y="342900"/>
              <a:ext cx="1631694" cy="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42981929-4AB9-653A-5710-F15DF1B1743D}"/>
                </a:ext>
              </a:extLst>
            </p:cNvPr>
            <p:cNvCxnSpPr>
              <a:cxnSpLocks/>
            </p:cNvCxnSpPr>
            <p:nvPr/>
          </p:nvCxnSpPr>
          <p:spPr>
            <a:xfrm>
              <a:off x="11378408" y="438203"/>
              <a:ext cx="0" cy="14400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859596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E97D2F2-613F-E072-5279-21FD100E1AB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349CC77-9037-967C-6283-B8B90A9B67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7" name="think-cell data - do not delete" hidden="1">
                        <a:extLst>
                          <a:ext uri="{FF2B5EF4-FFF2-40B4-BE49-F238E27FC236}">
                            <a16:creationId xmlns:a16="http://schemas.microsoft.com/office/drawing/2014/main" id="{5349CC77-9037-967C-6283-B8B90A9B672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8BD98896-1A50-9ED1-EF67-C78CD1562C91}"/>
              </a:ext>
            </a:extLst>
          </p:cNvPr>
          <p:cNvSpPr>
            <a:spLocks noGrp="1"/>
          </p:cNvSpPr>
          <p:nvPr>
            <p:ph type="title"/>
          </p:nvPr>
        </p:nvSpPr>
        <p:spPr/>
        <p:txBody>
          <a:bodyPr/>
          <a:lstStyle/>
          <a:p>
            <a:r>
              <a:rPr lang="de-DE"/>
              <a:t>Organizational </a:t>
            </a:r>
            <a:r>
              <a:rPr lang="de-DE" err="1"/>
              <a:t>Structure</a:t>
            </a:r>
            <a:r>
              <a:rPr lang="de-DE"/>
              <a:t> | Details</a:t>
            </a:r>
          </a:p>
        </p:txBody>
      </p:sp>
      <p:sp>
        <p:nvSpPr>
          <p:cNvPr id="4" name="Textplatzhalter 3">
            <a:extLst>
              <a:ext uri="{FF2B5EF4-FFF2-40B4-BE49-F238E27FC236}">
                <a16:creationId xmlns:a16="http://schemas.microsoft.com/office/drawing/2014/main" id="{A70CFEE6-A98D-46E2-8F0D-7BCB5D89953B}"/>
              </a:ext>
            </a:extLst>
          </p:cNvPr>
          <p:cNvSpPr>
            <a:spLocks noGrp="1"/>
          </p:cNvSpPr>
          <p:nvPr>
            <p:ph type="body" sz="quarter" idx="10"/>
          </p:nvPr>
        </p:nvSpPr>
        <p:spPr/>
        <p:txBody>
          <a:bodyPr/>
          <a:lstStyle/>
          <a:p>
            <a:r>
              <a:rPr lang="en-US"/>
              <a:t>We establish a robust governance and alignment model to ensure effective</a:t>
            </a:r>
            <a:br>
              <a:rPr lang="en-US"/>
            </a:br>
            <a:r>
              <a:rPr lang="en-US"/>
              <a:t>cross-functional collaboration and a coordinated group-wide IFRS 20 implementation</a:t>
            </a:r>
          </a:p>
        </p:txBody>
      </p:sp>
      <p:cxnSp>
        <p:nvCxnSpPr>
          <p:cNvPr id="6" name="Gerader Verbinder 5">
            <a:extLst>
              <a:ext uri="{FF2B5EF4-FFF2-40B4-BE49-F238E27FC236}">
                <a16:creationId xmlns:a16="http://schemas.microsoft.com/office/drawing/2014/main" id="{0B3232C5-314B-921D-7028-CF7EFF49E0F0}"/>
              </a:ext>
            </a:extLst>
          </p:cNvPr>
          <p:cNvCxnSpPr>
            <a:cxnSpLocks/>
          </p:cNvCxnSpPr>
          <p:nvPr/>
        </p:nvCxnSpPr>
        <p:spPr>
          <a:xfrm>
            <a:off x="-1" y="1286334"/>
            <a:ext cx="11740895" cy="0"/>
          </a:xfrm>
          <a:prstGeom prst="line">
            <a:avLst/>
          </a:prstGeom>
          <a:ln>
            <a:solidFill>
              <a:srgbClr val="009A44"/>
            </a:solidFill>
          </a:ln>
        </p:spPr>
        <p:style>
          <a:lnRef idx="1">
            <a:schemeClr val="accent1"/>
          </a:lnRef>
          <a:fillRef idx="0">
            <a:schemeClr val="accent1"/>
          </a:fillRef>
          <a:effectRef idx="0">
            <a:schemeClr val="accent1"/>
          </a:effectRef>
          <a:fontRef idx="minor">
            <a:schemeClr val="tx1"/>
          </a:fontRef>
        </p:style>
      </p:cxnSp>
      <p:sp>
        <p:nvSpPr>
          <p:cNvPr id="8" name="Rechteck 7">
            <a:extLst>
              <a:ext uri="{FF2B5EF4-FFF2-40B4-BE49-F238E27FC236}">
                <a16:creationId xmlns:a16="http://schemas.microsoft.com/office/drawing/2014/main" id="{37A784BA-424C-ACDE-606D-40F5FA02D79E}"/>
              </a:ext>
            </a:extLst>
          </p:cNvPr>
          <p:cNvSpPr/>
          <p:nvPr/>
        </p:nvSpPr>
        <p:spPr bwMode="gray">
          <a:xfrm>
            <a:off x="457200" y="5040760"/>
            <a:ext cx="11277600" cy="1476000"/>
          </a:xfrm>
          <a:prstGeom prst="rect">
            <a:avLst/>
          </a:prstGeom>
          <a:gradFill>
            <a:gsLst>
              <a:gs pos="22000">
                <a:srgbClr val="19624A"/>
              </a:gs>
              <a:gs pos="64000">
                <a:srgbClr val="009A44"/>
              </a:gs>
            </a:gsLst>
            <a:lin ang="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de-DE"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9" name="Rectangle 75">
            <a:extLst>
              <a:ext uri="{FF2B5EF4-FFF2-40B4-BE49-F238E27FC236}">
                <a16:creationId xmlns:a16="http://schemas.microsoft.com/office/drawing/2014/main" id="{2A352B71-70C1-3A86-8D9A-5FB993EF13EF}"/>
              </a:ext>
            </a:extLst>
          </p:cNvPr>
          <p:cNvSpPr/>
          <p:nvPr/>
        </p:nvSpPr>
        <p:spPr>
          <a:xfrm>
            <a:off x="600042" y="5133656"/>
            <a:ext cx="5392160" cy="277813"/>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Proposed Deloitte Deliverables &amp; Sign Offs</a:t>
            </a:r>
          </a:p>
        </p:txBody>
      </p:sp>
      <p:sp>
        <p:nvSpPr>
          <p:cNvPr id="10" name="Isosceles Triangle 81">
            <a:extLst>
              <a:ext uri="{FF2B5EF4-FFF2-40B4-BE49-F238E27FC236}">
                <a16:creationId xmlns:a16="http://schemas.microsoft.com/office/drawing/2014/main" id="{31AFD2CA-A0B4-75FC-731A-9A968CF04883}"/>
              </a:ext>
            </a:extLst>
          </p:cNvPr>
          <p:cNvSpPr/>
          <p:nvPr/>
        </p:nvSpPr>
        <p:spPr bwMode="gray">
          <a:xfrm flipV="1">
            <a:off x="609600" y="3035437"/>
            <a:ext cx="10972802" cy="1857140"/>
          </a:xfrm>
          <a:prstGeom prst="triangle">
            <a:avLst/>
          </a:prstGeom>
          <a:gradFill flip="none" rotWithShape="1">
            <a:gsLst>
              <a:gs pos="96262">
                <a:srgbClr val="009A44">
                  <a:alpha val="0"/>
                </a:srgbClr>
              </a:gs>
              <a:gs pos="0">
                <a:srgbClr val="19624A">
                  <a:alpha val="63000"/>
                </a:srgbClr>
              </a:gs>
              <a:gs pos="64000">
                <a:srgbClr val="009A44">
                  <a:alpha val="25000"/>
                </a:srgbClr>
              </a:gs>
            </a:gsLst>
            <a:lin ang="5400000" scaled="1"/>
            <a:tileRect/>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2" name="Rechteck 11">
            <a:extLst>
              <a:ext uri="{FF2B5EF4-FFF2-40B4-BE49-F238E27FC236}">
                <a16:creationId xmlns:a16="http://schemas.microsoft.com/office/drawing/2014/main" id="{12295083-4907-FC96-A324-E96D6F312273}"/>
              </a:ext>
            </a:extLst>
          </p:cNvPr>
          <p:cNvSpPr/>
          <p:nvPr/>
        </p:nvSpPr>
        <p:spPr bwMode="gray">
          <a:xfrm>
            <a:off x="6248400" y="1394463"/>
            <a:ext cx="5490576" cy="3024000"/>
          </a:xfrm>
          <a:prstGeom prst="rect">
            <a:avLst/>
          </a:prstGeom>
          <a:gradFill>
            <a:gsLst>
              <a:gs pos="22000">
                <a:srgbClr val="19624A"/>
              </a:gs>
              <a:gs pos="64000">
                <a:srgbClr val="009A44"/>
              </a:gs>
            </a:gsLst>
            <a:lin ang="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de-DE"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3" name="Rectangle 75">
            <a:extLst>
              <a:ext uri="{FF2B5EF4-FFF2-40B4-BE49-F238E27FC236}">
                <a16:creationId xmlns:a16="http://schemas.microsoft.com/office/drawing/2014/main" id="{E4DB81B7-4329-414B-123E-72676AF5906C}"/>
              </a:ext>
            </a:extLst>
          </p:cNvPr>
          <p:cNvSpPr/>
          <p:nvPr/>
        </p:nvSpPr>
        <p:spPr>
          <a:xfrm>
            <a:off x="6391242" y="1487359"/>
            <a:ext cx="3910342" cy="326568"/>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Challenges</a:t>
            </a:r>
          </a:p>
        </p:txBody>
      </p:sp>
      <p:sp>
        <p:nvSpPr>
          <p:cNvPr id="15" name="Rectangle 83">
            <a:extLst>
              <a:ext uri="{FF2B5EF4-FFF2-40B4-BE49-F238E27FC236}">
                <a16:creationId xmlns:a16="http://schemas.microsoft.com/office/drawing/2014/main" id="{87592818-AD0E-09EA-79EB-E8DCBE532EFF}"/>
              </a:ext>
            </a:extLst>
          </p:cNvPr>
          <p:cNvSpPr/>
          <p:nvPr/>
        </p:nvSpPr>
        <p:spPr>
          <a:xfrm>
            <a:off x="600042" y="5551619"/>
            <a:ext cx="11003646" cy="82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72000" rtlCol="0" anchor="t" anchorCtr="0"/>
          <a:lstStyle/>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Defined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project governance and operating model</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incl. workstream structure and responsibilities.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Roles and responsibilities matrix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for key accounting, regulatory and cross-functional stakeholders.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Aligned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roadmap and coordination framework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to guide subsequent phases as well as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documentation of critical areas of IFRS 20.</a:t>
            </a:r>
          </a:p>
        </p:txBody>
      </p:sp>
      <p:sp>
        <p:nvSpPr>
          <p:cNvPr id="16" name="Rectangle 82">
            <a:extLst>
              <a:ext uri="{FF2B5EF4-FFF2-40B4-BE49-F238E27FC236}">
                <a16:creationId xmlns:a16="http://schemas.microsoft.com/office/drawing/2014/main" id="{6A522861-EE2A-3FA7-9A96-BFE26DB0A4E7}"/>
              </a:ext>
            </a:extLst>
          </p:cNvPr>
          <p:cNvSpPr/>
          <p:nvPr/>
        </p:nvSpPr>
        <p:spPr>
          <a:xfrm>
            <a:off x="6383688" y="1905323"/>
            <a:ext cx="5220000" cy="23649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72000" rtlCol="0" anchor="t" anchorCtr="0"/>
          <a:lstStyle/>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Coordination of multiple stakeholders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with different functional perspectives, priorities and regulatory backgrounds.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Risk of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unclear responsibilities and overlapping ownership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between accounting, regulatory and IT functions.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Ensuring consistent alignment and decision-making across countries with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differing regulatory frameworks and maturity levels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Maintaining momentum and commitment across the Group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while transitioning from analysis to execution.</a:t>
            </a:r>
          </a:p>
        </p:txBody>
      </p:sp>
      <p:sp>
        <p:nvSpPr>
          <p:cNvPr id="18" name="Rechteck 17">
            <a:extLst>
              <a:ext uri="{FF2B5EF4-FFF2-40B4-BE49-F238E27FC236}">
                <a16:creationId xmlns:a16="http://schemas.microsoft.com/office/drawing/2014/main" id="{F12D8BC9-8FF0-22D1-22E3-5B6E41727708}"/>
              </a:ext>
            </a:extLst>
          </p:cNvPr>
          <p:cNvSpPr/>
          <p:nvPr/>
        </p:nvSpPr>
        <p:spPr bwMode="gray">
          <a:xfrm>
            <a:off x="457200" y="1394463"/>
            <a:ext cx="5490576" cy="3024000"/>
          </a:xfrm>
          <a:prstGeom prst="rect">
            <a:avLst/>
          </a:prstGeom>
          <a:gradFill>
            <a:gsLst>
              <a:gs pos="22000">
                <a:srgbClr val="19624A"/>
              </a:gs>
              <a:gs pos="64000">
                <a:srgbClr val="009A44"/>
              </a:gs>
            </a:gsLst>
            <a:lin ang="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de-DE" sz="1600" b="1"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 name="Rectangle 45">
            <a:extLst>
              <a:ext uri="{FF2B5EF4-FFF2-40B4-BE49-F238E27FC236}">
                <a16:creationId xmlns:a16="http://schemas.microsoft.com/office/drawing/2014/main" id="{4C5A1FE6-CF39-6CA9-BB93-E08A0076A5F0}"/>
              </a:ext>
            </a:extLst>
          </p:cNvPr>
          <p:cNvSpPr/>
          <p:nvPr/>
        </p:nvSpPr>
        <p:spPr>
          <a:xfrm>
            <a:off x="600042" y="1905322"/>
            <a:ext cx="5220000" cy="23649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72000" rtlCol="0" anchor="t" anchorCtr="0"/>
          <a:lstStyle/>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Design and set up the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overall project governance</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including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steering bodies, workstreams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 and clear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decision-making structures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Define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roles and responsibilities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for all workstreams and the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interaction between IFRS accounting, regulatory experts and IT functions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Establish effective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collaboration and communication mechanisms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to ensure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consistent coordination across countries.</a:t>
            </a:r>
          </a:p>
          <a:p>
            <a:pPr marL="171450" marR="0" lvl="0" indent="-17145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Develop a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high-level roadmap and alignment approach </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to steer subsequent </a:t>
            </a:r>
            <a:r>
              <a:rPr kumimoji="0" lang="en-US" sz="1200" b="1" i="0" u="none" strike="noStrike" kern="1200" cap="none" spc="0" normalizeH="0" baseline="0" noProof="0">
                <a:ln>
                  <a:noFill/>
                </a:ln>
                <a:solidFill>
                  <a:prstClr val="black"/>
                </a:solidFill>
                <a:effectLst/>
                <a:uLnTx/>
                <a:uFillTx/>
                <a:latin typeface="Aptos" panose="02110004020202020204"/>
                <a:ea typeface="+mn-ea"/>
                <a:cs typeface="+mn-cs"/>
              </a:rPr>
              <a:t>solution design and implementation activities</a:t>
            </a:r>
            <a:r>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t>.</a:t>
            </a:r>
          </a:p>
        </p:txBody>
      </p:sp>
      <p:sp>
        <p:nvSpPr>
          <p:cNvPr id="20" name="Rectangle 75">
            <a:extLst>
              <a:ext uri="{FF2B5EF4-FFF2-40B4-BE49-F238E27FC236}">
                <a16:creationId xmlns:a16="http://schemas.microsoft.com/office/drawing/2014/main" id="{79EE4EBF-8751-D5E7-D3A3-B66BDB1ADFBF}"/>
              </a:ext>
            </a:extLst>
          </p:cNvPr>
          <p:cNvSpPr/>
          <p:nvPr/>
        </p:nvSpPr>
        <p:spPr>
          <a:xfrm>
            <a:off x="600042" y="1487359"/>
            <a:ext cx="5392160" cy="277813"/>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Aptos" panose="02110004020202020204"/>
                <a:ea typeface="+mn-ea"/>
                <a:cs typeface="+mn-cs"/>
              </a:rPr>
              <a:t>Deloitte activities</a:t>
            </a:r>
          </a:p>
        </p:txBody>
      </p:sp>
      <p:sp>
        <p:nvSpPr>
          <p:cNvPr id="21" name="TextBox 3">
            <a:extLst>
              <a:ext uri="{FF2B5EF4-FFF2-40B4-BE49-F238E27FC236}">
                <a16:creationId xmlns:a16="http://schemas.microsoft.com/office/drawing/2014/main" id="{032E302A-7675-65BA-1070-3EF9AB313714}"/>
              </a:ext>
            </a:extLst>
          </p:cNvPr>
          <p:cNvSpPr txBox="1"/>
          <p:nvPr/>
        </p:nvSpPr>
        <p:spPr>
          <a:xfrm>
            <a:off x="11426826" y="6519673"/>
            <a:ext cx="307975"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noProof="0" smtClean="0">
                <a:ln>
                  <a:noFill/>
                </a:ln>
                <a:solidFill>
                  <a:prstClr val="black"/>
                </a:solidFill>
                <a:effectLst/>
                <a:uLnTx/>
                <a:uFillTx/>
                <a:latin typeface="Calibri" panose="020F0502020204030204" pitchFamily="34" charset="0"/>
                <a:ea typeface="+mn-ea"/>
                <a:cs typeface="Calibri" panose="020F0502020204030204" pitchFamily="34" charset="0"/>
              </a:rPr>
              <a:pPr marL="0" marR="0" lvl="0" indent="0" algn="r" defTabSz="914400" rtl="0" eaLnBrk="1" fontAlgn="auto" latinLnBrk="0" hangingPunct="1">
                <a:lnSpc>
                  <a:spcPct val="100000"/>
                </a:lnSpc>
                <a:spcBef>
                  <a:spcPts val="450"/>
                </a:spcBef>
                <a:spcAft>
                  <a:spcPts val="0"/>
                </a:spcAft>
                <a:buClrTx/>
                <a:buSzPct val="100000"/>
                <a:buFont typeface="Arial"/>
                <a:buNone/>
                <a:tabLst/>
                <a:defRPr/>
              </a:pPr>
              <a:t>9</a:t>
            </a:fld>
            <a:endParaRPr kumimoji="0" lang="de-DE" sz="9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17" name="Gruppieren 16">
            <a:extLst>
              <a:ext uri="{FF2B5EF4-FFF2-40B4-BE49-F238E27FC236}">
                <a16:creationId xmlns:a16="http://schemas.microsoft.com/office/drawing/2014/main" id="{8600DE1A-7947-BA84-E885-7DFE2D94247B}"/>
              </a:ext>
            </a:extLst>
          </p:cNvPr>
          <p:cNvGrpSpPr/>
          <p:nvPr/>
        </p:nvGrpSpPr>
        <p:grpSpPr>
          <a:xfrm>
            <a:off x="10109200" y="342900"/>
            <a:ext cx="1631694" cy="239303"/>
            <a:chOff x="10109200" y="342900"/>
            <a:chExt cx="1631694" cy="239303"/>
          </a:xfrm>
        </p:grpSpPr>
        <p:sp>
          <p:nvSpPr>
            <p:cNvPr id="3" name="TextBox 3">
              <a:extLst>
                <a:ext uri="{FF2B5EF4-FFF2-40B4-BE49-F238E27FC236}">
                  <a16:creationId xmlns:a16="http://schemas.microsoft.com/office/drawing/2014/main" id="{F972A1F5-18FB-75F5-ADCB-DA5DA4CD399E}"/>
                </a:ext>
              </a:extLst>
            </p:cNvPr>
            <p:cNvSpPr txBox="1"/>
            <p:nvPr/>
          </p:nvSpPr>
          <p:spPr>
            <a:xfrm>
              <a:off x="11479624" y="438203"/>
              <a:ext cx="261270"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450"/>
                </a:spcBef>
                <a:spcAft>
                  <a:spcPts val="0"/>
                </a:spcAft>
                <a:buClrTx/>
                <a:buSzPct val="100000"/>
                <a:buFont typeface="Arial"/>
                <a:buNone/>
                <a:tabLst/>
                <a:defRPr/>
              </a:pPr>
              <a:fld id="{C58DF478-B544-4ED8-9ED4-6A2648E2D233}" type="slidenum">
                <a:rPr kumimoji="0" lang="de-DE" sz="900" b="0" i="0" u="none" strike="noStrike" kern="1200" cap="none" spc="0" normalizeH="0" baseline="0" noProof="0" smtClean="0">
                  <a:ln>
                    <a:noFill/>
                  </a:ln>
                  <a:solidFill>
                    <a:srgbClr val="97999B"/>
                  </a:solidFill>
                  <a:effectLst/>
                  <a:uLnTx/>
                  <a:uFillTx/>
                  <a:latin typeface="Aptos" panose="02110004020202020204"/>
                  <a:ea typeface="+mn-ea"/>
                  <a:cs typeface="Calibri" panose="020F0502020204030204" pitchFamily="34" charset="0"/>
                </a:rPr>
                <a:pPr marL="0" marR="0" lvl="0" indent="0" algn="l" defTabSz="914400" rtl="0" eaLnBrk="1" fontAlgn="auto" latinLnBrk="0" hangingPunct="1">
                  <a:lnSpc>
                    <a:spcPct val="100000"/>
                  </a:lnSpc>
                  <a:spcBef>
                    <a:spcPts val="450"/>
                  </a:spcBef>
                  <a:spcAft>
                    <a:spcPts val="0"/>
                  </a:spcAft>
                  <a:buClrTx/>
                  <a:buSzPct val="100000"/>
                  <a:buFont typeface="Arial"/>
                  <a:buNone/>
                  <a:tabLst/>
                  <a:defRPr/>
                </a:pPr>
                <a:t>9</a:t>
              </a:fld>
              <a:endParaRPr kumimoji="0" lang="de-DE" sz="900" b="0" i="0" u="none" strike="noStrike" kern="1200" cap="none" spc="0" normalizeH="0" baseline="0" noProof="0">
                <a:ln>
                  <a:noFill/>
                </a:ln>
                <a:solidFill>
                  <a:srgbClr val="97999B"/>
                </a:solidFill>
                <a:effectLst/>
                <a:uLnTx/>
                <a:uFillTx/>
                <a:latin typeface="Aptos" panose="02110004020202020204"/>
                <a:ea typeface="+mn-ea"/>
                <a:cs typeface="Calibri" panose="020F0502020204030204" pitchFamily="34" charset="0"/>
              </a:endParaRPr>
            </a:p>
          </p:txBody>
        </p:sp>
        <p:sp>
          <p:nvSpPr>
            <p:cNvPr id="5" name="TextBox 3">
              <a:extLst>
                <a:ext uri="{FF2B5EF4-FFF2-40B4-BE49-F238E27FC236}">
                  <a16:creationId xmlns:a16="http://schemas.microsoft.com/office/drawing/2014/main" id="{44960BE1-8740-B4C3-9808-55B01809DBB7}"/>
                </a:ext>
              </a:extLst>
            </p:cNvPr>
            <p:cNvSpPr txBox="1"/>
            <p:nvPr/>
          </p:nvSpPr>
          <p:spPr>
            <a:xfrm>
              <a:off x="10135650" y="438203"/>
              <a:ext cx="113030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450"/>
                </a:spcBef>
                <a:spcAft>
                  <a:spcPts val="0"/>
                </a:spcAft>
                <a:buClrTx/>
                <a:buSzPct val="100000"/>
                <a:buFont typeface="Arial"/>
                <a:buNone/>
                <a:tabLst/>
                <a:defRPr/>
              </a:pPr>
              <a:r>
                <a:rPr kumimoji="0" lang="de-DE" sz="900" b="0" i="0" u="none" strike="noStrike" kern="1200" cap="none" spc="0" normalizeH="0" baseline="0" noProof="0">
                  <a:ln>
                    <a:noFill/>
                  </a:ln>
                  <a:solidFill>
                    <a:srgbClr val="97999B"/>
                  </a:solidFill>
                  <a:effectLst/>
                  <a:uLnTx/>
                  <a:uFillTx/>
                  <a:latin typeface="Aptos" panose="02110004020202020204"/>
                  <a:ea typeface="+mn-ea"/>
                  <a:cs typeface="Calibri" panose="020F0502020204030204" pitchFamily="34" charset="0"/>
                </a:rPr>
                <a:t>Deloitte </a:t>
              </a:r>
              <a:r>
                <a:rPr kumimoji="0" lang="de-DE" sz="900" b="0" i="0" u="none" strike="noStrike" kern="1200" cap="none" spc="0" normalizeH="0" baseline="0" noProof="0" err="1">
                  <a:ln>
                    <a:noFill/>
                  </a:ln>
                  <a:solidFill>
                    <a:srgbClr val="97999B"/>
                  </a:solidFill>
                  <a:effectLst/>
                  <a:uLnTx/>
                  <a:uFillTx/>
                  <a:latin typeface="Aptos" panose="02110004020202020204"/>
                  <a:ea typeface="+mn-ea"/>
                  <a:cs typeface="Calibri" panose="020F0502020204030204" pitchFamily="34" charset="0"/>
                </a:rPr>
                <a:t>for</a:t>
              </a:r>
              <a:r>
                <a:rPr kumimoji="0" lang="de-DE" sz="900" b="0" i="0" u="none" strike="noStrike" kern="1200" cap="none" spc="0" normalizeH="0" baseline="0" noProof="0">
                  <a:ln>
                    <a:noFill/>
                  </a:ln>
                  <a:solidFill>
                    <a:srgbClr val="97999B"/>
                  </a:solidFill>
                  <a:effectLst/>
                  <a:uLnTx/>
                  <a:uFillTx/>
                  <a:latin typeface="Aptos" panose="02110004020202020204"/>
                  <a:ea typeface="+mn-ea"/>
                  <a:cs typeface="Calibri" panose="020F0502020204030204" pitchFamily="34" charset="0"/>
                </a:rPr>
                <a:t> E.ON</a:t>
              </a:r>
            </a:p>
          </p:txBody>
        </p:sp>
        <p:cxnSp>
          <p:nvCxnSpPr>
            <p:cNvPr id="11" name="Gerader Verbinder 10">
              <a:extLst>
                <a:ext uri="{FF2B5EF4-FFF2-40B4-BE49-F238E27FC236}">
                  <a16:creationId xmlns:a16="http://schemas.microsoft.com/office/drawing/2014/main" id="{5CF5ACAB-C98D-1797-E8B6-2765225970FA}"/>
                </a:ext>
              </a:extLst>
            </p:cNvPr>
            <p:cNvCxnSpPr>
              <a:cxnSpLocks/>
            </p:cNvCxnSpPr>
            <p:nvPr/>
          </p:nvCxnSpPr>
          <p:spPr>
            <a:xfrm>
              <a:off x="10109200" y="342900"/>
              <a:ext cx="1631694" cy="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A0DB1B20-CEB2-AED5-0626-D7C91F7985A4}"/>
                </a:ext>
              </a:extLst>
            </p:cNvPr>
            <p:cNvCxnSpPr>
              <a:cxnSpLocks/>
            </p:cNvCxnSpPr>
            <p:nvPr/>
          </p:nvCxnSpPr>
          <p:spPr>
            <a:xfrm>
              <a:off x="11378408" y="438203"/>
              <a:ext cx="0" cy="144000"/>
            </a:xfrm>
            <a:prstGeom prst="line">
              <a:avLst/>
            </a:prstGeom>
            <a:ln>
              <a:solidFill>
                <a:srgbClr val="BBBCB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684725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EE926-757B-B885-40D5-5FD7F7F800D8}"/>
            </a:ext>
          </a:extLst>
        </p:cNvPr>
        <p:cNvGrpSpPr/>
        <p:nvPr/>
      </p:nvGrpSpPr>
      <p:grpSpPr>
        <a:xfrm>
          <a:off x="0" y="0"/>
          <a:ext cx="0" cy="0"/>
          <a:chOff x="0" y="0"/>
          <a:chExt cx="0" cy="0"/>
        </a:xfrm>
      </p:grpSpPr>
      <p:grpSp>
        <p:nvGrpSpPr>
          <p:cNvPr id="37" name="Gruppieren 36">
            <a:extLst>
              <a:ext uri="{FF2B5EF4-FFF2-40B4-BE49-F238E27FC236}">
                <a16:creationId xmlns:a16="http://schemas.microsoft.com/office/drawing/2014/main" id="{029F58F5-AFEE-8EAF-410D-953D84DA340F}"/>
              </a:ext>
            </a:extLst>
          </p:cNvPr>
          <p:cNvGrpSpPr/>
          <p:nvPr/>
        </p:nvGrpSpPr>
        <p:grpSpPr>
          <a:xfrm>
            <a:off x="0" y="1371600"/>
            <a:ext cx="12192000" cy="5143501"/>
            <a:chOff x="0" y="1371600"/>
            <a:chExt cx="12192000" cy="5143501"/>
          </a:xfrm>
        </p:grpSpPr>
        <p:pic>
          <p:nvPicPr>
            <p:cNvPr id="23" name="Grafik 22">
              <a:extLst>
                <a:ext uri="{FF2B5EF4-FFF2-40B4-BE49-F238E27FC236}">
                  <a16:creationId xmlns:a16="http://schemas.microsoft.com/office/drawing/2014/main" id="{B8C8C5D4-C8E0-EA72-38BC-F6E6E2F3719D}"/>
                </a:ext>
              </a:extLst>
            </p:cNvPr>
            <p:cNvPicPr>
              <a:picLocks noChangeAspect="1"/>
            </p:cNvPicPr>
            <p:nvPr/>
          </p:nvPicPr>
          <p:blipFill>
            <a:blip r:embed="rId3">
              <a:extLst>
                <a:ext uri="{28A0092B-C50C-407E-A947-70E740481C1C}">
                  <a14:useLocalDpi xmlns:a14="http://schemas.microsoft.com/office/drawing/2010/main" val="0"/>
                </a:ext>
              </a:extLst>
            </a:blip>
            <a:srcRect l="2844" t="-29" r="43916" b="57840"/>
            <a:stretch>
              <a:fillRect/>
            </a:stretch>
          </p:blipFill>
          <p:spPr>
            <a:xfrm>
              <a:off x="0" y="1371600"/>
              <a:ext cx="12192000" cy="5143501"/>
            </a:xfrm>
            <a:prstGeom prst="rect">
              <a:avLst/>
            </a:prstGeom>
          </p:spPr>
        </p:pic>
        <p:sp>
          <p:nvSpPr>
            <p:cNvPr id="24" name="Rechteck 23">
              <a:extLst>
                <a:ext uri="{FF2B5EF4-FFF2-40B4-BE49-F238E27FC236}">
                  <a16:creationId xmlns:a16="http://schemas.microsoft.com/office/drawing/2014/main" id="{0D945C5E-A5B5-C4EC-F6DD-E489F6DCD5E8}"/>
                </a:ext>
              </a:extLst>
            </p:cNvPr>
            <p:cNvSpPr/>
            <p:nvPr/>
          </p:nvSpPr>
          <p:spPr bwMode="gray">
            <a:xfrm>
              <a:off x="0" y="1511404"/>
              <a:ext cx="11745219" cy="4860821"/>
            </a:xfrm>
            <a:prstGeom prst="rect">
              <a:avLst/>
            </a:prstGeom>
            <a:gradFill>
              <a:gsLst>
                <a:gs pos="10000">
                  <a:schemeClr val="bg1">
                    <a:alpha val="0"/>
                  </a:schemeClr>
                </a:gs>
                <a:gs pos="72000">
                  <a:schemeClr val="bg1">
                    <a:alpha val="8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pSp>
      <p:sp>
        <p:nvSpPr>
          <p:cNvPr id="36" name="Rechteck 35">
            <a:extLst>
              <a:ext uri="{FF2B5EF4-FFF2-40B4-BE49-F238E27FC236}">
                <a16:creationId xmlns:a16="http://schemas.microsoft.com/office/drawing/2014/main" id="{D16F9B26-03F1-DAFC-337C-42EF3E018C94}"/>
              </a:ext>
            </a:extLst>
          </p:cNvPr>
          <p:cNvSpPr/>
          <p:nvPr/>
        </p:nvSpPr>
        <p:spPr bwMode="gray">
          <a:xfrm flipH="1">
            <a:off x="463600" y="2306184"/>
            <a:ext cx="4576777" cy="3916900"/>
          </a:xfrm>
          <a:prstGeom prst="rect">
            <a:avLst/>
          </a:prstGeom>
          <a:gradFill>
            <a:gsLst>
              <a:gs pos="0">
                <a:schemeClr val="bg1">
                  <a:alpha val="0"/>
                </a:schemeClr>
              </a:gs>
              <a:gs pos="80000">
                <a:schemeClr val="bg1">
                  <a:alpha val="90000"/>
                </a:schemeClr>
              </a:gs>
              <a:gs pos="37000">
                <a:schemeClr val="bg1">
                  <a:alpha val="6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5" name="Rechteck 24">
            <a:extLst>
              <a:ext uri="{FF2B5EF4-FFF2-40B4-BE49-F238E27FC236}">
                <a16:creationId xmlns:a16="http://schemas.microsoft.com/office/drawing/2014/main" id="{CC89CFED-AEE3-A247-0BFE-EF2D7657CC6E}"/>
              </a:ext>
            </a:extLst>
          </p:cNvPr>
          <p:cNvSpPr/>
          <p:nvPr/>
        </p:nvSpPr>
        <p:spPr bwMode="gray">
          <a:xfrm flipH="1">
            <a:off x="5041974" y="1908794"/>
            <a:ext cx="6527522" cy="4314290"/>
          </a:xfrm>
          <a:prstGeom prst="rect">
            <a:avLst/>
          </a:prstGeom>
          <a:gradFill>
            <a:gsLst>
              <a:gs pos="0">
                <a:schemeClr val="bg1">
                  <a:alpha val="0"/>
                </a:schemeClr>
              </a:gs>
              <a:gs pos="55000">
                <a:schemeClr val="bg1">
                  <a:alpha val="8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aphicFrame>
        <p:nvGraphicFramePr>
          <p:cNvPr id="7" name="think-cell data - do not delete" hidden="1">
            <a:extLst>
              <a:ext uri="{FF2B5EF4-FFF2-40B4-BE49-F238E27FC236}">
                <a16:creationId xmlns:a16="http://schemas.microsoft.com/office/drawing/2014/main" id="{CA0ADEE9-9353-9DE0-1840-B36EE99289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7" name="think-cell data - do not delete" hidden="1">
                        <a:extLst>
                          <a:ext uri="{FF2B5EF4-FFF2-40B4-BE49-F238E27FC236}">
                            <a16:creationId xmlns:a16="http://schemas.microsoft.com/office/drawing/2014/main" id="{CA0ADEE9-9353-9DE0-1840-B36EE99289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8" name="Table 57">
            <a:extLst>
              <a:ext uri="{FF2B5EF4-FFF2-40B4-BE49-F238E27FC236}">
                <a16:creationId xmlns:a16="http://schemas.microsoft.com/office/drawing/2014/main" id="{E00FCBF7-2E5F-2345-C75A-D2859BFFB91E}"/>
              </a:ext>
            </a:extLst>
          </p:cNvPr>
          <p:cNvGraphicFramePr>
            <a:graphicFrameLocks noGrp="1"/>
          </p:cNvGraphicFramePr>
          <p:nvPr/>
        </p:nvGraphicFramePr>
        <p:xfrm>
          <a:off x="463601" y="2306183"/>
          <a:ext cx="4042772" cy="3916898"/>
        </p:xfrm>
        <a:graphic>
          <a:graphicData uri="http://schemas.openxmlformats.org/drawingml/2006/table">
            <a:tbl>
              <a:tblPr/>
              <a:tblGrid>
                <a:gridCol w="1188000">
                  <a:extLst>
                    <a:ext uri="{9D8B030D-6E8A-4147-A177-3AD203B41FA5}">
                      <a16:colId xmlns:a16="http://schemas.microsoft.com/office/drawing/2014/main" val="2795228013"/>
                    </a:ext>
                  </a:extLst>
                </a:gridCol>
                <a:gridCol w="2854772">
                  <a:extLst>
                    <a:ext uri="{9D8B030D-6E8A-4147-A177-3AD203B41FA5}">
                      <a16:colId xmlns:a16="http://schemas.microsoft.com/office/drawing/2014/main" val="173202279"/>
                    </a:ext>
                  </a:extLst>
                </a:gridCol>
              </a:tblGrid>
              <a:tr h="271499">
                <a:tc rowSpan="3">
                  <a:txBody>
                    <a:bodyPr/>
                    <a:lstStyle/>
                    <a:p>
                      <a:pPr algn="l" rtl="0" fontAlgn="t"/>
                      <a:r>
                        <a:rPr lang="en-GB" sz="1200" b="1" i="0" u="none" strike="noStrike" cap="all" spc="100" baseline="0" noProof="0">
                          <a:solidFill>
                            <a:srgbClr val="19624A"/>
                          </a:solidFill>
                          <a:effectLst/>
                          <a:latin typeface="+mn-lt"/>
                        </a:rPr>
                        <a:t>Power</a:t>
                      </a:r>
                    </a:p>
                  </a:txBody>
                  <a:tcPr marL="108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1200" b="0" i="0" u="none" strike="noStrike" noProof="0">
                          <a:solidFill>
                            <a:schemeClr val="tx1"/>
                          </a:solidFill>
                          <a:effectLst/>
                          <a:latin typeface="+mn-lt"/>
                        </a:rPr>
                        <a:t>In IFRS 20 scope?</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8989990"/>
                  </a:ext>
                </a:extLst>
              </a:tr>
              <a:tr h="271499">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rgbClr val="444B52"/>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Direct or indirect relationship?</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132965"/>
                  </a:ext>
                </a:extLst>
              </a:tr>
              <a:tr h="438931">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5612940"/>
                  </a:ext>
                </a:extLst>
              </a:tr>
              <a:tr h="269696">
                <a:tc rowSpan="3">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1200" b="1" i="0" u="none" strike="noStrike" cap="all" spc="100" baseline="0" noProof="0">
                          <a:solidFill>
                            <a:srgbClr val="19624A"/>
                          </a:solidFill>
                          <a:effectLst/>
                          <a:latin typeface="+mn-lt"/>
                        </a:rPr>
                        <a:t>Gas</a:t>
                      </a:r>
                    </a:p>
                  </a:txBody>
                  <a:tcPr marL="108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1200" b="0" i="0" u="none" strike="noStrike" noProof="0">
                          <a:solidFill>
                            <a:schemeClr val="tx1"/>
                          </a:solidFill>
                          <a:effectLst/>
                          <a:latin typeface="+mn-lt"/>
                        </a:rPr>
                        <a:t>In IFRS 20 scope?</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9690998"/>
                  </a:ext>
                </a:extLst>
              </a:tr>
              <a:tr h="269696">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rgbClr val="444B52"/>
                      </a:solidFill>
                      <a:prstDash val="sysDash"/>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Direct or indirect relationship?</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53740"/>
                  </a:ext>
                </a:extLst>
              </a:tr>
              <a:tr h="438931">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9401422"/>
                  </a:ext>
                </a:extLst>
              </a:tr>
              <a:tr h="269696">
                <a:tc rowSpan="3">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1200" b="1" i="0" u="none" strike="noStrike" kern="1200" cap="all" spc="100" baseline="0" noProof="0">
                          <a:solidFill>
                            <a:srgbClr val="19624A"/>
                          </a:solidFill>
                          <a:effectLst/>
                          <a:latin typeface="+mn-lt"/>
                          <a:ea typeface="+mn-ea"/>
                          <a:cs typeface="+mn-cs"/>
                        </a:rPr>
                        <a:t>Heating</a:t>
                      </a:r>
                    </a:p>
                  </a:txBody>
                  <a:tcPr marL="108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1200" b="0" i="0" u="none" strike="noStrike" noProof="0">
                          <a:solidFill>
                            <a:schemeClr val="tx1"/>
                          </a:solidFill>
                          <a:effectLst/>
                          <a:latin typeface="+mn-lt"/>
                        </a:rPr>
                        <a:t>In IFRS 20 scope?</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7867004"/>
                  </a:ext>
                </a:extLst>
              </a:tr>
              <a:tr h="269696">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Direct or indirect relationship?</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9592688"/>
                  </a:ext>
                </a:extLst>
              </a:tr>
              <a:tr h="438931">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804744"/>
                  </a:ext>
                </a:extLst>
              </a:tr>
              <a:tr h="269696">
                <a:tc rowSpan="3">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1200" b="1" i="0" u="none" strike="noStrike" cap="all" spc="100" baseline="0" noProof="0">
                          <a:solidFill>
                            <a:srgbClr val="19624A"/>
                          </a:solidFill>
                          <a:effectLst/>
                          <a:latin typeface="+mn-lt"/>
                        </a:rPr>
                        <a:t>Hydrogen</a:t>
                      </a:r>
                    </a:p>
                  </a:txBody>
                  <a:tcPr marL="108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1200" b="0" i="0" u="none" strike="noStrike" noProof="0">
                          <a:solidFill>
                            <a:schemeClr val="tx1"/>
                          </a:solidFill>
                          <a:effectLst/>
                          <a:latin typeface="+mn-lt"/>
                        </a:rPr>
                        <a:t>In IFRS 20 scope?</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4978810"/>
                  </a:ext>
                </a:extLst>
              </a:tr>
              <a:tr h="269696">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Direct or indirect relationship?</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5943328"/>
                  </a:ext>
                </a:extLst>
              </a:tr>
              <a:tr h="438931">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i="0" u="none" strike="noStrike" noProof="0">
                          <a:solidFill>
                            <a:schemeClr val="tx1"/>
                          </a:solidFill>
                          <a:effectLst/>
                          <a:latin typeface="+mn-lt"/>
                        </a:rPr>
                        <a:t>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4731353"/>
                  </a:ext>
                </a:extLst>
              </a:tr>
            </a:tbl>
          </a:graphicData>
        </a:graphic>
      </p:graphicFrame>
      <p:sp>
        <p:nvSpPr>
          <p:cNvPr id="18" name="Titel 17">
            <a:extLst>
              <a:ext uri="{FF2B5EF4-FFF2-40B4-BE49-F238E27FC236}">
                <a16:creationId xmlns:a16="http://schemas.microsoft.com/office/drawing/2014/main" id="{E33895CE-A394-402E-C000-EFE76B62606C}"/>
              </a:ext>
            </a:extLst>
          </p:cNvPr>
          <p:cNvSpPr>
            <a:spLocks noGrp="1"/>
          </p:cNvSpPr>
          <p:nvPr>
            <p:ph type="title"/>
          </p:nvPr>
        </p:nvSpPr>
        <p:spPr/>
        <p:txBody>
          <a:bodyPr/>
          <a:lstStyle/>
          <a:p>
            <a:r>
              <a:rPr lang="de-DE"/>
              <a:t>Impact Analysis | Impact Assessment</a:t>
            </a:r>
          </a:p>
        </p:txBody>
      </p:sp>
      <p:sp>
        <p:nvSpPr>
          <p:cNvPr id="22" name="Textplatzhalter 21">
            <a:extLst>
              <a:ext uri="{FF2B5EF4-FFF2-40B4-BE49-F238E27FC236}">
                <a16:creationId xmlns:a16="http://schemas.microsoft.com/office/drawing/2014/main" id="{6919EDC2-29EA-F756-F7C1-CFEF3107473F}"/>
              </a:ext>
            </a:extLst>
          </p:cNvPr>
          <p:cNvSpPr>
            <a:spLocks noGrp="1"/>
          </p:cNvSpPr>
          <p:nvPr>
            <p:ph type="body" sz="quarter" idx="10"/>
          </p:nvPr>
        </p:nvSpPr>
        <p:spPr/>
        <p:txBody>
          <a:bodyPr/>
          <a:lstStyle/>
          <a:p>
            <a:r>
              <a:rPr lang="en-US"/>
              <a:t>Major assessment criteria considering country-specific regulations</a:t>
            </a:r>
          </a:p>
        </p:txBody>
      </p:sp>
      <p:sp>
        <p:nvSpPr>
          <p:cNvPr id="98" name="Rechteck 97">
            <a:extLst>
              <a:ext uri="{FF2B5EF4-FFF2-40B4-BE49-F238E27FC236}">
                <a16:creationId xmlns:a16="http://schemas.microsoft.com/office/drawing/2014/main" id="{CDFA28F4-3644-BD52-62E0-E7518D0E0C01}"/>
              </a:ext>
            </a:extLst>
          </p:cNvPr>
          <p:cNvSpPr/>
          <p:nvPr/>
        </p:nvSpPr>
        <p:spPr>
          <a:xfrm>
            <a:off x="5191699" y="2041871"/>
            <a:ext cx="6379393" cy="12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Aptos" panose="02110004020202020204"/>
                <a:ea typeface="+mn-ea"/>
                <a:cs typeface="+mn-cs"/>
              </a:rPr>
              <a:t>Are regulatory regimes in scope of IFRS 20? </a:t>
            </a:r>
            <a:endParaRPr kumimoji="0" lang="en-US" sz="1200" b="1" i="0" u="none" strike="noStrike" kern="1200" cap="none" spc="0" normalizeH="0" baseline="0" noProof="0">
              <a:ln>
                <a:noFill/>
              </a:ln>
              <a:solidFill>
                <a:srgbClr val="009A44"/>
              </a:solidFill>
              <a:effectLst/>
              <a:uLnTx/>
              <a:uFillTx/>
              <a:latin typeface="Aptos" panose="02110004020202020204"/>
              <a:ea typeface="+mn-ea"/>
              <a:cs typeface="Segoe UI"/>
            </a:endParaRP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Segoe UI"/>
              </a:rPr>
              <a:t>Here, we investigate the regulatory basis for each country and business: Are rates regulated? Does it create timing differences between IFRS 15 revenue and total allowed compensation?</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Segoe UI"/>
              </a:rPr>
              <a:t>This is expected to be met for power and gas in all countries. </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Segoe UI"/>
              </a:rPr>
              <a:t>Heating – at least in Germany – may not classify as regulation but price oversight. Hydrogen may be in scope later, but not now.</a:t>
            </a:r>
          </a:p>
        </p:txBody>
      </p:sp>
      <p:sp>
        <p:nvSpPr>
          <p:cNvPr id="117" name="Rechteck 116">
            <a:extLst>
              <a:ext uri="{FF2B5EF4-FFF2-40B4-BE49-F238E27FC236}">
                <a16:creationId xmlns:a16="http://schemas.microsoft.com/office/drawing/2014/main" id="{8D3DDA1B-8965-22D1-DB48-AEFE0FE552AD}"/>
              </a:ext>
            </a:extLst>
          </p:cNvPr>
          <p:cNvSpPr/>
          <p:nvPr/>
        </p:nvSpPr>
        <p:spPr>
          <a:xfrm>
            <a:off x="5191699" y="3550897"/>
            <a:ext cx="6379393"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Aptos" panose="02110004020202020204"/>
                <a:ea typeface="+mn-ea"/>
                <a:cs typeface="+mn-cs"/>
              </a:rPr>
              <a:t>Evaluate whether the regulatory regime features a direct or indirect relationship between IFRS PPE and the regulated asset base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mn-cs"/>
              </a:rPr>
              <a:t>Does the regulatory agreement link the allowed compensation to identifiable underlying items?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mn-cs"/>
              </a:rPr>
              <a:t>Can the entity track items by amount and reporting period?</a:t>
            </a:r>
          </a:p>
        </p:txBody>
      </p:sp>
      <p:sp>
        <p:nvSpPr>
          <p:cNvPr id="3" name="Rechteck 2">
            <a:extLst>
              <a:ext uri="{FF2B5EF4-FFF2-40B4-BE49-F238E27FC236}">
                <a16:creationId xmlns:a16="http://schemas.microsoft.com/office/drawing/2014/main" id="{83C0B369-1DFF-FE4A-3F4A-B0C04D3ED0E3}"/>
              </a:ext>
            </a:extLst>
          </p:cNvPr>
          <p:cNvSpPr/>
          <p:nvPr/>
        </p:nvSpPr>
        <p:spPr>
          <a:xfrm>
            <a:off x="5191699" y="4819634"/>
            <a:ext cx="6379393" cy="12611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9A44"/>
                </a:solidFill>
                <a:effectLst/>
                <a:uLnTx/>
                <a:uFillTx/>
                <a:latin typeface="Aptos" panose="02110004020202020204"/>
                <a:ea typeface="+mn-ea"/>
                <a:cs typeface="+mn-cs"/>
              </a:rPr>
              <a:t>Analyze regulatory agreement and current accounting practice for expected sources of regulatory assets and liabilities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mn-cs"/>
              </a:rPr>
              <a:t>Are volume differences typical to exist and what has been the magnitude of these in the past?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mn-cs"/>
              </a:rPr>
              <a:t>Are actual costs expected to differ materially from those assumed in rate setting?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1" u="none" strike="noStrike" kern="1200" cap="none" spc="0" normalizeH="0" baseline="0" noProof="0">
                <a:ln>
                  <a:noFill/>
                </a:ln>
                <a:solidFill>
                  <a:prstClr val="black"/>
                </a:solidFill>
                <a:effectLst/>
                <a:uLnTx/>
                <a:uFillTx/>
                <a:latin typeface="Aptos" panose="02110004020202020204"/>
                <a:ea typeface="+mn-ea"/>
                <a:cs typeface="+mn-cs"/>
              </a:rPr>
              <a:t>Does the entity have a significant amount of assets under construction? Does is currently capitalize interest on these projects as per IAS 23? If not, why?</a:t>
            </a:r>
          </a:p>
        </p:txBody>
      </p:sp>
      <p:sp>
        <p:nvSpPr>
          <p:cNvPr id="27" name="Rectangle 75">
            <a:extLst>
              <a:ext uri="{FF2B5EF4-FFF2-40B4-BE49-F238E27FC236}">
                <a16:creationId xmlns:a16="http://schemas.microsoft.com/office/drawing/2014/main" id="{369A8F87-F2BB-B561-47BF-9CBA58DBCE44}"/>
              </a:ext>
            </a:extLst>
          </p:cNvPr>
          <p:cNvSpPr/>
          <p:nvPr/>
        </p:nvSpPr>
        <p:spPr>
          <a:xfrm>
            <a:off x="5041974" y="1582226"/>
            <a:ext cx="6379393" cy="326568"/>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ptos" panose="02110004020202020204"/>
                <a:ea typeface="+mn-ea"/>
                <a:cs typeface="+mn-cs"/>
              </a:rPr>
              <a:t>What questions underlie the evaluation criteria?</a:t>
            </a:r>
          </a:p>
        </p:txBody>
      </p:sp>
      <p:sp>
        <p:nvSpPr>
          <p:cNvPr id="28" name="Rectangle 75">
            <a:extLst>
              <a:ext uri="{FF2B5EF4-FFF2-40B4-BE49-F238E27FC236}">
                <a16:creationId xmlns:a16="http://schemas.microsoft.com/office/drawing/2014/main" id="{28263F30-A601-7863-AB1D-ECD15114283F}"/>
              </a:ext>
            </a:extLst>
          </p:cNvPr>
          <p:cNvSpPr/>
          <p:nvPr/>
        </p:nvSpPr>
        <p:spPr>
          <a:xfrm>
            <a:off x="457201" y="1582226"/>
            <a:ext cx="3555999" cy="580116"/>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Evaluation Criteria for IFRS 20 impact assessment</a:t>
            </a:r>
          </a:p>
        </p:txBody>
      </p:sp>
    </p:spTree>
    <p:extLst>
      <p:ext uri="{BB962C8B-B14F-4D97-AF65-F5344CB8AC3E}">
        <p14:creationId xmlns:p14="http://schemas.microsoft.com/office/powerpoint/2010/main" val="240910953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BD988-771D-40EE-9874-D49D712BAB14}"/>
            </a:ext>
          </a:extLst>
        </p:cNvPr>
        <p:cNvGrpSpPr/>
        <p:nvPr/>
      </p:nvGrpSpPr>
      <p:grpSpPr>
        <a:xfrm>
          <a:off x="0" y="0"/>
          <a:ext cx="0" cy="0"/>
          <a:chOff x="0" y="0"/>
          <a:chExt cx="0" cy="0"/>
        </a:xfrm>
      </p:grpSpPr>
      <p:grpSp>
        <p:nvGrpSpPr>
          <p:cNvPr id="22" name="Gruppieren 21">
            <a:extLst>
              <a:ext uri="{FF2B5EF4-FFF2-40B4-BE49-F238E27FC236}">
                <a16:creationId xmlns:a16="http://schemas.microsoft.com/office/drawing/2014/main" id="{6056B707-EA7F-535E-28C0-920F59476A2F}"/>
              </a:ext>
            </a:extLst>
          </p:cNvPr>
          <p:cNvGrpSpPr/>
          <p:nvPr/>
        </p:nvGrpSpPr>
        <p:grpSpPr>
          <a:xfrm>
            <a:off x="0" y="1371600"/>
            <a:ext cx="12192000" cy="5143501"/>
            <a:chOff x="0" y="1371600"/>
            <a:chExt cx="12192000" cy="5143501"/>
          </a:xfrm>
        </p:grpSpPr>
        <p:pic>
          <p:nvPicPr>
            <p:cNvPr id="6" name="Grafik 5">
              <a:extLst>
                <a:ext uri="{FF2B5EF4-FFF2-40B4-BE49-F238E27FC236}">
                  <a16:creationId xmlns:a16="http://schemas.microsoft.com/office/drawing/2014/main" id="{9E43EB5B-145D-4B26-2F1E-E7A19BDC91CB}"/>
                </a:ext>
              </a:extLst>
            </p:cNvPr>
            <p:cNvPicPr>
              <a:picLocks noChangeAspect="1"/>
            </p:cNvPicPr>
            <p:nvPr/>
          </p:nvPicPr>
          <p:blipFill>
            <a:blip r:embed="rId12">
              <a:extLst>
                <a:ext uri="{28A0092B-C50C-407E-A947-70E740481C1C}">
                  <a14:useLocalDpi xmlns:a14="http://schemas.microsoft.com/office/drawing/2010/main" val="0"/>
                </a:ext>
              </a:extLst>
            </a:blip>
            <a:srcRect l="2844" t="-29" r="43916" b="57840"/>
            <a:stretch>
              <a:fillRect/>
            </a:stretch>
          </p:blipFill>
          <p:spPr>
            <a:xfrm>
              <a:off x="0" y="1371600"/>
              <a:ext cx="12192000" cy="5143501"/>
            </a:xfrm>
            <a:prstGeom prst="rect">
              <a:avLst/>
            </a:prstGeom>
          </p:spPr>
        </p:pic>
        <p:sp>
          <p:nvSpPr>
            <p:cNvPr id="20" name="Rechteck 19">
              <a:extLst>
                <a:ext uri="{FF2B5EF4-FFF2-40B4-BE49-F238E27FC236}">
                  <a16:creationId xmlns:a16="http://schemas.microsoft.com/office/drawing/2014/main" id="{9399A2DC-8118-8FA0-5C5C-86134A49BE68}"/>
                </a:ext>
              </a:extLst>
            </p:cNvPr>
            <p:cNvSpPr/>
            <p:nvPr/>
          </p:nvSpPr>
          <p:spPr bwMode="gray">
            <a:xfrm>
              <a:off x="0" y="1511404"/>
              <a:ext cx="11745219" cy="4860821"/>
            </a:xfrm>
            <a:prstGeom prst="rect">
              <a:avLst/>
            </a:prstGeom>
            <a:gradFill>
              <a:gsLst>
                <a:gs pos="10000">
                  <a:schemeClr val="bg1">
                    <a:alpha val="0"/>
                  </a:schemeClr>
                </a:gs>
                <a:gs pos="72000">
                  <a:schemeClr val="bg1">
                    <a:alpha val="8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pSp>
      <p:sp>
        <p:nvSpPr>
          <p:cNvPr id="73" name="Rechteck 72">
            <a:extLst>
              <a:ext uri="{FF2B5EF4-FFF2-40B4-BE49-F238E27FC236}">
                <a16:creationId xmlns:a16="http://schemas.microsoft.com/office/drawing/2014/main" id="{C69164AA-C1AC-3A66-77B8-D365EBF37206}"/>
              </a:ext>
            </a:extLst>
          </p:cNvPr>
          <p:cNvSpPr/>
          <p:nvPr/>
        </p:nvSpPr>
        <p:spPr bwMode="gray">
          <a:xfrm flipH="1">
            <a:off x="6498901" y="2306184"/>
            <a:ext cx="5252714" cy="1270291"/>
          </a:xfrm>
          <a:prstGeom prst="rect">
            <a:avLst/>
          </a:prstGeom>
          <a:gradFill>
            <a:gsLst>
              <a:gs pos="54000">
                <a:schemeClr val="bg1">
                  <a:alpha val="20000"/>
                </a:schemeClr>
              </a:gs>
              <a:gs pos="100000">
                <a:schemeClr val="bg1">
                  <a:alpha val="8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37" name="Rechteck 36">
            <a:extLst>
              <a:ext uri="{FF2B5EF4-FFF2-40B4-BE49-F238E27FC236}">
                <a16:creationId xmlns:a16="http://schemas.microsoft.com/office/drawing/2014/main" id="{BE5625A9-CDB8-2F8F-0174-3006545075FE}"/>
              </a:ext>
            </a:extLst>
          </p:cNvPr>
          <p:cNvSpPr/>
          <p:nvPr/>
        </p:nvSpPr>
        <p:spPr bwMode="gray">
          <a:xfrm flipH="1">
            <a:off x="6507544" y="3664039"/>
            <a:ext cx="5244072" cy="2559045"/>
          </a:xfrm>
          <a:prstGeom prst="rect">
            <a:avLst/>
          </a:prstGeom>
          <a:gradFill>
            <a:gsLst>
              <a:gs pos="0">
                <a:schemeClr val="bg1">
                  <a:alpha val="10000"/>
                </a:schemeClr>
              </a:gs>
              <a:gs pos="55000">
                <a:schemeClr val="bg1">
                  <a:alpha val="8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21" name="Rechteck 20">
            <a:extLst>
              <a:ext uri="{FF2B5EF4-FFF2-40B4-BE49-F238E27FC236}">
                <a16:creationId xmlns:a16="http://schemas.microsoft.com/office/drawing/2014/main" id="{C3121936-8DB0-3221-0411-A342B5DEFC72}"/>
              </a:ext>
            </a:extLst>
          </p:cNvPr>
          <p:cNvSpPr/>
          <p:nvPr/>
        </p:nvSpPr>
        <p:spPr bwMode="gray">
          <a:xfrm flipH="1">
            <a:off x="463599" y="2306184"/>
            <a:ext cx="3023999" cy="3916900"/>
          </a:xfrm>
          <a:prstGeom prst="rect">
            <a:avLst/>
          </a:prstGeom>
          <a:gradFill>
            <a:gsLst>
              <a:gs pos="0">
                <a:schemeClr val="bg1">
                  <a:alpha val="0"/>
                </a:schemeClr>
              </a:gs>
              <a:gs pos="68000">
                <a:schemeClr val="bg1">
                  <a:alpha val="90000"/>
                </a:schemeClr>
              </a:gs>
              <a:gs pos="23000">
                <a:schemeClr val="bg1">
                  <a:alpha val="6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aphicFrame>
        <p:nvGraphicFramePr>
          <p:cNvPr id="7" name="think-cell data - do not delete" hidden="1">
            <a:extLst>
              <a:ext uri="{FF2B5EF4-FFF2-40B4-BE49-F238E27FC236}">
                <a16:creationId xmlns:a16="http://schemas.microsoft.com/office/drawing/2014/main" id="{09BE8D93-05E5-759E-70FC-47D21FD3BD1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98" imgH="499" progId="TCLayout.ActiveDocument.1">
                  <p:embed/>
                </p:oleObj>
              </mc:Choice>
              <mc:Fallback>
                <p:oleObj name="think-cell Slide" r:id="rId13" imgW="498" imgH="499" progId="TCLayout.ActiveDocument.1">
                  <p:embed/>
                  <p:pic>
                    <p:nvPicPr>
                      <p:cNvPr id="7" name="think-cell data - do not delete" hidden="1">
                        <a:extLst>
                          <a:ext uri="{FF2B5EF4-FFF2-40B4-BE49-F238E27FC236}">
                            <a16:creationId xmlns:a16="http://schemas.microsoft.com/office/drawing/2014/main" id="{09BE8D93-05E5-759E-70FC-47D21FD3BD1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05" name="Rechteck 104">
            <a:extLst>
              <a:ext uri="{FF2B5EF4-FFF2-40B4-BE49-F238E27FC236}">
                <a16:creationId xmlns:a16="http://schemas.microsoft.com/office/drawing/2014/main" id="{89339EB4-486C-139A-9B38-CC353799FA2C}"/>
              </a:ext>
            </a:extLst>
          </p:cNvPr>
          <p:cNvSpPr/>
          <p:nvPr/>
        </p:nvSpPr>
        <p:spPr>
          <a:xfrm>
            <a:off x="7243139" y="4127921"/>
            <a:ext cx="4395759" cy="106973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228600" marR="0" lvl="0" indent="-22860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We receive E.ON accounting and regulatory documents per country.</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We use </a:t>
            </a:r>
            <a:r>
              <a:rPr kumimoji="0" lang="en-US" sz="1050" b="1" i="0" u="none" strike="noStrike" kern="1200" cap="none" spc="0" normalizeH="0" baseline="0" noProof="0">
                <a:ln>
                  <a:noFill/>
                </a:ln>
                <a:solidFill>
                  <a:prstClr val="black"/>
                </a:solidFill>
                <a:effectLst/>
                <a:uLnTx/>
                <a:uFillTx/>
                <a:latin typeface="Aptos" panose="02110004020202020204"/>
                <a:ea typeface="+mn-ea"/>
                <a:cs typeface="+mn-cs"/>
              </a:rPr>
              <a:t>AI to draft a preliminary assessment </a:t>
            </a: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of criteria.</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Deloitte </a:t>
            </a:r>
            <a:r>
              <a:rPr kumimoji="0" lang="en-US" sz="1050" b="1" i="0" u="none" strike="noStrike" kern="1200" cap="none" spc="0" normalizeH="0" baseline="0" noProof="0">
                <a:ln>
                  <a:noFill/>
                </a:ln>
                <a:solidFill>
                  <a:prstClr val="black"/>
                </a:solidFill>
                <a:effectLst/>
                <a:uLnTx/>
                <a:uFillTx/>
                <a:latin typeface="Aptos" panose="02110004020202020204"/>
                <a:ea typeface="+mn-ea"/>
                <a:cs typeface="+mn-cs"/>
              </a:rPr>
              <a:t>accounting and regulatory experts</a:t>
            </a: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 (both our German team as well as Country Specific Experts) sense-check these drafts.</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In the workshops, we will </a:t>
            </a:r>
            <a:r>
              <a:rPr kumimoji="0" lang="en-US" sz="1050" b="1" i="0" u="none" strike="noStrike" kern="1200" cap="none" spc="0" normalizeH="0" baseline="0" noProof="0">
                <a:ln>
                  <a:noFill/>
                </a:ln>
                <a:solidFill>
                  <a:prstClr val="black"/>
                </a:solidFill>
                <a:effectLst/>
                <a:uLnTx/>
                <a:uFillTx/>
                <a:latin typeface="Aptos" panose="02110004020202020204"/>
                <a:ea typeface="+mn-ea"/>
                <a:cs typeface="+mn-cs"/>
              </a:rPr>
              <a:t>jointly validate and refine the assessment criteria.</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Based on the agreed framework, the </a:t>
            </a:r>
            <a:r>
              <a:rPr kumimoji="0" lang="en-US" sz="1050" b="1" i="0" u="none" strike="noStrike" kern="1200" cap="none" spc="0" normalizeH="0" baseline="0" noProof="0">
                <a:ln>
                  <a:noFill/>
                </a:ln>
                <a:solidFill>
                  <a:prstClr val="black"/>
                </a:solidFill>
                <a:effectLst/>
                <a:uLnTx/>
                <a:uFillTx/>
                <a:latin typeface="Aptos" panose="02110004020202020204"/>
                <a:ea typeface="+mn-ea"/>
                <a:cs typeface="+mn-cs"/>
              </a:rPr>
              <a:t>target countries will be assessed </a:t>
            </a: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consistently across all businesses.</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Upon request, further </a:t>
            </a:r>
            <a:r>
              <a:rPr kumimoji="0" lang="en-US" sz="1050" b="1" i="0" u="none" strike="noStrike" kern="1200" cap="none" spc="0" normalizeH="0" baseline="0" noProof="0">
                <a:ln>
                  <a:noFill/>
                </a:ln>
                <a:solidFill>
                  <a:prstClr val="black"/>
                </a:solidFill>
                <a:effectLst/>
                <a:uLnTx/>
                <a:uFillTx/>
                <a:latin typeface="Aptos" panose="02110004020202020204"/>
                <a:ea typeface="+mn-ea"/>
                <a:cs typeface="+mn-cs"/>
              </a:rPr>
              <a:t>local Deloitte experts can be involved </a:t>
            </a: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in the workshop, the country assessments, and the development of the final recommendations.</a:t>
            </a:r>
          </a:p>
        </p:txBody>
      </p:sp>
      <p:graphicFrame>
        <p:nvGraphicFramePr>
          <p:cNvPr id="4" name="Tabelle 3">
            <a:extLst>
              <a:ext uri="{FF2B5EF4-FFF2-40B4-BE49-F238E27FC236}">
                <a16:creationId xmlns:a16="http://schemas.microsoft.com/office/drawing/2014/main" id="{379246D3-5392-441A-0B28-54B60EE80543}"/>
              </a:ext>
            </a:extLst>
          </p:cNvPr>
          <p:cNvGraphicFramePr>
            <a:graphicFrameLocks noGrp="1"/>
          </p:cNvGraphicFramePr>
          <p:nvPr/>
        </p:nvGraphicFramePr>
        <p:xfrm>
          <a:off x="6498901" y="2306184"/>
          <a:ext cx="5049451" cy="1270291"/>
        </p:xfrm>
        <a:graphic>
          <a:graphicData uri="http://schemas.openxmlformats.org/drawingml/2006/table">
            <a:tbl>
              <a:tblPr/>
              <a:tblGrid>
                <a:gridCol w="780370">
                  <a:extLst>
                    <a:ext uri="{9D8B030D-6E8A-4147-A177-3AD203B41FA5}">
                      <a16:colId xmlns:a16="http://schemas.microsoft.com/office/drawing/2014/main" val="3031066220"/>
                    </a:ext>
                  </a:extLst>
                </a:gridCol>
                <a:gridCol w="229521">
                  <a:extLst>
                    <a:ext uri="{9D8B030D-6E8A-4147-A177-3AD203B41FA5}">
                      <a16:colId xmlns:a16="http://schemas.microsoft.com/office/drawing/2014/main" val="401443076"/>
                    </a:ext>
                  </a:extLst>
                </a:gridCol>
                <a:gridCol w="504945">
                  <a:extLst>
                    <a:ext uri="{9D8B030D-6E8A-4147-A177-3AD203B41FA5}">
                      <a16:colId xmlns:a16="http://schemas.microsoft.com/office/drawing/2014/main" val="1737976680"/>
                    </a:ext>
                  </a:extLst>
                </a:gridCol>
                <a:gridCol w="504945">
                  <a:extLst>
                    <a:ext uri="{9D8B030D-6E8A-4147-A177-3AD203B41FA5}">
                      <a16:colId xmlns:a16="http://schemas.microsoft.com/office/drawing/2014/main" val="3930035533"/>
                    </a:ext>
                  </a:extLst>
                </a:gridCol>
                <a:gridCol w="504945">
                  <a:extLst>
                    <a:ext uri="{9D8B030D-6E8A-4147-A177-3AD203B41FA5}">
                      <a16:colId xmlns:a16="http://schemas.microsoft.com/office/drawing/2014/main" val="2373267542"/>
                    </a:ext>
                  </a:extLst>
                </a:gridCol>
                <a:gridCol w="504945">
                  <a:extLst>
                    <a:ext uri="{9D8B030D-6E8A-4147-A177-3AD203B41FA5}">
                      <a16:colId xmlns:a16="http://schemas.microsoft.com/office/drawing/2014/main" val="1828733795"/>
                    </a:ext>
                  </a:extLst>
                </a:gridCol>
                <a:gridCol w="504945">
                  <a:extLst>
                    <a:ext uri="{9D8B030D-6E8A-4147-A177-3AD203B41FA5}">
                      <a16:colId xmlns:a16="http://schemas.microsoft.com/office/drawing/2014/main" val="3382194690"/>
                    </a:ext>
                  </a:extLst>
                </a:gridCol>
                <a:gridCol w="504945">
                  <a:extLst>
                    <a:ext uri="{9D8B030D-6E8A-4147-A177-3AD203B41FA5}">
                      <a16:colId xmlns:a16="http://schemas.microsoft.com/office/drawing/2014/main" val="4269329455"/>
                    </a:ext>
                  </a:extLst>
                </a:gridCol>
                <a:gridCol w="504945">
                  <a:extLst>
                    <a:ext uri="{9D8B030D-6E8A-4147-A177-3AD203B41FA5}">
                      <a16:colId xmlns:a16="http://schemas.microsoft.com/office/drawing/2014/main" val="2546088842"/>
                    </a:ext>
                  </a:extLst>
                </a:gridCol>
                <a:gridCol w="504945">
                  <a:extLst>
                    <a:ext uri="{9D8B030D-6E8A-4147-A177-3AD203B41FA5}">
                      <a16:colId xmlns:a16="http://schemas.microsoft.com/office/drawing/2014/main" val="93485155"/>
                    </a:ext>
                  </a:extLst>
                </a:gridCol>
              </a:tblGrid>
              <a:tr h="255091">
                <a:tc gridSpan="2">
                  <a:txBody>
                    <a:bodyPr/>
                    <a:lstStyle/>
                    <a:p>
                      <a:pPr algn="l" rtl="0" fontAlgn="t"/>
                      <a:endParaRPr lang="en-GB" sz="650" b="1" i="0" u="none" strike="noStrike" noProof="0">
                        <a:solidFill>
                          <a:schemeClr val="tx2"/>
                        </a:solidFill>
                        <a:effectLst/>
                        <a:highlight>
                          <a:srgbClr val="FFFF00"/>
                        </a:highlight>
                        <a:latin typeface="+mn-lt"/>
                      </a:endParaRPr>
                    </a:p>
                  </a:txBody>
                  <a:tcPr marL="36000" marR="0" marT="0" marB="108000" anchor="b">
                    <a:lnL w="9525" cap="flat" cmpd="sng" algn="ctr">
                      <a:noFill/>
                      <a:prstDash val="sysDash"/>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marL="0" marR="0" marT="0" marB="108000" anchor="b">
                    <a:lnL w="19050" cap="flat" cmpd="sng" algn="ctr">
                      <a:solidFill>
                        <a:srgbClr val="444B52"/>
                      </a:solidFill>
                      <a:prstDash val="solid"/>
                      <a:round/>
                      <a:headEnd type="none" w="med" len="med"/>
                      <a:tailEnd type="none" w="med" len="med"/>
                    </a:lnL>
                    <a:lnR w="19050" cap="flat" cmpd="sng" algn="ctr">
                      <a:solidFill>
                        <a:srgbClr val="444B52"/>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444B5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650" b="0" i="0" u="none" strike="noStrike" noProof="0">
                        <a:solidFill>
                          <a:schemeClr val="tx1"/>
                        </a:solidFill>
                        <a:effectLst/>
                        <a:latin typeface="+mn-lt"/>
                      </a:endParaRPr>
                    </a:p>
                  </a:txBody>
                  <a:tcPr marL="0" marR="0" marT="0" marB="108000" anchor="b">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891964"/>
                  </a:ext>
                </a:extLst>
              </a:tr>
              <a:tr h="169200">
                <a:tc rowSpan="3">
                  <a:txBody>
                    <a:bodyPr/>
                    <a:lstStyle/>
                    <a:p>
                      <a:pPr algn="l" rtl="0" fontAlgn="t"/>
                      <a:r>
                        <a:rPr lang="en-GB" sz="900" b="1" i="0" u="none" strike="noStrike" kern="1200" cap="all" spc="50" baseline="0" noProof="0">
                          <a:solidFill>
                            <a:srgbClr val="19624A"/>
                          </a:solidFill>
                          <a:effectLst/>
                          <a:latin typeface="+mn-lt"/>
                          <a:ea typeface="+mn-ea"/>
                          <a:cs typeface="+mn-cs"/>
                        </a:rPr>
                        <a:t>power</a:t>
                      </a:r>
                    </a:p>
                  </a:txBody>
                  <a:tcPr marL="36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0" i="0" u="none" strike="noStrike" noProof="0">
                          <a:solidFill>
                            <a:schemeClr val="tx1"/>
                          </a:solidFill>
                          <a:effectLst/>
                          <a:latin typeface="+mn-lt"/>
                        </a:rPr>
                        <a:t>a)</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4062215"/>
                  </a:ext>
                </a:extLst>
              </a:tr>
              <a:tr h="169200">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rgbClr val="444B52"/>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GB" sz="700" b="0" i="0" u="none" strike="noStrike" noProof="0">
                          <a:solidFill>
                            <a:schemeClr val="tx1"/>
                          </a:solidFill>
                          <a:effectLst/>
                          <a:latin typeface="+mn-lt"/>
                        </a:rPr>
                        <a:t>b)</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Indirect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Indirect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Indirect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Indirect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Indirect</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1807109"/>
                  </a:ext>
                </a:extLst>
              </a:tr>
              <a:tr h="169200">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700" b="0" i="0" u="none" strike="noStrike" noProof="0">
                          <a:solidFill>
                            <a:schemeClr val="tx1"/>
                          </a:solidFill>
                          <a:effectLst/>
                          <a:latin typeface="+mn-lt"/>
                        </a:rPr>
                        <a:t>c)</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5031648"/>
                  </a:ext>
                </a:extLst>
              </a:tr>
              <a:tr h="169200">
                <a:tc rowSpan="3">
                  <a:txBody>
                    <a:bodyPr/>
                    <a:lstStyle/>
                    <a:p>
                      <a:pPr algn="l" rtl="0" fontAlgn="t"/>
                      <a:r>
                        <a:rPr lang="en-GB" sz="900" b="1" i="0" u="none" strike="noStrike" kern="1200" cap="all" spc="50" baseline="0" noProof="0">
                          <a:solidFill>
                            <a:srgbClr val="19624A"/>
                          </a:solidFill>
                          <a:effectLst/>
                          <a:latin typeface="+mn-lt"/>
                          <a:ea typeface="+mn-ea"/>
                          <a:cs typeface="+mn-cs"/>
                        </a:rPr>
                        <a:t>Gas</a:t>
                      </a:r>
                    </a:p>
                  </a:txBody>
                  <a:tcPr marL="36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0" i="0" u="none" strike="noStrike" noProof="0">
                          <a:solidFill>
                            <a:schemeClr val="tx1"/>
                          </a:solidFill>
                          <a:effectLst/>
                          <a:latin typeface="+mn-lt"/>
                        </a:rPr>
                        <a:t>a)</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endParaRPr lang="en-GB" sz="700" b="1" i="0" u="none" strike="noStrike" noProof="0">
                        <a:solidFill>
                          <a:schemeClr val="tx1"/>
                        </a:solidFill>
                        <a:effectLst/>
                        <a:latin typeface="+mn-lt"/>
                      </a:endParaRP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7892094"/>
                  </a:ext>
                </a:extLst>
              </a:tr>
              <a:tr h="169200">
                <a:tc vMerge="1">
                  <a:txBody>
                    <a:bodyPr/>
                    <a:lstStyle/>
                    <a:p>
                      <a:pPr algn="l" rtl="0" fontAlgn="t"/>
                      <a:endParaRPr lang="en-GB" sz="650" b="1" i="0" u="none" strike="noStrike" noProof="0">
                        <a:solidFill>
                          <a:schemeClr val="tx1"/>
                        </a:solidFill>
                        <a:effectLst/>
                        <a:latin typeface="+mn-lt"/>
                      </a:endParaRPr>
                    </a:p>
                  </a:txBody>
                  <a:tcPr marL="108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lang="en-GB" sz="700" b="0" i="0" u="none" strike="noStrike" noProof="0">
                          <a:solidFill>
                            <a:schemeClr val="tx1"/>
                          </a:solidFill>
                          <a:effectLst/>
                          <a:latin typeface="+mn-lt"/>
                        </a:rPr>
                        <a:t>b)</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Indirect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Indirect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Direct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endParaRPr lang="en-GB" sz="700" b="1" i="0" u="none" strike="noStrike" noProof="0">
                        <a:solidFill>
                          <a:schemeClr val="tx1"/>
                        </a:solidFill>
                        <a:effectLst/>
                        <a:latin typeface="+mn-lt"/>
                      </a:endParaRP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7628831"/>
                  </a:ext>
                </a:extLst>
              </a:tr>
              <a:tr h="169200">
                <a:tc vMerge="1">
                  <a:txBody>
                    <a:bodyPr/>
                    <a:lstStyle/>
                    <a:p>
                      <a:pPr algn="l" rtl="0" fontAlgn="t"/>
                      <a:endParaRPr lang="en-GB" sz="650" b="1" i="0" u="none" strike="noStrike" noProof="0">
                        <a:solidFill>
                          <a:schemeClr val="tx1"/>
                        </a:solidFill>
                        <a:effectLst/>
                        <a:latin typeface="+mn-lt"/>
                      </a:endParaRPr>
                    </a:p>
                  </a:txBody>
                  <a:tcPr marL="108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700" b="0" i="0" u="none" strike="noStrike" noProof="0">
                          <a:solidFill>
                            <a:schemeClr val="tx1"/>
                          </a:solidFill>
                          <a:effectLst/>
                          <a:latin typeface="+mn-lt"/>
                        </a:rPr>
                        <a:t>c)</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700" b="1" i="0" u="none" strike="noStrike" noProof="0">
                          <a:solidFill>
                            <a:srgbClr val="009A44"/>
                          </a:solidFill>
                          <a:effectLst/>
                          <a:latin typeface="+mn-lt"/>
                        </a:rPr>
                        <a:t>–</a:t>
                      </a:r>
                      <a:endParaRPr lang="en-GB" sz="700" b="1" i="0" u="none" strike="noStrike" noProof="0">
                        <a:solidFill>
                          <a:schemeClr val="tx1"/>
                        </a:solidFill>
                        <a:effectLst/>
                        <a:latin typeface="+mn-lt"/>
                      </a:endParaRP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2857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511908"/>
                  </a:ext>
                </a:extLst>
              </a:tr>
            </a:tbl>
          </a:graphicData>
        </a:graphic>
      </p:graphicFrame>
      <p:sp>
        <p:nvSpPr>
          <p:cNvPr id="2" name="Titel 1">
            <a:extLst>
              <a:ext uri="{FF2B5EF4-FFF2-40B4-BE49-F238E27FC236}">
                <a16:creationId xmlns:a16="http://schemas.microsoft.com/office/drawing/2014/main" id="{061AA186-926B-6B81-F87C-C8B49F7B3346}"/>
              </a:ext>
            </a:extLst>
          </p:cNvPr>
          <p:cNvSpPr>
            <a:spLocks noGrp="1"/>
          </p:cNvSpPr>
          <p:nvPr>
            <p:ph type="title"/>
          </p:nvPr>
        </p:nvSpPr>
        <p:spPr/>
        <p:txBody>
          <a:bodyPr/>
          <a:lstStyle/>
          <a:p>
            <a:r>
              <a:rPr lang="de-DE"/>
              <a:t>Impact Analysis | Country Assessment</a:t>
            </a:r>
          </a:p>
        </p:txBody>
      </p:sp>
      <p:sp>
        <p:nvSpPr>
          <p:cNvPr id="5" name="Textplatzhalter 4">
            <a:extLst>
              <a:ext uri="{FF2B5EF4-FFF2-40B4-BE49-F238E27FC236}">
                <a16:creationId xmlns:a16="http://schemas.microsoft.com/office/drawing/2014/main" id="{B68B83EF-DA85-8937-5700-D66057E1235F}"/>
              </a:ext>
            </a:extLst>
          </p:cNvPr>
          <p:cNvSpPr>
            <a:spLocks noGrp="1"/>
          </p:cNvSpPr>
          <p:nvPr>
            <p:ph type="body" sz="quarter" idx="10"/>
          </p:nvPr>
        </p:nvSpPr>
        <p:spPr/>
        <p:txBody>
          <a:bodyPr/>
          <a:lstStyle/>
          <a:p>
            <a:r>
              <a:rPr lang="en-US"/>
              <a:t>Country impact assessment based on criteria jointly defined with E.ON</a:t>
            </a:r>
          </a:p>
        </p:txBody>
      </p:sp>
      <p:sp>
        <p:nvSpPr>
          <p:cNvPr id="25" name="Rectangle 75">
            <a:extLst>
              <a:ext uri="{FF2B5EF4-FFF2-40B4-BE49-F238E27FC236}">
                <a16:creationId xmlns:a16="http://schemas.microsoft.com/office/drawing/2014/main" id="{176535B8-B275-4B88-988F-FE8E2E77DFE7}"/>
              </a:ext>
            </a:extLst>
          </p:cNvPr>
          <p:cNvSpPr/>
          <p:nvPr/>
        </p:nvSpPr>
        <p:spPr>
          <a:xfrm>
            <a:off x="457201" y="1582226"/>
            <a:ext cx="3555999" cy="239168"/>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panose="02110004020202020204"/>
                <a:ea typeface="+mn-ea"/>
                <a:cs typeface="+mn-cs"/>
              </a:rPr>
              <a:t>Country-Specific Evaluation</a:t>
            </a:r>
          </a:p>
        </p:txBody>
      </p:sp>
      <p:graphicFrame>
        <p:nvGraphicFramePr>
          <p:cNvPr id="26" name="Table 57">
            <a:extLst>
              <a:ext uri="{FF2B5EF4-FFF2-40B4-BE49-F238E27FC236}">
                <a16:creationId xmlns:a16="http://schemas.microsoft.com/office/drawing/2014/main" id="{3F2FA350-A0D7-54D5-7A86-880335119761}"/>
              </a:ext>
            </a:extLst>
          </p:cNvPr>
          <p:cNvGraphicFramePr>
            <a:graphicFrameLocks noGrp="1"/>
          </p:cNvGraphicFramePr>
          <p:nvPr/>
        </p:nvGraphicFramePr>
        <p:xfrm>
          <a:off x="463601" y="2043032"/>
          <a:ext cx="3024000" cy="4186800"/>
        </p:xfrm>
        <a:graphic>
          <a:graphicData uri="http://schemas.openxmlformats.org/drawingml/2006/table">
            <a:tbl>
              <a:tblPr/>
              <a:tblGrid>
                <a:gridCol w="684000">
                  <a:extLst>
                    <a:ext uri="{9D8B030D-6E8A-4147-A177-3AD203B41FA5}">
                      <a16:colId xmlns:a16="http://schemas.microsoft.com/office/drawing/2014/main" val="2795228013"/>
                    </a:ext>
                  </a:extLst>
                </a:gridCol>
                <a:gridCol w="1872000">
                  <a:extLst>
                    <a:ext uri="{9D8B030D-6E8A-4147-A177-3AD203B41FA5}">
                      <a16:colId xmlns:a16="http://schemas.microsoft.com/office/drawing/2014/main" val="173202279"/>
                    </a:ext>
                  </a:extLst>
                </a:gridCol>
                <a:gridCol w="468000">
                  <a:extLst>
                    <a:ext uri="{9D8B030D-6E8A-4147-A177-3AD203B41FA5}">
                      <a16:colId xmlns:a16="http://schemas.microsoft.com/office/drawing/2014/main" val="2630205196"/>
                    </a:ext>
                  </a:extLst>
                </a:gridCol>
              </a:tblGrid>
              <a:tr h="270000">
                <a:tc gridSpan="2">
                  <a:txBody>
                    <a:bodyPr/>
                    <a:lstStyle/>
                    <a:p>
                      <a:pPr algn="l" rtl="0" fontAlgn="t"/>
                      <a:endParaRPr lang="en-GB" sz="900" b="1" i="0" u="none" strike="noStrike" cap="all" spc="100" baseline="0" noProof="0">
                        <a:solidFill>
                          <a:srgbClr val="19624A"/>
                        </a:solidFill>
                        <a:effectLst/>
                        <a:latin typeface="+mn-lt"/>
                      </a:endParaRPr>
                    </a:p>
                  </a:txBody>
                  <a:tcPr marL="108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fontAlgn="t"/>
                      <a:endParaRPr lang="en-GB" sz="1200" b="0" i="0" u="none" strike="noStrike" noProof="0">
                        <a:solidFill>
                          <a:schemeClr val="tx1"/>
                        </a:solidFill>
                        <a:effectLst/>
                        <a:latin typeface="+mn-lt"/>
                      </a:endParaRP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endParaRPr lang="en-GB" sz="900" b="1" i="0" u="none" strike="noStrike" noProof="0">
                        <a:solidFill>
                          <a:schemeClr val="tx1"/>
                        </a:solidFill>
                        <a:effectLst/>
                        <a:latin typeface="+mn-lt"/>
                      </a:endParaRP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3917831245"/>
                  </a:ext>
                </a:extLst>
              </a:tr>
              <a:tr h="270000">
                <a:tc rowSpan="3">
                  <a:txBody>
                    <a:bodyPr/>
                    <a:lstStyle/>
                    <a:p>
                      <a:pPr algn="l" rtl="0" fontAlgn="t"/>
                      <a:r>
                        <a:rPr lang="en-GB" sz="900" b="1" i="0" u="none" strike="noStrike" cap="all" spc="50" baseline="0" noProof="0">
                          <a:solidFill>
                            <a:srgbClr val="19624A"/>
                          </a:solidFill>
                          <a:effectLst/>
                          <a:latin typeface="+mn-lt"/>
                        </a:rPr>
                        <a:t>Power</a:t>
                      </a:r>
                    </a:p>
                  </a:txBody>
                  <a:tcPr marL="72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800" b="0" i="0" u="none" strike="noStrike" noProof="0">
                          <a:solidFill>
                            <a:schemeClr val="tx1"/>
                          </a:solidFill>
                          <a:effectLst/>
                          <a:latin typeface="+mn-lt"/>
                        </a:rPr>
                        <a:t>a) In IFRS 20 scope?</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1628989990"/>
                  </a:ext>
                </a:extLst>
              </a:tr>
              <a:tr h="270000">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rgbClr val="444B52"/>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b) Direct or indirect relationship?</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Direct</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3787132965"/>
                  </a:ext>
                </a:extLst>
              </a:tr>
              <a:tr h="439200">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c) 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2575612940"/>
                  </a:ext>
                </a:extLst>
              </a:tr>
              <a:tr h="270000">
                <a:tc rowSpan="3">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900" b="1" i="0" u="none" strike="noStrike" cap="all" spc="50" baseline="0" noProof="0">
                          <a:solidFill>
                            <a:srgbClr val="19624A"/>
                          </a:solidFill>
                          <a:effectLst/>
                          <a:latin typeface="+mn-lt"/>
                        </a:rPr>
                        <a:t>Gas</a:t>
                      </a:r>
                    </a:p>
                  </a:txBody>
                  <a:tcPr marL="72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800" b="0" i="0" u="none" strike="noStrike" noProof="0">
                          <a:solidFill>
                            <a:schemeClr val="tx1"/>
                          </a:solidFill>
                          <a:effectLst/>
                          <a:latin typeface="+mn-lt"/>
                        </a:rPr>
                        <a:t>a) In IFRS 20 scope?</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729690998"/>
                  </a:ext>
                </a:extLst>
              </a:tr>
              <a:tr h="270000">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rgbClr val="444B52"/>
                      </a:solidFill>
                      <a:prstDash val="sysDash"/>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b) Direct or indirect relationship?</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Direct</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2299853740"/>
                  </a:ext>
                </a:extLst>
              </a:tr>
              <a:tr h="439200">
                <a:tc vMerge="1">
                  <a:txBody>
                    <a:bodyPr/>
                    <a:lstStyle/>
                    <a:p>
                      <a:endParaRPr/>
                    </a:p>
                  </a:txBody>
                  <a:tcPr marL="108000" marR="0" marT="0" marB="0" anchor="ctr">
                    <a:lnL w="9525" cap="flat" cmpd="sng" algn="ctr">
                      <a:solidFill>
                        <a:schemeClr val="tx1"/>
                      </a:solidFill>
                      <a:prstDash val="sysDash"/>
                      <a:round/>
                      <a:headEnd type="none" w="med" len="med"/>
                      <a:tailEnd type="none" w="med" len="med"/>
                    </a:lnL>
                    <a:lnR w="9525" cap="flat" cmpd="sng" algn="ctr">
                      <a:solidFill>
                        <a:schemeClr val="tx1"/>
                      </a:solidFill>
                      <a:prstDash val="sysDash"/>
                      <a:round/>
                      <a:headEnd type="none" w="med" len="med"/>
                      <a:tailEnd type="none" w="med" len="med"/>
                    </a:lnR>
                    <a:lnT w="9525" cap="flat" cmpd="sng" algn="ctr">
                      <a:solidFill>
                        <a:srgbClr val="444B52"/>
                      </a:solidFill>
                      <a:prstDash val="sysDash"/>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c) 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Yes</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3999401422"/>
                  </a:ext>
                </a:extLst>
              </a:tr>
              <a:tr h="270000">
                <a:tc rowSpan="3">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900" b="1" i="0" u="none" strike="noStrike" kern="1200" cap="all" spc="50" baseline="0" noProof="0">
                          <a:solidFill>
                            <a:srgbClr val="19624A"/>
                          </a:solidFill>
                          <a:effectLst/>
                          <a:latin typeface="+mn-lt"/>
                          <a:ea typeface="+mn-ea"/>
                          <a:cs typeface="+mn-cs"/>
                        </a:rPr>
                        <a:t>Heating</a:t>
                      </a:r>
                    </a:p>
                  </a:txBody>
                  <a:tcPr marL="72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800" b="0" i="0" u="none" strike="noStrike" noProof="0">
                          <a:solidFill>
                            <a:schemeClr val="tx1"/>
                          </a:solidFill>
                          <a:effectLst/>
                          <a:latin typeface="+mn-lt"/>
                        </a:rPr>
                        <a:t>a) In IFRS 20 scope?</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No</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3247867004"/>
                  </a:ext>
                </a:extLst>
              </a:tr>
              <a:tr h="270000">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b) Direct or indirect relationship?</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N/A</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809592688"/>
                  </a:ext>
                </a:extLst>
              </a:tr>
              <a:tr h="439200">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c) 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N/A</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38100"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651804744"/>
                  </a:ext>
                </a:extLst>
              </a:tr>
              <a:tr h="270000">
                <a:tc rowSpan="3">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900" b="1" i="0" u="none" strike="noStrike" cap="all" spc="50" baseline="0" noProof="0">
                          <a:solidFill>
                            <a:srgbClr val="19624A"/>
                          </a:solidFill>
                          <a:effectLst/>
                          <a:latin typeface="+mn-lt"/>
                        </a:rPr>
                        <a:t>Hydro-gen</a:t>
                      </a:r>
                    </a:p>
                  </a:txBody>
                  <a:tcPr marL="72000" marR="0" marT="0" marB="0" anchor="ctr">
                    <a:lnL w="12700" cap="flat" cmpd="sng" algn="ctr">
                      <a:no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t"/>
                      <a:r>
                        <a:rPr lang="en-GB" sz="800" b="0" i="0" u="none" strike="noStrike" noProof="0">
                          <a:solidFill>
                            <a:schemeClr val="tx1"/>
                          </a:solidFill>
                          <a:effectLst/>
                          <a:latin typeface="+mn-lt"/>
                        </a:rPr>
                        <a:t>a) In IFRS 20 scope?</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No</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2914978810"/>
                  </a:ext>
                </a:extLst>
              </a:tr>
              <a:tr h="270000">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b) Direct or indirect relationship?</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N/A</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865943328"/>
                  </a:ext>
                </a:extLst>
              </a:tr>
              <a:tr h="439200">
                <a:tc vMerge="1">
                  <a:txBody>
                    <a:bodyPr/>
                    <a:lstStyle/>
                    <a:p>
                      <a:pPr marL="0" marR="0" lvl="0" indent="0" algn="l" defTabSz="685800" rtl="0" eaLnBrk="1" fontAlgn="t" latinLnBrk="0" hangingPunct="1">
                        <a:lnSpc>
                          <a:spcPct val="100000"/>
                        </a:lnSpc>
                        <a:spcBef>
                          <a:spcPts val="0"/>
                        </a:spcBef>
                        <a:spcAft>
                          <a:spcPts val="0"/>
                        </a:spcAft>
                        <a:buClrTx/>
                        <a:buSzTx/>
                        <a:buFontTx/>
                        <a:buNone/>
                        <a:tabLst/>
                        <a:defRPr/>
                      </a:pPr>
                      <a:endParaRPr lang="en-GB" sz="1200" b="1" i="0" u="none" strike="noStrike" noProof="0">
                        <a:solidFill>
                          <a:schemeClr val="tx1"/>
                        </a:solidFill>
                        <a:effectLst/>
                        <a:latin typeface="+mn-lt"/>
                      </a:endParaRPr>
                    </a:p>
                  </a:txBody>
                  <a:tcPr marL="108000" marR="0" marT="0" marB="0" anchor="ctr">
                    <a:lnL w="12700" cap="flat" cmpd="sng" algn="ctr">
                      <a:solidFill>
                        <a:schemeClr val="accent4"/>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800" b="0" i="0" u="none" strike="noStrike" noProof="0">
                          <a:solidFill>
                            <a:schemeClr val="tx1"/>
                          </a:solidFill>
                          <a:effectLst/>
                          <a:latin typeface="+mn-lt"/>
                        </a:rPr>
                        <a:t>c) Are regulatory assets and liabilities expected and what are main sources?</a:t>
                      </a:r>
                    </a:p>
                  </a:txBody>
                  <a:tcPr marL="108000" marR="0" marT="0" marB="0" anchor="ctr">
                    <a:lnL w="9525" cap="flat" cmpd="sng" algn="ctr">
                      <a:solidFill>
                        <a:srgbClr val="19624A"/>
                      </a:solidFill>
                      <a:prstDash val="solid"/>
                      <a:round/>
                      <a:headEnd type="none" w="med" len="med"/>
                      <a:tailEnd type="none" w="med" len="med"/>
                    </a:lnL>
                    <a:lnR w="9525" cap="flat" cmpd="sng" algn="ctr">
                      <a:solidFill>
                        <a:srgbClr val="19624A"/>
                      </a:solid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r>
                        <a:rPr lang="en-GB" sz="800" b="1" i="0" u="none" strike="noStrike" noProof="0">
                          <a:solidFill>
                            <a:schemeClr val="tx1"/>
                          </a:solidFill>
                          <a:effectLst/>
                          <a:latin typeface="+mn-lt"/>
                        </a:rPr>
                        <a:t>N/A</a:t>
                      </a:r>
                    </a:p>
                  </a:txBody>
                  <a:tcPr marL="0" marR="0" marT="0" marB="0" anchor="ctr">
                    <a:lnL w="9525" cap="flat" cmpd="sng" algn="ctr">
                      <a:solidFill>
                        <a:srgbClr val="19624A"/>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19624A"/>
                      </a:solidFill>
                      <a:prstDash val="solid"/>
                      <a:round/>
                      <a:headEnd type="none" w="med" len="med"/>
                      <a:tailEnd type="none" w="med" len="med"/>
                    </a:lnT>
                    <a:lnB w="9525" cap="flat" cmpd="sng" algn="ctr">
                      <a:solidFill>
                        <a:srgbClr val="19624A"/>
                      </a:solidFill>
                      <a:prstDash val="solid"/>
                      <a:round/>
                      <a:headEnd type="none" w="med" len="med"/>
                      <a:tailEnd type="none" w="med" len="med"/>
                    </a:lnB>
                    <a:lnTlToBr w="12700" cmpd="sng">
                      <a:noFill/>
                      <a:prstDash val="solid"/>
                    </a:lnTlToBr>
                    <a:lnBlToTr w="12700" cmpd="sng">
                      <a:noFill/>
                      <a:prstDash val="solid"/>
                    </a:lnBlToTr>
                    <a:solidFill>
                      <a:schemeClr val="bg1">
                        <a:alpha val="70000"/>
                      </a:schemeClr>
                    </a:solidFill>
                  </a:tcPr>
                </a:tc>
                <a:extLst>
                  <a:ext uri="{0D108BD9-81ED-4DB2-BD59-A6C34878D82A}">
                    <a16:rowId xmlns:a16="http://schemas.microsoft.com/office/drawing/2014/main" val="4134731353"/>
                  </a:ext>
                </a:extLst>
              </a:tr>
            </a:tbl>
          </a:graphicData>
        </a:graphic>
      </p:graphicFrame>
      <p:sp>
        <p:nvSpPr>
          <p:cNvPr id="28" name="Rectangle 75">
            <a:extLst>
              <a:ext uri="{FF2B5EF4-FFF2-40B4-BE49-F238E27FC236}">
                <a16:creationId xmlns:a16="http://schemas.microsoft.com/office/drawing/2014/main" id="{95C3DDD2-1139-DA0C-1E39-49F3EFF1FF25}"/>
              </a:ext>
            </a:extLst>
          </p:cNvPr>
          <p:cNvSpPr/>
          <p:nvPr/>
        </p:nvSpPr>
        <p:spPr>
          <a:xfrm>
            <a:off x="457201" y="2065230"/>
            <a:ext cx="3555999" cy="239168"/>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110004020202020204"/>
                <a:ea typeface="+mn-ea"/>
                <a:cs typeface="+mn-cs"/>
              </a:rPr>
              <a:t>Deloitte (pre-)assessment criteria</a:t>
            </a:r>
          </a:p>
        </p:txBody>
      </p:sp>
      <p:pic>
        <p:nvPicPr>
          <p:cNvPr id="29" name="Germany">
            <a:extLst>
              <a:ext uri="{FF2B5EF4-FFF2-40B4-BE49-F238E27FC236}">
                <a16:creationId xmlns:a16="http://schemas.microsoft.com/office/drawing/2014/main" id="{4648CD08-9994-32B5-08AA-5743079F1B61}"/>
              </a:ext>
            </a:extLst>
          </p:cNvPr>
          <p:cNvPicPr>
            <a:picLocks noChangeAspect="1"/>
          </p:cNvPicPr>
          <p:nvPr>
            <p:custDataLst>
              <p:tags r:id="rId2"/>
            </p:custDataLst>
          </p:nvPr>
        </p:nvPicPr>
        <p:blipFill>
          <a:blip r:embed="rId15" cstate="print">
            <a:extLst>
              <a:ext uri="{28A0092B-C50C-407E-A947-70E740481C1C}">
                <a14:useLocalDpi xmlns:a14="http://schemas.microsoft.com/office/drawing/2010/main" val="0"/>
              </a:ext>
            </a:extLst>
          </a:blip>
          <a:stretch>
            <a:fillRect/>
          </a:stretch>
        </p:blipFill>
        <p:spPr>
          <a:xfrm>
            <a:off x="3071018" y="2064311"/>
            <a:ext cx="365925" cy="220594"/>
          </a:xfrm>
          <a:prstGeom prst="rect">
            <a:avLst/>
          </a:prstGeom>
          <a:ln w="9525">
            <a:noFill/>
          </a:ln>
        </p:spPr>
      </p:pic>
      <p:sp>
        <p:nvSpPr>
          <p:cNvPr id="30" name="Rechteck 29">
            <a:extLst>
              <a:ext uri="{FF2B5EF4-FFF2-40B4-BE49-F238E27FC236}">
                <a16:creationId xmlns:a16="http://schemas.microsoft.com/office/drawing/2014/main" id="{376117BC-0933-97B1-304C-6C7469007C54}"/>
              </a:ext>
            </a:extLst>
          </p:cNvPr>
          <p:cNvSpPr/>
          <p:nvPr/>
        </p:nvSpPr>
        <p:spPr bwMode="gray">
          <a:xfrm flipH="1">
            <a:off x="3549580" y="2304397"/>
            <a:ext cx="2888446" cy="3922617"/>
          </a:xfrm>
          <a:prstGeom prst="rect">
            <a:avLst/>
          </a:prstGeom>
          <a:gradFill>
            <a:gsLst>
              <a:gs pos="0">
                <a:schemeClr val="bg1">
                  <a:alpha val="20000"/>
                </a:schemeClr>
              </a:gs>
              <a:gs pos="55000">
                <a:schemeClr val="bg1">
                  <a:alpha val="80000"/>
                </a:schemeClr>
              </a:gs>
            </a:gsLst>
            <a:lin ang="0" scaled="1"/>
          </a:gra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sp>
        <p:nvSpPr>
          <p:cNvPr id="34" name="Rechteck 33">
            <a:extLst>
              <a:ext uri="{FF2B5EF4-FFF2-40B4-BE49-F238E27FC236}">
                <a16:creationId xmlns:a16="http://schemas.microsoft.com/office/drawing/2014/main" id="{FE239DC0-6729-C619-AE4E-3C5114EFF2F7}"/>
              </a:ext>
            </a:extLst>
          </p:cNvPr>
          <p:cNvSpPr/>
          <p:nvPr/>
        </p:nvSpPr>
        <p:spPr>
          <a:xfrm>
            <a:off x="3619100" y="2364386"/>
            <a:ext cx="2818926" cy="1336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9A44"/>
                </a:solidFill>
                <a:effectLst/>
                <a:uLnTx/>
                <a:uFillTx/>
                <a:latin typeface="Aptos" panose="02110004020202020204"/>
                <a:ea typeface="+mn-ea"/>
                <a:cs typeface="+mn-cs"/>
              </a:rPr>
              <a:t>Are regulatory regimes in scope of IFRS 20? </a:t>
            </a:r>
            <a:endParaRPr kumimoji="0" lang="en-US" sz="1000" b="1" i="0" u="none" strike="noStrike" kern="1200" cap="none" spc="0" normalizeH="0" baseline="0" noProof="0">
              <a:ln>
                <a:noFill/>
              </a:ln>
              <a:solidFill>
                <a:srgbClr val="009A44"/>
              </a:solidFill>
              <a:effectLst/>
              <a:uLnTx/>
              <a:uFillTx/>
              <a:latin typeface="Aptos" panose="02110004020202020204"/>
              <a:ea typeface="+mn-ea"/>
              <a:cs typeface="Segoe UI"/>
            </a:endParaRP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Power and gas networks are regulated by the Energy Law (</a:t>
            </a:r>
            <a:r>
              <a:rPr kumimoji="0" lang="en-US" sz="1000" b="0" i="1" u="none" strike="noStrike" kern="1200" cap="none" spc="0" normalizeH="0" baseline="0" noProof="0" err="1">
                <a:ln>
                  <a:noFill/>
                </a:ln>
                <a:solidFill>
                  <a:prstClr val="black"/>
                </a:solidFill>
                <a:effectLst/>
                <a:uLnTx/>
                <a:uFillTx/>
                <a:latin typeface="Aptos" panose="02110004020202020204"/>
                <a:ea typeface="+mn-ea"/>
                <a:cs typeface="Segoe UI"/>
              </a:rPr>
              <a:t>EnWG</a:t>
            </a: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 incentive regulation (</a:t>
            </a:r>
            <a:r>
              <a:rPr kumimoji="0" lang="en-US" sz="1000" b="0" i="1" u="none" strike="noStrike" kern="1200" cap="none" spc="0" normalizeH="0" baseline="0" noProof="0" err="1">
                <a:ln>
                  <a:noFill/>
                </a:ln>
                <a:solidFill>
                  <a:prstClr val="black"/>
                </a:solidFill>
                <a:effectLst/>
                <a:uLnTx/>
                <a:uFillTx/>
                <a:latin typeface="Aptos" panose="02110004020202020204"/>
                <a:ea typeface="+mn-ea"/>
                <a:cs typeface="Segoe UI"/>
              </a:rPr>
              <a:t>ARegV</a:t>
            </a: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 currently, and prospectively </a:t>
            </a:r>
            <a:r>
              <a:rPr kumimoji="0" lang="en-US" sz="1000" b="0" i="1" u="none" strike="noStrike" kern="1200" cap="none" spc="0" normalizeH="0" baseline="0" noProof="0" err="1">
                <a:ln>
                  <a:noFill/>
                </a:ln>
                <a:solidFill>
                  <a:prstClr val="black"/>
                </a:solidFill>
                <a:effectLst/>
                <a:uLnTx/>
                <a:uFillTx/>
                <a:latin typeface="Aptos" panose="02110004020202020204"/>
                <a:ea typeface="+mn-ea"/>
                <a:cs typeface="Segoe UI"/>
              </a:rPr>
              <a:t>BNetzA</a:t>
            </a: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 framework decisions. </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The regulator sets an allowed revenue (</a:t>
            </a:r>
            <a:r>
              <a:rPr kumimoji="0" lang="en-US" sz="1000" b="0" i="1" u="none" strike="noStrike" kern="1200" cap="none" spc="0" normalizeH="0" baseline="0" noProof="0" err="1">
                <a:ln>
                  <a:noFill/>
                </a:ln>
                <a:solidFill>
                  <a:prstClr val="black"/>
                </a:solidFill>
                <a:effectLst/>
                <a:uLnTx/>
                <a:uFillTx/>
                <a:latin typeface="Aptos" panose="02110004020202020204"/>
                <a:ea typeface="+mn-ea"/>
                <a:cs typeface="Segoe UI"/>
              </a:rPr>
              <a:t>Erlösobergrenze</a:t>
            </a: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a:t>
            </a:r>
          </a:p>
          <a:p>
            <a:pPr marL="177800" marR="0" lvl="0"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Timing differences are compensated via the regulatory account (or </a:t>
            </a:r>
            <a:r>
              <a:rPr kumimoji="0" lang="en-US" sz="1000" b="0" i="1" u="none" strike="noStrike" kern="1200" cap="none" spc="0" normalizeH="0" baseline="0" noProof="0" err="1">
                <a:ln>
                  <a:noFill/>
                </a:ln>
                <a:solidFill>
                  <a:prstClr val="black"/>
                </a:solidFill>
                <a:effectLst/>
                <a:uLnTx/>
                <a:uFillTx/>
                <a:latin typeface="Aptos" panose="02110004020202020204"/>
                <a:ea typeface="+mn-ea"/>
                <a:cs typeface="Segoe UI"/>
              </a:rPr>
              <a:t>Regulierungskonto</a:t>
            </a:r>
            <a:r>
              <a:rPr kumimoji="0" lang="en-US" sz="1000" b="0" i="1" u="none" strike="noStrike" kern="1200" cap="none" spc="0" normalizeH="0" baseline="0" noProof="0">
                <a:ln>
                  <a:noFill/>
                </a:ln>
                <a:solidFill>
                  <a:prstClr val="black"/>
                </a:solidFill>
                <a:effectLst/>
                <a:uLnTx/>
                <a:uFillTx/>
                <a:latin typeface="Aptos" panose="02110004020202020204"/>
                <a:ea typeface="+mn-ea"/>
                <a:cs typeface="Segoe UI"/>
              </a:rPr>
              <a:t>).</a:t>
            </a:r>
          </a:p>
        </p:txBody>
      </p:sp>
      <p:sp>
        <p:nvSpPr>
          <p:cNvPr id="35" name="Rechteck 34">
            <a:extLst>
              <a:ext uri="{FF2B5EF4-FFF2-40B4-BE49-F238E27FC236}">
                <a16:creationId xmlns:a16="http://schemas.microsoft.com/office/drawing/2014/main" id="{290C6F8C-8341-5ADF-8232-919E1167BA90}"/>
              </a:ext>
            </a:extLst>
          </p:cNvPr>
          <p:cNvSpPr/>
          <p:nvPr/>
        </p:nvSpPr>
        <p:spPr>
          <a:xfrm>
            <a:off x="3619100" y="3852492"/>
            <a:ext cx="2818926" cy="1114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9A44"/>
                </a:solidFill>
                <a:effectLst/>
                <a:uLnTx/>
                <a:uFillTx/>
                <a:latin typeface="Aptos" panose="02110004020202020204"/>
                <a:ea typeface="+mn-ea"/>
                <a:cs typeface="+mn-cs"/>
              </a:rPr>
              <a:t>Evaluate whether the regulatory regime features a direct or indirect relationship between IFRS property, plant and equipment and the regulated asset base?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mn-cs"/>
              </a:rPr>
              <a:t>The RAB is defined based on statutory assets.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mn-cs"/>
              </a:rPr>
              <a:t>Differences to IFRS PPE may exist but should be trackable.</a:t>
            </a:r>
          </a:p>
        </p:txBody>
      </p:sp>
      <p:sp>
        <p:nvSpPr>
          <p:cNvPr id="36" name="Rechteck 35">
            <a:extLst>
              <a:ext uri="{FF2B5EF4-FFF2-40B4-BE49-F238E27FC236}">
                <a16:creationId xmlns:a16="http://schemas.microsoft.com/office/drawing/2014/main" id="{13914DD0-A357-34BF-379F-54F8AF90A5E1}"/>
              </a:ext>
            </a:extLst>
          </p:cNvPr>
          <p:cNvSpPr/>
          <p:nvPr/>
        </p:nvSpPr>
        <p:spPr>
          <a:xfrm>
            <a:off x="3619100" y="5036285"/>
            <a:ext cx="2818926" cy="1122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9A44"/>
                </a:solidFill>
                <a:effectLst/>
                <a:uLnTx/>
                <a:uFillTx/>
                <a:latin typeface="Aptos" panose="02110004020202020204"/>
                <a:ea typeface="+mn-ea"/>
                <a:cs typeface="+mn-cs"/>
              </a:rPr>
              <a:t>Analyze regulatory agreement and current accounting practice for expected sources of regulatory assets and liabilities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mn-cs"/>
              </a:rPr>
              <a:t>Forecast vs actual network usage.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mn-cs"/>
              </a:rPr>
              <a:t>Non-controllable costs that are higher or lower than expected.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Aptos" panose="02110004020202020204"/>
                <a:ea typeface="+mn-ea"/>
                <a:cs typeface="+mn-cs"/>
              </a:rPr>
              <a:t>Shorter regulatory depreciation of gas networks.</a:t>
            </a:r>
          </a:p>
        </p:txBody>
      </p:sp>
      <p:grpSp>
        <p:nvGrpSpPr>
          <p:cNvPr id="71" name="Gruppieren 70">
            <a:extLst>
              <a:ext uri="{FF2B5EF4-FFF2-40B4-BE49-F238E27FC236}">
                <a16:creationId xmlns:a16="http://schemas.microsoft.com/office/drawing/2014/main" id="{5376315C-5CA9-F771-AE5B-5C4AD075146E}"/>
              </a:ext>
            </a:extLst>
          </p:cNvPr>
          <p:cNvGrpSpPr/>
          <p:nvPr/>
        </p:nvGrpSpPr>
        <p:grpSpPr>
          <a:xfrm>
            <a:off x="6580318" y="3791360"/>
            <a:ext cx="563832" cy="563832"/>
            <a:chOff x="7000080" y="4191465"/>
            <a:chExt cx="563832" cy="563832"/>
          </a:xfrm>
        </p:grpSpPr>
        <p:sp>
          <p:nvSpPr>
            <p:cNvPr id="43" name="Ellipse 42">
              <a:extLst>
                <a:ext uri="{FF2B5EF4-FFF2-40B4-BE49-F238E27FC236}">
                  <a16:creationId xmlns:a16="http://schemas.microsoft.com/office/drawing/2014/main" id="{304C2C21-CB9F-F046-764C-6CAF5EACD5E6}"/>
                </a:ext>
              </a:extLst>
            </p:cNvPr>
            <p:cNvSpPr/>
            <p:nvPr/>
          </p:nvSpPr>
          <p:spPr bwMode="gray">
            <a:xfrm>
              <a:off x="7000080" y="4191465"/>
              <a:ext cx="563832" cy="563832"/>
            </a:xfrm>
            <a:prstGeom prst="ellipse">
              <a:avLst/>
            </a:prstGeom>
            <a:solidFill>
              <a:srgbClr val="19624A"/>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de-DE" sz="1400" b="0" i="0" u="none" strike="noStrike" kern="1200" cap="none" spc="0" normalizeH="0" baseline="0" noProof="0">
                <a:ln>
                  <a:noFill/>
                </a:ln>
                <a:solidFill>
                  <a:srgbClr val="FF0000"/>
                </a:solidFill>
                <a:effectLst/>
                <a:uLnTx/>
                <a:uFillTx/>
                <a:latin typeface="Aptos" panose="02110004020202020204"/>
                <a:ea typeface="+mn-ea"/>
                <a:cs typeface="+mn-cs"/>
              </a:endParaRPr>
            </a:p>
          </p:txBody>
        </p:sp>
        <p:grpSp>
          <p:nvGrpSpPr>
            <p:cNvPr id="67" name="Graphic 4">
              <a:extLst>
                <a:ext uri="{FF2B5EF4-FFF2-40B4-BE49-F238E27FC236}">
                  <a16:creationId xmlns:a16="http://schemas.microsoft.com/office/drawing/2014/main" id="{F40F81A4-9C0E-9AEC-DFDB-08F52921E2E3}"/>
                </a:ext>
              </a:extLst>
            </p:cNvPr>
            <p:cNvGrpSpPr>
              <a:grpSpLocks noChangeAspect="1"/>
            </p:cNvGrpSpPr>
            <p:nvPr/>
          </p:nvGrpSpPr>
          <p:grpSpPr>
            <a:xfrm>
              <a:off x="7055330" y="4244816"/>
              <a:ext cx="455513" cy="457200"/>
              <a:chOff x="1515054" y="1885352"/>
              <a:chExt cx="361670" cy="361333"/>
            </a:xfrm>
            <a:solidFill>
              <a:schemeClr val="accent4"/>
            </a:solidFill>
          </p:grpSpPr>
          <p:sp>
            <p:nvSpPr>
              <p:cNvPr id="68" name="Graphic 4">
                <a:extLst>
                  <a:ext uri="{FF2B5EF4-FFF2-40B4-BE49-F238E27FC236}">
                    <a16:creationId xmlns:a16="http://schemas.microsoft.com/office/drawing/2014/main" id="{C3670738-7BCC-F1E6-E82A-057452A88B29}"/>
                  </a:ext>
                </a:extLst>
              </p:cNvPr>
              <p:cNvSpPr/>
              <p:nvPr/>
            </p:nvSpPr>
            <p:spPr>
              <a:xfrm>
                <a:off x="1515054" y="1885352"/>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6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6"/>
                      <a:pt x="0" y="180667"/>
                    </a:cubicBezTo>
                    <a:cubicBezTo>
                      <a:pt x="0" y="280257"/>
                      <a:pt x="81152" y="361333"/>
                      <a:pt x="180835" y="361333"/>
                    </a:cubicBezTo>
                    <a:cubicBezTo>
                      <a:pt x="281157" y="361333"/>
                      <a:pt x="361670" y="280257"/>
                      <a:pt x="361670" y="180667"/>
                    </a:cubicBezTo>
                    <a:cubicBezTo>
                      <a:pt x="361670" y="81076"/>
                      <a:pt x="280518" y="0"/>
                      <a:pt x="180835" y="0"/>
                    </a:cubicBezTo>
                    <a:close/>
                    <a:moveTo>
                      <a:pt x="180835" y="349204"/>
                    </a:moveTo>
                    <a:cubicBezTo>
                      <a:pt x="88181" y="349204"/>
                      <a:pt x="12780" y="273873"/>
                      <a:pt x="12780" y="181305"/>
                    </a:cubicBezTo>
                    <a:cubicBezTo>
                      <a:pt x="12780" y="88737"/>
                      <a:pt x="88181" y="13406"/>
                      <a:pt x="180835" y="13406"/>
                    </a:cubicBezTo>
                    <a:cubicBezTo>
                      <a:pt x="273489" y="13406"/>
                      <a:pt x="348891" y="88737"/>
                      <a:pt x="348891" y="181305"/>
                    </a:cubicBezTo>
                    <a:cubicBezTo>
                      <a:pt x="348891" y="273873"/>
                      <a:pt x="273489" y="349204"/>
                      <a:pt x="180835" y="3492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9" name="Graphic 4">
                <a:extLst>
                  <a:ext uri="{FF2B5EF4-FFF2-40B4-BE49-F238E27FC236}">
                    <a16:creationId xmlns:a16="http://schemas.microsoft.com/office/drawing/2014/main" id="{5FA7E440-1013-D781-CDF1-CE0CB8FFED39}"/>
                  </a:ext>
                </a:extLst>
              </p:cNvPr>
              <p:cNvSpPr/>
              <p:nvPr/>
            </p:nvSpPr>
            <p:spPr>
              <a:xfrm>
                <a:off x="1593650" y="1977920"/>
                <a:ext cx="122047" cy="108527"/>
              </a:xfrm>
              <a:custGeom>
                <a:avLst/>
                <a:gdLst>
                  <a:gd name="connsiteX0" fmla="*/ 122048 w 122047"/>
                  <a:gd name="connsiteY0" fmla="*/ 74692 h 108527"/>
                  <a:gd name="connsiteX1" fmla="*/ 122048 w 122047"/>
                  <a:gd name="connsiteY1" fmla="*/ 6384 h 108527"/>
                  <a:gd name="connsiteX2" fmla="*/ 115658 w 122047"/>
                  <a:gd name="connsiteY2" fmla="*/ 0 h 108527"/>
                  <a:gd name="connsiteX3" fmla="*/ 6390 w 122047"/>
                  <a:gd name="connsiteY3" fmla="*/ 0 h 108527"/>
                  <a:gd name="connsiteX4" fmla="*/ 0 w 122047"/>
                  <a:gd name="connsiteY4" fmla="*/ 6384 h 108527"/>
                  <a:gd name="connsiteX5" fmla="*/ 0 w 122047"/>
                  <a:gd name="connsiteY5" fmla="*/ 74692 h 108527"/>
                  <a:gd name="connsiteX6" fmla="*/ 6390 w 122047"/>
                  <a:gd name="connsiteY6" fmla="*/ 81076 h 108527"/>
                  <a:gd name="connsiteX7" fmla="*/ 20448 w 122047"/>
                  <a:gd name="connsiteY7" fmla="*/ 81076 h 108527"/>
                  <a:gd name="connsiteX8" fmla="*/ 20448 w 122047"/>
                  <a:gd name="connsiteY8" fmla="*/ 102144 h 108527"/>
                  <a:gd name="connsiteX9" fmla="*/ 24282 w 122047"/>
                  <a:gd name="connsiteY9" fmla="*/ 107889 h 108527"/>
                  <a:gd name="connsiteX10" fmla="*/ 26838 w 122047"/>
                  <a:gd name="connsiteY10" fmla="*/ 108528 h 108527"/>
                  <a:gd name="connsiteX11" fmla="*/ 31311 w 122047"/>
                  <a:gd name="connsiteY11" fmla="*/ 106612 h 108527"/>
                  <a:gd name="connsiteX12" fmla="*/ 56870 w 122047"/>
                  <a:gd name="connsiteY12" fmla="*/ 81076 h 108527"/>
                  <a:gd name="connsiteX13" fmla="*/ 115658 w 122047"/>
                  <a:gd name="connsiteY13" fmla="*/ 81076 h 108527"/>
                  <a:gd name="connsiteX14" fmla="*/ 122048 w 122047"/>
                  <a:gd name="connsiteY14" fmla="*/ 74692 h 108527"/>
                  <a:gd name="connsiteX15" fmla="*/ 109268 w 122047"/>
                  <a:gd name="connsiteY15" fmla="*/ 68308 h 108527"/>
                  <a:gd name="connsiteX16" fmla="*/ 54314 w 122047"/>
                  <a:gd name="connsiteY16" fmla="*/ 68308 h 108527"/>
                  <a:gd name="connsiteX17" fmla="*/ 49842 w 122047"/>
                  <a:gd name="connsiteY17" fmla="*/ 70224 h 108527"/>
                  <a:gd name="connsiteX18" fmla="*/ 33228 w 122047"/>
                  <a:gd name="connsiteY18" fmla="*/ 86822 h 108527"/>
                  <a:gd name="connsiteX19" fmla="*/ 33228 w 122047"/>
                  <a:gd name="connsiteY19" fmla="*/ 74692 h 108527"/>
                  <a:gd name="connsiteX20" fmla="*/ 26838 w 122047"/>
                  <a:gd name="connsiteY20" fmla="*/ 68308 h 108527"/>
                  <a:gd name="connsiteX21" fmla="*/ 12780 w 122047"/>
                  <a:gd name="connsiteY21" fmla="*/ 68308 h 108527"/>
                  <a:gd name="connsiteX22" fmla="*/ 12780 w 122047"/>
                  <a:gd name="connsiteY22" fmla="*/ 12768 h 108527"/>
                  <a:gd name="connsiteX23" fmla="*/ 109268 w 122047"/>
                  <a:gd name="connsiteY23" fmla="*/ 12768 h 108527"/>
                  <a:gd name="connsiteX24" fmla="*/ 109268 w 122047"/>
                  <a:gd name="connsiteY24" fmla="*/ 68308 h 10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2047" h="108527">
                    <a:moveTo>
                      <a:pt x="122048" y="74692"/>
                    </a:moveTo>
                    <a:lnTo>
                      <a:pt x="122048" y="6384"/>
                    </a:lnTo>
                    <a:cubicBezTo>
                      <a:pt x="122048" y="2554"/>
                      <a:pt x="119492" y="0"/>
                      <a:pt x="115658" y="0"/>
                    </a:cubicBezTo>
                    <a:lnTo>
                      <a:pt x="6390" y="0"/>
                    </a:lnTo>
                    <a:cubicBezTo>
                      <a:pt x="2556" y="0"/>
                      <a:pt x="0" y="2554"/>
                      <a:pt x="0" y="6384"/>
                    </a:cubicBezTo>
                    <a:lnTo>
                      <a:pt x="0" y="74692"/>
                    </a:lnTo>
                    <a:cubicBezTo>
                      <a:pt x="0" y="78523"/>
                      <a:pt x="2556" y="81076"/>
                      <a:pt x="6390" y="81076"/>
                    </a:cubicBezTo>
                    <a:lnTo>
                      <a:pt x="20448" y="81076"/>
                    </a:lnTo>
                    <a:lnTo>
                      <a:pt x="20448" y="102144"/>
                    </a:lnTo>
                    <a:cubicBezTo>
                      <a:pt x="20448" y="104697"/>
                      <a:pt x="21726" y="107251"/>
                      <a:pt x="24282" y="107889"/>
                    </a:cubicBezTo>
                    <a:cubicBezTo>
                      <a:pt x="24921" y="108528"/>
                      <a:pt x="26199" y="108528"/>
                      <a:pt x="26838" y="108528"/>
                    </a:cubicBezTo>
                    <a:cubicBezTo>
                      <a:pt x="28755" y="108528"/>
                      <a:pt x="30033" y="107889"/>
                      <a:pt x="31311" y="106612"/>
                    </a:cubicBezTo>
                    <a:lnTo>
                      <a:pt x="56870" y="81076"/>
                    </a:lnTo>
                    <a:lnTo>
                      <a:pt x="115658" y="81076"/>
                    </a:lnTo>
                    <a:cubicBezTo>
                      <a:pt x="119492" y="81076"/>
                      <a:pt x="122048" y="78523"/>
                      <a:pt x="122048" y="74692"/>
                    </a:cubicBezTo>
                    <a:close/>
                    <a:moveTo>
                      <a:pt x="109268" y="68308"/>
                    </a:moveTo>
                    <a:lnTo>
                      <a:pt x="54314" y="68308"/>
                    </a:lnTo>
                    <a:cubicBezTo>
                      <a:pt x="52398" y="68308"/>
                      <a:pt x="51119" y="68947"/>
                      <a:pt x="49842" y="70224"/>
                    </a:cubicBezTo>
                    <a:lnTo>
                      <a:pt x="33228" y="86822"/>
                    </a:lnTo>
                    <a:lnTo>
                      <a:pt x="33228" y="74692"/>
                    </a:lnTo>
                    <a:cubicBezTo>
                      <a:pt x="33228" y="70862"/>
                      <a:pt x="30672" y="68308"/>
                      <a:pt x="26838" y="68308"/>
                    </a:cubicBezTo>
                    <a:lnTo>
                      <a:pt x="12780" y="68308"/>
                    </a:lnTo>
                    <a:lnTo>
                      <a:pt x="12780" y="12768"/>
                    </a:lnTo>
                    <a:lnTo>
                      <a:pt x="109268" y="12768"/>
                    </a:lnTo>
                    <a:lnTo>
                      <a:pt x="109268" y="6830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0" name="Graphic 4">
                <a:extLst>
                  <a:ext uri="{FF2B5EF4-FFF2-40B4-BE49-F238E27FC236}">
                    <a16:creationId xmlns:a16="http://schemas.microsoft.com/office/drawing/2014/main" id="{A0A5EB14-F9E0-85D6-E3DB-E999369FD72B}"/>
                  </a:ext>
                </a:extLst>
              </p:cNvPr>
              <p:cNvSpPr/>
              <p:nvPr/>
            </p:nvSpPr>
            <p:spPr>
              <a:xfrm>
                <a:off x="1675441" y="2032822"/>
                <a:ext cx="122686" cy="122572"/>
              </a:xfrm>
              <a:custGeom>
                <a:avLst/>
                <a:gdLst>
                  <a:gd name="connsiteX0" fmla="*/ 116297 w 122686"/>
                  <a:gd name="connsiteY0" fmla="*/ 0 h 122572"/>
                  <a:gd name="connsiteX1" fmla="*/ 61343 w 122686"/>
                  <a:gd name="connsiteY1" fmla="*/ 0 h 122572"/>
                  <a:gd name="connsiteX2" fmla="*/ 54953 w 122686"/>
                  <a:gd name="connsiteY2" fmla="*/ 6384 h 122572"/>
                  <a:gd name="connsiteX3" fmla="*/ 61343 w 122686"/>
                  <a:gd name="connsiteY3" fmla="*/ 12768 h 122572"/>
                  <a:gd name="connsiteX4" fmla="*/ 109907 w 122686"/>
                  <a:gd name="connsiteY4" fmla="*/ 12768 h 122572"/>
                  <a:gd name="connsiteX5" fmla="*/ 109907 w 122686"/>
                  <a:gd name="connsiteY5" fmla="*/ 82354 h 122572"/>
                  <a:gd name="connsiteX6" fmla="*/ 88820 w 122686"/>
                  <a:gd name="connsiteY6" fmla="*/ 82354 h 122572"/>
                  <a:gd name="connsiteX7" fmla="*/ 82430 w 122686"/>
                  <a:gd name="connsiteY7" fmla="*/ 88738 h 122572"/>
                  <a:gd name="connsiteX8" fmla="*/ 82430 w 122686"/>
                  <a:gd name="connsiteY8" fmla="*/ 100867 h 122572"/>
                  <a:gd name="connsiteX9" fmla="*/ 65816 w 122686"/>
                  <a:gd name="connsiteY9" fmla="*/ 84269 h 122572"/>
                  <a:gd name="connsiteX10" fmla="*/ 61343 w 122686"/>
                  <a:gd name="connsiteY10" fmla="*/ 82354 h 122572"/>
                  <a:gd name="connsiteX11" fmla="*/ 12780 w 122686"/>
                  <a:gd name="connsiteY11" fmla="*/ 82354 h 122572"/>
                  <a:gd name="connsiteX12" fmla="*/ 12780 w 122686"/>
                  <a:gd name="connsiteY12" fmla="*/ 47880 h 122572"/>
                  <a:gd name="connsiteX13" fmla="*/ 6390 w 122686"/>
                  <a:gd name="connsiteY13" fmla="*/ 41496 h 122572"/>
                  <a:gd name="connsiteX14" fmla="*/ 0 w 122686"/>
                  <a:gd name="connsiteY14" fmla="*/ 47880 h 122572"/>
                  <a:gd name="connsiteX15" fmla="*/ 0 w 122686"/>
                  <a:gd name="connsiteY15" fmla="*/ 88738 h 122572"/>
                  <a:gd name="connsiteX16" fmla="*/ 6390 w 122686"/>
                  <a:gd name="connsiteY16" fmla="*/ 95121 h 122572"/>
                  <a:gd name="connsiteX17" fmla="*/ 58787 w 122686"/>
                  <a:gd name="connsiteY17" fmla="*/ 95121 h 122572"/>
                  <a:gd name="connsiteX18" fmla="*/ 84347 w 122686"/>
                  <a:gd name="connsiteY18" fmla="*/ 120657 h 122572"/>
                  <a:gd name="connsiteX19" fmla="*/ 88820 w 122686"/>
                  <a:gd name="connsiteY19" fmla="*/ 122573 h 122572"/>
                  <a:gd name="connsiteX20" fmla="*/ 91376 w 122686"/>
                  <a:gd name="connsiteY20" fmla="*/ 121934 h 122572"/>
                  <a:gd name="connsiteX21" fmla="*/ 95210 w 122686"/>
                  <a:gd name="connsiteY21" fmla="*/ 116189 h 122572"/>
                  <a:gd name="connsiteX22" fmla="*/ 95210 w 122686"/>
                  <a:gd name="connsiteY22" fmla="*/ 95121 h 122572"/>
                  <a:gd name="connsiteX23" fmla="*/ 116297 w 122686"/>
                  <a:gd name="connsiteY23" fmla="*/ 95121 h 122572"/>
                  <a:gd name="connsiteX24" fmla="*/ 122687 w 122686"/>
                  <a:gd name="connsiteY24" fmla="*/ 88738 h 122572"/>
                  <a:gd name="connsiteX25" fmla="*/ 122687 w 122686"/>
                  <a:gd name="connsiteY25" fmla="*/ 6384 h 122572"/>
                  <a:gd name="connsiteX26" fmla="*/ 116297 w 122686"/>
                  <a:gd name="connsiteY26" fmla="*/ 0 h 122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2686" h="122572">
                    <a:moveTo>
                      <a:pt x="116297" y="0"/>
                    </a:moveTo>
                    <a:lnTo>
                      <a:pt x="61343" y="0"/>
                    </a:lnTo>
                    <a:cubicBezTo>
                      <a:pt x="57509" y="0"/>
                      <a:pt x="54953" y="2554"/>
                      <a:pt x="54953" y="6384"/>
                    </a:cubicBezTo>
                    <a:cubicBezTo>
                      <a:pt x="54953" y="10214"/>
                      <a:pt x="57509" y="12768"/>
                      <a:pt x="61343" y="12768"/>
                    </a:cubicBezTo>
                    <a:lnTo>
                      <a:pt x="109907" y="12768"/>
                    </a:lnTo>
                    <a:lnTo>
                      <a:pt x="109907" y="82354"/>
                    </a:lnTo>
                    <a:lnTo>
                      <a:pt x="88820" y="82354"/>
                    </a:lnTo>
                    <a:cubicBezTo>
                      <a:pt x="84986" y="82354"/>
                      <a:pt x="82430" y="84907"/>
                      <a:pt x="82430" y="88738"/>
                    </a:cubicBezTo>
                    <a:lnTo>
                      <a:pt x="82430" y="100867"/>
                    </a:lnTo>
                    <a:lnTo>
                      <a:pt x="65816" y="84269"/>
                    </a:lnTo>
                    <a:cubicBezTo>
                      <a:pt x="64538" y="82992"/>
                      <a:pt x="63260" y="82354"/>
                      <a:pt x="61343" y="82354"/>
                    </a:cubicBezTo>
                    <a:lnTo>
                      <a:pt x="12780" y="82354"/>
                    </a:lnTo>
                    <a:lnTo>
                      <a:pt x="12780" y="47880"/>
                    </a:lnTo>
                    <a:cubicBezTo>
                      <a:pt x="12780" y="44050"/>
                      <a:pt x="10224" y="41496"/>
                      <a:pt x="6390" y="41496"/>
                    </a:cubicBezTo>
                    <a:cubicBezTo>
                      <a:pt x="2556" y="41496"/>
                      <a:pt x="0" y="44050"/>
                      <a:pt x="0" y="47880"/>
                    </a:cubicBezTo>
                    <a:lnTo>
                      <a:pt x="0" y="88738"/>
                    </a:lnTo>
                    <a:cubicBezTo>
                      <a:pt x="0" y="92568"/>
                      <a:pt x="2556" y="95121"/>
                      <a:pt x="6390" y="95121"/>
                    </a:cubicBezTo>
                    <a:lnTo>
                      <a:pt x="58787" y="95121"/>
                    </a:lnTo>
                    <a:lnTo>
                      <a:pt x="84347" y="120657"/>
                    </a:lnTo>
                    <a:cubicBezTo>
                      <a:pt x="85625" y="121934"/>
                      <a:pt x="86903" y="122573"/>
                      <a:pt x="88820" y="122573"/>
                    </a:cubicBezTo>
                    <a:cubicBezTo>
                      <a:pt x="89459" y="122573"/>
                      <a:pt x="90737" y="122573"/>
                      <a:pt x="91376" y="121934"/>
                    </a:cubicBezTo>
                    <a:cubicBezTo>
                      <a:pt x="93932" y="120657"/>
                      <a:pt x="95210" y="118742"/>
                      <a:pt x="95210" y="116189"/>
                    </a:cubicBezTo>
                    <a:lnTo>
                      <a:pt x="95210" y="95121"/>
                    </a:lnTo>
                    <a:lnTo>
                      <a:pt x="116297" y="95121"/>
                    </a:lnTo>
                    <a:cubicBezTo>
                      <a:pt x="120131" y="95121"/>
                      <a:pt x="122687" y="92568"/>
                      <a:pt x="122687" y="88738"/>
                    </a:cubicBezTo>
                    <a:lnTo>
                      <a:pt x="122687" y="6384"/>
                    </a:lnTo>
                    <a:cubicBezTo>
                      <a:pt x="122687" y="3192"/>
                      <a:pt x="119492" y="0"/>
                      <a:pt x="116297"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sp>
        <p:nvSpPr>
          <p:cNvPr id="72" name="Textfeld 71">
            <a:extLst>
              <a:ext uri="{FF2B5EF4-FFF2-40B4-BE49-F238E27FC236}">
                <a16:creationId xmlns:a16="http://schemas.microsoft.com/office/drawing/2014/main" id="{146AFFB8-334E-B69D-B4FE-DAC013B5BFE5}"/>
              </a:ext>
            </a:extLst>
          </p:cNvPr>
          <p:cNvSpPr txBox="1"/>
          <p:nvPr/>
        </p:nvSpPr>
        <p:spPr>
          <a:xfrm>
            <a:off x="7243140" y="3791360"/>
            <a:ext cx="3473494" cy="243985"/>
          </a:xfrm>
          <a:prstGeom prst="rect">
            <a:avLst/>
          </a:prstGeom>
        </p:spPr>
        <p:txBody>
          <a:bodyPr vert="horz"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9624A"/>
                </a:solidFill>
                <a:effectLst/>
                <a:uLnTx/>
                <a:uFillTx/>
                <a:latin typeface="Aptos" panose="02110004020202020204"/>
                <a:ea typeface="+mn-ea"/>
                <a:cs typeface="+mn-cs"/>
              </a:rPr>
              <a:t>Country-Specific Approach</a:t>
            </a:r>
          </a:p>
        </p:txBody>
      </p:sp>
      <p:sp>
        <p:nvSpPr>
          <p:cNvPr id="74" name="Rectangle 75">
            <a:extLst>
              <a:ext uri="{FF2B5EF4-FFF2-40B4-BE49-F238E27FC236}">
                <a16:creationId xmlns:a16="http://schemas.microsoft.com/office/drawing/2014/main" id="{4BFFD514-8B54-8DEA-DC79-C6019019BF86}"/>
              </a:ext>
            </a:extLst>
          </p:cNvPr>
          <p:cNvSpPr/>
          <p:nvPr/>
        </p:nvSpPr>
        <p:spPr>
          <a:xfrm>
            <a:off x="6498901" y="2043032"/>
            <a:ext cx="5049451" cy="261366"/>
          </a:xfrm>
          <a:prstGeom prst="rect">
            <a:avLst/>
          </a:prstGeom>
          <a:solidFill>
            <a:srgbClr val="19624A"/>
          </a:solidFill>
        </p:spPr>
        <p:txBody>
          <a:bodyPr vert="horz" wrap="square" lIns="7200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110004020202020204"/>
                <a:ea typeface="+mn-ea"/>
                <a:cs typeface="+mn-cs"/>
              </a:rPr>
              <a:t>Initial (pre-)assessment based on public information and AI</a:t>
            </a:r>
          </a:p>
        </p:txBody>
      </p:sp>
      <p:grpSp>
        <p:nvGrpSpPr>
          <p:cNvPr id="75" name="Gruppieren 74">
            <a:extLst>
              <a:ext uri="{FF2B5EF4-FFF2-40B4-BE49-F238E27FC236}">
                <a16:creationId xmlns:a16="http://schemas.microsoft.com/office/drawing/2014/main" id="{6E0F894C-AA5A-DF3B-39D2-CB363BBF3A98}"/>
              </a:ext>
            </a:extLst>
          </p:cNvPr>
          <p:cNvGrpSpPr/>
          <p:nvPr/>
        </p:nvGrpSpPr>
        <p:grpSpPr>
          <a:xfrm>
            <a:off x="7638502" y="2364386"/>
            <a:ext cx="3779324" cy="146134"/>
            <a:chOff x="7638502" y="2364386"/>
            <a:chExt cx="3779324" cy="146134"/>
          </a:xfrm>
        </p:grpSpPr>
        <p:pic>
          <p:nvPicPr>
            <p:cNvPr id="10" name="Sweden">
              <a:extLst>
                <a:ext uri="{FF2B5EF4-FFF2-40B4-BE49-F238E27FC236}">
                  <a16:creationId xmlns:a16="http://schemas.microsoft.com/office/drawing/2014/main" id="{49CDA3C7-01DC-7314-A3C7-275B8165CE33}"/>
                </a:ext>
              </a:extLst>
            </p:cNvPr>
            <p:cNvPicPr>
              <a:picLocks noChangeAspect="1"/>
            </p:cNvPicPr>
            <p:nvPr>
              <p:custDataLst>
                <p:tags r:id="rId3"/>
              </p:custDataLst>
            </p:nvPr>
          </p:nvPicPr>
          <p:blipFill>
            <a:blip r:embed="rId16" cstate="print">
              <a:extLst>
                <a:ext uri="{28A0092B-C50C-407E-A947-70E740481C1C}">
                  <a14:useLocalDpi xmlns:a14="http://schemas.microsoft.com/office/drawing/2010/main" val="0"/>
                </a:ext>
              </a:extLst>
            </a:blip>
            <a:stretch>
              <a:fillRect/>
            </a:stretch>
          </p:blipFill>
          <p:spPr>
            <a:xfrm>
              <a:off x="7638502" y="2366520"/>
              <a:ext cx="237177" cy="144000"/>
            </a:xfrm>
            <a:prstGeom prst="rect">
              <a:avLst/>
            </a:prstGeom>
            <a:ln w="9525">
              <a:solidFill>
                <a:schemeClr val="bg1">
                  <a:lumMod val="65000"/>
                </a:schemeClr>
              </a:solidFill>
            </a:ln>
          </p:spPr>
        </p:pic>
        <p:pic>
          <p:nvPicPr>
            <p:cNvPr id="11" name="Czech Rep.">
              <a:extLst>
                <a:ext uri="{FF2B5EF4-FFF2-40B4-BE49-F238E27FC236}">
                  <a16:creationId xmlns:a16="http://schemas.microsoft.com/office/drawing/2014/main" id="{B10BAE3E-A13D-A825-8072-40EB1F51BBFF}"/>
                </a:ext>
              </a:extLst>
            </p:cNvPr>
            <p:cNvPicPr>
              <a:picLocks noChangeAspect="1"/>
            </p:cNvPicPr>
            <p:nvPr>
              <p:custDataLst>
                <p:tags r:id="rId4"/>
              </p:custDataLst>
            </p:nvPr>
          </p:nvPicPr>
          <p:blipFill>
            <a:blip r:embed="rId17" cstate="print">
              <a:extLst>
                <a:ext uri="{28A0092B-C50C-407E-A947-70E740481C1C}">
                  <a14:useLocalDpi xmlns:a14="http://schemas.microsoft.com/office/drawing/2010/main" val="0"/>
                </a:ext>
              </a:extLst>
            </a:blip>
            <a:stretch>
              <a:fillRect/>
            </a:stretch>
          </p:blipFill>
          <p:spPr>
            <a:xfrm>
              <a:off x="8143072" y="2366520"/>
              <a:ext cx="238870" cy="144000"/>
            </a:xfrm>
            <a:prstGeom prst="rect">
              <a:avLst/>
            </a:prstGeom>
            <a:ln w="9525">
              <a:solidFill>
                <a:schemeClr val="bg1">
                  <a:lumMod val="65000"/>
                </a:schemeClr>
              </a:solidFill>
            </a:ln>
          </p:spPr>
        </p:pic>
        <p:pic>
          <p:nvPicPr>
            <p:cNvPr id="12" name="Poland">
              <a:extLst>
                <a:ext uri="{FF2B5EF4-FFF2-40B4-BE49-F238E27FC236}">
                  <a16:creationId xmlns:a16="http://schemas.microsoft.com/office/drawing/2014/main" id="{292C7A9F-9DC8-407E-1E61-7C4F2045A030}"/>
                </a:ext>
              </a:extLst>
            </p:cNvPr>
            <p:cNvPicPr>
              <a:picLocks noChangeAspect="1"/>
            </p:cNvPicPr>
            <p:nvPr>
              <p:custDataLst>
                <p:tags r:id="rId5"/>
              </p:custDataLst>
            </p:nvPr>
          </p:nvPicPr>
          <p:blipFill>
            <a:blip r:embed="rId18" cstate="print">
              <a:extLst>
                <a:ext uri="{28A0092B-C50C-407E-A947-70E740481C1C}">
                  <a14:useLocalDpi xmlns:a14="http://schemas.microsoft.com/office/drawing/2010/main" val="0"/>
                </a:ext>
              </a:extLst>
            </a:blip>
            <a:stretch>
              <a:fillRect/>
            </a:stretch>
          </p:blipFill>
          <p:spPr>
            <a:xfrm>
              <a:off x="8649335" y="2366520"/>
              <a:ext cx="237177" cy="144000"/>
            </a:xfrm>
            <a:prstGeom prst="rect">
              <a:avLst/>
            </a:prstGeom>
            <a:ln w="9525">
              <a:solidFill>
                <a:schemeClr val="bg1">
                  <a:lumMod val="65000"/>
                </a:schemeClr>
              </a:solidFill>
            </a:ln>
          </p:spPr>
        </p:pic>
        <p:pic>
          <p:nvPicPr>
            <p:cNvPr id="13" name="Slovakia">
              <a:extLst>
                <a:ext uri="{FF2B5EF4-FFF2-40B4-BE49-F238E27FC236}">
                  <a16:creationId xmlns:a16="http://schemas.microsoft.com/office/drawing/2014/main" id="{72F066D2-8D88-CDDC-2D46-02BE8B705920}"/>
                </a:ext>
              </a:extLst>
            </p:cNvPr>
            <p:cNvPicPr>
              <a:picLocks noChangeAspect="1"/>
            </p:cNvPicPr>
            <p:nvPr>
              <p:custDataLst>
                <p:tags r:id="rId6"/>
              </p:custDataLst>
            </p:nvPr>
          </p:nvPicPr>
          <p:blipFill>
            <a:blip r:embed="rId19" cstate="print">
              <a:extLst>
                <a:ext uri="{28A0092B-C50C-407E-A947-70E740481C1C}">
                  <a14:useLocalDpi xmlns:a14="http://schemas.microsoft.com/office/drawing/2010/main" val="0"/>
                </a:ext>
              </a:extLst>
            </a:blip>
            <a:stretch>
              <a:fillRect/>
            </a:stretch>
          </p:blipFill>
          <p:spPr>
            <a:xfrm>
              <a:off x="9153905" y="2366520"/>
              <a:ext cx="238870" cy="144000"/>
            </a:xfrm>
            <a:prstGeom prst="rect">
              <a:avLst/>
            </a:prstGeom>
            <a:ln w="9525">
              <a:solidFill>
                <a:schemeClr val="bg1">
                  <a:lumMod val="65000"/>
                </a:schemeClr>
              </a:solidFill>
            </a:ln>
          </p:spPr>
        </p:pic>
        <p:pic>
          <p:nvPicPr>
            <p:cNvPr id="14" name="Hungary">
              <a:extLst>
                <a:ext uri="{FF2B5EF4-FFF2-40B4-BE49-F238E27FC236}">
                  <a16:creationId xmlns:a16="http://schemas.microsoft.com/office/drawing/2014/main" id="{5F0EED5A-E9B3-5475-1320-337095E47675}"/>
                </a:ext>
              </a:extLst>
            </p:cNvPr>
            <p:cNvPicPr>
              <a:picLocks noChangeAspect="1"/>
            </p:cNvPicPr>
            <p:nvPr>
              <p:custDataLst>
                <p:tags r:id="rId7"/>
              </p:custDataLst>
            </p:nvPr>
          </p:nvPicPr>
          <p:blipFill>
            <a:blip r:embed="rId20" cstate="print">
              <a:extLst>
                <a:ext uri="{28A0092B-C50C-407E-A947-70E740481C1C}">
                  <a14:useLocalDpi xmlns:a14="http://schemas.microsoft.com/office/drawing/2010/main" val="0"/>
                </a:ext>
              </a:extLst>
            </a:blip>
            <a:stretch>
              <a:fillRect/>
            </a:stretch>
          </p:blipFill>
          <p:spPr>
            <a:xfrm>
              <a:off x="9660168" y="2366520"/>
              <a:ext cx="238870" cy="144000"/>
            </a:xfrm>
            <a:prstGeom prst="rect">
              <a:avLst/>
            </a:prstGeom>
            <a:ln w="9525">
              <a:solidFill>
                <a:schemeClr val="bg1">
                  <a:lumMod val="65000"/>
                </a:schemeClr>
              </a:solidFill>
            </a:ln>
          </p:spPr>
        </p:pic>
        <p:pic>
          <p:nvPicPr>
            <p:cNvPr id="15" name="Croatia">
              <a:extLst>
                <a:ext uri="{FF2B5EF4-FFF2-40B4-BE49-F238E27FC236}">
                  <a16:creationId xmlns:a16="http://schemas.microsoft.com/office/drawing/2014/main" id="{5BCC6A55-F807-E3AF-040A-C3E3B0B02B18}"/>
                </a:ext>
              </a:extLst>
            </p:cNvPr>
            <p:cNvPicPr>
              <a:picLocks noChangeAspect="1"/>
            </p:cNvPicPr>
            <p:nvPr>
              <p:custDataLst>
                <p:tags r:id="rId8"/>
              </p:custDataLst>
            </p:nvPr>
          </p:nvPicPr>
          <p:blipFill>
            <a:blip r:embed="rId21" cstate="print">
              <a:extLst>
                <a:ext uri="{28A0092B-C50C-407E-A947-70E740481C1C}">
                  <a14:useLocalDpi xmlns:a14="http://schemas.microsoft.com/office/drawing/2010/main" val="0"/>
                </a:ext>
              </a:extLst>
            </a:blip>
            <a:stretch>
              <a:fillRect/>
            </a:stretch>
          </p:blipFill>
          <p:spPr>
            <a:xfrm>
              <a:off x="10166431" y="2364386"/>
              <a:ext cx="238870" cy="144000"/>
            </a:xfrm>
            <a:prstGeom prst="rect">
              <a:avLst/>
            </a:prstGeom>
            <a:ln w="9525">
              <a:solidFill>
                <a:schemeClr val="bg1">
                  <a:lumMod val="65000"/>
                </a:schemeClr>
              </a:solidFill>
            </a:ln>
          </p:spPr>
        </p:pic>
        <p:pic>
          <p:nvPicPr>
            <p:cNvPr id="16" name="Romania">
              <a:extLst>
                <a:ext uri="{FF2B5EF4-FFF2-40B4-BE49-F238E27FC236}">
                  <a16:creationId xmlns:a16="http://schemas.microsoft.com/office/drawing/2014/main" id="{B846682D-A1CB-5152-8136-95F78AD0C085}"/>
                </a:ext>
              </a:extLst>
            </p:cNvPr>
            <p:cNvPicPr>
              <a:picLocks noChangeAspect="1"/>
            </p:cNvPicPr>
            <p:nvPr>
              <p:custDataLst>
                <p:tags r:id="rId9"/>
              </p:custDataLst>
            </p:nvPr>
          </p:nvPicPr>
          <p:blipFill>
            <a:blip r:embed="rId22" cstate="print">
              <a:extLst>
                <a:ext uri="{28A0092B-C50C-407E-A947-70E740481C1C}">
                  <a14:useLocalDpi xmlns:a14="http://schemas.microsoft.com/office/drawing/2010/main" val="0"/>
                </a:ext>
              </a:extLst>
            </a:blip>
            <a:stretch>
              <a:fillRect/>
            </a:stretch>
          </p:blipFill>
          <p:spPr>
            <a:xfrm>
              <a:off x="10672694" y="2364386"/>
              <a:ext cx="238870" cy="144000"/>
            </a:xfrm>
            <a:prstGeom prst="rect">
              <a:avLst/>
            </a:prstGeom>
            <a:ln w="9525">
              <a:solidFill>
                <a:schemeClr val="bg1">
                  <a:lumMod val="65000"/>
                </a:schemeClr>
              </a:solidFill>
            </a:ln>
          </p:spPr>
        </p:pic>
        <p:pic>
          <p:nvPicPr>
            <p:cNvPr id="17" name="Turkey">
              <a:extLst>
                <a:ext uri="{FF2B5EF4-FFF2-40B4-BE49-F238E27FC236}">
                  <a16:creationId xmlns:a16="http://schemas.microsoft.com/office/drawing/2014/main" id="{E581942A-9C2B-C68C-DC44-F900ECA0C028}"/>
                </a:ext>
              </a:extLst>
            </p:cNvPr>
            <p:cNvPicPr>
              <a:picLocks noChangeAspect="1"/>
            </p:cNvPicPr>
            <p:nvPr>
              <p:custDataLst>
                <p:tags r:id="rId10"/>
              </p:custDataLst>
            </p:nvPr>
          </p:nvPicPr>
          <p:blipFill>
            <a:blip r:embed="rId23" cstate="print">
              <a:extLst>
                <a:ext uri="{28A0092B-C50C-407E-A947-70E740481C1C}">
                  <a14:useLocalDpi xmlns:a14="http://schemas.microsoft.com/office/drawing/2010/main" val="0"/>
                </a:ext>
              </a:extLst>
            </a:blip>
            <a:stretch>
              <a:fillRect/>
            </a:stretch>
          </p:blipFill>
          <p:spPr>
            <a:xfrm>
              <a:off x="11178956" y="2364386"/>
              <a:ext cx="238870" cy="144000"/>
            </a:xfrm>
            <a:prstGeom prst="rect">
              <a:avLst/>
            </a:prstGeom>
            <a:ln w="9525">
              <a:solidFill>
                <a:schemeClr val="bg1">
                  <a:lumMod val="65000"/>
                </a:schemeClr>
              </a:solidFill>
            </a:ln>
          </p:spPr>
        </p:pic>
      </p:grpSp>
    </p:spTree>
    <p:extLst>
      <p:ext uri="{BB962C8B-B14F-4D97-AF65-F5344CB8AC3E}">
        <p14:creationId xmlns:p14="http://schemas.microsoft.com/office/powerpoint/2010/main" val="347472171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AVOID_BLANK_LAYOUT" val="False"/>
  <p:tag name="MIO_CD_LAYOUT_VALID_AREA" val="False"/>
  <p:tag name="MIO_DBID" val=""/>
  <p:tag name="MIO_EKGUID" val="00000000-0000-0000-0000-000000000000"/>
  <p:tag name="MIO_FALLBACK_LAYOUT" val="32"/>
  <p:tag name="MIO_HDS" val="True"/>
  <p:tag name="MIO_LASTDOWNLOADED" val="01.01.0001 00:00:00.000"/>
  <p:tag name="MIO_NUMBER_OF_VALID_LAYOUTS" val="50"/>
  <p:tag name="MIO_SHOW_DATE" val="False"/>
  <p:tag name="MIO_SHOW_FOOTER" val="False"/>
  <p:tag name="MIO_SHOW_PAGENUMBER" val="False"/>
  <p:tag name="MIO_SKIPVERSION" val="01.01.0001 00:00:00"/>
  <p:tag name="MIO_UPDATE" val="True"/>
  <p:tag name="MIO_VERSION" val="01.01.0001 00:00:00"/>
</p:tagLst>
</file>

<file path=ppt/tags/tag3.xml><?xml version="1.0" encoding="utf-8"?>
<p:tagLst xmlns:a="http://schemas.openxmlformats.org/drawingml/2006/main" xmlns:r="http://schemas.openxmlformats.org/officeDocument/2006/relationships" xmlns:p="http://schemas.openxmlformats.org/presentationml/2006/main">
  <p:tag name="MIO_AVOID_BLANK_LAYOUT" val="False"/>
  <p:tag name="MIO_CD_LAYOUT_VALID_AREA" val="False"/>
  <p:tag name="MIO_CDID" val="b832c4bc-5070-4232-bfdb-3d42c9da7c2d"/>
  <p:tag name="MIO_DBID" val="fede6900-895c-4459-b97c-72b2b9dac459"/>
  <p:tag name="MIO_EKGUID" val="1137f388-d257-44c7-abdf-c0d75a0331bb"/>
  <p:tag name="MIO_EMBED_FONT" val="False"/>
  <p:tag name="MIO_FALLBACK_LAYOUT" val="29"/>
  <p:tag name="MIO_HDS" val="True"/>
  <p:tag name="MIO_LASTDOWNLOADED" val="23.10.2022 12:23:35.665"/>
  <p:tag name="MIO_MATCH_COLOR_SCHEME" val="False"/>
  <p:tag name="MIO_NUMBER_OF_VALID_LAYOUTS" val="44"/>
  <p:tag name="MIO_OBJECTNAME" val="01 Deloitte 16:9 (2022) short"/>
  <p:tag name="MIO_SHOW_DATE" val="False"/>
  <p:tag name="MIO_SHOW_FOOTER" val="False"/>
  <p:tag name="MIO_SHOW_PAGENUMBER" val="True"/>
  <p:tag name="MIO_SKIPVERSION" val="01.01.0001 00:00:00"/>
  <p:tag name="MIO_UPDATE" val="True"/>
  <p:tag name="MIO_VERSION" val="10.10.2022 05:46:42"/>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EE4P_HIDDEN_MASTER_SHAPE" val="1"/>
</p:tagLst>
</file>

<file path=ppt/tags/tag15.xml><?xml version="1.0" encoding="utf-8"?>
<p:tagLst xmlns:a="http://schemas.openxmlformats.org/drawingml/2006/main" xmlns:r="http://schemas.openxmlformats.org/officeDocument/2006/relationships" xmlns:p="http://schemas.openxmlformats.org/presentationml/2006/main">
  <p:tag name="EE4P_HIDDEN_MASTER_SHAPE" val="1"/>
</p:tagLst>
</file>

<file path=ppt/tags/tag16.xml><?xml version="1.0" encoding="utf-8"?>
<p:tagLst xmlns:a="http://schemas.openxmlformats.org/drawingml/2006/main" xmlns:r="http://schemas.openxmlformats.org/officeDocument/2006/relationships" xmlns:p="http://schemas.openxmlformats.org/presentationml/2006/main">
  <p:tag name="EE4P_HIDDEN_MASTER_SHAPE" val="1"/>
</p:tagLst>
</file>

<file path=ppt/tags/tag17.xml><?xml version="1.0" encoding="utf-8"?>
<p:tagLst xmlns:a="http://schemas.openxmlformats.org/drawingml/2006/main" xmlns:r="http://schemas.openxmlformats.org/officeDocument/2006/relationships" xmlns:p="http://schemas.openxmlformats.org/presentationml/2006/main">
  <p:tag name="EE4P_HIDDEN_MASTER_SHAPE" val="1"/>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8KEztrqPu0.ccF8qdOw.L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8KEztrqPu0.ccF8qdOw.L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MIO_MANAGED_ID" val="6b0074a7-df8a-46f8-9588-110b84982b5a"/>
</p:tagLst>
</file>

<file path=ppt/tags/tag28.xml><?xml version="1.0" encoding="utf-8"?>
<p:tagLst xmlns:a="http://schemas.openxmlformats.org/drawingml/2006/main" xmlns:r="http://schemas.openxmlformats.org/officeDocument/2006/relationships" xmlns:p="http://schemas.openxmlformats.org/presentationml/2006/main">
  <p:tag name="MIO_MANAGED_ID" val="3dd3580b-2cd3-4cb8-969c-10a3c3c25cb2"/>
</p:tagLst>
</file>

<file path=ppt/tags/tag29.xml><?xml version="1.0" encoding="utf-8"?>
<p:tagLst xmlns:a="http://schemas.openxmlformats.org/drawingml/2006/main" xmlns:r="http://schemas.openxmlformats.org/officeDocument/2006/relationships" xmlns:p="http://schemas.openxmlformats.org/presentationml/2006/main">
  <p:tag name="MIO_MANAGED_ID" val="9e45f2bb-7a05-4a90-b952-c1842182fae7"/>
</p:tagLst>
</file>

<file path=ppt/tags/tag30.xml><?xml version="1.0" encoding="utf-8"?>
<p:tagLst xmlns:a="http://schemas.openxmlformats.org/drawingml/2006/main" xmlns:r="http://schemas.openxmlformats.org/officeDocument/2006/relationships" xmlns:p="http://schemas.openxmlformats.org/presentationml/2006/main">
  <p:tag name="MIO_MANAGED_ID" val="9e45f2bb-7a05-4a90-b952-c1842182fae7"/>
</p:tagLst>
</file>

<file path=ppt/tags/tag31.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2.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3.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4.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5.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6.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7.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8.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39.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0.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1.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2.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3.xml><?xml version="1.0" encoding="utf-8"?>
<p:tagLst xmlns:a="http://schemas.openxmlformats.org/drawingml/2006/main" xmlns:r="http://schemas.openxmlformats.org/officeDocument/2006/relationships" xmlns:p="http://schemas.openxmlformats.org/presentationml/2006/main">
  <p:tag name="MIO_MANAGED_ID" val="9e45f2bb-7a05-4a90-b952-c1842182fae7"/>
</p:tagLst>
</file>

<file path=ppt/tags/tag44.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5.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6.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7.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8.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49.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0.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1.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2.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3.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4.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5.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6.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7.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8.xml><?xml version="1.0" encoding="utf-8"?>
<p:tagLst xmlns:a="http://schemas.openxmlformats.org/drawingml/2006/main" xmlns:r="http://schemas.openxmlformats.org/officeDocument/2006/relationships" xmlns:p="http://schemas.openxmlformats.org/presentationml/2006/main">
  <p:tag name="MIO_MANAGED_ID" val="0382db40-d72a-4020-9a5b-f050165d2ee0"/>
</p:tagLst>
</file>

<file path=ppt/tags/tag59.xml><?xml version="1.0" encoding="utf-8"?>
<p:tagLst xmlns:a="http://schemas.openxmlformats.org/drawingml/2006/main" xmlns:r="http://schemas.openxmlformats.org/officeDocument/2006/relationships" xmlns:p="http://schemas.openxmlformats.org/presentationml/2006/main">
  <p:tag name="MIO_MANAGED_ID" val="9e45f2bb-7a05-4a90-b952-c1842182fae7"/>
</p:tagLst>
</file>

<file path=ppt/tags/tag60.xml><?xml version="1.0" encoding="utf-8"?>
<p:tagLst xmlns:a="http://schemas.openxmlformats.org/drawingml/2006/main" xmlns:r="http://schemas.openxmlformats.org/officeDocument/2006/relationships" xmlns:p="http://schemas.openxmlformats.org/presentationml/2006/main">
  <p:tag name="MIO_MANAGED_ID" val="9e45f2bb-7a05-4a90-b952-c1842182fae7"/>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82c860b0-6ed9-4712-9a00-033079c7b26d"/>
  <p:tag name="MIO_GUID" val="4406832c-4ef4-4ed0-a016-d6120a1e16e3"/>
  <p:tag name="MIO_LASTDOWNLOADED" val="08.04.2026 14:27:27.088"/>
  <p:tag name="MIO_LASTEDITORNAME" val="Steffi Rauh"/>
  <p:tag name="MIO_OBJECTNAME" val="Germany"/>
  <p:tag name="MIO_UPDATE" val="True"/>
  <p:tag name="MIO_VERSION" val="13.04.2022 13:12:49"/>
</p:tagLst>
</file>

<file path=ppt/tags/tag66.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3ecae832-b3b5-4e67-80cb-487e27064c34"/>
  <p:tag name="MIO_GUID" val="6ec2d74f-04e2-46ce-a4e4-8c745b389bb0"/>
  <p:tag name="MIO_LASTDOWNLOADED" val="08.04.2026 14:17:41.310"/>
  <p:tag name="MIO_LASTEDITORNAME" val="Steffi Rauh"/>
  <p:tag name="MIO_OBJECTNAME" val="Sweden"/>
  <p:tag name="MIO_UPDATE" val="True"/>
  <p:tag name="MIO_VERSION" val="13.04.2022 13:13:09"/>
</p:tagLst>
</file>

<file path=ppt/tags/tag67.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a271edc8-05e9-4584-b4fe-7c484d5967b2"/>
  <p:tag name="MIO_GUID" val="a635813a-619d-4426-b36b-1ea42094e80b"/>
  <p:tag name="MIO_LASTDOWNLOADED" val="08.04.2026 14:24:28.008"/>
  <p:tag name="MIO_LASTEDITORNAME" val="Steffi Rauh"/>
  <p:tag name="MIO_OBJECTNAME" val="Czech Rep."/>
  <p:tag name="MIO_UPDATE" val="True"/>
  <p:tag name="MIO_VERSION" val="13.04.2022 13:12:44"/>
</p:tagLst>
</file>

<file path=ppt/tags/tag68.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0cb6def6-c24e-4752-9291-3b641c4a9f98"/>
  <p:tag name="MIO_GUID" val="460053df-12fc-4ce0-b2d2-101b482eb027"/>
  <p:tag name="MIO_LASTDOWNLOADED" val="08.04.2026 14:24:49.507"/>
  <p:tag name="MIO_LASTEDITORNAME" val="Steffi Rauh"/>
  <p:tag name="MIO_OBJECTNAME" val="Poland"/>
  <p:tag name="MIO_UPDATE" val="True"/>
  <p:tag name="MIO_VERSION" val="13.04.2022 13:13:04"/>
</p:tagLst>
</file>

<file path=ppt/tags/tag69.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e781c391-8db7-46a2-b1a9-d32cb5665ab9"/>
  <p:tag name="MIO_GUID" val="3938cbb6-6f3d-4f6b-bbc9-09f4f6502d82"/>
  <p:tag name="MIO_LASTDOWNLOADED" val="08.04.2026 14:25:05.751"/>
  <p:tag name="MIO_LASTEDITORNAME" val="Steffi Rauh"/>
  <p:tag name="MIO_OBJECTNAME" val="Slovakia"/>
  <p:tag name="MIO_UPDATE" val="True"/>
  <p:tag name="MIO_VERSION" val="13.04.2022 13:13:07"/>
</p:tagLst>
</file>

<file path=ppt/tags/tag70.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5a4481d9-30ac-4f08-a3d7-75c280e6dbcc"/>
  <p:tag name="MIO_GUID" val="856bff84-dd62-4e46-9611-6546b1a0e4a2"/>
  <p:tag name="MIO_LASTDOWNLOADED" val="08.04.2026 14:25:31.897"/>
  <p:tag name="MIO_LASTEDITORNAME" val="Steffi Rauh"/>
  <p:tag name="MIO_OBJECTNAME" val="Hungary"/>
  <p:tag name="MIO_UPDATE" val="True"/>
  <p:tag name="MIO_VERSION" val="13.04.2022 13:12:51"/>
</p:tagLst>
</file>

<file path=ppt/tags/tag71.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7b8f9128-52f5-46b8-8cfe-57411a8b5e9c"/>
  <p:tag name="MIO_GUID" val="67097afc-39e0-4a24-9db8-dbcd18018700"/>
  <p:tag name="MIO_LASTDOWNLOADED" val="08.04.2026 14:25:46.069"/>
  <p:tag name="MIO_LASTEDITORNAME" val="Steffi Rauh"/>
  <p:tag name="MIO_OBJECTNAME" val="Croatia"/>
  <p:tag name="MIO_UPDATE" val="True"/>
  <p:tag name="MIO_VERSION" val="13.04.2022 13:12:44"/>
</p:tagLst>
</file>

<file path=ppt/tags/tag72.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2d0707f7-fe7a-4742-9107-c0d25a5f1523"/>
  <p:tag name="MIO_GUID" val="7c995ac9-8253-4647-b41a-76036737abac"/>
  <p:tag name="MIO_LASTDOWNLOADED" val="08.04.2026 14:25:56.721"/>
  <p:tag name="MIO_LASTEDITORNAME" val="Steffi Rauh"/>
  <p:tag name="MIO_OBJECTNAME" val="Romania"/>
  <p:tag name="MIO_UPDATE" val="True"/>
  <p:tag name="MIO_VERSION" val="13.04.2022 13:13:05"/>
</p:tagLst>
</file>

<file path=ppt/tags/tag73.xml><?xml version="1.0" encoding="utf-8"?>
<p:tagLst xmlns:a="http://schemas.openxmlformats.org/drawingml/2006/main" xmlns:r="http://schemas.openxmlformats.org/officeDocument/2006/relationships" xmlns:p="http://schemas.openxmlformats.org/presentationml/2006/main">
  <p:tag name="MIO_DBID" val="fede6900-895c-4459-b97c-72b2b9dac459"/>
  <p:tag name="MIO_EKGUID" val="519eabfc-1781-482c-bb70-c707d13cee0a"/>
  <p:tag name="MIO_GUID" val="788e97b1-7a62-4f9c-812e-349fa8a23dc0"/>
  <p:tag name="MIO_LASTDOWNLOADED" val="08.04.2026 14:26:00.951"/>
  <p:tag name="MIO_LASTEDITORNAME" val="Steffi Rauh"/>
  <p:tag name="MIO_OBJECTNAME" val="Turkey"/>
  <p:tag name="MIO_UPDATE" val="True"/>
  <p:tag name="MIO_VERSION" val="13.04.2022 13:13:11"/>
</p:tagLst>
</file>

<file path=ppt/theme/theme1.xml><?xml version="1.0" encoding="utf-8"?>
<a:theme xmlns:a="http://schemas.openxmlformats.org/drawingml/2006/main" name="3_Deloitte Brand Theme">
  <a:themeElements>
    <a:clrScheme name="Custom 1">
      <a:dk1>
        <a:sysClr val="windowText" lastClr="000000"/>
      </a:dk1>
      <a:lt1>
        <a:sysClr val="window" lastClr="FFFFFF"/>
      </a:lt1>
      <a:dk2>
        <a:srgbClr val="53565A"/>
      </a:dk2>
      <a:lt2>
        <a:srgbClr val="D0D0CE"/>
      </a:lt2>
      <a:accent1>
        <a:srgbClr val="F21C0A"/>
      </a:accent1>
      <a:accent2>
        <a:srgbClr val="F97167"/>
      </a:accent2>
      <a:accent3>
        <a:srgbClr val="FBA29B"/>
      </a:accent3>
      <a:accent4>
        <a:srgbClr val="FFFFFF"/>
      </a:accent4>
      <a:accent5>
        <a:srgbClr val="FFFFFF"/>
      </a:accent5>
      <a:accent6>
        <a:srgbClr val="FFFFFF"/>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FFFF00"/>
        </a:solidFill>
        <a:ln w="19050" algn="ctr">
          <a:noFill/>
          <a:miter lim="800000"/>
          <a:headEnd/>
          <a:tailEnd/>
        </a:ln>
        <a:effectLst>
          <a:outerShdw blurRad="63500" sx="102000" sy="102000" algn="ctr" rotWithShape="0">
            <a:prstClr val="black">
              <a:alpha val="40000"/>
            </a:prstClr>
          </a:outerShdw>
        </a:effectLst>
      </a:spPr>
      <a:bodyPr wrap="square" lIns="88900" tIns="88900" rIns="88900" bIns="88900" rtlCol="0" anchor="ctr"/>
      <a:lstStyle>
        <a:defPPr algn="ctr">
          <a:lnSpc>
            <a:spcPct val="106000"/>
          </a:lnSpc>
          <a:buFont typeface="Wingdings 2" pitchFamily="18" charset="2"/>
          <a:buNone/>
          <a:defRPr sz="1400" dirty="0" smtClean="0">
            <a:solidFill>
              <a:srgbClr val="FF0000"/>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2338</Words>
  <Application>Microsoft Office PowerPoint</Application>
  <PresentationFormat>Widescreen</PresentationFormat>
  <Paragraphs>379</Paragraphs>
  <Slides>11</Slides>
  <Notes>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11</vt:i4>
      </vt:variant>
    </vt:vector>
  </HeadingPairs>
  <TitlesOfParts>
    <vt:vector size="22" baseType="lpstr">
      <vt:lpstr>Aptos</vt:lpstr>
      <vt:lpstr>Aptos Display</vt:lpstr>
      <vt:lpstr>Aptos Light</vt:lpstr>
      <vt:lpstr>Arial</vt:lpstr>
      <vt:lpstr>Calibri</vt:lpstr>
      <vt:lpstr>Verdana</vt:lpstr>
      <vt:lpstr>Wingdings</vt:lpstr>
      <vt:lpstr>Wingdings 2</vt:lpstr>
      <vt:lpstr>3_Deloitte Brand Theme</vt:lpstr>
      <vt:lpstr>think-cell Folie</vt:lpstr>
      <vt:lpstr>think-cell Slide</vt:lpstr>
      <vt:lpstr>PowerPoint Presentation</vt:lpstr>
      <vt:lpstr>PowerPoint Presentation</vt:lpstr>
      <vt:lpstr>PowerPoint Presentation</vt:lpstr>
      <vt:lpstr>E.ON’s current situation and project objectives</vt:lpstr>
      <vt:lpstr>Our understanding of energy trading data flows</vt:lpstr>
      <vt:lpstr>Project Approach at a Glance</vt:lpstr>
      <vt:lpstr>Project Approach at a Glance</vt:lpstr>
      <vt:lpstr>Impact Analysis | Details</vt:lpstr>
      <vt:lpstr>Organizational Structure | Details</vt:lpstr>
      <vt:lpstr>Impact Analysis | Impact Assessment</vt:lpstr>
      <vt:lpstr>Impact Analysis | Country Assessment</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Das, Abhijeet</dc:creator>
  <cp:lastModifiedBy>Das, Abhijeet</cp:lastModifiedBy>
  <cp:revision>1</cp:revision>
  <dcterms:created xsi:type="dcterms:W3CDTF">2026-08-26T11:33:39Z</dcterms:created>
  <dcterms:modified xsi:type="dcterms:W3CDTF">2026-08-26T11:34:12Z</dcterms:modified>
</cp:coreProperties>
</file>