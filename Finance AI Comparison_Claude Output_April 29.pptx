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256"/>
          </p14:sldIdLst>
        </p14:section>
        <p14:section name="Brand basics" id="{8EE32D32-E91A-427D-B680-3FF11AABE0B8}">
          <p14:sldIdLst/>
        </p14:section>
        <p14:section name="Content slides" id="{49CC7682-57B2-4455-BD9B-709563297FE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 autoAdjust="0"/>
    <p:restoredTop sz="92603" autoAdjust="0"/>
  </p:normalViewPr>
  <p:slideViewPr>
    <p:cSldViewPr snapToGrid="0" showGuides="1">
      <p:cViewPr varScale="1">
        <p:scale>
          <a:sx n="61" d="100"/>
          <a:sy n="61" d="100"/>
        </p:scale>
        <p:origin x="676" y="60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9/9/2026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7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7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7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7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7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7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7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7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7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7FD6-A665-B2C8-96D2-2FEF2679A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9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0" imgW="270" imgH="270" progId="TCLayout.ActiveDocument.1">
                  <p:embed/>
                </p:oleObj>
              </mc:Choice>
              <mc:Fallback>
                <p:oleObj name="think-cell Slide" r:id="rId6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2728"/>
                </a:solidFill>
                <a:latin typeface="Aptos"/>
              </a:rPr>
              <a:t>Three layers of AI for finance — complementary, not competing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565A"/>
                </a:solidFill>
                <a:latin typeface="Aptos"/>
              </a:rPr>
              <a:t>Zora AI, SAP Joule, and Claude Cowork operate at different layers of the enterprise stack and can coexist in a single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20440" cy="5029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337560" cy="29260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Zora AI for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337560" cy="20116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0"/>
                </a:solidFill>
                <a:latin typeface="Aptos"/>
              </a:rPr>
              <a:t>Deloitte · NVIDIA AI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5655" y="1280160"/>
            <a:ext cx="352044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97095" y="1298448"/>
            <a:ext cx="3337560" cy="29260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SAP Joule Finance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7095" y="1554480"/>
            <a:ext cx="3337560" cy="20116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0"/>
                </a:solidFill>
                <a:latin typeface="Aptos"/>
              </a:rPr>
              <a:t>SAP · ERP-native AI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4112" y="1280160"/>
            <a:ext cx="3520440" cy="502920"/>
          </a:xfrm>
          <a:prstGeom prst="rect">
            <a:avLst/>
          </a:prstGeom>
          <a:solidFill>
            <a:srgbClr val="5C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45552" y="1298448"/>
            <a:ext cx="3337560" cy="29260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Claude Cowork + Financial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554480"/>
            <a:ext cx="3337560" cy="201168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0"/>
                </a:solidFill>
                <a:latin typeface="Aptos"/>
              </a:rPr>
              <a:t>Anthropic · Foundation model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35204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5655" y="1783080"/>
            <a:ext cx="35204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54112" y="1783080"/>
            <a:ext cx="35204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1874519"/>
            <a:ext cx="3300984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800" b="1">
                <a:solidFill>
                  <a:srgbClr val="046A38"/>
                </a:solidFill>
                <a:latin typeface="Aptos"/>
              </a:rPr>
              <a:t>TRANSFORMATION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40279"/>
            <a:ext cx="3300984" cy="1883664"/>
          </a:xfrm>
          <a:prstGeom prst="rect">
            <a:avLst/>
          </a:prstGeom>
          <a:noFill/>
        </p:spPr>
        <p:txBody>
          <a:bodyPr wrap="square" lIns="50800" tIns="0" rIns="50800" bIns="0"/>
          <a:lstStyle/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Domain-specific digital workforce licensed as a product (cloud subscription)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Multi-ERP: integrates with Oracle Fusion, SAP, and other enterprise platforms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Multi-agent orchestration across finance, HR, supply chain, procurement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Expense management, invoice processing, working capital optimization, scenario modeling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HPE: 50% reduction in reporting time; Deloitte internal: 25% cost reduction, 40% productivity gain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Backed by Deloitte's tax, audit, risk and advisory domain expertise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Trustworthy AI framework with human-in-the-loop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3" y="1874519"/>
            <a:ext cx="3300984" cy="29260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800" b="1">
                <a:solidFill>
                  <a:srgbClr val="B88600"/>
                </a:solidFill>
                <a:latin typeface="Aptos"/>
              </a:rPr>
              <a:t>EXECUTION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3" y="2240279"/>
            <a:ext cx="3300984" cy="1883664"/>
          </a:xfrm>
          <a:prstGeom prst="rect">
            <a:avLst/>
          </a:prstGeom>
          <a:noFill/>
        </p:spPr>
        <p:txBody>
          <a:bodyPr wrap="square" lIns="50800" tIns="0" rIns="50800" bIns="0"/>
          <a:lstStyle/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AI copilot embedded natively inside SAP S/4HANA, Ariba, Concur — zero separate deployment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14+ dedicated finance agents: Cash Mgmt, AR, AP, Trade Classification, Dispute Resolution, Accruals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Cash Mgmt Agent: 70% time savings on manual reconciliation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AP: 60% reduction in invoice search time, 10% productivity improvement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AR Agent: analyzes overdue receivables and automates customer follow-up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Joule Studio (GA Dec 2025) for custom agent creation; 400+ AI use cases across SAP suite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SAP-only — cannot operate outside SAP ecosystem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874519"/>
            <a:ext cx="3300984" cy="292608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800" b="1">
                <a:solidFill>
                  <a:srgbClr val="5C338A"/>
                </a:solidFill>
                <a:latin typeface="Aptos"/>
              </a:rPr>
              <a:t>REASONING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240279"/>
            <a:ext cx="3300984" cy="1883664"/>
          </a:xfrm>
          <a:prstGeom prst="rect">
            <a:avLst/>
          </a:prstGeom>
          <a:noFill/>
        </p:spPr>
        <p:txBody>
          <a:bodyPr wrap="square" lIns="50800" tIns="0" rIns="50800" bIns="0"/>
          <a:lstStyle/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General-purpose AI platform with finance plug-ins, MCP connectors, and Financial Analysis Solution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Tops Vals AI Finance Agent benchmark; 83% accuracy on Financial Modeling World Cup Excel tasks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1M token context window for massive document analysis (entire corp libraries in one session)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Goldman Sachs: embedded engineers co-building accounting and compliance agents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Pre-built plug-ins for financial analysis, investment banking, equity research, private equity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MCP connectors: FactSet, Snowflake, Databricks, Google Drive, DocuSign</a:t>
            </a:r>
          </a:p>
          <a:p>
            <a:pPr>
              <a:lnSpc>
                <a:spcPts val="977"/>
              </a:lnSpc>
              <a:spcBef>
                <a:spcPts val="200"/>
              </a:spcBef>
              <a:spcAft>
                <a:spcPts val="100"/>
              </a:spcAft>
            </a:pPr>
            <a:r>
              <a:rPr sz="850">
                <a:solidFill>
                  <a:srgbClr val="282728"/>
                </a:solidFill>
                <a:latin typeface="Aptos"/>
              </a:rPr>
              <a:t>•  No native ERP integration — requires custom development or partner implementation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49240"/>
            <a:ext cx="11274552" cy="548640"/>
          </a:xfrm>
          <a:prstGeom prst="roundRect">
            <a:avLst>
              <a:gd name="adj" fmla="val 5000"/>
            </a:avLst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367527"/>
            <a:ext cx="10908792" cy="512064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Strategic opportunity: Zora AI can position as the orchestration layer that connects SAP Joule's transactional execution with Claude's analytical reasoning — becoming the "middleware" for AI-enabled finance across the enterprise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74552" cy="228600"/>
          </a:xfrm>
          <a:prstGeom prst="rect">
            <a:avLst/>
          </a:prstGeom>
          <a:noFill/>
        </p:spPr>
        <p:txBody>
          <a:bodyPr wrap="square" lIns="50800" tIns="25400" rIns="508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7999B"/>
                </a:solidFill>
                <a:latin typeface="Aptos"/>
              </a:rPr>
              <a:t>Source: Company announcements, product documentation, and third-party analysis (2025–2026)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schemas.openxmlformats.org/package/2006/metadata/core-properties"/>
    <ds:schemaRef ds:uri="8f1e2369-70da-40d7-b978-99d0855b91b8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8ee28f6f-733e-446a-845c-015b8614e1f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418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Open Sans</vt:lpstr>
      <vt:lpstr>Verdana</vt:lpstr>
      <vt:lpstr>Deloitte_Brand_Theme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2020-04-09T19:50:51Z</dcterms:created>
  <dcterms:modified xsi:type="dcterms:W3CDTF">2026-09-09T13:17:06Z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</Properties>
</file>