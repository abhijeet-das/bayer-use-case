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2.xml" ContentType="application/vnd.openxmlformats-officedocument.theme+xml"/>
  <Override PartName="/ppt/tags/tag35.xml" ContentType="application/vnd.openxmlformats-officedocument.presentationml.tags+xml"/>
  <Override PartName="/ppt/notesSlides/notesSlide1.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2.xml" ContentType="application/vnd.openxmlformats-officedocument.presentationml.notesSlide+xml"/>
  <Override PartName="/ppt/comments/modernComment_114_D6D30FFF.xml" ContentType="application/vnd.ms-powerpoint.comment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3.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comments/modernComment_117_33457008.xml" ContentType="application/vnd.ms-powerpoint.comments+xml"/>
  <Override PartName="/ppt/tags/tag46.xml" ContentType="application/vnd.openxmlformats-officedocument.presentationml.tags+xml"/>
  <Override PartName="/ppt/tags/tag47.xml" ContentType="application/vnd.openxmlformats-officedocument.presentationml.tags+xml"/>
  <Override PartName="/ppt/notesSlides/notesSlide4.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5.xml" ContentType="application/vnd.openxmlformats-officedocument.presentationml.notesSlide+xml"/>
  <Override PartName="/ppt/tags/tag65.xml" ContentType="application/vnd.openxmlformats-officedocument.presentationml.tags+xml"/>
  <Override PartName="/ppt/notesSlides/notesSlide6.xml" ContentType="application/vnd.openxmlformats-officedocument.presentationml.notesSlide+xml"/>
  <Override PartName="/ppt/tags/tag66.xml" ContentType="application/vnd.openxmlformats-officedocument.presentationml.tags+xml"/>
  <Override PartName="/ppt/notesSlides/notesSlide7.xml" ContentType="application/vnd.openxmlformats-officedocument.presentationml.notesSlide+xml"/>
  <Override PartName="/ppt/tags/tag67.xml" ContentType="application/vnd.openxmlformats-officedocument.presentationml.tags+xml"/>
  <Override PartName="/ppt/notesSlides/notesSlide8.xml" ContentType="application/vnd.openxmlformats-officedocument.presentationml.notesSlide+xml"/>
  <Override PartName="/ppt/tags/tag68.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1"/>
  </p:notesMasterIdLst>
  <p:sldIdLst>
    <p:sldId id="2147483639" r:id="rId5"/>
    <p:sldId id="2147473326" r:id="rId6"/>
    <p:sldId id="283" r:id="rId7"/>
    <p:sldId id="2147483646" r:id="rId8"/>
    <p:sldId id="2147483647" r:id="rId9"/>
    <p:sldId id="276" r:id="rId10"/>
    <p:sldId id="289" r:id="rId11"/>
    <p:sldId id="290" r:id="rId12"/>
    <p:sldId id="291" r:id="rId13"/>
    <p:sldId id="292" r:id="rId14"/>
    <p:sldId id="279" r:id="rId15"/>
    <p:sldId id="307" r:id="rId16"/>
    <p:sldId id="308" r:id="rId17"/>
    <p:sldId id="266" r:id="rId18"/>
    <p:sldId id="296" r:id="rId19"/>
    <p:sldId id="297" r:id="rId20"/>
    <p:sldId id="298" r:id="rId21"/>
    <p:sldId id="299" r:id="rId22"/>
    <p:sldId id="303" r:id="rId23"/>
    <p:sldId id="262" r:id="rId24"/>
    <p:sldId id="263" r:id="rId25"/>
    <p:sldId id="267" r:id="rId26"/>
    <p:sldId id="284" r:id="rId27"/>
    <p:sldId id="277" r:id="rId28"/>
    <p:sldId id="300" r:id="rId29"/>
    <p:sldId id="301" r:id="rId30"/>
    <p:sldId id="302" r:id="rId31"/>
    <p:sldId id="271" r:id="rId32"/>
    <p:sldId id="272" r:id="rId33"/>
    <p:sldId id="304" r:id="rId34"/>
    <p:sldId id="305" r:id="rId35"/>
    <p:sldId id="268" r:id="rId36"/>
    <p:sldId id="265" r:id="rId37"/>
    <p:sldId id="269" r:id="rId38"/>
    <p:sldId id="270" r:id="rId39"/>
    <p:sldId id="2147483645" r:id="rId40"/>
    <p:sldId id="286" r:id="rId41"/>
    <p:sldId id="280" r:id="rId42"/>
    <p:sldId id="288" r:id="rId43"/>
    <p:sldId id="293" r:id="rId44"/>
    <p:sldId id="294" r:id="rId45"/>
    <p:sldId id="256" r:id="rId46"/>
    <p:sldId id="281" r:id="rId47"/>
    <p:sldId id="282" r:id="rId48"/>
    <p:sldId id="285" r:id="rId49"/>
    <p:sldId id="27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1E11DF8-5306-4499-872C-0A6327F2815A}">
          <p14:sldIdLst>
            <p14:sldId id="2147483639"/>
            <p14:sldId id="2147473326"/>
            <p14:sldId id="283"/>
            <p14:sldId id="2147483646"/>
            <p14:sldId id="2147483647"/>
            <p14:sldId id="276"/>
            <p14:sldId id="289"/>
            <p14:sldId id="290"/>
            <p14:sldId id="291"/>
            <p14:sldId id="292"/>
            <p14:sldId id="279"/>
            <p14:sldId id="307"/>
            <p14:sldId id="308"/>
            <p14:sldId id="266"/>
            <p14:sldId id="296"/>
            <p14:sldId id="297"/>
            <p14:sldId id="298"/>
            <p14:sldId id="299"/>
            <p14:sldId id="303"/>
            <p14:sldId id="262"/>
            <p14:sldId id="263"/>
            <p14:sldId id="267"/>
            <p14:sldId id="284"/>
            <p14:sldId id="277"/>
            <p14:sldId id="300"/>
            <p14:sldId id="301"/>
            <p14:sldId id="302"/>
            <p14:sldId id="271"/>
            <p14:sldId id="272"/>
            <p14:sldId id="304"/>
            <p14:sldId id="305"/>
            <p14:sldId id="268"/>
            <p14:sldId id="265"/>
            <p14:sldId id="269"/>
            <p14:sldId id="270"/>
            <p14:sldId id="2147483645"/>
            <p14:sldId id="286"/>
            <p14:sldId id="280"/>
            <p14:sldId id="288"/>
            <p14:sldId id="293"/>
          </p14:sldIdLst>
        </p14:section>
        <p14:section name="Appendix" id="{B7396391-AF98-4F8C-A829-FB3CF67F1BD3}">
          <p14:sldIdLst>
            <p14:sldId id="294"/>
            <p14:sldId id="256"/>
            <p14:sldId id="281"/>
            <p14:sldId id="282"/>
          </p14:sldIdLst>
        </p14:section>
        <p14:section name="Graveyard" id="{BD4233EE-10A8-4705-891C-BD52BFFDEE34}">
          <p14:sldIdLst>
            <p14:sldId id="285"/>
            <p14:sldId id="278"/>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143E15-ABBF-9838-502D-7C72E740753B}" name="Camhi, Jonathan" initials="JC" userId="S::jcamhi@deloitte.com::94188871-63d3-4d64-9b32-dfb9ad6bd634" providerId="AD"/>
  <p188:author id="{05248D8A-3DAC-D20B-DB20-19536D0A4BC5}" name="Gupta, Aditya" initials="AG" userId="S::adgupta15@deloitte.com::c1d0465d-8dec-4803-839d-20c772b515ad" providerId="AD"/>
  <p188:author id="{CB4A26AE-532F-EC74-FA6C-8F7AA02DED25}" name="Johny, Rejin" initials="RJ" userId="S::rjohny@deloitte.com::1f5311ed-d1c0-4bee-8f9f-5902d3d992a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hi, Jonathan" userId="94188871-63d3-4d64-9b32-dfb9ad6bd634" providerId="ADAL" clId="{25620A5E-5A25-4838-8592-5C596369CDF3}"/>
    <pc:docChg chg="delSld modSection">
      <pc:chgData name="Camhi, Jonathan" userId="94188871-63d3-4d64-9b32-dfb9ad6bd634" providerId="ADAL" clId="{25620A5E-5A25-4838-8592-5C596369CDF3}" dt="2026-09-09T20:12:21.496" v="11" actId="47"/>
      <pc:docMkLst>
        <pc:docMk/>
      </pc:docMkLst>
      <pc:sldChg chg="del">
        <pc:chgData name="Camhi, Jonathan" userId="94188871-63d3-4d64-9b32-dfb9ad6bd634" providerId="ADAL" clId="{25620A5E-5A25-4838-8592-5C596369CDF3}" dt="2026-09-09T20:09:46.055" v="0" actId="47"/>
        <pc:sldMkLst>
          <pc:docMk/>
          <pc:sldMk cId="4255494272" sldId="257"/>
        </pc:sldMkLst>
      </pc:sldChg>
      <pc:sldChg chg="del">
        <pc:chgData name="Camhi, Jonathan" userId="94188871-63d3-4d64-9b32-dfb9ad6bd634" providerId="ADAL" clId="{25620A5E-5A25-4838-8592-5C596369CDF3}" dt="2026-09-09T20:09:52.005" v="1" actId="47"/>
        <pc:sldMkLst>
          <pc:docMk/>
          <pc:sldMk cId="374780409" sldId="258"/>
        </pc:sldMkLst>
      </pc:sldChg>
      <pc:sldChg chg="del">
        <pc:chgData name="Camhi, Jonathan" userId="94188871-63d3-4d64-9b32-dfb9ad6bd634" providerId="ADAL" clId="{25620A5E-5A25-4838-8592-5C596369CDF3}" dt="2026-09-09T20:09:57.361" v="2" actId="47"/>
        <pc:sldMkLst>
          <pc:docMk/>
          <pc:sldMk cId="1190052747" sldId="259"/>
        </pc:sldMkLst>
      </pc:sldChg>
      <pc:sldChg chg="del">
        <pc:chgData name="Camhi, Jonathan" userId="94188871-63d3-4d64-9b32-dfb9ad6bd634" providerId="ADAL" clId="{25620A5E-5A25-4838-8592-5C596369CDF3}" dt="2026-09-09T20:10:02.546" v="3" actId="47"/>
        <pc:sldMkLst>
          <pc:docMk/>
          <pc:sldMk cId="3301764929" sldId="260"/>
        </pc:sldMkLst>
      </pc:sldChg>
      <pc:sldChg chg="del">
        <pc:chgData name="Camhi, Jonathan" userId="94188871-63d3-4d64-9b32-dfb9ad6bd634" providerId="ADAL" clId="{25620A5E-5A25-4838-8592-5C596369CDF3}" dt="2026-09-09T20:10:09.076" v="4" actId="47"/>
        <pc:sldMkLst>
          <pc:docMk/>
          <pc:sldMk cId="3261313877" sldId="261"/>
        </pc:sldMkLst>
      </pc:sldChg>
      <pc:sldChg chg="del">
        <pc:chgData name="Camhi, Jonathan" userId="94188871-63d3-4d64-9b32-dfb9ad6bd634" providerId="ADAL" clId="{25620A5E-5A25-4838-8592-5C596369CDF3}" dt="2026-09-09T20:10:17.579" v="5" actId="47"/>
        <pc:sldMkLst>
          <pc:docMk/>
          <pc:sldMk cId="2716558825" sldId="264"/>
        </pc:sldMkLst>
      </pc:sldChg>
      <pc:sldChg chg="del">
        <pc:chgData name="Camhi, Jonathan" userId="94188871-63d3-4d64-9b32-dfb9ad6bd634" providerId="ADAL" clId="{25620A5E-5A25-4838-8592-5C596369CDF3}" dt="2026-09-09T20:10:32.839" v="7" actId="47"/>
        <pc:sldMkLst>
          <pc:docMk/>
          <pc:sldMk cId="0" sldId="273"/>
        </pc:sldMkLst>
      </pc:sldChg>
      <pc:sldChg chg="del">
        <pc:chgData name="Camhi, Jonathan" userId="94188871-63d3-4d64-9b32-dfb9ad6bd634" providerId="ADAL" clId="{25620A5E-5A25-4838-8592-5C596369CDF3}" dt="2026-09-09T20:10:40.875" v="8" actId="47"/>
        <pc:sldMkLst>
          <pc:docMk/>
          <pc:sldMk cId="0" sldId="274"/>
        </pc:sldMkLst>
      </pc:sldChg>
      <pc:sldChg chg="del">
        <pc:chgData name="Camhi, Jonathan" userId="94188871-63d3-4d64-9b32-dfb9ad6bd634" providerId="ADAL" clId="{25620A5E-5A25-4838-8592-5C596369CDF3}" dt="2026-09-09T20:10:47.738" v="9" actId="47"/>
        <pc:sldMkLst>
          <pc:docMk/>
          <pc:sldMk cId="0" sldId="275"/>
        </pc:sldMkLst>
      </pc:sldChg>
      <pc:sldChg chg="del">
        <pc:chgData name="Camhi, Jonathan" userId="94188871-63d3-4d64-9b32-dfb9ad6bd634" providerId="ADAL" clId="{25620A5E-5A25-4838-8592-5C596369CDF3}" dt="2026-09-09T20:10:20.963" v="6" actId="47"/>
        <pc:sldMkLst>
          <pc:docMk/>
          <pc:sldMk cId="0" sldId="287"/>
        </pc:sldMkLst>
      </pc:sldChg>
      <pc:sldChg chg="del">
        <pc:chgData name="Camhi, Jonathan" userId="94188871-63d3-4d64-9b32-dfb9ad6bd634" providerId="ADAL" clId="{25620A5E-5A25-4838-8592-5C596369CDF3}" dt="2026-09-09T20:12:21.496" v="11" actId="47"/>
        <pc:sldMkLst>
          <pc:docMk/>
          <pc:sldMk cId="0" sldId="295"/>
        </pc:sldMkLst>
      </pc:sldChg>
      <pc:sldChg chg="del">
        <pc:chgData name="Camhi, Jonathan" userId="94188871-63d3-4d64-9b32-dfb9ad6bd634" providerId="ADAL" clId="{25620A5E-5A25-4838-8592-5C596369CDF3}" dt="2026-09-09T20:11:42.177" v="10" actId="47"/>
        <pc:sldMkLst>
          <pc:docMk/>
          <pc:sldMk cId="1748818441" sldId="306"/>
        </pc:sldMkLst>
      </pc:sldChg>
    </pc:docChg>
  </pc:docChgLst>
</pc:chgInfo>
</file>

<file path=ppt/comments/modernComment_114_D6D30FFF.xml><?xml version="1.0" encoding="utf-8"?>
<p188:cmLst xmlns:a="http://schemas.openxmlformats.org/drawingml/2006/main" xmlns:r="http://schemas.openxmlformats.org/officeDocument/2006/relationships" xmlns:p188="http://schemas.microsoft.com/office/powerpoint/2018/8/main">
  <p188:cm id="{1C778FE8-B399-4C1D-8C04-3A49D9570100}" authorId="{DF143E15-ABBF-9838-502D-7C72E740753B}" status="resolved" created="2026-08-28T17:14:36.517" complete="100000">
    <ac:txMkLst xmlns:ac="http://schemas.microsoft.com/office/drawing/2013/main/command">
      <pc:docMk xmlns:pc="http://schemas.microsoft.com/office/powerpoint/2013/main/command"/>
      <pc:sldMk xmlns:pc="http://schemas.microsoft.com/office/powerpoint/2013/main/command" cId="3604156415" sldId="276"/>
      <ac:spMk id="8" creationId="{F7FAD07E-7A82-F873-6D25-513CF2D15030}"/>
      <ac:txMk cp="26" len="246">
        <ac:context len="273" hash="3377196694"/>
      </ac:txMk>
    </ac:txMkLst>
    <p188:pos x="3135446" y="472545"/>
    <p188:replyLst>
      <p188:reply id="{043CAC96-EE1E-435F-922A-1DE1AEEE25DE}" authorId="{05248D8A-3DAC-D20B-DB20-19536D0A4BC5}" created="2026-08-31T08:38:58.586">
        <p188:txBody>
          <a:bodyPr/>
          <a:lstStyle/>
          <a:p>
            <a:r>
              <a:rPr lang="en-US"/>
              <a:t>They have in some cases domain skills like for legal they can help with document review, drafting etc. But not an end to end workflow for e.g. What should be the process of contract review, step by step and automating it for the legal function, this is absent.</a:t>
            </a:r>
          </a:p>
        </p188:txBody>
      </p188:reply>
      <p188:reply id="{F8E0BE3A-EFC2-41BE-B16A-E7B9FD09ECCF}" authorId="{CB4A26AE-532F-EC74-FA6C-8F7AA02DED25}" created="2026-08-31T10:14:46.780">
        <p188:txBody>
          <a:bodyPr/>
          <a:lstStyle/>
          <a:p>
            <a:r>
              <a:rPr lang="en-US"/>
              <a:t>Should we add a little more detail on the first bullet: “Offerings in this category assist workers in researching, creating, analyzing, and completing tasks across functions; the user typically remains responsible for directing the work and acting on the output”</a:t>
            </a:r>
          </a:p>
        </p188:txBody>
      </p188:reply>
      <p188:reply id="{AC1C1AC1-F9CF-4CA8-BF46-A04B2CACDCC0}" authorId="{05248D8A-3DAC-D20B-DB20-19536D0A4BC5}" created="2026-08-31T10:24:58.346">
        <p188:txBody>
          <a:bodyPr/>
          <a:lstStyle/>
          <a:p>
            <a:r>
              <a:rPr lang="en-US"/>
              <a:t>We had more details in the previous version but removed based on Carly’s feedback to reduce text.</a:t>
            </a:r>
          </a:p>
        </p188:txBody>
      </p188:reply>
      <p188:reply id="{114C0BE0-7A2E-4720-985B-C5675CC7B015}" authorId="{DF143E15-ABBF-9838-502D-7C72E740753B}" created="2026-08-31T21:43:31.190">
        <p188:txBody>
          <a:bodyPr/>
          <a:lstStyle/>
          <a:p>
            <a:r>
              <a:rPr lang="en-US"/>
              <a:t>Yes, want to aim for simple and concise throughout. That is a very consistent piece of feedback that we’ve heard so far to that point that I would say we should always err on the side of being overly simple and concise. Remember our first call when Carly said we could put the details in another place/doc. But here let’s try to keep it to headline takeaways.</a:t>
            </a:r>
          </a:p>
        </p188:txBody>
      </p188:reply>
    </p188:replyLst>
    <p188:txBody>
      <a:bodyPr/>
      <a:lstStyle/>
      <a:p>
        <a:r>
          <a:rPr lang="en-US"/>
          <a:t>1. Do they really have “no” domain logic? Or just far less? I’m not really sure myself and could see it being either one. Just want to make sure the research backs up this statement.
2. Rather than saying “execution, controls, and accountability are employee-led,” wouldn’t it be simpler and more accurate to say that these are generally more about assisting individual workers instead of autonomous workflow execution?
Suggested edit:
“Agents in this category help with a wide range of tasks…”
“Zora, in contrast, offers productized…”</a:t>
        </a:r>
      </a:p>
    </p188:txBody>
  </p188:cm>
  <p188:cm id="{6BEBF638-3BB7-4EB8-8B39-D73BD51EBB1E}" authorId="{DF143E15-ABBF-9838-502D-7C72E740753B}" status="resolved" created="2026-08-28T17:21:22.151" complete="100000">
    <ac:txMkLst xmlns:ac="http://schemas.microsoft.com/office/drawing/2013/main/command">
      <pc:docMk xmlns:pc="http://schemas.microsoft.com/office/powerpoint/2013/main/command"/>
      <pc:sldMk xmlns:pc="http://schemas.microsoft.com/office/powerpoint/2013/main/command" cId="3604156415" sldId="276"/>
      <ac:spMk id="20" creationId="{27FDD846-8AA0-4ADC-07F1-C4D615C8E8D5}"/>
      <ac:txMk cp="26" len="249">
        <ac:context len="415" hash="2793415657"/>
      </ac:txMk>
    </ac:txMkLst>
    <p188:pos x="4338415" y="472545"/>
    <p188:txBody>
      <a:bodyPr/>
      <a:lstStyle/>
      <a:p>
        <a:r>
          <a:rPr lang="en-US"/>
          <a:t>“Offerings in this category fall into two sub-categories…” And maybe put the sub-categories in separate bullets underneath.
“Zora, in contrast, offers greater breadth than the specialists and faster time to value (and greater domain depth?) than the broader enterprise suites.”</a:t>
        </a:r>
      </a:p>
    </p188:txBody>
  </p188:cm>
  <p188:cm id="{288AB2B0-3143-4B69-A61E-5F0A2E83DC20}" authorId="{DF143E15-ABBF-9838-502D-7C72E740753B}" status="resolved" created="2026-08-28T17:23:33.299" complete="100000">
    <ac:txMkLst xmlns:ac="http://schemas.microsoft.com/office/drawing/2013/main/command">
      <pc:docMk xmlns:pc="http://schemas.microsoft.com/office/powerpoint/2013/main/command"/>
      <pc:sldMk xmlns:pc="http://schemas.microsoft.com/office/powerpoint/2013/main/command" cId="3604156415" sldId="276"/>
      <ac:spMk id="32" creationId="{32F0E3D4-E7F3-C227-5B84-F7A555C6749F}"/>
      <ac:txMk cp="26" len="116">
        <ac:context len="237" hash="3826109076"/>
      </ac:txMk>
    </ac:txMkLst>
    <p188:pos x="3036757" y="472545"/>
    <p188:txBody>
      <a:bodyPr/>
      <a:lstStyle/>
      <a:p>
        <a:r>
          <a:rPr lang="en-US"/>
          <a:t>“Offerings within this category automate tasks strictly within vendors’ broader platforms/applications (i.e., ERP, CRM).”
“Zora, in contrast, can automate tasks that span multiple applications and functions.”</a:t>
        </a:r>
      </a:p>
    </p188:txBody>
  </p188:cm>
</p188:cmLst>
</file>

<file path=ppt/comments/modernComment_117_33457008.xml><?xml version="1.0" encoding="utf-8"?>
<p188:cmLst xmlns:a="http://schemas.openxmlformats.org/drawingml/2006/main" xmlns:r="http://schemas.openxmlformats.org/officeDocument/2006/relationships" xmlns:p188="http://schemas.microsoft.com/office/powerpoint/2018/8/main">
  <p188:cm id="{018E9C68-8015-46ED-9C6B-CF7F2D8C4F64}" authorId="{DF143E15-ABBF-9838-502D-7C72E740753B}" status="resolved" created="2026-08-28T17:44:20.908" complete="100000">
    <ac:txMkLst xmlns:ac="http://schemas.microsoft.com/office/drawing/2013/main/command">
      <pc:docMk xmlns:pc="http://schemas.microsoft.com/office/powerpoint/2013/main/command"/>
      <pc:sldMk xmlns:pc="http://schemas.microsoft.com/office/powerpoint/2013/main/command" cId="860188680" sldId="279"/>
      <ac:spMk id="29" creationId="{CE3A566E-4B9A-33E5-CCC7-3FB779FCBEF1}"/>
      <ac:txMk cp="0" len="13">
        <ac:context len="14" hash="2666548346"/>
      </ac:txMk>
    </ac:txMkLst>
    <p188:pos x="963352" y="217269"/>
    <p188:replyLst>
      <p188:reply id="{351E7543-0EB2-46A4-9229-DE44D1E993D2}" authorId="{05248D8A-3DAC-D20B-DB20-19536D0A4BC5}" created="2026-08-31T09:20:49.733">
        <p188:txBody>
          <a:bodyPr/>
          <a:lstStyle/>
          <a:p>
            <a:r>
              <a:rPr lang="en-US"/>
              <a:t>Agree, bit of a grey area. EY.ai platform is more flexible and would score as medium-high. However, there is no evidence of the same for EY.ai for tax agents that uses IBM infra. For the consistency of narrative on this slide will consider same deployment flexibility for EY.ai for tax and updating its deployment flexibility score</a:t>
            </a:r>
          </a:p>
        </p188:txBody>
        <p188:extLst>
          <p:ext xmlns:p="http://schemas.openxmlformats.org/presentationml/2006/main" uri="{57CB4572-C831-44C2-8A1C-0ADB6CCDFE69}">
            <p223:reactions xmlns:p223="http://schemas.microsoft.com/office/powerpoint/2022/03/main">
              <p223:rxn type="👍">
                <p223:instance time="2026-08-31T21:58:36.143" authorId="{DF143E15-ABBF-9838-502D-7C72E740753B}"/>
              </p223:rxn>
            </p223:reactions>
          </p:ext>
        </p188:extLst>
      </p188:reply>
    </p188:replyLst>
    <p188:txBody>
      <a:bodyPr/>
      <a:lstStyle/>
      <a:p>
        <a:r>
          <a:rPr lang="en-US"/>
          <a:t>Surprised to EY this low on deployment flexibility</a:t>
        </a:r>
      </a:p>
    </p188:txBody>
  </p188:cm>
  <p188:cm id="{EFD3F583-E01E-4B42-907F-955ED55E97D5}" authorId="{CB4A26AE-532F-EC74-FA6C-8F7AA02DED25}" status="resolved" created="2026-08-31T10:27:11.729" complete="100000">
    <ac:deMkLst xmlns:ac="http://schemas.microsoft.com/office/drawing/2013/main/command">
      <pc:docMk xmlns:pc="http://schemas.microsoft.com/office/powerpoint/2013/main/command"/>
      <pc:sldMk xmlns:pc="http://schemas.microsoft.com/office/powerpoint/2013/main/command" cId="860188680" sldId="279"/>
      <ac:spMk id="60" creationId="{90119412-E601-0CD4-6B4A-40D05CC927DE}"/>
    </ac:deMkLst>
    <p188:replyLst>
      <p188:reply id="{AB95959B-5607-4FC7-84F6-15D32E81B316}" authorId="{05248D8A-3DAC-D20B-DB20-19536D0A4BC5}" created="2026-08-31T13:19:51.045">
        <p188:txBody>
          <a:bodyPr/>
          <a:lstStyle/>
          <a:p>
            <a:r>
              <a:rPr lang="en-US"/>
              <a:t>Agree, some of the evidence pointed that Service Now has more announced cloud partner names. But nonetheless as per scoring logic it is still not allowing customer controlled hosting so updated to low-medium</a:t>
            </a:r>
          </a:p>
        </p188:txBody>
      </p188:reply>
      <p188:reply id="{C0BDBF78-9307-4DDB-ACE1-B6FD14CDEA34}" authorId="{CB4A26AE-532F-EC74-FA6C-8F7AA02DED25}" created="2026-08-31T13:29:49.014">
        <p188:txBody>
          <a:bodyPr/>
          <a:lstStyle/>
          <a:p>
            <a:r>
              <a:rPr lang="en-US"/>
              <a:t>What do we mean by customer controlled hosting? Is it like a client preferring on-premise but ServiceNow does not have Agentic capability of on-premise?</a:t>
            </a:r>
          </a:p>
        </p188:txBody>
      </p188:reply>
      <p188:reply id="{EE7987D2-68B8-430A-85D4-E21A785163B5}" authorId="{05248D8A-3DAC-D20B-DB20-19536D0A4BC5}" created="2026-08-31T13:44:20.776">
        <p188:txBody>
          <a:bodyPr/>
          <a:lstStyle/>
          <a:p>
            <a:r>
              <a:rPr lang="en-US"/>
              <a:t>Yes, on-premise and hybrid cloud is not evidenced</a:t>
            </a:r>
          </a:p>
        </p188:txBody>
      </p188:reply>
    </p188:replyLst>
    <p188:txBody>
      <a:bodyPr/>
      <a:lstStyle/>
      <a:p>
        <a:r>
          <a:rPr lang="en-US"/>
          <a:t>I would expect deployment flex to be similar for ServiceNow, Salesforce and SAP. Anything giving SNow the advantage?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5903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211BB-67FA-473C-9EDB-6D735A1A7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04938-D4F9-C14E-91D3-5C9AAF86B5AB}"/>
              </a:ext>
            </a:extLst>
          </p:cNvPr>
          <p:cNvSpPr>
            <a:spLocks noGrp="1" noRot="1" noChangeAspect="1"/>
          </p:cNvSpPr>
          <p:nvPr>
            <p:ph type="sldImg"/>
          </p:nvPr>
        </p:nvSpPr>
        <p:spPr>
          <a:xfrm>
            <a:off x="422275" y="704850"/>
            <a:ext cx="6257925" cy="3519488"/>
          </a:xfrm>
        </p:spPr>
        <p:txBody>
          <a:bodyPr/>
          <a:lstStyle/>
          <a:p>
            <a:endParaRPr lang="en-US"/>
          </a:p>
        </p:txBody>
      </p:sp>
      <p:sp>
        <p:nvSpPr>
          <p:cNvPr id="3" name="Notes Placeholder 2">
            <a:extLst>
              <a:ext uri="{FF2B5EF4-FFF2-40B4-BE49-F238E27FC236}">
                <a16:creationId xmlns:a16="http://schemas.microsoft.com/office/drawing/2014/main" id="{6078F205-EA18-9B1D-288F-193C7E30F0A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3B7D853-D356-901A-1D6D-44E8E142D033}"/>
              </a:ext>
            </a:extLst>
          </p:cNvPr>
          <p:cNvSpPr>
            <a:spLocks noGrp="1"/>
          </p:cNvSpPr>
          <p:nvPr>
            <p:ph type="sldNum" sz="quarter" idx="10"/>
          </p:nvPr>
        </p:nvSpPr>
        <p:spPr/>
        <p:txBody>
          <a:bodyPr/>
          <a:lstStyle/>
          <a:p>
            <a:pPr marL="0" marR="0" lvl="0" indent="0" algn="r" defTabSz="118832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118832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9506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B3325-D8CC-5A4A-758C-5D4F6BA85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DFF1A-B444-B572-29B0-976D089E6490}"/>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US"/>
          </a:p>
        </p:txBody>
      </p:sp>
      <p:sp>
        <p:nvSpPr>
          <p:cNvPr id="3" name="Notes Placeholder 2">
            <a:extLst>
              <a:ext uri="{FF2B5EF4-FFF2-40B4-BE49-F238E27FC236}">
                <a16:creationId xmlns:a16="http://schemas.microsoft.com/office/drawing/2014/main" id="{03B45521-97BA-2A39-3B40-EA2C04A0A692}"/>
              </a:ext>
            </a:extLst>
          </p:cNvPr>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559581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719252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908471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74E15-8530-D03D-9ACB-D48C525E1A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54868-B330-BC6F-A794-B87E0DF27C14}"/>
              </a:ext>
            </a:extLst>
          </p:cNvPr>
          <p:cNvSpPr>
            <a:spLocks noGrp="1" noRot="1" noChangeAspect="1"/>
          </p:cNvSpPr>
          <p:nvPr>
            <p:ph type="sldImg"/>
          </p:nvPr>
        </p:nvSpPr>
        <p:spPr>
          <a:xfrm>
            <a:off x="777875" y="1200150"/>
            <a:ext cx="5759450" cy="3240088"/>
          </a:xfrm>
          <a:prstGeom prst="rect">
            <a:avLst/>
          </a:prstGeom>
          <a:noFill/>
          <a:ln w="12700">
            <a:solidFill>
              <a:prstClr val="black"/>
            </a:solidFill>
          </a:ln>
        </p:spPr>
        <p:txBody>
          <a:bodyPr/>
          <a:lstStyle/>
          <a:p>
            <a:endParaRPr lang="en-US"/>
          </a:p>
        </p:txBody>
      </p:sp>
      <p:sp>
        <p:nvSpPr>
          <p:cNvPr id="3" name="Notes Placeholder 2">
            <a:extLst>
              <a:ext uri="{FF2B5EF4-FFF2-40B4-BE49-F238E27FC236}">
                <a16:creationId xmlns:a16="http://schemas.microsoft.com/office/drawing/2014/main" id="{4F1EDBE0-3B5D-175B-3F62-E147CD7F7043}"/>
              </a:ext>
            </a:extLst>
          </p:cNvPr>
          <p:cNvSpPr>
            <a:spLocks noGrp="1"/>
          </p:cNvSpPr>
          <p:nvPr>
            <p:ph type="body" idx="1"/>
          </p:nvPr>
        </p:nvSpPr>
        <p:spPr>
          <a:xfrm>
            <a:off x="731838" y="4621213"/>
            <a:ext cx="5851525" cy="3779837"/>
          </a:xfrm>
          <a:prstGeom prst="rect">
            <a:avLst/>
          </a:prstGeom>
        </p:spPr>
        <p:txBody>
          <a:bodyPr/>
          <a:lstStyle/>
          <a:p>
            <a:endParaRPr lang="en-US"/>
          </a:p>
        </p:txBody>
      </p:sp>
    </p:spTree>
    <p:extLst>
      <p:ext uri="{BB962C8B-B14F-4D97-AF65-F5344CB8AC3E}">
        <p14:creationId xmlns:p14="http://schemas.microsoft.com/office/powerpoint/2010/main" val="17541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731838" y="4621213"/>
            <a:ext cx="5851525" cy="3779837"/>
          </a:xfrm>
          <a:prstGeom prst="rect">
            <a:avLst/>
          </a:prstGeom>
        </p:spPr>
        <p:txBody>
          <a:bodyPr/>
          <a:lstStyle/>
          <a:p>
            <a:endParaRPr lang="en-US"/>
          </a:p>
        </p:txBody>
      </p:sp>
    </p:spTree>
    <p:extLst>
      <p:ext uri="{BB962C8B-B14F-4D97-AF65-F5344CB8AC3E}">
        <p14:creationId xmlns:p14="http://schemas.microsoft.com/office/powerpoint/2010/main" val="2310361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03904-3CB6-592F-F89A-D0127B135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4A185-0239-3806-2972-761CB2F69175}"/>
              </a:ext>
            </a:extLst>
          </p:cNvPr>
          <p:cNvSpPr>
            <a:spLocks noGrp="1" noRot="1" noChangeAspect="1"/>
          </p:cNvSpPr>
          <p:nvPr>
            <p:ph type="sldImg"/>
          </p:nvPr>
        </p:nvSpPr>
        <p:spPr>
          <a:xfrm>
            <a:off x="777875" y="1200150"/>
            <a:ext cx="5759450" cy="3240088"/>
          </a:xfrm>
          <a:prstGeom prst="rect">
            <a:avLst/>
          </a:prstGeom>
          <a:noFill/>
          <a:ln w="12700">
            <a:solidFill>
              <a:prstClr val="black"/>
            </a:solidFill>
          </a:ln>
        </p:spPr>
        <p:txBody>
          <a:bodyPr/>
          <a:lstStyle/>
          <a:p>
            <a:endParaRPr lang="en-US"/>
          </a:p>
        </p:txBody>
      </p:sp>
      <p:sp>
        <p:nvSpPr>
          <p:cNvPr id="3" name="Notes Placeholder 2">
            <a:extLst>
              <a:ext uri="{FF2B5EF4-FFF2-40B4-BE49-F238E27FC236}">
                <a16:creationId xmlns:a16="http://schemas.microsoft.com/office/drawing/2014/main" id="{A01CBF9F-84CC-C8E4-2C79-E90C9B6C1524}"/>
              </a:ext>
            </a:extLst>
          </p:cNvPr>
          <p:cNvSpPr>
            <a:spLocks noGrp="1"/>
          </p:cNvSpPr>
          <p:nvPr>
            <p:ph type="body" idx="1"/>
          </p:nvPr>
        </p:nvSpPr>
        <p:spPr>
          <a:xfrm>
            <a:off x="731838" y="4621213"/>
            <a:ext cx="5851525" cy="3779837"/>
          </a:xfrm>
          <a:prstGeom prst="rect">
            <a:avLst/>
          </a:prstGeom>
        </p:spPr>
        <p:txBody>
          <a:bodyPr/>
          <a:lstStyle/>
          <a:p>
            <a:endParaRPr lang="en-US"/>
          </a:p>
        </p:txBody>
      </p:sp>
    </p:spTree>
    <p:extLst>
      <p:ext uri="{BB962C8B-B14F-4D97-AF65-F5344CB8AC3E}">
        <p14:creationId xmlns:p14="http://schemas.microsoft.com/office/powerpoint/2010/main" val="2349936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0889931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7.emf"/><Relationship Id="rId4" Type="http://schemas.openxmlformats.org/officeDocument/2006/relationships/oleObject" Target="../embeddings/oleObject2.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7.emf"/><Relationship Id="rId4" Type="http://schemas.openxmlformats.org/officeDocument/2006/relationships/oleObject" Target="../embeddings/oleObject2.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7.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7.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7.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7.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7.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7.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7.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7.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7.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7.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7.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7.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7.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7.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7.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7.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7.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7.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7.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7.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7.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7.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7.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7.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7.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7.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3.xml"/><Relationship Id="rId4" Type="http://schemas.openxmlformats.org/officeDocument/2006/relationships/image" Target="../media/image7.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4.xml"/><Relationship Id="rId4" Type="http://schemas.openxmlformats.org/officeDocument/2006/relationships/image" Target="../media/image7.emf"/></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with tagline logo lockup">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7FC5E484-EB26-0B50-B87A-799C320E830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3" name="Picture 3">
            <a:extLst>
              <a:ext uri="{FF2B5EF4-FFF2-40B4-BE49-F238E27FC236}">
                <a16:creationId xmlns:a16="http://schemas.microsoft.com/office/drawing/2014/main" id="{B6970A4B-B432-0F69-C312-D57C3DF06CD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2681333971"/>
      </p:ext>
    </p:extLst>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A9C623ED-9A31-E94B-385F-DFBB34F5916A}"/>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3" name="Picture 2">
            <a:extLst>
              <a:ext uri="{FF2B5EF4-FFF2-40B4-BE49-F238E27FC236}">
                <a16:creationId xmlns:a16="http://schemas.microsoft.com/office/drawing/2014/main" id="{856FA620-B23E-0D62-CFAF-C7B1EE2DF1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737713142"/>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ale Green with tagline logo lockup">
    <p:bg bwMode="gray">
      <p:bgPr>
        <a:solidFill>
          <a:schemeClr val="accent6"/>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9A09F874-9939-7788-F7E8-1E902B5632A8}"/>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4" name="Picture 3">
            <a:extLst>
              <a:ext uri="{FF2B5EF4-FFF2-40B4-BE49-F238E27FC236}">
                <a16:creationId xmlns:a16="http://schemas.microsoft.com/office/drawing/2014/main" id="{4BC315A3-99EF-FC55-DE24-58D79C1DD21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1257502178"/>
      </p:ext>
    </p:extLst>
  </p:cSld>
  <p:clrMapOvr>
    <a:masterClrMapping/>
  </p:clrMapOvr>
  <p:transition>
    <p:fad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 Pale Green">
    <p:bg bwMode="gray">
      <p:bgPr>
        <a:solidFill>
          <a:schemeClr val="accent6"/>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6" name="Picture 5">
            <a:extLst>
              <a:ext uri="{FF2B5EF4-FFF2-40B4-BE49-F238E27FC236}">
                <a16:creationId xmlns:a16="http://schemas.microsoft.com/office/drawing/2014/main" id="{D8F5BA9B-7574-E325-E1B5-3C428C7E4C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1291608243"/>
      </p:ext>
    </p:extLst>
  </p:cSld>
  <p:clrMapOvr>
    <a:masterClrMapping/>
  </p:clrMapOvr>
  <p:transition>
    <p:fade/>
  </p:transition>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with tagline logo lockup">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3" name="Picture 3">
            <a:extLst>
              <a:ext uri="{FF2B5EF4-FFF2-40B4-BE49-F238E27FC236}">
                <a16:creationId xmlns:a16="http://schemas.microsoft.com/office/drawing/2014/main" id="{25E4CF2D-5153-8731-E935-35A75505133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2783065791"/>
      </p:ext>
    </p:extLst>
  </p:cSld>
  <p:clrMapOvr>
    <a:masterClrMapping/>
  </p:clrMapOvr>
  <p:transition>
    <p:fade/>
  </p:transition>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5" name="Picture 4">
            <a:extLst>
              <a:ext uri="{FF2B5EF4-FFF2-40B4-BE49-F238E27FC236}">
                <a16:creationId xmlns:a16="http://schemas.microsoft.com/office/drawing/2014/main" id="{4A99EDB7-3AF4-61F2-2C8B-4480E13D1A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2166170444"/>
      </p:ext>
    </p:extLst>
  </p:cSld>
  <p:clrMapOvr>
    <a:masterClrMapping/>
  </p:clrMapOvr>
  <p:transition>
    <p:fade/>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 Black with tagline logo lockup">
    <p:bg bwMode="gray">
      <p:bgPr>
        <a:solidFill>
          <a:schemeClr val="tx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BD417F91-0FD9-83FB-569A-B960E93D5A0F}"/>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4" name="Picture 3">
            <a:extLst>
              <a:ext uri="{FF2B5EF4-FFF2-40B4-BE49-F238E27FC236}">
                <a16:creationId xmlns:a16="http://schemas.microsoft.com/office/drawing/2014/main" id="{09D97FD6-A665-B2C8-96D2-2FEF2679AAB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3750920783"/>
      </p:ext>
    </p:extLst>
  </p:cSld>
  <p:clrMapOvr>
    <a:masterClrMapping/>
  </p:clrMapOvr>
  <p:transition>
    <p:fade/>
  </p:transition>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FB2FFE14-03CA-6135-58A2-5C311D365127}"/>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4" name="Picture 3">
            <a:extLst>
              <a:ext uri="{FF2B5EF4-FFF2-40B4-BE49-F238E27FC236}">
                <a16:creationId xmlns:a16="http://schemas.microsoft.com/office/drawing/2014/main" id="{F4810F31-D882-A06D-7681-1B913A76EC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1294055128"/>
      </p:ext>
    </p:extLst>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 Dark Green with tagline logo lockup">
    <p:bg bwMode="gray">
      <p:bgPr>
        <a:solidFill>
          <a:schemeClr val="accent4"/>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3F8A2FFF-A4B2-D935-C7DC-1DB5EDE4A71C}"/>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4" name="Picture 3">
            <a:extLst>
              <a:ext uri="{FF2B5EF4-FFF2-40B4-BE49-F238E27FC236}">
                <a16:creationId xmlns:a16="http://schemas.microsoft.com/office/drawing/2014/main" id="{9B590BD8-2D84-8179-A640-57E37904E6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2923773166"/>
      </p:ext>
    </p:extLst>
  </p:cSld>
  <p:clrMapOvr>
    <a:masterClrMapping/>
  </p:clrMapOvr>
  <p:transition>
    <p:fade/>
  </p:transition>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 Dark Green">
    <p:bg bwMode="gray">
      <p:bgPr>
        <a:solidFill>
          <a:schemeClr val="accent4"/>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5BCB8175-C467-0B04-B004-47252C8E68C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5" name="Picture 4">
            <a:extLst>
              <a:ext uri="{FF2B5EF4-FFF2-40B4-BE49-F238E27FC236}">
                <a16:creationId xmlns:a16="http://schemas.microsoft.com/office/drawing/2014/main" id="{050BF294-5C31-F69F-426C-BF45033D4DF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758259681"/>
      </p:ext>
    </p:extLst>
  </p:cSld>
  <p:clrMapOvr>
    <a:masterClrMapping/>
  </p:clrMapOvr>
  <p:transition>
    <p:fade/>
  </p:transition>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2" name="Picture 1">
            <a:extLst>
              <a:ext uri="{FF2B5EF4-FFF2-40B4-BE49-F238E27FC236}">
                <a16:creationId xmlns:a16="http://schemas.microsoft.com/office/drawing/2014/main" id="{9913732D-80FD-BC4D-437C-614EF3BEBF7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373645450"/>
      </p:ext>
    </p:extLst>
  </p:cSld>
  <p:clrMapOvr>
    <a:masterClrMapping/>
  </p:clrMapOvr>
  <p:transition>
    <p:fade/>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3" name="Picture 2">
            <a:extLst>
              <a:ext uri="{FF2B5EF4-FFF2-40B4-BE49-F238E27FC236}">
                <a16:creationId xmlns:a16="http://schemas.microsoft.com/office/drawing/2014/main" id="{31CF98FE-74F2-7A89-9D1B-2E3424F331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2756036111"/>
      </p:ext>
    </p:extLst>
  </p:cSld>
  <p:clrMapOvr>
    <a:masterClrMapping/>
  </p:clrMapOvr>
  <p:transition>
    <p:fade/>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Tree>
    <p:extLst>
      <p:ext uri="{BB962C8B-B14F-4D97-AF65-F5344CB8AC3E}">
        <p14:creationId xmlns:p14="http://schemas.microsoft.com/office/powerpoint/2010/main" val="3064233425"/>
      </p:ext>
    </p:extLst>
  </p:cSld>
  <p:clrMapOvr>
    <a:masterClrMapping/>
  </p:clrMapOvr>
  <p:transition>
    <p:fade/>
  </p:transition>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 Glow">
    <p:bg bwMode="gray">
      <p:bgPr>
        <a:solidFill>
          <a:schemeClr val="tx1"/>
        </a:solidFill>
        <a:effectLst/>
      </p:bgPr>
    </p:bg>
    <p:spTree>
      <p:nvGrpSpPr>
        <p:cNvPr id="1" name=""/>
        <p:cNvGrpSpPr/>
        <p:nvPr/>
      </p:nvGrpSpPr>
      <p:grpSpPr>
        <a:xfrm>
          <a:off x="0" y="0"/>
          <a:ext cx="0" cy="0"/>
          <a:chOff x="0" y="0"/>
          <a:chExt cx="0" cy="0"/>
        </a:xfrm>
      </p:grpSpPr>
      <p:pic>
        <p:nvPicPr>
          <p:cNvPr id="2" name="Picture 1" descr="A green circle on a green background&#10;&#10;AI-generated content may be incorrect.">
            <a:extLst>
              <a:ext uri="{FF2B5EF4-FFF2-40B4-BE49-F238E27FC236}">
                <a16:creationId xmlns:a16="http://schemas.microsoft.com/office/drawing/2014/main" id="{0612E835-F4A9-E28C-C385-D7BF39346F52}"/>
              </a:ext>
            </a:extLst>
          </p:cNvPr>
          <p:cNvPicPr>
            <a:picLocks noChangeAspect="1"/>
          </p:cNvPicPr>
          <p:nvPr userDrawn="1"/>
        </p:nvPicPr>
        <p:blipFill>
          <a:blip r:embed="rId3"/>
          <a:stretch>
            <a:fillRect/>
          </a:stretch>
        </p:blipFill>
        <p:spPr>
          <a:xfrm>
            <a:off x="762" y="428"/>
            <a:ext cx="12190476" cy="6857143"/>
          </a:xfrm>
          <a:prstGeom prst="rect">
            <a:avLst/>
          </a:prstGeom>
        </p:spPr>
      </p:pic>
      <p:pic>
        <p:nvPicPr>
          <p:cNvPr id="4" name="Picture 3" descr="A green circle on a green background&#10;&#10;AI-generated content may be incorrect.">
            <a:extLst>
              <a:ext uri="{FF2B5EF4-FFF2-40B4-BE49-F238E27FC236}">
                <a16:creationId xmlns:a16="http://schemas.microsoft.com/office/drawing/2014/main" id="{45E3228C-6488-D962-AD57-9F2A5C5896EE}"/>
              </a:ext>
            </a:extLst>
          </p:cNvPr>
          <p:cNvPicPr>
            <a:picLocks noChangeAspect="1"/>
          </p:cNvPicPr>
          <p:nvPr/>
        </p:nvPicPr>
        <p:blipFill>
          <a:blip r:embed="rId3"/>
          <a:stretch>
            <a:fillRect/>
          </a:stretch>
        </p:blipFill>
        <p:spPr>
          <a:xfrm>
            <a:off x="762" y="428"/>
            <a:ext cx="12190476" cy="6857143"/>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CaseCode">
            <a:extLst>
              <a:ext uri="{FF2B5EF4-FFF2-40B4-BE49-F238E27FC236}">
                <a16:creationId xmlns:a16="http://schemas.microsoft.com/office/drawing/2014/main" id="{731E6BB5-C9D1-E35B-D6D9-245F1063E86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B5B05F3-7BE5-74BC-C267-D563E5B2A301}"/>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0182C802-4131-8DA8-7683-E68E2E309BA0}"/>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9" name="Text Placeholder 2">
            <a:extLst>
              <a:ext uri="{FF2B5EF4-FFF2-40B4-BE49-F238E27FC236}">
                <a16:creationId xmlns:a16="http://schemas.microsoft.com/office/drawing/2014/main" id="{32671CB7-EA0F-58E4-4174-1D1922A3AB24}"/>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text</a:t>
            </a:r>
          </a:p>
        </p:txBody>
      </p:sp>
      <p:sp>
        <p:nvSpPr>
          <p:cNvPr id="3" name="CaseCode">
            <a:extLst>
              <a:ext uri="{FF2B5EF4-FFF2-40B4-BE49-F238E27FC236}">
                <a16:creationId xmlns:a16="http://schemas.microsoft.com/office/drawing/2014/main" id="{0A4EC9DF-8A5A-81C7-A2F0-1416E458E773}"/>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Copyright">
            <a:extLst>
              <a:ext uri="{FF2B5EF4-FFF2-40B4-BE49-F238E27FC236}">
                <a16:creationId xmlns:a16="http://schemas.microsoft.com/office/drawing/2014/main" id="{76A3C83B-1E93-24DD-B4CF-4F673E59352B}"/>
              </a:ext>
            </a:extLst>
          </p:cNvPr>
          <p:cNvSpPr txBox="1"/>
          <p:nvPr userDrawn="1"/>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8A4CDE2B-37F4-6423-B520-C4665B2B512F}"/>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94819975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 United">
    <p:bg bwMode="gray">
      <p:bgPr>
        <a:solidFill>
          <a:schemeClr val="tx1"/>
        </a:solidFill>
        <a:effectLst/>
      </p:bgPr>
    </p:bg>
    <p:spTree>
      <p:nvGrpSpPr>
        <p:cNvPr id="1" name=""/>
        <p:cNvGrpSpPr/>
        <p:nvPr/>
      </p:nvGrpSpPr>
      <p:grpSpPr>
        <a:xfrm>
          <a:off x="0" y="0"/>
          <a:ext cx="0" cy="0"/>
          <a:chOff x="0" y="0"/>
          <a:chExt cx="0" cy="0"/>
        </a:xfrm>
      </p:grpSpPr>
      <p:pic>
        <p:nvPicPr>
          <p:cNvPr id="2" name="Picture 1" descr="A circle of small green and blue dots&#10;&#10;Description automatically generated">
            <a:extLst>
              <a:ext uri="{FF2B5EF4-FFF2-40B4-BE49-F238E27FC236}">
                <a16:creationId xmlns:a16="http://schemas.microsoft.com/office/drawing/2014/main" id="{56245C15-57A3-6DF3-1754-20E77EB5CAD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1095" t="20842" r="-653" b="10449"/>
          <a:stretch>
            <a:fillRect/>
          </a:stretch>
        </p:blipFill>
        <p:spPr>
          <a:xfrm>
            <a:off x="0" y="0"/>
            <a:ext cx="12192000"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text</a:t>
            </a:r>
          </a:p>
        </p:txBody>
      </p:sp>
      <p:pic>
        <p:nvPicPr>
          <p:cNvPr id="3" name="Picture 2" descr="A circle of small green and blue dots&#10;&#10;Description automatically generated">
            <a:extLst>
              <a:ext uri="{FF2B5EF4-FFF2-40B4-BE49-F238E27FC236}">
                <a16:creationId xmlns:a16="http://schemas.microsoft.com/office/drawing/2014/main" id="{BE3412DA-AF8A-F83F-A01C-B4141E94FDB2}"/>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11095" t="20842" r="-653" b="10449"/>
          <a:stretch>
            <a:fillRect/>
          </a:stretch>
        </p:blipFill>
        <p:spPr>
          <a:xfrm>
            <a:off x="0" y="0"/>
            <a:ext cx="12192000" cy="6858000"/>
          </a:xfrm>
          <a:prstGeom prst="rect">
            <a:avLst/>
          </a:prstGeom>
        </p:spPr>
      </p:pic>
    </p:spTree>
    <p:extLst>
      <p:ext uri="{BB962C8B-B14F-4D97-AF65-F5344CB8AC3E}">
        <p14:creationId xmlns:p14="http://schemas.microsoft.com/office/powerpoint/2010/main" val="2587379045"/>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Divider - Pale Green">
    <p:bg bwMode="gray">
      <p:bgPr>
        <a:solidFill>
          <a:schemeClr val="accent6"/>
        </a:soli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67FC27F4-B029-8F10-CF8E-13A946A025B5}"/>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accent4"/>
                </a:solidFill>
                <a:latin typeface="Aptos" panose="020B0004020202020204" pitchFamily="34" charset="0"/>
                <a:cs typeface="Calibri" panose="020F0502020204030204" pitchFamily="34" charset="0"/>
              </a:rPr>
              <a:t>Presentation title</a:t>
            </a:r>
            <a:br>
              <a:rPr lang="en-US" sz="800" noProof="0">
                <a:solidFill>
                  <a:schemeClr val="accent4"/>
                </a:solidFill>
                <a:latin typeface="Aptos" panose="020B0004020202020204" pitchFamily="34" charset="0"/>
                <a:cs typeface="Calibri" panose="020F0502020204030204" pitchFamily="34" charset="0"/>
              </a:rPr>
            </a:br>
            <a:r>
              <a:rPr lang="en-US" sz="800" noProof="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9AEA1EB-B05E-844E-88AE-0B79DF479CC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accent4"/>
                </a:solidFill>
                <a:latin typeface="Aptos" panose="020B0004020202020204" pitchFamily="34" charset="0"/>
                <a:cs typeface="Calibri" panose="020F0502020204030204" pitchFamily="34" charset="0"/>
              </a:rPr>
              <a:t>Member firms and DTTL: Insert appropriate copyright</a:t>
            </a:r>
            <a:br>
              <a:rPr lang="en-US" sz="800" noProof="0">
                <a:solidFill>
                  <a:schemeClr val="accent4"/>
                </a:solidFill>
                <a:latin typeface="Aptos" panose="020B0004020202020204" pitchFamily="34" charset="0"/>
                <a:cs typeface="Calibri" panose="020F0502020204030204" pitchFamily="34" charset="0"/>
              </a:rPr>
            </a:br>
            <a:r>
              <a:rPr lang="en-US" sz="800" noProof="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F797C4E0-E9D0-9FCD-AFF6-A164148A4809}"/>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27237997-F2A9-D664-587D-4BF3816A0DA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3562607063"/>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Presentation title</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Member firms and DTTL: Insert appropriate copyright</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12CD58D-2BFB-3387-A814-C06828E88CA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152990582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Divider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Presentation title</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Member firms and DTTL: Insert appropriate copyright</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26288D3C-20C4-200E-7A39-8253F3E6AD58}"/>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1361009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Divider - Deloitte Deep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F684A669-26C5-90D5-704C-199677EB5DCB}"/>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007BB995-EE99-3880-DCE6-C93F71A128C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561CC79A-BB5E-1920-0382-D1E9D54533B4}"/>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7582AB9-92F7-B2E5-BF9C-744E1F477FC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321513412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Divider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2FC75865-6F76-C54E-DF22-E2B4689596A8}"/>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Presentation title</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4D8129D5-9039-E8B3-5F13-E4574BC308F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A0CBBC4D-3C0B-94BF-1ABE-F74D334FD22C}"/>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
        <p:nvSpPr>
          <p:cNvPr id="8" name="Title 1">
            <a:extLst>
              <a:ext uri="{FF2B5EF4-FFF2-40B4-BE49-F238E27FC236}">
                <a16:creationId xmlns:a16="http://schemas.microsoft.com/office/drawing/2014/main" id="{2559336F-A28E-132F-AE15-43D8D49F242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
        <p:nvSpPr>
          <p:cNvPr id="2" name="CaseCode">
            <a:extLst>
              <a:ext uri="{FF2B5EF4-FFF2-40B4-BE49-F238E27FC236}">
                <a16:creationId xmlns:a16="http://schemas.microsoft.com/office/drawing/2014/main" id="{ED522F1A-76ED-9748-3E86-16A48ACAC575}"/>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Presentation title</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3" name="Copyright">
            <a:extLst>
              <a:ext uri="{FF2B5EF4-FFF2-40B4-BE49-F238E27FC236}">
                <a16:creationId xmlns:a16="http://schemas.microsoft.com/office/drawing/2014/main" id="{8BCC36DE-11BE-ACD5-8C25-3380E547E1BC}"/>
              </a:ext>
            </a:extLst>
          </p:cNvPr>
          <p:cNvSpPr txBox="1"/>
          <p:nvPr userDrawn="1"/>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4" name="TextBox 3">
            <a:extLst>
              <a:ext uri="{FF2B5EF4-FFF2-40B4-BE49-F238E27FC236}">
                <a16:creationId xmlns:a16="http://schemas.microsoft.com/office/drawing/2014/main" id="{826A064D-8615-4934-CF57-1312C16D8F95}"/>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180946784"/>
      </p:ext>
    </p:extLst>
  </p:cSld>
  <p:clrMapOvr>
    <a:masterClrMapping/>
  </p:clrMapOvr>
  <p:transition>
    <p:fade/>
  </p:transition>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7" name="CaseCode">
            <a:extLst>
              <a:ext uri="{FF2B5EF4-FFF2-40B4-BE49-F238E27FC236}">
                <a16:creationId xmlns:a16="http://schemas.microsoft.com/office/drawing/2014/main" id="{1F8EA9CE-A4FD-7F07-8A19-61F161FECD5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accent4"/>
                </a:solidFill>
                <a:latin typeface="Aptos" panose="020B0004020202020204" pitchFamily="34" charset="0"/>
                <a:cs typeface="Calibri" panose="020F0502020204030204" pitchFamily="34" charset="0"/>
              </a:rPr>
              <a:t>Presentation title</a:t>
            </a:r>
            <a:br>
              <a:rPr lang="en-US" sz="800" noProof="0">
                <a:solidFill>
                  <a:schemeClr val="accent4"/>
                </a:solidFill>
                <a:latin typeface="Aptos" panose="020B0004020202020204" pitchFamily="34" charset="0"/>
                <a:cs typeface="Calibri" panose="020F0502020204030204" pitchFamily="34" charset="0"/>
              </a:rPr>
            </a:br>
            <a:r>
              <a:rPr lang="en-US" sz="800" noProof="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EFB2FD2C-2339-18D3-FE74-70FF8DBE712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accent4"/>
                </a:solidFill>
                <a:latin typeface="Aptos" panose="020B0004020202020204" pitchFamily="34" charset="0"/>
                <a:cs typeface="Calibri" panose="020F0502020204030204" pitchFamily="34" charset="0"/>
              </a:rPr>
              <a:t>Member firms and DTTL: Insert appropriate copyright</a:t>
            </a:r>
            <a:br>
              <a:rPr lang="en-US" sz="800" noProof="0">
                <a:solidFill>
                  <a:schemeClr val="accent4"/>
                </a:solidFill>
                <a:latin typeface="Aptos" panose="020B0004020202020204" pitchFamily="34" charset="0"/>
                <a:cs typeface="Calibri" panose="020F0502020204030204" pitchFamily="34" charset="0"/>
              </a:rPr>
            </a:br>
            <a:r>
              <a:rPr lang="en-US" sz="800" noProof="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752674E4-36E3-6473-BA52-EF41006ED287}"/>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61F4FDF0-825B-9D05-FCBA-CD50EF6CC824}"/>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287316881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 -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205222136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 Full-bleed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 name="Title 1">
            <a:extLst>
              <a:ext uri="{FF2B5EF4-FFF2-40B4-BE49-F238E27FC236}">
                <a16:creationId xmlns:a16="http://schemas.microsoft.com/office/drawing/2014/main" id="{AEE1843C-9C47-5853-9CCF-75A6755EA090}"/>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2652376119"/>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1362988078"/>
      </p:ext>
    </p:extLst>
  </p:cSld>
  <p:clrMapOvr>
    <a:masterClrMapping/>
  </p:clrMapOvr>
  <p:transition>
    <p:fade/>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198400827"/>
      </p:ext>
    </p:extLst>
  </p:cSld>
  <p:clrMapOvr>
    <a:masterClrMapping/>
  </p:clrMapOvr>
  <p:transition>
    <p:fade/>
  </p:transition>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699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24780218"/>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2559719668"/>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50062364"/>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1490479443"/>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2628989885"/>
      </p:ext>
    </p:extLst>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Tree>
    <p:extLst>
      <p:ext uri="{BB962C8B-B14F-4D97-AF65-F5344CB8AC3E}">
        <p14:creationId xmlns:p14="http://schemas.microsoft.com/office/powerpoint/2010/main" val="1750559749"/>
      </p:ext>
    </p:extLst>
  </p:cSld>
  <p:clrMapOvr>
    <a:masterClrMapping/>
  </p:clrMapOvr>
  <p:transition>
    <p:fade/>
  </p:transition>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a:t>Click to add text</a:t>
            </a:r>
          </a:p>
        </p:txBody>
      </p:sp>
      <p:pic>
        <p:nvPicPr>
          <p:cNvPr id="4" name="Picture 3">
            <a:extLst>
              <a:ext uri="{FF2B5EF4-FFF2-40B4-BE49-F238E27FC236}">
                <a16:creationId xmlns:a16="http://schemas.microsoft.com/office/drawing/2014/main" id="{62807C35-870E-BE5C-3063-D65F3CF32E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3" name="Picture 2">
            <a:extLst>
              <a:ext uri="{FF2B5EF4-FFF2-40B4-BE49-F238E27FC236}">
                <a16:creationId xmlns:a16="http://schemas.microsoft.com/office/drawing/2014/main" id="{203F6F65-0FAE-13C5-4935-4F5D23290CA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5" name="Picture 4">
            <a:extLst>
              <a:ext uri="{FF2B5EF4-FFF2-40B4-BE49-F238E27FC236}">
                <a16:creationId xmlns:a16="http://schemas.microsoft.com/office/drawing/2014/main" id="{B5567C3E-3181-DBCE-56F9-25416E46986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2" name="Picture 1">
            <a:extLst>
              <a:ext uri="{FF2B5EF4-FFF2-40B4-BE49-F238E27FC236}">
                <a16:creationId xmlns:a16="http://schemas.microsoft.com/office/drawing/2014/main" id="{FB50732A-3DE1-9BA2-E38D-3560C50CEFA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1564634876"/>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Only - Light Gray">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145863101"/>
      </p:ext>
    </p:extLst>
  </p:cSld>
  <p:clrMapOvr>
    <a:masterClrMapping/>
  </p:clrMapOvr>
  <p:transition>
    <p:fade/>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ubtitle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D6240FD-6CE9-5B73-7D7B-7F60C832531D}"/>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D61B36F7-4D66-A541-48A9-D4104A28F22E}"/>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0" name="Text Placeholder 7">
            <a:extLst>
              <a:ext uri="{FF2B5EF4-FFF2-40B4-BE49-F238E27FC236}">
                <a16:creationId xmlns:a16="http://schemas.microsoft.com/office/drawing/2014/main" id="{458DE312-1DB6-6A86-31A5-4DD91F4D295D}"/>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2C8AFF7-A1A4-8B8F-9682-D1150A2584E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33797201"/>
      </p:ext>
    </p:extLst>
  </p:cSld>
  <p:clrMapOvr>
    <a:masterClrMapping/>
  </p:clrMapOvr>
  <p:transition>
    <p:fade/>
  </p:transition>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ubtitle, 1 column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073725422"/>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2 columns - Light Gray">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517060879"/>
      </p:ext>
    </p:extLst>
  </p:cSld>
  <p:clrMapOvr>
    <a:masterClrMapping/>
  </p:clrMapOvr>
  <p:transition>
    <p:fade/>
  </p:transition>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ubtitle, 3 columns - Light Gray">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324823486"/>
      </p:ext>
    </p:extLst>
  </p:cSld>
  <p:clrMapOvr>
    <a:masterClrMapping/>
  </p:clrMapOvr>
  <p:transition>
    <p:fade/>
  </p:transition>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ubtitle, 4 columns - Light Gray">
    <p:bg>
      <p:bgPr>
        <a:solidFill>
          <a:schemeClr val="bg2"/>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795826601"/>
      </p:ext>
    </p:extLst>
  </p:cSld>
  <p:clrMapOvr>
    <a:masterClrMapping/>
  </p:clrMapOvr>
  <p:transition>
    <p:fade/>
  </p:transition>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am profile - Light Gray">
    <p:bg>
      <p:bgPr>
        <a:solidFill>
          <a:schemeClr val="bg2"/>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898011833"/>
      </p:ext>
    </p:extLst>
  </p:cSld>
  <p:clrMapOvr>
    <a:masterClrMapping/>
  </p:clrMapOvr>
  <p:transition>
    <p:fade/>
  </p:transition>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alifications 2 x 1 - Light Gray">
    <p:bg>
      <p:bgPr>
        <a:solidFill>
          <a:schemeClr val="bg2"/>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2079447"/>
      </p:ext>
    </p:extLst>
  </p:cSld>
  <p:clrMapOvr>
    <a:masterClrMapping/>
  </p:clrMapOvr>
  <p:transition>
    <p:fade/>
  </p:transition>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Only - Pale Green">
    <p:bg>
      <p:bgPr>
        <a:solidFill>
          <a:schemeClr val="accent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962242733"/>
      </p:ext>
    </p:extLst>
  </p:cSld>
  <p:clrMapOvr>
    <a:masterClrMapping/>
  </p:clrMapOvr>
  <p:transition>
    <p:fade/>
  </p:transition>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ubtitle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D6240FD-6CE9-5B73-7D7B-7F60C832531D}"/>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D61B36F7-4D66-A541-48A9-D4104A28F22E}"/>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0" name="Text Placeholder 7">
            <a:extLst>
              <a:ext uri="{FF2B5EF4-FFF2-40B4-BE49-F238E27FC236}">
                <a16:creationId xmlns:a16="http://schemas.microsoft.com/office/drawing/2014/main" id="{458DE312-1DB6-6A86-31A5-4DD91F4D295D}"/>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2C8AFF7-A1A4-8B8F-9682-D1150A2584E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18572650"/>
      </p:ext>
    </p:extLst>
  </p:cSld>
  <p:clrMapOvr>
    <a:masterClrMapping/>
  </p:clrMapOvr>
  <p:transition>
    <p:fade/>
  </p:transition>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subtitle, 1 column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791708836"/>
      </p:ext>
    </p:extLst>
  </p:cSld>
  <p:clrMapOvr>
    <a:masterClrMapping/>
  </p:clrMapOvr>
  <p:transition>
    <p:fade/>
  </p:transition>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subtitle, 2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840616420"/>
      </p:ext>
    </p:extLst>
  </p:cSld>
  <p:clrMapOvr>
    <a:masterClrMapping/>
  </p:clrMapOvr>
  <p:transition>
    <p:fade/>
  </p:transition>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3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47417647"/>
      </p:ext>
    </p:extLst>
  </p:cSld>
  <p:clrMapOvr>
    <a:masterClrMapping/>
  </p:clrMapOvr>
  <p:transition>
    <p:fade/>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4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216976398"/>
      </p:ext>
    </p:extLst>
  </p:cSld>
  <p:clrMapOvr>
    <a:masterClrMapping/>
  </p:clrMapOvr>
  <p:transition>
    <p:fade/>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am profile - Pale Green">
    <p:bg>
      <p:bgPr>
        <a:solidFill>
          <a:schemeClr val="accent6"/>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163257741"/>
      </p:ext>
    </p:extLst>
  </p:cSld>
  <p:clrMapOvr>
    <a:masterClrMapping/>
  </p:clrMapOvr>
  <p:transition>
    <p:fade/>
  </p:transition>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alifications 2 x 1 - Pale Green">
    <p:bg>
      <p:bgPr>
        <a:solidFill>
          <a:schemeClr val="accent6"/>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181329850"/>
      </p:ext>
    </p:extLst>
  </p:cSld>
  <p:clrMapOvr>
    <a:masterClrMapping/>
  </p:clrMapOvr>
  <p:transition>
    <p:fade/>
  </p:transition>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30692428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7200" y="684000"/>
            <a:ext cx="11274552" cy="757255"/>
          </a:xfrm>
          <a:prstGeom prst="rect">
            <a:avLst/>
          </a:prstGeom>
        </p:spPr>
        <p:txBody>
          <a:bodyPr lIns="0" tIns="0" rIns="0" bIns="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3236994639"/>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457200" y="1677579"/>
            <a:ext cx="11274552" cy="4681728"/>
          </a:xfrm>
          <a:prstGeom prst="rect">
            <a:avLst/>
          </a:prstGeom>
          <a:solidFill>
            <a:schemeClr val="tx1"/>
          </a:solidFill>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marL="365760">
              <a:spcBef>
                <a:spcPts val="200"/>
              </a:spcBef>
              <a:spcAft>
                <a:spcPts val="200"/>
              </a:spcAft>
              <a:defRPr>
                <a:solidFill>
                  <a:schemeClr val="bg1"/>
                </a:solidFill>
                <a:latin typeface="Aptos" panose="020B0004020202020204" pitchFamily="34" charset="0"/>
              </a:defRPr>
            </a:lvl3pPr>
            <a:lvl4pPr marL="548640" indent="-182880">
              <a:spcBef>
                <a:spcPts val="200"/>
              </a:spcBef>
              <a:spcAft>
                <a:spcPts val="200"/>
              </a:spcAft>
              <a:defRPr>
                <a:solidFill>
                  <a:schemeClr val="bg1"/>
                </a:solidFill>
                <a:latin typeface="Aptos" panose="020B0004020202020204" pitchFamily="34" charset="0"/>
              </a:defRPr>
            </a:lvl4pPr>
            <a:lvl5pPr marL="731520">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Tree>
    <p:extLst>
      <p:ext uri="{BB962C8B-B14F-4D97-AF65-F5344CB8AC3E}">
        <p14:creationId xmlns:p14="http://schemas.microsoft.com/office/powerpoint/2010/main" val="1343532302"/>
      </p:ext>
    </p:extLst>
  </p:cSld>
  <p:clrMapOvr>
    <a:masterClrMapping/>
  </p:clrMapOvr>
  <p:transition>
    <p:fade/>
  </p:transition>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hasCustomPrompt="1"/>
          </p:nvPr>
        </p:nvSpPr>
        <p:spPr>
          <a:xfrm>
            <a:off x="6249579"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01369178"/>
      </p:ext>
    </p:extLst>
  </p:cSld>
  <p:clrMapOvr>
    <a:masterClrMapping/>
  </p:clrMapOvr>
  <p:transition>
    <p:fade/>
  </p:transition>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defRPr lang="en-US" sz="1800" b="0" dirty="0">
                <a:solidFill>
                  <a:srgbClr val="D0D0CE"/>
                </a:solidFill>
                <a:latin typeface="Aptos" panose="020B0004020202020204" pitchFamily="34" charset="0"/>
              </a:defRPr>
            </a:lvl1pPr>
          </a:lstStyle>
          <a:p>
            <a:pPr lvl="0"/>
            <a:r>
              <a:rPr lang="en-US"/>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hasCustomPrompt="1"/>
          </p:nvPr>
        </p:nvSpPr>
        <p:spPr>
          <a:xfrm>
            <a:off x="4327048"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hasCustomPrompt="1"/>
          </p:nvPr>
        </p:nvSpPr>
        <p:spPr>
          <a:xfrm>
            <a:off x="8193024"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20865141"/>
      </p:ext>
    </p:extLst>
  </p:cSld>
  <p:clrMapOvr>
    <a:masterClrMapping/>
  </p:clrMapOvr>
  <p:transition>
    <p:fade/>
  </p:transition>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hasCustomPrompt="1"/>
          </p:nvPr>
        </p:nvSpPr>
        <p:spPr>
          <a:xfrm>
            <a:off x="332232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hasCustomPrompt="1"/>
          </p:nvPr>
        </p:nvSpPr>
        <p:spPr>
          <a:xfrm>
            <a:off x="618744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hasCustomPrompt="1"/>
          </p:nvPr>
        </p:nvSpPr>
        <p:spPr>
          <a:xfrm>
            <a:off x="905256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76562999"/>
      </p:ext>
    </p:extLst>
  </p:cSld>
  <p:clrMapOvr>
    <a:masterClrMapping/>
  </p:clrMapOvr>
  <p:transition>
    <p:fade/>
  </p:transition>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defRPr sz="120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5352" y="1880213"/>
            <a:ext cx="1476000" cy="1476000"/>
          </a:xfrm>
        </p:spPr>
        <p:txBody>
          <a:bodyPr>
            <a:normAutofit/>
          </a:bodyPr>
          <a:lstStyle>
            <a:lvl1pPr algn="ctr">
              <a:defRPr sz="120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defRPr sz="120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5352" y="4256213"/>
            <a:ext cx="1476000" cy="1476000"/>
          </a:xfrm>
        </p:spPr>
        <p:txBody>
          <a:bodyPr>
            <a:normAutofit/>
          </a:bodyPr>
          <a:lstStyle>
            <a:lvl1pPr algn="ctr">
              <a:defRPr sz="1200"/>
            </a:lvl1pPr>
          </a:lstStyle>
          <a:p>
            <a:r>
              <a:rPr lang="en-US"/>
              <a:t>Click icon to add picture</a:t>
            </a:r>
            <a:endParaRPr lang="en-GB"/>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98040"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0744"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98040"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Rectangle 9">
            <a:extLst>
              <a:ext uri="{FF2B5EF4-FFF2-40B4-BE49-F238E27FC236}">
                <a16:creationId xmlns:a16="http://schemas.microsoft.com/office/drawing/2014/main" id="{8B1455C2-E21F-06D2-DADD-7FD7A0C6A036}"/>
              </a:ext>
            </a:extLst>
          </p:cNvPr>
          <p:cNvSpPr/>
          <p:nvPr/>
        </p:nvSpPr>
        <p:spPr>
          <a:xfrm>
            <a:off x="6254496"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0000"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hasCustomPrompt="1"/>
          </p:nvPr>
        </p:nvSpPr>
        <p:spPr>
          <a:xfrm>
            <a:off x="2100744"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Tree>
    <p:extLst>
      <p:ext uri="{BB962C8B-B14F-4D97-AF65-F5344CB8AC3E}">
        <p14:creationId xmlns:p14="http://schemas.microsoft.com/office/powerpoint/2010/main" val="3986555246"/>
      </p:ext>
    </p:extLst>
  </p:cSld>
  <p:clrMapOvr>
    <a:masterClrMapping/>
  </p:clrMapOvr>
  <p:transition>
    <p:fade/>
  </p:transition>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Picture Placeholder 11">
            <a:extLst>
              <a:ext uri="{FF2B5EF4-FFF2-40B4-BE49-F238E27FC236}">
                <a16:creationId xmlns:a16="http://schemas.microsoft.com/office/drawing/2014/main" id="{DFBE7610-ECB4-CA89-5B4C-9B0C6E8A5706}"/>
              </a:ext>
            </a:extLst>
          </p:cNvPr>
          <p:cNvSpPr>
            <a:spLocks noGrp="1"/>
          </p:cNvSpPr>
          <p:nvPr>
            <p:ph type="pic" sz="quarter" idx="28"/>
          </p:nvPr>
        </p:nvSpPr>
        <p:spPr>
          <a:xfrm>
            <a:off x="4476744" y="1883664"/>
            <a:ext cx="1476000" cy="1476000"/>
          </a:xfrm>
        </p:spPr>
        <p:txBody>
          <a:bodyPr>
            <a:normAutofit/>
          </a:bodyPr>
          <a:lstStyle>
            <a:lvl1pPr algn="ctr">
              <a:defRPr sz="1200"/>
            </a:lvl1pPr>
          </a:lstStyle>
          <a:p>
            <a:r>
              <a:rPr lang="en-US"/>
              <a:t>Click icon to add picture</a:t>
            </a:r>
            <a:endParaRPr lang="en-GB"/>
          </a:p>
        </p:txBody>
      </p:sp>
      <p:sp>
        <p:nvSpPr>
          <p:cNvPr id="18" name="Picture Placeholder 11">
            <a:extLst>
              <a:ext uri="{FF2B5EF4-FFF2-40B4-BE49-F238E27FC236}">
                <a16:creationId xmlns:a16="http://schemas.microsoft.com/office/drawing/2014/main" id="{6E7011BF-A32B-4689-4585-D2226C8A39D9}"/>
              </a:ext>
            </a:extLst>
          </p:cNvPr>
          <p:cNvSpPr>
            <a:spLocks noGrp="1"/>
          </p:cNvSpPr>
          <p:nvPr>
            <p:ph type="pic" sz="quarter" idx="29"/>
          </p:nvPr>
        </p:nvSpPr>
        <p:spPr>
          <a:xfrm>
            <a:off x="10278000" y="1883664"/>
            <a:ext cx="1476000" cy="1476000"/>
          </a:xfrm>
        </p:spPr>
        <p:txBody>
          <a:bodyPr>
            <a:normAutofit/>
          </a:bodyPr>
          <a:lstStyle>
            <a:lvl1pPr algn="ctr">
              <a:defRPr sz="1200"/>
            </a:lvl1pPr>
          </a:lstStyle>
          <a:p>
            <a:r>
              <a:rPr lang="en-US"/>
              <a:t>Click icon to add picture</a:t>
            </a:r>
            <a:endParaRPr lang="en-GB"/>
          </a:p>
        </p:txBody>
      </p:sp>
      <p:sp>
        <p:nvSpPr>
          <p:cNvPr id="9" name="Content Placeholder 3">
            <a:extLst>
              <a:ext uri="{FF2B5EF4-FFF2-40B4-BE49-F238E27FC236}">
                <a16:creationId xmlns:a16="http://schemas.microsoft.com/office/drawing/2014/main" id="{DBEB426A-016F-1B65-1168-FF2235F36C2A}"/>
              </a:ext>
            </a:extLst>
          </p:cNvPr>
          <p:cNvSpPr>
            <a:spLocks noGrp="1"/>
          </p:cNvSpPr>
          <p:nvPr>
            <p:ph sz="quarter" idx="10" hasCustomPrompt="1"/>
          </p:nvPr>
        </p:nvSpPr>
        <p:spPr>
          <a:xfrm>
            <a:off x="457200"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
        <p:nvSpPr>
          <p:cNvPr id="15" name="Rectangle 14">
            <a:extLst>
              <a:ext uri="{FF2B5EF4-FFF2-40B4-BE49-F238E27FC236}">
                <a16:creationId xmlns:a16="http://schemas.microsoft.com/office/drawing/2014/main" id="{16E79773-3B23-90E9-4D48-A5FDB54800E7}"/>
              </a:ext>
            </a:extLst>
          </p:cNvPr>
          <p:cNvSpPr/>
          <p:nvPr/>
        </p:nvSpPr>
        <p:spPr>
          <a:xfrm>
            <a:off x="6245352"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7" name="Rectangle 16">
            <a:extLst>
              <a:ext uri="{FF2B5EF4-FFF2-40B4-BE49-F238E27FC236}">
                <a16:creationId xmlns:a16="http://schemas.microsoft.com/office/drawing/2014/main" id="{6B2B04A7-88BB-C053-00D5-6E084E746EAB}"/>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Content Placeholder 3">
            <a:extLst>
              <a:ext uri="{FF2B5EF4-FFF2-40B4-BE49-F238E27FC236}">
                <a16:creationId xmlns:a16="http://schemas.microsoft.com/office/drawing/2014/main" id="{746306D7-050B-5308-5E5B-4221EF4A7F66}"/>
              </a:ext>
            </a:extLst>
          </p:cNvPr>
          <p:cNvSpPr>
            <a:spLocks noGrp="1"/>
          </p:cNvSpPr>
          <p:nvPr>
            <p:ph sz="quarter" idx="30" hasCustomPrompt="1"/>
          </p:nvPr>
        </p:nvSpPr>
        <p:spPr>
          <a:xfrm>
            <a:off x="6245352"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Placeholder 17">
            <a:extLst>
              <a:ext uri="{FF2B5EF4-FFF2-40B4-BE49-F238E27FC236}">
                <a16:creationId xmlns:a16="http://schemas.microsoft.com/office/drawing/2014/main" id="{6DE0135C-F9C3-EE2B-FE85-1B28EA0EBB82}"/>
              </a:ext>
            </a:extLst>
          </p:cNvPr>
          <p:cNvSpPr>
            <a:spLocks noGrp="1"/>
          </p:cNvSpPr>
          <p:nvPr>
            <p:ph type="body" sz="quarter" idx="4294967295" hasCustomPrompt="1"/>
          </p:nvPr>
        </p:nvSpPr>
        <p:spPr>
          <a:xfrm>
            <a:off x="457200"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
        <p:nvSpPr>
          <p:cNvPr id="3" name="Text Placeholder 17">
            <a:extLst>
              <a:ext uri="{FF2B5EF4-FFF2-40B4-BE49-F238E27FC236}">
                <a16:creationId xmlns:a16="http://schemas.microsoft.com/office/drawing/2014/main" id="{59E80491-83AB-C6B3-9191-54EDF5F4418A}"/>
              </a:ext>
            </a:extLst>
          </p:cNvPr>
          <p:cNvSpPr>
            <a:spLocks noGrp="1"/>
          </p:cNvSpPr>
          <p:nvPr>
            <p:ph type="body" sz="quarter" idx="4294967295" hasCustomPrompt="1"/>
          </p:nvPr>
        </p:nvSpPr>
        <p:spPr>
          <a:xfrm>
            <a:off x="6239258"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Tree>
    <p:extLst>
      <p:ext uri="{BB962C8B-B14F-4D97-AF65-F5344CB8AC3E}">
        <p14:creationId xmlns:p14="http://schemas.microsoft.com/office/powerpoint/2010/main" val="14397977"/>
      </p:ext>
    </p:extLst>
  </p:cSld>
  <p:clrMapOvr>
    <a:masterClrMapping/>
  </p:clrMapOvr>
  <p:transition>
    <p:fade/>
  </p:transition>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7952"/>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a:t>Click to add text</a:t>
            </a:r>
          </a:p>
        </p:txBody>
      </p:sp>
      <p:pic>
        <p:nvPicPr>
          <p:cNvPr id="4" name="Picture 3">
            <a:extLst>
              <a:ext uri="{FF2B5EF4-FFF2-40B4-BE49-F238E27FC236}">
                <a16:creationId xmlns:a16="http://schemas.microsoft.com/office/drawing/2014/main" id="{94ADCC45-3C19-3948-0E04-7130E1BB7E8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3" name="Picture 2">
            <a:extLst>
              <a:ext uri="{FF2B5EF4-FFF2-40B4-BE49-F238E27FC236}">
                <a16:creationId xmlns:a16="http://schemas.microsoft.com/office/drawing/2014/main" id="{18165AAD-CB29-40C9-DDB6-76BBE0FFB5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5" name="Picture 4">
            <a:extLst>
              <a:ext uri="{FF2B5EF4-FFF2-40B4-BE49-F238E27FC236}">
                <a16:creationId xmlns:a16="http://schemas.microsoft.com/office/drawing/2014/main" id="{7413067E-6C35-538A-0F4D-694ED96021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2" name="Picture 1">
            <a:extLst>
              <a:ext uri="{FF2B5EF4-FFF2-40B4-BE49-F238E27FC236}">
                <a16:creationId xmlns:a16="http://schemas.microsoft.com/office/drawing/2014/main" id="{1730800F-FAB6-D47D-41C2-29C4D5E9294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2864675631"/>
      </p:ext>
    </p:extLst>
  </p:cSld>
  <p:clrMapOvr>
    <a:masterClrMapping/>
  </p:clrMapOvr>
  <p:hf hd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image" Target="../media/image1.emf"/><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ags" Target="../tags/tag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p:cNvGraphicFramePr>
          <p:nvPr>
            <p:custDataLst>
              <p:tags r:id="rId59"/>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60" imgW="270" imgH="270" progId="TCLayout.ActiveDocument.1">
                  <p:embed/>
                </p:oleObj>
              </mc:Choice>
              <mc:Fallback>
                <p:oleObj name="think-cell Slide" r:id="rId60" imgW="270" imgH="270" progId="TCLayout.ActiveDocument.1">
                  <p:embed/>
                  <p:pic>
                    <p:nvPicPr>
                      <p:cNvPr id="4" name="Object 3" hidden="1"/>
                      <p:cNvPicPr/>
                      <p:nvPr/>
                    </p:nvPicPr>
                    <p:blipFill>
                      <a:blip r:embed="rId61"/>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74552" cy="340136"/>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0093" y="1679602"/>
            <a:ext cx="11274552" cy="466191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rgbClr val="75787B"/>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8840363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transition>
    <p:fade/>
  </p:transition>
  <p:hf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95" pos="3936">
          <p15:clr>
            <a:srgbClr val="F26B43"/>
          </p15:clr>
        </p15:guide>
        <p15:guide id="96" orient="horz" pos="4008">
          <p15:clr>
            <a:srgbClr val="F26B43"/>
          </p15:clr>
        </p15:guide>
        <p15:guide id="97" orient="horz" pos="4104">
          <p15:clr>
            <a:srgbClr val="F26B43"/>
          </p15:clr>
        </p15:guide>
        <p15:guide id="98" orient="horz" pos="1056">
          <p15:clr>
            <a:srgbClr val="F26B43"/>
          </p15:clr>
        </p15:guide>
        <p15:guide id="99" pos="3840">
          <p15:clr>
            <a:srgbClr val="F26B43"/>
          </p15:clr>
        </p15:guide>
        <p15:guide id="100" pos="7392">
          <p15:clr>
            <a:srgbClr val="F26B43"/>
          </p15:clr>
        </p15:guide>
        <p15:guide id="101" orient="horz" pos="216">
          <p15:clr>
            <a:srgbClr val="F26B43"/>
          </p15:clr>
        </p15:guide>
        <p15:guide id="102" orient="horz" pos="432">
          <p15:clr>
            <a:srgbClr val="F26B43"/>
          </p15:clr>
        </p15:guide>
        <p15:guide id="103" pos="288">
          <p15:clr>
            <a:srgbClr val="F26B43"/>
          </p15:clr>
        </p15:guide>
        <p15:guide id="104" pos="374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35.xml"/><Relationship Id="rId6" Type="http://schemas.openxmlformats.org/officeDocument/2006/relationships/image" Target="../media/image12.emf"/><Relationship Id="rId5" Type="http://schemas.openxmlformats.org/officeDocument/2006/relationships/oleObject" Target="../embeddings/oleObject4.bin"/><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4.xml"/><Relationship Id="rId1" Type="http://schemas.openxmlformats.org/officeDocument/2006/relationships/tags" Target="../tags/tag36.xml"/><Relationship Id="rId4" Type="http://schemas.openxmlformats.org/officeDocument/2006/relationships/image" Target="../media/image13.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4.xml"/><Relationship Id="rId1" Type="http://schemas.openxmlformats.org/officeDocument/2006/relationships/tags" Target="../tags/tag37.xml"/><Relationship Id="rId5" Type="http://schemas.openxmlformats.org/officeDocument/2006/relationships/image" Target="../media/image15.png"/><Relationship Id="rId4" Type="http://schemas.openxmlformats.org/officeDocument/2006/relationships/image" Target="../media/image14.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4.xml"/><Relationship Id="rId1" Type="http://schemas.openxmlformats.org/officeDocument/2006/relationships/tags" Target="../tags/tag38.xml"/><Relationship Id="rId4" Type="http://schemas.openxmlformats.org/officeDocument/2006/relationships/image" Target="../media/image14.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4.xml"/><Relationship Id="rId1" Type="http://schemas.openxmlformats.org/officeDocument/2006/relationships/tags" Target="../tags/tag39.xml"/><Relationship Id="rId4" Type="http://schemas.openxmlformats.org/officeDocument/2006/relationships/image" Target="../media/image14.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4.xml"/><Relationship Id="rId1" Type="http://schemas.openxmlformats.org/officeDocument/2006/relationships/tags" Target="../tags/tag40.xml"/><Relationship Id="rId6" Type="http://schemas.openxmlformats.org/officeDocument/2006/relationships/image" Target="../media/image14.emf"/><Relationship Id="rId5" Type="http://schemas.openxmlformats.org/officeDocument/2006/relationships/oleObject" Target="../embeddings/oleObject8.bin"/><Relationship Id="rId4" Type="http://schemas.microsoft.com/office/2018/10/relationships/comments" Target="../comments/modernComment_114_D6D30FFF.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4.xml"/><Relationship Id="rId1" Type="http://schemas.openxmlformats.org/officeDocument/2006/relationships/tags" Target="../tags/tag41.xml"/><Relationship Id="rId4" Type="http://schemas.openxmlformats.org/officeDocument/2006/relationships/image" Target="../media/image14.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4.xml"/><Relationship Id="rId1" Type="http://schemas.openxmlformats.org/officeDocument/2006/relationships/tags" Target="../tags/tag42.xml"/><Relationship Id="rId5" Type="http://schemas.openxmlformats.org/officeDocument/2006/relationships/slide" Target="slide42.xml"/><Relationship Id="rId4" Type="http://schemas.openxmlformats.org/officeDocument/2006/relationships/image" Target="../media/image14.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4.xml"/><Relationship Id="rId1" Type="http://schemas.openxmlformats.org/officeDocument/2006/relationships/tags" Target="../tags/tag43.xml"/><Relationship Id="rId6" Type="http://schemas.openxmlformats.org/officeDocument/2006/relationships/slide" Target="slide42.xml"/><Relationship Id="rId5" Type="http://schemas.openxmlformats.org/officeDocument/2006/relationships/image" Target="../media/image14.emf"/><Relationship Id="rId4" Type="http://schemas.openxmlformats.org/officeDocument/2006/relationships/oleObject" Target="../embeddings/oleObject11.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4.xml"/><Relationship Id="rId1" Type="http://schemas.openxmlformats.org/officeDocument/2006/relationships/tags" Target="../tags/tag44.xml"/><Relationship Id="rId5" Type="http://schemas.openxmlformats.org/officeDocument/2006/relationships/slide" Target="slide42.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3" Type="http://schemas.microsoft.com/office/2018/10/relationships/comments" Target="../comments/modernComment_117_33457008.xml"/><Relationship Id="rId2" Type="http://schemas.openxmlformats.org/officeDocument/2006/relationships/slideLayout" Target="../slideLayouts/slideLayout24.xml"/><Relationship Id="rId1" Type="http://schemas.openxmlformats.org/officeDocument/2006/relationships/tags" Target="../tags/tag45.xml"/><Relationship Id="rId6" Type="http://schemas.openxmlformats.org/officeDocument/2006/relationships/slide" Target="slide42.xml"/><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4.xml"/><Relationship Id="rId1" Type="http://schemas.openxmlformats.org/officeDocument/2006/relationships/tags" Target="../tags/tag46.xml"/><Relationship Id="rId4" Type="http://schemas.openxmlformats.org/officeDocument/2006/relationships/image" Target="../media/image14.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4.xml"/><Relationship Id="rId1" Type="http://schemas.openxmlformats.org/officeDocument/2006/relationships/tags" Target="../tags/tag47.xml"/><Relationship Id="rId5" Type="http://schemas.openxmlformats.org/officeDocument/2006/relationships/image" Target="../media/image14.emf"/><Relationship Id="rId4"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2.xml"/><Relationship Id="rId1" Type="http://schemas.openxmlformats.org/officeDocument/2006/relationships/tags" Target="../tags/tag48.xml"/><Relationship Id="rId4" Type="http://schemas.openxmlformats.org/officeDocument/2006/relationships/image" Target="../media/image13.emf"/></Relationships>
</file>

<file path=ppt/slides/_rels/slide15.xml.rels><?xml version="1.0" encoding="UTF-8" standalone="yes"?>
<Relationships xmlns="http://schemas.openxmlformats.org/package/2006/relationships"><Relationship Id="rId3" Type="http://schemas.openxmlformats.org/officeDocument/2006/relationships/image" Target="../media/image14.emf"/><Relationship Id="rId7" Type="http://schemas.openxmlformats.org/officeDocument/2006/relationships/hyperlink" Target="https://www.deloitte.com/us/en/about/press-room/deloitte-unveils-zora-ai-agentic-ai-for-tomorrows-workforce.html" TargetMode="External"/><Relationship Id="rId2" Type="http://schemas.openxmlformats.org/officeDocument/2006/relationships/oleObject" Target="../embeddings/oleObject16.bin"/><Relationship Id="rId1" Type="http://schemas.openxmlformats.org/officeDocument/2006/relationships/slideLayout" Target="../slideLayouts/slideLayout24.xml"/><Relationship Id="rId6" Type="http://schemas.openxmlformats.org/officeDocument/2006/relationships/hyperlink" Target="https://newsroom.accenture.com/news/2025/accenture-expands-ai-refinery-and-launches-new-industry-agent-solutions-to-accelerate-agentic-ai-adoption" TargetMode="External"/><Relationship Id="rId5" Type="http://schemas.openxmlformats.org/officeDocument/2006/relationships/hyperlink" Target="https://sdk.airefinery.accenture.com/ai_refinery_101/" TargetMode="Externa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6.bin"/><Relationship Id="rId1" Type="http://schemas.openxmlformats.org/officeDocument/2006/relationships/slideLayout" Target="../slideLayouts/slideLayout24.xml"/><Relationship Id="rId6" Type="http://schemas.openxmlformats.org/officeDocument/2006/relationships/image" Target="../media/image17.png"/><Relationship Id="rId5" Type="http://schemas.openxmlformats.org/officeDocument/2006/relationships/hyperlink" Target="https://www.pwc.com/us/en/technology/alliances/google-cloud/generative-ai.html" TargetMode="External"/><Relationship Id="rId4" Type="http://schemas.openxmlformats.org/officeDocument/2006/relationships/hyperlink" Target="https://www.pwc.com/us/en/about-us/newsroom/press-releases/pwc-launches-ai-agent-operating-system-enterprises.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6.bin"/><Relationship Id="rId1" Type="http://schemas.openxmlformats.org/officeDocument/2006/relationships/slideLayout" Target="../slideLayouts/slideLayout24.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6.bin"/><Relationship Id="rId1" Type="http://schemas.openxmlformats.org/officeDocument/2006/relationships/slideLayout" Target="../slideLayouts/slideLayout24.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4.emf"/><Relationship Id="rId7" Type="http://schemas.openxmlformats.org/officeDocument/2006/relationships/hyperlink" Target="https://www.ibm.com/products/watsonx-governance" TargetMode="External"/><Relationship Id="rId2" Type="http://schemas.openxmlformats.org/officeDocument/2006/relationships/oleObject" Target="../embeddings/oleObject16.bin"/><Relationship Id="rId1" Type="http://schemas.openxmlformats.org/officeDocument/2006/relationships/slideLayout" Target="../slideLayouts/slideLayout24.xml"/><Relationship Id="rId6" Type="http://schemas.openxmlformats.org/officeDocument/2006/relationships/hyperlink" Target="https://www.ibm.com/products/watsonx-orchestrate/agent-catalog" TargetMode="External"/><Relationship Id="rId5" Type="http://schemas.openxmlformats.org/officeDocument/2006/relationships/hyperlink" Target="https://www.ibm.com/products/watsonx-orchestrate/ai-agents" TargetMode="External"/><Relationship Id="rId4" Type="http://schemas.openxmlformats.org/officeDocument/2006/relationships/hyperlink" Target="https://www.ibm.com/products/watsonx-orchestrate"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oleObject" Target="../embeddings/oleObject16.bin"/><Relationship Id="rId7" Type="http://schemas.openxmlformats.org/officeDocument/2006/relationships/hyperlink" Target="https://www.capgemini.com/solutions/agentic-ai-for-enterprise-by-capgemini/" TargetMode="External"/><Relationship Id="rId2" Type="http://schemas.openxmlformats.org/officeDocument/2006/relationships/slideLayout" Target="../slideLayouts/slideLayout24.xml"/><Relationship Id="rId1" Type="http://schemas.openxmlformats.org/officeDocument/2006/relationships/tags" Target="../tags/tag49.xml"/><Relationship Id="rId6" Type="http://schemas.openxmlformats.org/officeDocument/2006/relationships/hyperlink" Target="https://www.capgemini.com/in-en/solutions/raise-for-software-product-x/" TargetMode="External"/><Relationship Id="rId5" Type="http://schemas.openxmlformats.org/officeDocument/2006/relationships/hyperlink" Target="https://www.capgemini.com/solutions/raise-reliable-ai-solution-engineering/" TargetMode="External"/><Relationship Id="rId4" Type="http://schemas.openxmlformats.org/officeDocument/2006/relationships/image" Target="../media/image14.emf"/></Relationships>
</file>

<file path=ppt/slides/_rels/slide21.xml.rels><?xml version="1.0" encoding="UTF-8" standalone="yes"?>
<Relationships xmlns="http://schemas.openxmlformats.org/package/2006/relationships"><Relationship Id="rId8" Type="http://schemas.openxmlformats.org/officeDocument/2006/relationships/hyperlink" Target="https://www.infosys.com/services/data-ai-topaz/insights/google-cloud-collaborate.html" TargetMode="External"/><Relationship Id="rId3" Type="http://schemas.openxmlformats.org/officeDocument/2006/relationships/oleObject" Target="../embeddings/oleObject17.bin"/><Relationship Id="rId7" Type="http://schemas.openxmlformats.org/officeDocument/2006/relationships/hyperlink" Target="https://www.infosys.com/services/data-ai-topaz/insights/infosys-agentic-foundry-infographic.pdf" TargetMode="External"/><Relationship Id="rId2" Type="http://schemas.openxmlformats.org/officeDocument/2006/relationships/slideLayout" Target="../slideLayouts/slideLayout24.xml"/><Relationship Id="rId1" Type="http://schemas.openxmlformats.org/officeDocument/2006/relationships/tags" Target="../tags/tag50.xml"/><Relationship Id="rId6" Type="http://schemas.openxmlformats.org/officeDocument/2006/relationships/hyperlink" Target="https://www.infosys.com/services/data-ai-topaz/offerings/agentic-foundry.html" TargetMode="External"/><Relationship Id="rId5" Type="http://schemas.openxmlformats.org/officeDocument/2006/relationships/hyperlink" Target="https://www.infosys.com/services/data-ai-topaz.html" TargetMode="External"/><Relationship Id="rId4" Type="http://schemas.openxmlformats.org/officeDocument/2006/relationships/image" Target="../media/image14.emf"/><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2.xml"/><Relationship Id="rId1" Type="http://schemas.openxmlformats.org/officeDocument/2006/relationships/tags" Target="../tags/tag51.xml"/><Relationship Id="rId4" Type="http://schemas.openxmlformats.org/officeDocument/2006/relationships/image" Target="../media/image13.emf"/></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oleObject" Target="../embeddings/oleObject16.bin"/><Relationship Id="rId7" Type="http://schemas.openxmlformats.org/officeDocument/2006/relationships/hyperlink" Target="https://community.dynamics.com/blogs/post/?postid=a16ef6c0-ad35-f111-88b5-0022482aaa2e" TargetMode="External"/><Relationship Id="rId2" Type="http://schemas.openxmlformats.org/officeDocument/2006/relationships/slideLayout" Target="../slideLayouts/slideLayout24.xml"/><Relationship Id="rId1" Type="http://schemas.openxmlformats.org/officeDocument/2006/relationships/tags" Target="../tags/tag52.xml"/><Relationship Id="rId6" Type="http://schemas.openxmlformats.org/officeDocument/2006/relationships/hyperlink" Target="https://www.cynoteck.com/news/microsoft-dynamics-365-wave-1-2026-update" TargetMode="External"/><Relationship Id="rId5" Type="http://schemas.openxmlformats.org/officeDocument/2006/relationships/hyperlink" Target="https://www.infoq.com/news/2026/06/microsoft-foundry-agents/" TargetMode="External"/><Relationship Id="rId4" Type="http://schemas.openxmlformats.org/officeDocument/2006/relationships/image" Target="../media/image14.emf"/></Relationships>
</file>

<file path=ppt/slides/_rels/slide24.xml.rels><?xml version="1.0" encoding="UTF-8" standalone="yes"?>
<Relationships xmlns="http://schemas.openxmlformats.org/package/2006/relationships"><Relationship Id="rId8" Type="http://schemas.openxmlformats.org/officeDocument/2006/relationships/hyperlink" Target="https://www.infoq.com/news/2026/06/microsoft-foundry-agents/" TargetMode="External"/><Relationship Id="rId3" Type="http://schemas.openxmlformats.org/officeDocument/2006/relationships/oleObject" Target="../embeddings/oleObject16.bin"/><Relationship Id="rId7" Type="http://schemas.openxmlformats.org/officeDocument/2006/relationships/hyperlink" Target="https://www.sap.com/india/products/artificial-intelligence/ai-assistant.html" TargetMode="External"/><Relationship Id="rId2" Type="http://schemas.openxmlformats.org/officeDocument/2006/relationships/slideLayout" Target="../slideLayouts/slideLayout24.xml"/><Relationship Id="rId1" Type="http://schemas.openxmlformats.org/officeDocument/2006/relationships/tags" Target="../tags/tag53.xml"/><Relationship Id="rId6" Type="http://schemas.openxmlformats.org/officeDocument/2006/relationships/hyperlink" Target="https://www.sap.com/india/products/ai-platform.html" TargetMode="External"/><Relationship Id="rId5" Type="http://schemas.openxmlformats.org/officeDocument/2006/relationships/hyperlink" Target="https://www.sap.com/india/products/autonomous-enterprise.html" TargetMode="External"/><Relationship Id="rId10" Type="http://schemas.openxmlformats.org/officeDocument/2006/relationships/image" Target="../media/image24.jpeg"/><Relationship Id="rId4" Type="http://schemas.openxmlformats.org/officeDocument/2006/relationships/image" Target="../media/image14.emf"/><Relationship Id="rId9" Type="http://schemas.openxmlformats.org/officeDocument/2006/relationships/hyperlink" Target="https://www.sap.com/products/artificial-intelligence/knowledge-graph.html"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servicenow.com/docs/r/intelligent-experiences/ai-agent-studio.html" TargetMode="External"/><Relationship Id="rId2" Type="http://schemas.openxmlformats.org/officeDocument/2006/relationships/hyperlink" Target="https://www.servicenow.com/in/platform/autonomous-workforce.html" TargetMode="External"/><Relationship Id="rId1" Type="http://schemas.openxmlformats.org/officeDocument/2006/relationships/slideLayout" Target="../slideLayouts/slideLayout24.xml"/><Relationship Id="rId6" Type="http://schemas.openxmlformats.org/officeDocument/2006/relationships/image" Target="../media/image25.png"/><Relationship Id="rId5" Type="http://schemas.openxmlformats.org/officeDocument/2006/relationships/hyperlink" Target="https://www.servicenow.com/in/platform/action-fabric.html" TargetMode="External"/><Relationship Id="rId4" Type="http://schemas.openxmlformats.org/officeDocument/2006/relationships/hyperlink" Target="https://www.servicenow.com/in/products/ai-control-tower.html"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salesforce.com/in/agentforce/" TargetMode="External"/><Relationship Id="rId2" Type="http://schemas.openxmlformats.org/officeDocument/2006/relationships/hyperlink" Target="https://www.salesforce.com/platform/agentforce-platform/" TargetMode="External"/><Relationship Id="rId1" Type="http://schemas.openxmlformats.org/officeDocument/2006/relationships/slideLayout" Target="../slideLayouts/slideLayout24.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hyperlink" Target="https://www.workday.com/en-in/artificial-intelligence/agent-system-of-record.html" TargetMode="External"/><Relationship Id="rId2" Type="http://schemas.openxmlformats.org/officeDocument/2006/relationships/hyperlink" Target="https://www.workday.com/en-in/homepage.html" TargetMode="External"/><Relationship Id="rId1" Type="http://schemas.openxmlformats.org/officeDocument/2006/relationships/slideLayout" Target="../slideLayouts/slideLayout24.xml"/><Relationship Id="rId6" Type="http://schemas.openxmlformats.org/officeDocument/2006/relationships/image" Target="../media/image27.png"/><Relationship Id="rId5" Type="http://schemas.openxmlformats.org/officeDocument/2006/relationships/hyperlink" Target="https://www.workday.com/en-us/artificial-intelligence/workday-sana.html" TargetMode="External"/><Relationship Id="rId4" Type="http://schemas.openxmlformats.org/officeDocument/2006/relationships/hyperlink" Target="https://doc.workday.com/admin-guide/en-us/workday-ai/agents/workday-agent-gateway-for-partner-agents.html" TargetMode="Externa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4.xml"/><Relationship Id="rId1" Type="http://schemas.openxmlformats.org/officeDocument/2006/relationships/tags" Target="../tags/tag54.xml"/><Relationship Id="rId6" Type="http://schemas.openxmlformats.org/officeDocument/2006/relationships/image" Target="../media/image28.png"/><Relationship Id="rId5" Type="http://schemas.openxmlformats.org/officeDocument/2006/relationships/hyperlink" Target="https://cloud.google.com/gemini-enterprise" TargetMode="External"/><Relationship Id="rId4" Type="http://schemas.openxmlformats.org/officeDocument/2006/relationships/image" Target="../media/image14.emf"/></Relationships>
</file>

<file path=ppt/slides/_rels/slide29.xml.rels><?xml version="1.0" encoding="UTF-8" standalone="yes"?>
<Relationships xmlns="http://schemas.openxmlformats.org/package/2006/relationships"><Relationship Id="rId3" Type="http://schemas.openxmlformats.org/officeDocument/2006/relationships/hyperlink" Target="https://aws.amazon.com/products/connect/" TargetMode="External"/><Relationship Id="rId2" Type="http://schemas.openxmlformats.org/officeDocument/2006/relationships/hyperlink" Target="https://aws.amazon.com/bedrock/agentcore/" TargetMode="External"/><Relationship Id="rId1" Type="http://schemas.openxmlformats.org/officeDocument/2006/relationships/slideLayout" Target="../slideLayouts/slideLayout24.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4.xml"/><Relationship Id="rId1" Type="http://schemas.openxmlformats.org/officeDocument/2006/relationships/tags" Target="../tags/tag55.xml"/><Relationship Id="rId4" Type="http://schemas.openxmlformats.org/officeDocument/2006/relationships/image" Target="../media/image14.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4.xml"/><Relationship Id="rId1" Type="http://schemas.openxmlformats.org/officeDocument/2006/relationships/tags" Target="../tags/tag56.xml"/><Relationship Id="rId4" Type="http://schemas.openxmlformats.org/officeDocument/2006/relationships/image" Target="../media/image14.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2.xml"/><Relationship Id="rId1" Type="http://schemas.openxmlformats.org/officeDocument/2006/relationships/tags" Target="../tags/tag57.xml"/><Relationship Id="rId4" Type="http://schemas.openxmlformats.org/officeDocument/2006/relationships/image" Target="../media/image13.emf"/></Relationships>
</file>

<file path=ppt/slides/_rels/slide33.xml.rels><?xml version="1.0" encoding="UTF-8" standalone="yes"?>
<Relationships xmlns="http://schemas.openxmlformats.org/package/2006/relationships"><Relationship Id="rId8" Type="http://schemas.openxmlformats.org/officeDocument/2006/relationships/hyperlink" Target="https://developers.openai.com/api/reference/responses/overview" TargetMode="External"/><Relationship Id="rId3" Type="http://schemas.openxmlformats.org/officeDocument/2006/relationships/oleObject" Target="../embeddings/oleObject16.bin"/><Relationship Id="rId7" Type="http://schemas.openxmlformats.org/officeDocument/2006/relationships/hyperlink" Target="https://developers.openai.com/api/docs/guides/agents" TargetMode="External"/><Relationship Id="rId12" Type="http://schemas.openxmlformats.org/officeDocument/2006/relationships/image" Target="../media/image30.png"/><Relationship Id="rId2" Type="http://schemas.openxmlformats.org/officeDocument/2006/relationships/slideLayout" Target="../slideLayouts/slideLayout24.xml"/><Relationship Id="rId1" Type="http://schemas.openxmlformats.org/officeDocument/2006/relationships/tags" Target="../tags/tag58.xml"/><Relationship Id="rId6" Type="http://schemas.openxmlformats.org/officeDocument/2006/relationships/hyperlink" Target="https://openai.com/codex/" TargetMode="External"/><Relationship Id="rId11" Type="http://schemas.openxmlformats.org/officeDocument/2006/relationships/hyperlink" Target="https://openai.com/index/introducing-openai-presence/" TargetMode="External"/><Relationship Id="rId5" Type="http://schemas.openxmlformats.org/officeDocument/2006/relationships/hyperlink" Target="https://openai.com/index/chatgpt-for-your-most-ambitious-work/" TargetMode="External"/><Relationship Id="rId10" Type="http://schemas.openxmlformats.org/officeDocument/2006/relationships/hyperlink" Target="https://openai.com/index/introducing-openai-frontier/" TargetMode="External"/><Relationship Id="rId4" Type="http://schemas.openxmlformats.org/officeDocument/2006/relationships/image" Target="../media/image14.emf"/><Relationship Id="rId9" Type="http://schemas.openxmlformats.org/officeDocument/2006/relationships/hyperlink" Target="https://openai.com/index/introducing-workspace-agents-in-chatgpt/" TargetMode="External"/></Relationships>
</file>

<file path=ppt/slides/_rels/slide34.xml.rels><?xml version="1.0" encoding="UTF-8" standalone="yes"?>
<Relationships xmlns="http://schemas.openxmlformats.org/package/2006/relationships"><Relationship Id="rId8" Type="http://schemas.openxmlformats.org/officeDocument/2006/relationships/hyperlink" Target="https://platform.claude.com/docs/en/managed-agents/overview" TargetMode="External"/><Relationship Id="rId3" Type="http://schemas.openxmlformats.org/officeDocument/2006/relationships/oleObject" Target="../embeddings/oleObject16.bin"/><Relationship Id="rId7" Type="http://schemas.openxmlformats.org/officeDocument/2006/relationships/hyperlink" Target="https://docs.anthropic.com/en/docs/agents-and-tools/claude-agent-sdk/overview" TargetMode="External"/><Relationship Id="rId2" Type="http://schemas.openxmlformats.org/officeDocument/2006/relationships/slideLayout" Target="../slideLayouts/slideLayout24.xml"/><Relationship Id="rId1" Type="http://schemas.openxmlformats.org/officeDocument/2006/relationships/tags" Target="../tags/tag59.xml"/><Relationship Id="rId6" Type="http://schemas.openxmlformats.org/officeDocument/2006/relationships/hyperlink" Target="https://claude.com/product/cowork" TargetMode="External"/><Relationship Id="rId11" Type="http://schemas.openxmlformats.org/officeDocument/2006/relationships/image" Target="../media/image31.png"/><Relationship Id="rId5" Type="http://schemas.openxmlformats.org/officeDocument/2006/relationships/hyperlink" Target="https://www.anthropic.com/claude-code" TargetMode="External"/><Relationship Id="rId10" Type="http://schemas.openxmlformats.org/officeDocument/2006/relationships/hyperlink" Target="https://claude.com/connectors?b7eea976_page=5" TargetMode="External"/><Relationship Id="rId4" Type="http://schemas.openxmlformats.org/officeDocument/2006/relationships/image" Target="../media/image14.emf"/><Relationship Id="rId9" Type="http://schemas.openxmlformats.org/officeDocument/2006/relationships/hyperlink" Target="https://docs.anthropic.com/en/docs/agents-and-tools/computer-use" TargetMode="Externa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2.xml"/><Relationship Id="rId1" Type="http://schemas.openxmlformats.org/officeDocument/2006/relationships/tags" Target="../tags/tag60.xml"/><Relationship Id="rId4" Type="http://schemas.openxmlformats.org/officeDocument/2006/relationships/image" Target="../media/image13.emf"/></Relationships>
</file>

<file path=ppt/slides/_rels/slide36.xml.rels><?xml version="1.0" encoding="UTF-8" standalone="yes"?>
<Relationships xmlns="http://schemas.openxmlformats.org/package/2006/relationships"><Relationship Id="rId8" Type="http://schemas.openxmlformats.org/officeDocument/2006/relationships/hyperlink" Target="https://www.highradius.com/software/integration-capabilities/" TargetMode="External"/><Relationship Id="rId3" Type="http://schemas.openxmlformats.org/officeDocument/2006/relationships/oleObject" Target="../embeddings/oleObject16.bin"/><Relationship Id="rId7" Type="http://schemas.openxmlformats.org/officeDocument/2006/relationships/hyperlink" Target="https://www.highradius.com/about/news/highradius-launches-outcome-based-pricing-for-ocfo-software/" TargetMode="External"/><Relationship Id="rId2" Type="http://schemas.openxmlformats.org/officeDocument/2006/relationships/slideLayout" Target="../slideLayouts/slideLayout24.xml"/><Relationship Id="rId1" Type="http://schemas.openxmlformats.org/officeDocument/2006/relationships/tags" Target="../tags/tag61.xml"/><Relationship Id="rId6" Type="http://schemas.openxmlformats.org/officeDocument/2006/relationships/hyperlink" Target="https://www.highradius.com/resources/case-studies/danone/" TargetMode="External"/><Relationship Id="rId11" Type="http://schemas.openxmlformats.org/officeDocument/2006/relationships/image" Target="../media/image32.png"/><Relationship Id="rId5" Type="http://schemas.openxmlformats.org/officeDocument/2006/relationships/hyperlink" Target="https://amedeloitte.sharepoint.com/sites/ZoraCI/Shared%20Documents/Zora%20CI/ZoraCI_V2_WIP.pptx" TargetMode="External"/><Relationship Id="rId10" Type="http://schemas.openxmlformats.org/officeDocument/2006/relationships/hyperlink" Target="https://www.highradius.com/about/news/highradius-announces-goal-of-releasing-autonomous-finance-platform/" TargetMode="External"/><Relationship Id="rId4" Type="http://schemas.openxmlformats.org/officeDocument/2006/relationships/image" Target="../media/image14.emf"/><Relationship Id="rId9" Type="http://schemas.openxmlformats.org/officeDocument/2006/relationships/hyperlink" Target="https://www.highradius.com/product/erp-integration-solution/" TargetMode="Externa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4.xml"/><Relationship Id="rId1" Type="http://schemas.openxmlformats.org/officeDocument/2006/relationships/tags" Target="../tags/tag62.xml"/><Relationship Id="rId6" Type="http://schemas.openxmlformats.org/officeDocument/2006/relationships/image" Target="../media/image33.jpeg"/><Relationship Id="rId5" Type="http://schemas.openxmlformats.org/officeDocument/2006/relationships/hyperlink" Target="https://www.datarails.com/datarails-ai/" TargetMode="External"/><Relationship Id="rId4" Type="http://schemas.openxmlformats.org/officeDocument/2006/relationships/image" Target="../media/image14.emf"/></Relationships>
</file>

<file path=ppt/slides/_rels/slide38.xml.rels><?xml version="1.0" encoding="UTF-8" standalone="yes"?>
<Relationships xmlns="http://schemas.openxmlformats.org/package/2006/relationships"><Relationship Id="rId3" Type="http://schemas.openxmlformats.org/officeDocument/2006/relationships/hyperlink" Target="https://www.onestream.com/resources/sensibleai-finance-agentic-layer/" TargetMode="External"/><Relationship Id="rId2" Type="http://schemas.openxmlformats.org/officeDocument/2006/relationships/hyperlink" Target="https://www.prnewswire.com/news-releases/onestream-unlocks-agentic-ai-for-the-office-of-the-cfo-with-finance-agentic-layer-announces-general-availability-of-sensible-ai-agents-302775010.html" TargetMode="External"/><Relationship Id="rId1" Type="http://schemas.openxmlformats.org/officeDocument/2006/relationships/slideLayout" Target="../slideLayouts/slideLayout24.xm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hyperlink" Target="https://www.coupa.com/resources/coupa-compose-unify-your-agentic-ai-ecosystem/" TargetMode="External"/><Relationship Id="rId2" Type="http://schemas.openxmlformats.org/officeDocument/2006/relationships/hyperlink" Target="https://www.coupa.com/blog/ai-agents-for-procurement/" TargetMode="External"/><Relationship Id="rId1" Type="http://schemas.openxmlformats.org/officeDocument/2006/relationships/slideLayout" Target="../slideLayouts/slideLayout24.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4.xml"/><Relationship Id="rId1" Type="http://schemas.openxmlformats.org/officeDocument/2006/relationships/tags" Target="../tags/tag63.xml"/><Relationship Id="rId4" Type="http://schemas.openxmlformats.org/officeDocument/2006/relationships/image" Target="../media/image14.e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4.xml"/><Relationship Id="rId1" Type="http://schemas.openxmlformats.org/officeDocument/2006/relationships/tags" Target="../tags/tag64.xml"/><Relationship Id="rId5" Type="http://schemas.openxmlformats.org/officeDocument/2006/relationships/image" Target="../media/image14.emf"/><Relationship Id="rId4" Type="http://schemas.openxmlformats.org/officeDocument/2006/relationships/oleObject" Target="../embeddings/oleObject6.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4.xml"/><Relationship Id="rId1" Type="http://schemas.openxmlformats.org/officeDocument/2006/relationships/tags" Target="../tags/tag65.xml"/><Relationship Id="rId5" Type="http://schemas.openxmlformats.org/officeDocument/2006/relationships/image" Target="../media/image14.emf"/><Relationship Id="rId4" Type="http://schemas.openxmlformats.org/officeDocument/2006/relationships/oleObject" Target="../embeddings/oleObject6.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4.xml"/><Relationship Id="rId1" Type="http://schemas.openxmlformats.org/officeDocument/2006/relationships/tags" Target="../tags/tag66.xml"/><Relationship Id="rId5" Type="http://schemas.openxmlformats.org/officeDocument/2006/relationships/image" Target="../media/image14.emf"/><Relationship Id="rId4" Type="http://schemas.openxmlformats.org/officeDocument/2006/relationships/oleObject" Target="../embeddings/oleObject6.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4.xml"/><Relationship Id="rId1" Type="http://schemas.openxmlformats.org/officeDocument/2006/relationships/tags" Target="../tags/tag67.xml"/><Relationship Id="rId5" Type="http://schemas.openxmlformats.org/officeDocument/2006/relationships/image" Target="../media/image14.emf"/><Relationship Id="rId4" Type="http://schemas.openxmlformats.org/officeDocument/2006/relationships/oleObject" Target="../embeddings/oleObject8.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4.xml"/><Relationship Id="rId1" Type="http://schemas.openxmlformats.org/officeDocument/2006/relationships/tags" Target="../tags/tag68.xml"/><Relationship Id="rId4"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DD66A-0000-4ED5-D920-C003CFE20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912249-DBD3-8413-7B80-E136DF1CBA00}"/>
              </a:ext>
            </a:extLst>
          </p:cNvPr>
          <p:cNvSpPr>
            <a:spLocks noGrp="1"/>
          </p:cNvSpPr>
          <p:nvPr>
            <p:ph type="ctrTitle"/>
          </p:nvPr>
        </p:nvSpPr>
        <p:spPr>
          <a:xfrm>
            <a:off x="457201" y="5186209"/>
            <a:ext cx="4490721" cy="895983"/>
          </a:xfrm>
        </p:spPr>
        <p:txBody>
          <a:bodyPr vert="horz" rIns="0" anchor="b">
            <a:normAutofit/>
          </a:bodyPr>
          <a:lstStyle/>
          <a:p>
            <a:r>
              <a:rPr lang="en-US"/>
              <a:t>Zora CI</a:t>
            </a:r>
          </a:p>
        </p:txBody>
      </p:sp>
      <p:sp>
        <p:nvSpPr>
          <p:cNvPr id="7" name="Text Placeholder 4">
            <a:extLst>
              <a:ext uri="{FF2B5EF4-FFF2-40B4-BE49-F238E27FC236}">
                <a16:creationId xmlns:a16="http://schemas.microsoft.com/office/drawing/2014/main" id="{F210EB23-C936-8131-6BE7-0879148E8E96}"/>
              </a:ext>
            </a:extLst>
          </p:cNvPr>
          <p:cNvSpPr>
            <a:spLocks noGrp="1"/>
          </p:cNvSpPr>
          <p:nvPr>
            <p:ph type="body" sz="quarter" idx="10"/>
          </p:nvPr>
        </p:nvSpPr>
        <p:spPr>
          <a:xfrm>
            <a:off x="457201" y="6365848"/>
            <a:ext cx="4490721" cy="180000"/>
          </a:xfrm>
        </p:spPr>
        <p:txBody>
          <a:bodyPr anchor="ctr">
            <a:normAutofit/>
          </a:bodyPr>
          <a:lstStyle/>
          <a:p>
            <a:pPr>
              <a:lnSpc>
                <a:spcPct val="90000"/>
              </a:lnSpc>
            </a:pPr>
            <a:r>
              <a:rPr lang="en-US" sz="1300" b="0" i="1"/>
              <a:t>August 2026</a:t>
            </a:r>
          </a:p>
        </p:txBody>
      </p:sp>
      <p:pic>
        <p:nvPicPr>
          <p:cNvPr id="5" name="Picture 4">
            <a:extLst>
              <a:ext uri="{FF2B5EF4-FFF2-40B4-BE49-F238E27FC236}">
                <a16:creationId xmlns:a16="http://schemas.microsoft.com/office/drawing/2014/main" id="{D15625B0-6ADE-B749-CC5C-DBE93317FE32}"/>
              </a:ext>
            </a:extLst>
          </p:cNvPr>
          <p:cNvPicPr>
            <a:picLocks noChangeAspect="1"/>
          </p:cNvPicPr>
          <p:nvPr/>
        </p:nvPicPr>
        <p:blipFill>
          <a:blip r:embed="rId4"/>
          <a:srcRect l="16847" r="16403"/>
          <a:stretch>
            <a:fillRect/>
          </a:stretch>
        </p:blipFill>
        <p:spPr>
          <a:xfrm>
            <a:off x="5959257" y="698373"/>
            <a:ext cx="5544000" cy="5544000"/>
          </a:xfrm>
          <a:prstGeom prst="rect">
            <a:avLst/>
          </a:prstGeom>
          <a:noFill/>
        </p:spPr>
      </p:pic>
      <p:graphicFrame>
        <p:nvGraphicFramePr>
          <p:cNvPr id="3" name="think-cell data - do not delete" hidden="1">
            <a:extLst>
              <a:ext uri="{FF2B5EF4-FFF2-40B4-BE49-F238E27FC236}">
                <a16:creationId xmlns:a16="http://schemas.microsoft.com/office/drawing/2014/main" id="{C4D0CB63-E5CF-BF80-8632-696E5CB69C3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3" name="think-cell data - do not delete" hidden="1">
                        <a:extLst>
                          <a:ext uri="{FF2B5EF4-FFF2-40B4-BE49-F238E27FC236}">
                            <a16:creationId xmlns:a16="http://schemas.microsoft.com/office/drawing/2014/main" id="{C4D0CB63-E5CF-BF80-8632-696E5CB69C3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93988534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8465A8E4-4CF4-0D61-0773-2D5363AED4B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6" progId="TCLayout.ActiveDocument.1">
                  <p:embed/>
                </p:oleObj>
              </mc:Choice>
              <mc:Fallback>
                <p:oleObj name="think-cell Slide" r:id="rId3" imgW="424" imgH="426" progId="TCLayout.ActiveDocument.1">
                  <p:embed/>
                  <p:pic>
                    <p:nvPicPr>
                      <p:cNvPr id="20" name="think-cell data - do not delete" hidden="1">
                        <a:extLst>
                          <a:ext uri="{FF2B5EF4-FFF2-40B4-BE49-F238E27FC236}">
                            <a16:creationId xmlns:a16="http://schemas.microsoft.com/office/drawing/2014/main" id="{8465A8E4-4CF4-0D61-0773-2D5363AED4B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rIns="0"/>
          <a:lstStyle/>
          <a:p>
            <a:r>
              <a:rPr lang="en-US"/>
              <a:t>Context and Objectives</a:t>
            </a:r>
            <a:endParaRPr/>
          </a:p>
        </p:txBody>
      </p:sp>
      <p:sp>
        <p:nvSpPr>
          <p:cNvPr id="4" name="TextBox 3"/>
          <p:cNvSpPr txBox="1"/>
          <p:nvPr/>
        </p:nvSpPr>
        <p:spPr>
          <a:xfrm>
            <a:off x="457200" y="1188627"/>
            <a:ext cx="6085114" cy="4618124"/>
          </a:xfrm>
          <a:prstGeom prst="rect">
            <a:avLst/>
          </a:prstGeom>
          <a:noFill/>
        </p:spPr>
        <p:txBody>
          <a:bodyPr wrap="square" lIns="0" tIns="0" rIns="0" bIns="0" anchor="t">
            <a:spAutoFit/>
          </a:bodyPr>
          <a:lstStyle/>
          <a:p>
            <a:pPr marL="0" marR="0" lvl="0" indent="0" algn="l" defTabSz="914400" rtl="0" eaLnBrk="1" fontAlgn="auto" latinLnBrk="0" hangingPunct="1">
              <a:lnSpc>
                <a:spcPct val="115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282728"/>
                </a:solidFill>
                <a:effectLst/>
                <a:uLnTx/>
                <a:uFillTx/>
                <a:latin typeface="Aptos"/>
                <a:ea typeface="+mn-ea"/>
                <a:cs typeface="+mn-cs"/>
              </a:rPr>
              <a:t>Sales</a:t>
            </a:r>
            <a:r>
              <a:rPr kumimoji="0" sz="1600" b="0" i="0" u="none" strike="noStrike" kern="1200" cap="none" spc="0" normalizeH="0" baseline="0" noProof="0">
                <a:ln>
                  <a:noFill/>
                </a:ln>
                <a:solidFill>
                  <a:srgbClr val="282728"/>
                </a:solidFill>
                <a:effectLst/>
                <a:uLnTx/>
                <a:uFillTx/>
                <a:latin typeface="Aptos"/>
                <a:ea typeface="+mn-ea"/>
                <a:cs typeface="+mn-cs"/>
              </a:rPr>
              <a:t> conversations </a:t>
            </a:r>
            <a:r>
              <a:rPr kumimoji="0" lang="en-US" sz="1600" b="0" i="0" u="none" strike="noStrike" kern="1200" cap="none" spc="0" normalizeH="0" baseline="0" noProof="0">
                <a:ln>
                  <a:noFill/>
                </a:ln>
                <a:solidFill>
                  <a:srgbClr val="282728"/>
                </a:solidFill>
                <a:effectLst/>
                <a:uLnTx/>
                <a:uFillTx/>
                <a:latin typeface="Aptos"/>
                <a:ea typeface="+mn-ea"/>
                <a:cs typeface="+mn-cs"/>
              </a:rPr>
              <a:t>involving</a:t>
            </a:r>
            <a:r>
              <a:rPr kumimoji="0" sz="1600" b="0" i="0" u="none" strike="noStrike" kern="1200" cap="none" spc="0" normalizeH="0" baseline="0" noProof="0">
                <a:ln>
                  <a:noFill/>
                </a:ln>
                <a:solidFill>
                  <a:srgbClr val="282728"/>
                </a:solidFill>
                <a:effectLst/>
                <a:uLnTx/>
                <a:uFillTx/>
                <a:latin typeface="Aptos"/>
                <a:ea typeface="+mn-ea"/>
                <a:cs typeface="+mn-cs"/>
              </a:rPr>
              <a:t> Zora</a:t>
            </a:r>
            <a:r>
              <a:rPr kumimoji="0" lang="en-US" sz="1600" b="0" i="0" u="none" strike="noStrike" kern="1200" cap="none" spc="0" normalizeH="0" baseline="0" noProof="0">
                <a:ln>
                  <a:noFill/>
                </a:ln>
                <a:solidFill>
                  <a:srgbClr val="282728"/>
                </a:solidFill>
                <a:effectLst/>
                <a:uLnTx/>
                <a:uFillTx/>
                <a:latin typeface="Aptos"/>
                <a:ea typeface="+mn-ea"/>
                <a:cs typeface="+mn-cs"/>
              </a:rPr>
              <a:t> often</a:t>
            </a:r>
            <a:r>
              <a:rPr kumimoji="0" sz="1600" b="0" i="0" u="none" strike="noStrike" kern="1200" cap="none" spc="0" normalizeH="0" baseline="0" noProof="0">
                <a:ln>
                  <a:noFill/>
                </a:ln>
                <a:solidFill>
                  <a:srgbClr val="282728"/>
                </a:solidFill>
                <a:effectLst/>
                <a:uLnTx/>
                <a:uFillTx/>
                <a:latin typeface="Aptos"/>
                <a:ea typeface="+mn-ea"/>
                <a:cs typeface="+mn-cs"/>
              </a:rPr>
              <a:t> </a:t>
            </a:r>
            <a:r>
              <a:rPr kumimoji="0" lang="en-US" sz="1600" b="0" i="0" u="none" strike="noStrike" kern="1200" cap="none" spc="0" normalizeH="0" baseline="0" noProof="0">
                <a:ln>
                  <a:noFill/>
                </a:ln>
                <a:solidFill>
                  <a:srgbClr val="282728"/>
                </a:solidFill>
                <a:effectLst/>
                <a:uLnTx/>
                <a:uFillTx/>
                <a:latin typeface="Aptos"/>
                <a:ea typeface="+mn-ea"/>
                <a:cs typeface="+mn-cs"/>
              </a:rPr>
              <a:t>surface various questions regarding how Zora compares with competitors’ offerings:</a:t>
            </a:r>
          </a:p>
          <a:p>
            <a:pPr marL="182880" marR="0" lvl="0" indent="-182880" algn="l" defTabSz="914400" rtl="0" eaLnBrk="1" fontAlgn="auto" latinLnBrk="0" hangingPunct="1">
              <a:lnSpc>
                <a:spcPct val="115000"/>
              </a:lnSpc>
              <a:spcBef>
                <a:spcPts val="0"/>
              </a:spcBef>
              <a:spcAft>
                <a:spcPts val="600"/>
              </a:spcAft>
              <a:buClrTx/>
              <a:buSzTx/>
              <a:buFont typeface="Aptos"/>
              <a:buChar char="–"/>
              <a:tabLst/>
              <a:defRPr/>
            </a:pPr>
            <a:r>
              <a:rPr kumimoji="0" lang="en-US" sz="1600" b="0" i="0" u="none" strike="noStrike" kern="1200" cap="none" spc="0" normalizeH="0" baseline="0" noProof="0">
                <a:ln>
                  <a:noFill/>
                </a:ln>
                <a:solidFill>
                  <a:srgbClr val="282728"/>
                </a:solidFill>
                <a:effectLst/>
                <a:uLnTx/>
                <a:uFillTx/>
                <a:latin typeface="Aptos"/>
                <a:ea typeface="+mn-ea"/>
                <a:cs typeface="+mn-cs"/>
              </a:rPr>
              <a:t>Clients with an existing hyperscale relationship ask why they can’t build this on their own</a:t>
            </a:r>
          </a:p>
          <a:p>
            <a:pPr marL="182880" marR="0" lvl="0" indent="-182880" algn="l" defTabSz="914400" rtl="0" eaLnBrk="1" fontAlgn="auto" latinLnBrk="0" hangingPunct="1">
              <a:lnSpc>
                <a:spcPct val="115000"/>
              </a:lnSpc>
              <a:spcBef>
                <a:spcPts val="0"/>
              </a:spcBef>
              <a:spcAft>
                <a:spcPts val="600"/>
              </a:spcAft>
              <a:buClrTx/>
              <a:buSzTx/>
              <a:buFont typeface="Aptos"/>
              <a:buChar char="–"/>
              <a:tabLst/>
              <a:defRPr/>
            </a:pPr>
            <a:r>
              <a:rPr kumimoji="0" sz="1600" b="0" i="0" u="none" strike="noStrike" kern="1200" cap="none" spc="0" normalizeH="0" baseline="0" noProof="0">
                <a:ln>
                  <a:noFill/>
                </a:ln>
                <a:solidFill>
                  <a:srgbClr val="282728"/>
                </a:solidFill>
                <a:effectLst/>
                <a:uLnTx/>
                <a:uFillTx/>
                <a:latin typeface="Aptos"/>
                <a:ea typeface="+mn-ea"/>
                <a:cs typeface="+mn-cs"/>
              </a:rPr>
              <a:t>Clients who already run Copilot, SAP Joule, or Gemini ask why they need another AI tool at all</a:t>
            </a:r>
            <a:endParaRPr kumimoji="0" lang="en-US" sz="1600" b="0" i="0" u="none" strike="noStrike" kern="1200" cap="none" spc="0" normalizeH="0" baseline="0" noProof="0">
              <a:ln>
                <a:noFill/>
              </a:ln>
              <a:solidFill>
                <a:srgbClr val="282728"/>
              </a:solidFill>
              <a:effectLst/>
              <a:uLnTx/>
              <a:uFillTx/>
              <a:latin typeface="Aptos"/>
              <a:ea typeface="+mn-ea"/>
              <a:cs typeface="+mn-cs"/>
            </a:endParaRPr>
          </a:p>
          <a:p>
            <a:pPr marL="0" marR="0" lvl="0" indent="0" algn="l" defTabSz="914400" rtl="0" eaLnBrk="1" fontAlgn="auto" latinLnBrk="0" hangingPunct="1">
              <a:lnSpc>
                <a:spcPct val="115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282728"/>
                </a:solidFill>
                <a:effectLst/>
                <a:uLnTx/>
                <a:uFillTx/>
                <a:latin typeface="Aptos"/>
                <a:ea typeface="+mn-ea"/>
                <a:cs typeface="+mn-cs"/>
              </a:rPr>
              <a:t>At the same time, R</a:t>
            </a:r>
            <a:r>
              <a:rPr kumimoji="0" sz="1600" b="0" i="0" u="none" strike="noStrike" kern="1200" cap="none" spc="0" normalizeH="0" baseline="0" noProof="0">
                <a:ln>
                  <a:noFill/>
                </a:ln>
                <a:solidFill>
                  <a:srgbClr val="282728"/>
                </a:solidFill>
                <a:effectLst/>
                <a:uLnTx/>
                <a:uFillTx/>
                <a:latin typeface="Aptos"/>
                <a:ea typeface="+mn-ea"/>
                <a:cs typeface="+mn-cs"/>
              </a:rPr>
              <a:t>isk and compliance stakeholders increasingly ask how they can trust an autonomous action,</a:t>
            </a:r>
            <a:r>
              <a:rPr kumimoji="0" lang="en-US" sz="1600" b="0" i="0" u="none" strike="noStrike" kern="1200" cap="none" spc="0" normalizeH="0" baseline="0" noProof="0">
                <a:ln>
                  <a:noFill/>
                </a:ln>
                <a:solidFill>
                  <a:srgbClr val="282728"/>
                </a:solidFill>
                <a:effectLst/>
                <a:uLnTx/>
                <a:uFillTx/>
                <a:latin typeface="Aptos"/>
                <a:ea typeface="+mn-ea"/>
                <a:cs typeface="+mn-cs"/>
              </a:rPr>
              <a:t> and</a:t>
            </a:r>
            <a:r>
              <a:rPr kumimoji="0" sz="1600" b="0" i="0" u="none" strike="noStrike" kern="1200" cap="none" spc="0" normalizeH="0" baseline="0" noProof="0">
                <a:ln>
                  <a:noFill/>
                </a:ln>
                <a:solidFill>
                  <a:srgbClr val="282728"/>
                </a:solidFill>
                <a:effectLst/>
                <a:uLnTx/>
                <a:uFillTx/>
                <a:latin typeface="Aptos"/>
                <a:ea typeface="+mn-ea"/>
                <a:cs typeface="+mn-cs"/>
              </a:rPr>
              <a:t> not just a recommendation</a:t>
            </a:r>
            <a:r>
              <a:rPr kumimoji="0" lang="en-US" sz="1600" b="0" i="0" u="none" strike="noStrike" kern="1200" cap="none" spc="0" normalizeH="0" baseline="0" noProof="0">
                <a:ln>
                  <a:noFill/>
                </a:ln>
                <a:solidFill>
                  <a:srgbClr val="282728"/>
                </a:solidFill>
                <a:effectLst/>
                <a:uLnTx/>
                <a:uFillTx/>
                <a:latin typeface="Aptos"/>
                <a:ea typeface="+mn-ea"/>
                <a:cs typeface="+mn-cs"/>
              </a:rPr>
              <a:t>.</a:t>
            </a:r>
            <a:r>
              <a:rPr kumimoji="0" sz="1600" b="0" i="0" u="none" strike="noStrike" kern="1200" cap="none" spc="0" normalizeH="0" baseline="0" noProof="0">
                <a:ln>
                  <a:noFill/>
                </a:ln>
                <a:solidFill>
                  <a:srgbClr val="282728"/>
                </a:solidFill>
                <a:effectLst/>
                <a:uLnTx/>
                <a:uFillTx/>
                <a:latin typeface="Aptos"/>
                <a:ea typeface="+mn-ea"/>
                <a:cs typeface="+mn-cs"/>
              </a:rPr>
              <a:t> </a:t>
            </a:r>
            <a:endParaRPr kumimoji="0" lang="en-US" sz="1600" b="0" i="0" u="none" strike="noStrike" kern="1200" cap="none" spc="0" normalizeH="0" baseline="0" noProof="0">
              <a:ln>
                <a:noFill/>
              </a:ln>
              <a:solidFill>
                <a:srgbClr val="282728"/>
              </a:solidFill>
              <a:effectLst/>
              <a:uLnTx/>
              <a:uFillTx/>
              <a:latin typeface="Aptos"/>
              <a:ea typeface="+mn-ea"/>
              <a:cs typeface="+mn-cs"/>
            </a:endParaRPr>
          </a:p>
          <a:p>
            <a:pPr marL="0" marR="0" lvl="0" indent="0" algn="l" defTabSz="914400" rtl="0" eaLnBrk="1" fontAlgn="auto" latinLnBrk="0" hangingPunct="1">
              <a:lnSpc>
                <a:spcPct val="115000"/>
              </a:lnSpc>
              <a:spcBef>
                <a:spcPts val="0"/>
              </a:spcBef>
              <a:spcAft>
                <a:spcPts val="600"/>
              </a:spcAft>
              <a:buClrTx/>
              <a:buSzTx/>
              <a:buFontTx/>
              <a:buNone/>
              <a:tabLst/>
              <a:defRPr/>
            </a:pPr>
            <a:r>
              <a:rPr kumimoji="0" sz="1600" b="1" i="0" u="none" strike="noStrike" kern="1200" cap="none" spc="0" normalizeH="0" baseline="0" noProof="0">
                <a:ln>
                  <a:noFill/>
                </a:ln>
                <a:solidFill>
                  <a:prstClr val="black"/>
                </a:solidFill>
                <a:effectLst/>
                <a:uLnTx/>
                <a:uFillTx/>
                <a:latin typeface="Aptos"/>
                <a:ea typeface="+mn-ea"/>
                <a:cs typeface="+mn-cs"/>
              </a:rPr>
              <a:t>This initiative benchmarks competitors</a:t>
            </a:r>
            <a:r>
              <a:rPr kumimoji="0" lang="en-US" sz="1600" b="1" i="0" u="none" strike="noStrike" kern="1200" cap="none" spc="0" normalizeH="0" baseline="0" noProof="0">
                <a:ln>
                  <a:noFill/>
                </a:ln>
                <a:solidFill>
                  <a:prstClr val="black"/>
                </a:solidFill>
                <a:effectLst/>
                <a:uLnTx/>
                <a:uFillTx/>
                <a:latin typeface="Aptos"/>
                <a:ea typeface="+mn-ea"/>
                <a:cs typeface="+mn-cs"/>
              </a:rPr>
              <a:t> and their assets that are comparable to Zora,</a:t>
            </a:r>
            <a:r>
              <a:rPr kumimoji="0" sz="1600" b="1" i="0" u="none" strike="noStrike" kern="1200" cap="none" spc="0" normalizeH="0" baseline="0" noProof="0">
                <a:ln>
                  <a:noFill/>
                </a:ln>
                <a:solidFill>
                  <a:prstClr val="black"/>
                </a:solidFill>
                <a:effectLst/>
                <a:uLnTx/>
                <a:uFillTx/>
                <a:latin typeface="Aptos"/>
                <a:ea typeface="+mn-ea"/>
                <a:cs typeface="+mn-cs"/>
              </a:rPr>
              <a:t> so the go-to-market team has evidence-based answers </a:t>
            </a:r>
            <a:r>
              <a:rPr kumimoji="0" lang="en-US" sz="1600" b="1" i="0" u="none" strike="noStrike" kern="1200" cap="none" spc="0" normalizeH="0" baseline="0" noProof="0">
                <a:ln>
                  <a:noFill/>
                </a:ln>
                <a:solidFill>
                  <a:prstClr val="black"/>
                </a:solidFill>
                <a:effectLst/>
                <a:uLnTx/>
                <a:uFillTx/>
                <a:latin typeface="Aptos"/>
                <a:ea typeface="+mn-ea"/>
                <a:cs typeface="+mn-cs"/>
              </a:rPr>
              <a:t>for such questions</a:t>
            </a:r>
          </a:p>
          <a:p>
            <a:pPr marL="0" marR="0" lvl="0" indent="0" algn="l" defTabSz="914400" rtl="0" eaLnBrk="1" fontAlgn="auto" latinLnBrk="0" hangingPunct="1">
              <a:lnSpc>
                <a:spcPct val="115000"/>
              </a:lnSpc>
              <a:spcBef>
                <a:spcPts val="0"/>
              </a:spcBef>
              <a:spcAft>
                <a:spcPts val="600"/>
              </a:spcAft>
              <a:buClrTx/>
              <a:buSzTx/>
              <a:buFontTx/>
              <a:buNone/>
              <a:tabLst/>
              <a:defRPr/>
            </a:pPr>
            <a:r>
              <a:rPr kumimoji="0" lang="en-US" sz="1600" b="0" i="0" u="none" strike="noStrike" kern="1200" cap="none" spc="0" normalizeH="0" baseline="0" noProof="0">
                <a:ln>
                  <a:noFill/>
                </a:ln>
                <a:solidFill>
                  <a:prstClr val="black"/>
                </a:solidFill>
                <a:effectLst/>
                <a:uLnTx/>
                <a:uFillTx/>
                <a:latin typeface="Aptos"/>
                <a:ea typeface="+mn-ea"/>
                <a:cs typeface="+mn-cs"/>
              </a:rPr>
              <a:t>It aims to map Zora’s competitive playing field, including</a:t>
            </a:r>
            <a:r>
              <a:rPr kumimoji="0" lang="en-US" sz="1600" b="1" i="0" u="none" strike="noStrike" kern="1200" cap="none" spc="0" normalizeH="0" baseline="0" noProof="0">
                <a:ln>
                  <a:noFill/>
                </a:ln>
                <a:solidFill>
                  <a:prstClr val="black"/>
                </a:solidFill>
                <a:effectLst/>
                <a:uLnTx/>
                <a:uFillTx/>
                <a:latin typeface="Aptos"/>
                <a:ea typeface="+mn-ea"/>
                <a:cs typeface="+mn-cs"/>
              </a:rPr>
              <a:t> where it plays, who its competitors are , how it compares to them and how it can win.</a:t>
            </a:r>
            <a:endParaRPr kumimoji="0" sz="1600" b="1" i="0" u="none" strike="noStrike" kern="1200" cap="none" spc="0" normalizeH="0" baseline="0" noProof="0">
              <a:ln>
                <a:noFill/>
              </a:ln>
              <a:solidFill>
                <a:prstClr val="black"/>
              </a:solidFill>
              <a:effectLst/>
              <a:uLnTx/>
              <a:uFillTx/>
              <a:latin typeface="Aptos"/>
              <a:ea typeface="+mn-ea"/>
              <a:cs typeface="+mn-cs"/>
            </a:endParaRPr>
          </a:p>
        </p:txBody>
      </p:sp>
      <p:grpSp>
        <p:nvGrpSpPr>
          <p:cNvPr id="21" name="Group 20">
            <a:extLst>
              <a:ext uri="{FF2B5EF4-FFF2-40B4-BE49-F238E27FC236}">
                <a16:creationId xmlns:a16="http://schemas.microsoft.com/office/drawing/2014/main" id="{C512FB8A-0C70-4E7E-BADF-9689DDEEEF99}"/>
              </a:ext>
            </a:extLst>
          </p:cNvPr>
          <p:cNvGrpSpPr/>
          <p:nvPr/>
        </p:nvGrpSpPr>
        <p:grpSpPr>
          <a:xfrm>
            <a:off x="6988629" y="1188627"/>
            <a:ext cx="4743123" cy="4828032"/>
            <a:chOff x="6988629" y="949140"/>
            <a:chExt cx="4743123" cy="4828032"/>
          </a:xfrm>
        </p:grpSpPr>
        <p:sp>
          <p:nvSpPr>
            <p:cNvPr id="7" name="Rectangle 6"/>
            <p:cNvSpPr/>
            <p:nvPr/>
          </p:nvSpPr>
          <p:spPr>
            <a:xfrm>
              <a:off x="6988629" y="949140"/>
              <a:ext cx="4743123" cy="4828032"/>
            </a:xfrm>
            <a:prstGeom prst="rect">
              <a:avLst/>
            </a:prstGeom>
            <a:solidFill>
              <a:schemeClr val="bg1">
                <a:lumMod val="95000"/>
              </a:schemeClr>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a:ea typeface="+mn-ea"/>
                  <a:cs typeface="+mn-cs"/>
                </a:rPr>
                <a:t>.</a:t>
              </a:r>
              <a:endParaRPr kumimoji="0" sz="1200" b="0" i="0" u="none" strike="noStrike" kern="1200" cap="none" spc="0" normalizeH="0" baseline="0" noProof="0">
                <a:ln>
                  <a:noFill/>
                </a:ln>
                <a:solidFill>
                  <a:prstClr val="white"/>
                </a:solidFill>
                <a:effectLst/>
                <a:uLnTx/>
                <a:uFillTx/>
                <a:latin typeface="Aptos"/>
                <a:ea typeface="+mn-ea"/>
                <a:cs typeface="+mn-cs"/>
              </a:endParaRPr>
            </a:p>
          </p:txBody>
        </p:sp>
        <p:sp>
          <p:nvSpPr>
            <p:cNvPr id="8" name="TextBox 7"/>
            <p:cNvSpPr txBox="1"/>
            <p:nvPr/>
          </p:nvSpPr>
          <p:spPr>
            <a:xfrm>
              <a:off x="7174555" y="1124712"/>
              <a:ext cx="44805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46A38"/>
                  </a:solidFill>
                  <a:effectLst/>
                  <a:uLnTx/>
                  <a:uFillTx/>
                  <a:latin typeface="Aptos"/>
                  <a:ea typeface="+mn-ea"/>
                  <a:cs typeface="+mn-cs"/>
                </a:rPr>
                <a:t>Competitor Cohorts in Scope</a:t>
              </a:r>
            </a:p>
          </p:txBody>
        </p:sp>
        <p:sp>
          <p:nvSpPr>
            <p:cNvPr id="9" name="TextBox 8"/>
            <p:cNvSpPr txBox="1"/>
            <p:nvPr/>
          </p:nvSpPr>
          <p:spPr>
            <a:xfrm>
              <a:off x="7174555" y="1636776"/>
              <a:ext cx="44805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86BC25"/>
                  </a:solidFill>
                  <a:effectLst/>
                  <a:uLnTx/>
                  <a:uFillTx/>
                  <a:latin typeface="Aptos"/>
                  <a:ea typeface="+mn-ea"/>
                  <a:cs typeface="+mn-cs"/>
                </a:rPr>
                <a:t>Big Four / tech consulting</a:t>
              </a:r>
            </a:p>
          </p:txBody>
        </p:sp>
        <p:sp>
          <p:nvSpPr>
            <p:cNvPr id="10" name="TextBox 9"/>
            <p:cNvSpPr txBox="1"/>
            <p:nvPr/>
          </p:nvSpPr>
          <p:spPr>
            <a:xfrm>
              <a:off x="7174555" y="1929384"/>
              <a:ext cx="4480560" cy="483337"/>
            </a:xfrm>
            <a:prstGeom prst="rect">
              <a:avLst/>
            </a:prstGeom>
            <a:noFill/>
          </p:spPr>
          <p:txBody>
            <a:bodyPr wrap="square" lIns="0" tIns="0" rIns="0" bIns="0" anchor="t">
              <a:sp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400" b="0" i="0" u="none" strike="noStrike" kern="1200" cap="none" spc="0" normalizeH="0" baseline="0" noProof="0">
                  <a:ln>
                    <a:noFill/>
                  </a:ln>
                  <a:solidFill>
                    <a:srgbClr val="53565A"/>
                  </a:solidFill>
                  <a:effectLst/>
                  <a:uLnTx/>
                  <a:uFillTx/>
                  <a:latin typeface="Aptos"/>
                  <a:ea typeface="+mn-ea"/>
                  <a:cs typeface="+mn-cs"/>
                </a:rPr>
                <a:t>Accenture</a:t>
              </a:r>
              <a:r>
                <a:rPr kumimoji="0" sz="1400" b="0" i="0" u="none" strike="noStrike" kern="1200" cap="none" spc="0" normalizeH="0" baseline="0" noProof="0">
                  <a:ln>
                    <a:noFill/>
                  </a:ln>
                  <a:solidFill>
                    <a:srgbClr val="53565A"/>
                  </a:solidFill>
                  <a:effectLst/>
                  <a:uLnTx/>
                  <a:uFillTx/>
                  <a:latin typeface="Aptos"/>
                  <a:ea typeface="+mn-ea"/>
                  <a:cs typeface="+mn-cs"/>
                </a:rPr>
                <a:t>, PwC, EY, KPMG, IBM Consulting, Capgemini, Infosys/TCS/Wipro</a:t>
              </a:r>
            </a:p>
          </p:txBody>
        </p:sp>
        <p:sp>
          <p:nvSpPr>
            <p:cNvPr id="11" name="Rectangle 10"/>
            <p:cNvSpPr/>
            <p:nvPr/>
          </p:nvSpPr>
          <p:spPr>
            <a:xfrm>
              <a:off x="7174555" y="2541117"/>
              <a:ext cx="4480560" cy="1097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Aptos"/>
                <a:ea typeface="+mn-ea"/>
                <a:cs typeface="+mn-cs"/>
              </a:endParaRPr>
            </a:p>
          </p:txBody>
        </p:sp>
        <p:sp>
          <p:nvSpPr>
            <p:cNvPr id="12" name="TextBox 11"/>
            <p:cNvSpPr txBox="1"/>
            <p:nvPr/>
          </p:nvSpPr>
          <p:spPr>
            <a:xfrm>
              <a:off x="7174555" y="2656332"/>
              <a:ext cx="44805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D8390"/>
                  </a:solidFill>
                  <a:effectLst/>
                  <a:uLnTx/>
                  <a:uFillTx/>
                  <a:latin typeface="Aptos"/>
                  <a:ea typeface="+mn-ea"/>
                  <a:cs typeface="+mn-cs"/>
                </a:rPr>
                <a:t>Hyperscalers</a:t>
              </a:r>
              <a:r>
                <a:rPr kumimoji="0" lang="en-US" sz="1400" b="1" i="0" u="none" strike="noStrike" kern="1200" cap="none" spc="0" normalizeH="0" baseline="0" noProof="0">
                  <a:ln>
                    <a:noFill/>
                  </a:ln>
                  <a:solidFill>
                    <a:srgbClr val="0D8390"/>
                  </a:solidFill>
                  <a:effectLst/>
                  <a:uLnTx/>
                  <a:uFillTx/>
                  <a:latin typeface="Aptos"/>
                  <a:ea typeface="+mn-ea"/>
                  <a:cs typeface="+mn-cs"/>
                </a:rPr>
                <a:t> / Enterprise Software</a:t>
              </a:r>
              <a:endParaRPr kumimoji="0" sz="1400" b="1" i="0" u="none" strike="noStrike" kern="1200" cap="none" spc="0" normalizeH="0" baseline="0" noProof="0">
                <a:ln>
                  <a:noFill/>
                </a:ln>
                <a:solidFill>
                  <a:srgbClr val="0D8390"/>
                </a:solidFill>
                <a:effectLst/>
                <a:uLnTx/>
                <a:uFillTx/>
                <a:latin typeface="Aptos"/>
                <a:ea typeface="+mn-ea"/>
                <a:cs typeface="+mn-cs"/>
              </a:endParaRPr>
            </a:p>
          </p:txBody>
        </p:sp>
        <p:sp>
          <p:nvSpPr>
            <p:cNvPr id="13" name="TextBox 12"/>
            <p:cNvSpPr txBox="1"/>
            <p:nvPr/>
          </p:nvSpPr>
          <p:spPr>
            <a:xfrm>
              <a:off x="7174555" y="2948940"/>
              <a:ext cx="4480560" cy="483337"/>
            </a:xfrm>
            <a:prstGeom prst="rect">
              <a:avLst/>
            </a:prstGeom>
            <a:noFill/>
          </p:spPr>
          <p:txBody>
            <a:bodyPr wrap="square" lIns="0" tIns="0" rIns="0" bIns="0" anchor="t">
              <a:sp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400" b="0" i="0" u="none" strike="noStrike" kern="1200" cap="none" spc="0" normalizeH="0" baseline="0" noProof="0">
                  <a:ln>
                    <a:noFill/>
                  </a:ln>
                  <a:solidFill>
                    <a:srgbClr val="53565A"/>
                  </a:solidFill>
                  <a:effectLst/>
                  <a:uLnTx/>
                  <a:uFillTx/>
                  <a:latin typeface="Aptos"/>
                  <a:ea typeface="+mn-ea"/>
                  <a:cs typeface="+mn-cs"/>
                </a:rPr>
                <a:t>Microsoft</a:t>
              </a:r>
              <a:r>
                <a:rPr kumimoji="0" sz="1400" b="0" i="0" u="none" strike="noStrike" kern="1200" cap="none" spc="0" normalizeH="0" baseline="0" noProof="0">
                  <a:ln>
                    <a:noFill/>
                  </a:ln>
                  <a:solidFill>
                    <a:srgbClr val="53565A"/>
                  </a:solidFill>
                  <a:effectLst/>
                  <a:uLnTx/>
                  <a:uFillTx/>
                  <a:latin typeface="Aptos"/>
                  <a:ea typeface="+mn-ea"/>
                  <a:cs typeface="+mn-cs"/>
                </a:rPr>
                <a:t>, AWS, Google, SAP, ServiceNow, Salesforce</a:t>
              </a:r>
              <a:r>
                <a:rPr kumimoji="0" lang="en-US" sz="1400" b="0" i="0" u="none" strike="noStrike" kern="1200" cap="none" spc="0" normalizeH="0" baseline="0" noProof="0">
                  <a:ln>
                    <a:noFill/>
                  </a:ln>
                  <a:solidFill>
                    <a:srgbClr val="53565A"/>
                  </a:solidFill>
                  <a:effectLst/>
                  <a:uLnTx/>
                  <a:uFillTx/>
                  <a:latin typeface="Aptos"/>
                  <a:ea typeface="+mn-ea"/>
                  <a:cs typeface="+mn-cs"/>
                </a:rPr>
                <a:t>, Workday</a:t>
              </a:r>
              <a:endParaRPr kumimoji="0" sz="1400" b="0" i="0" u="none" strike="noStrike" kern="1200" cap="none" spc="0" normalizeH="0" baseline="0" noProof="0">
                <a:ln>
                  <a:noFill/>
                </a:ln>
                <a:solidFill>
                  <a:srgbClr val="53565A"/>
                </a:solidFill>
                <a:effectLst/>
                <a:uLnTx/>
                <a:uFillTx/>
                <a:latin typeface="Aptos"/>
                <a:ea typeface="+mn-ea"/>
                <a:cs typeface="+mn-cs"/>
              </a:endParaRPr>
            </a:p>
          </p:txBody>
        </p:sp>
        <p:sp>
          <p:nvSpPr>
            <p:cNvPr id="14" name="Rectangle 13"/>
            <p:cNvSpPr/>
            <p:nvPr/>
          </p:nvSpPr>
          <p:spPr>
            <a:xfrm>
              <a:off x="7174555" y="3560673"/>
              <a:ext cx="4480560" cy="1097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Aptos"/>
                <a:ea typeface="+mn-ea"/>
                <a:cs typeface="+mn-cs"/>
              </a:endParaRPr>
            </a:p>
          </p:txBody>
        </p:sp>
        <p:sp>
          <p:nvSpPr>
            <p:cNvPr id="15" name="TextBox 14"/>
            <p:cNvSpPr txBox="1"/>
            <p:nvPr/>
          </p:nvSpPr>
          <p:spPr>
            <a:xfrm>
              <a:off x="7174555" y="3675887"/>
              <a:ext cx="44805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0A3E0"/>
                  </a:solidFill>
                  <a:effectLst/>
                  <a:uLnTx/>
                  <a:uFillTx/>
                  <a:latin typeface="Aptos"/>
                  <a:ea typeface="+mn-ea"/>
                  <a:cs typeface="+mn-cs"/>
                </a:rPr>
                <a:t>Frontier AI labs</a:t>
              </a:r>
            </a:p>
          </p:txBody>
        </p:sp>
        <p:sp>
          <p:nvSpPr>
            <p:cNvPr id="16" name="TextBox 15"/>
            <p:cNvSpPr txBox="1"/>
            <p:nvPr/>
          </p:nvSpPr>
          <p:spPr>
            <a:xfrm>
              <a:off x="7174555" y="3968496"/>
              <a:ext cx="4480560" cy="235577"/>
            </a:xfrm>
            <a:prstGeom prst="rect">
              <a:avLst/>
            </a:prstGeom>
            <a:noFill/>
          </p:spPr>
          <p:txBody>
            <a:bodyPr wrap="square" lIns="0" tIns="0" rIns="0" bIns="0" anchor="t">
              <a:sp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sz="1400" b="0" i="0" u="none" strike="noStrike" kern="1200" cap="none" spc="0" normalizeH="0" baseline="0" noProof="0">
                  <a:ln>
                    <a:noFill/>
                  </a:ln>
                  <a:solidFill>
                    <a:srgbClr val="53565A"/>
                  </a:solidFill>
                  <a:effectLst/>
                  <a:uLnTx/>
                  <a:uFillTx/>
                  <a:latin typeface="Aptos"/>
                  <a:ea typeface="+mn-ea"/>
                  <a:cs typeface="+mn-cs"/>
                </a:rPr>
                <a:t>OpenAI, Anthropic</a:t>
              </a:r>
            </a:p>
          </p:txBody>
        </p:sp>
        <p:sp>
          <p:nvSpPr>
            <p:cNvPr id="17" name="Rectangle 16"/>
            <p:cNvSpPr/>
            <p:nvPr/>
          </p:nvSpPr>
          <p:spPr>
            <a:xfrm>
              <a:off x="7174555" y="4406058"/>
              <a:ext cx="4480560" cy="1097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Aptos"/>
                <a:ea typeface="+mn-ea"/>
                <a:cs typeface="+mn-cs"/>
              </a:endParaRPr>
            </a:p>
          </p:txBody>
        </p:sp>
        <p:sp>
          <p:nvSpPr>
            <p:cNvPr id="18" name="TextBox 17"/>
            <p:cNvSpPr txBox="1"/>
            <p:nvPr/>
          </p:nvSpPr>
          <p:spPr>
            <a:xfrm>
              <a:off x="7174555" y="4521273"/>
              <a:ext cx="44805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46A38"/>
                  </a:solidFill>
                  <a:effectLst/>
                  <a:uLnTx/>
                  <a:uFillTx/>
                  <a:latin typeface="Aptos"/>
                  <a:ea typeface="+mn-ea"/>
                  <a:cs typeface="+mn-cs"/>
                </a:rPr>
                <a:t>Point-solution / vertical AI</a:t>
              </a:r>
            </a:p>
          </p:txBody>
        </p:sp>
        <p:sp>
          <p:nvSpPr>
            <p:cNvPr id="19" name="TextBox 18"/>
            <p:cNvSpPr txBox="1"/>
            <p:nvPr/>
          </p:nvSpPr>
          <p:spPr>
            <a:xfrm>
              <a:off x="7174555" y="4813881"/>
              <a:ext cx="4480560" cy="731098"/>
            </a:xfrm>
            <a:prstGeom prst="rect">
              <a:avLst/>
            </a:prstGeom>
            <a:noFill/>
          </p:spPr>
          <p:txBody>
            <a:bodyPr wrap="square" lIns="0" tIns="0" rIns="0" bIns="0" anchor="t">
              <a:sp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53565A"/>
                  </a:solidFill>
                  <a:effectLst/>
                  <a:uLnTx/>
                  <a:uFillTx/>
                  <a:latin typeface="Aptos"/>
                  <a:ea typeface="+mn-ea"/>
                  <a:cs typeface="+mn-cs"/>
                </a:rPr>
                <a:t>HighRadius</a:t>
              </a:r>
              <a:r>
                <a:rPr kumimoji="0" sz="1400" b="0" i="0" u="none" strike="noStrike" kern="1200" cap="none" spc="0" normalizeH="0" baseline="0" noProof="0" dirty="0">
                  <a:ln>
                    <a:noFill/>
                  </a:ln>
                  <a:solidFill>
                    <a:srgbClr val="53565A"/>
                  </a:solidFill>
                  <a:effectLst/>
                  <a:uLnTx/>
                  <a:uFillTx/>
                  <a:latin typeface="Aptos"/>
                  <a:ea typeface="+mn-ea"/>
                  <a:cs typeface="+mn-cs"/>
                </a:rPr>
                <a:t>, SAP FSCM, Coupa + emerging FP&amp;A/collections copilots</a:t>
              </a:r>
              <a:r>
                <a:rPr kumimoji="0" lang="en-US" sz="1400" b="0" i="0" u="none" strike="noStrike" kern="1200" cap="none" spc="0" normalizeH="0" baseline="0" noProof="0" dirty="0">
                  <a:ln>
                    <a:noFill/>
                  </a:ln>
                  <a:solidFill>
                    <a:srgbClr val="53565A"/>
                  </a:solidFill>
                  <a:effectLst/>
                  <a:uLnTx/>
                  <a:uFillTx/>
                  <a:latin typeface="Aptos"/>
                  <a:ea typeface="+mn-ea"/>
                  <a:cs typeface="+mn-cs"/>
                </a:rPr>
                <a:t> (e.g., OneStream, </a:t>
              </a:r>
              <a:r>
                <a:rPr kumimoji="0" lang="en-US" sz="1400" b="0" i="0" u="none" strike="noStrike" kern="1200" cap="none" spc="0" normalizeH="0" baseline="0" noProof="0" dirty="0" err="1">
                  <a:ln>
                    <a:noFill/>
                  </a:ln>
                  <a:solidFill>
                    <a:srgbClr val="53565A"/>
                  </a:solidFill>
                  <a:effectLst/>
                  <a:uLnTx/>
                  <a:uFillTx/>
                  <a:latin typeface="Aptos"/>
                  <a:ea typeface="+mn-ea"/>
                  <a:cs typeface="+mn-cs"/>
                </a:rPr>
                <a:t>DataRails</a:t>
              </a:r>
              <a:r>
                <a:rPr kumimoji="0" lang="en-US" sz="1400" b="0" i="0" u="none" strike="noStrike" kern="1200" cap="none" spc="0" normalizeH="0" baseline="0" noProof="0" dirty="0">
                  <a:ln>
                    <a:noFill/>
                  </a:ln>
                  <a:solidFill>
                    <a:srgbClr val="53565A"/>
                  </a:solidFill>
                  <a:effectLst/>
                  <a:uLnTx/>
                  <a:uFillTx/>
                  <a:latin typeface="Aptos"/>
                  <a:ea typeface="+mn-ea"/>
                  <a:cs typeface="+mn-cs"/>
                </a:rPr>
                <a:t>, </a:t>
              </a:r>
              <a:r>
                <a:rPr kumimoji="0" lang="en-US" sz="1400" b="0" i="0" u="none" strike="noStrike" kern="1200" cap="none" spc="0" normalizeH="0" baseline="0" noProof="0" dirty="0" err="1">
                  <a:ln>
                    <a:noFill/>
                  </a:ln>
                  <a:solidFill>
                    <a:srgbClr val="53565A"/>
                  </a:solidFill>
                  <a:effectLst/>
                  <a:uLnTx/>
                  <a:uFillTx/>
                  <a:latin typeface="Aptos"/>
                  <a:ea typeface="+mn-ea"/>
                  <a:cs typeface="+mn-cs"/>
                </a:rPr>
                <a:t>Abacum</a:t>
              </a:r>
              <a:r>
                <a:rPr kumimoji="0" lang="en-US" sz="1400" b="0" i="0" u="none" strike="noStrike" kern="1200" cap="none" spc="0" normalizeH="0" baseline="0" noProof="0" dirty="0">
                  <a:ln>
                    <a:noFill/>
                  </a:ln>
                  <a:solidFill>
                    <a:srgbClr val="53565A"/>
                  </a:solidFill>
                  <a:effectLst/>
                  <a:uLnTx/>
                  <a:uFillTx/>
                  <a:latin typeface="Aptos"/>
                  <a:ea typeface="+mn-ea"/>
                  <a:cs typeface="+mn-cs"/>
                </a:rPr>
                <a:t>, Salient)</a:t>
              </a:r>
              <a:endParaRPr kumimoji="0" sz="1400" b="0" i="0" u="none" strike="noStrike" kern="1200" cap="none" spc="0" normalizeH="0" baseline="0" noProof="0" dirty="0">
                <a:ln>
                  <a:noFill/>
                </a:ln>
                <a:solidFill>
                  <a:srgbClr val="53565A"/>
                </a:solidFill>
                <a:effectLst/>
                <a:uLnTx/>
                <a:uFillTx/>
                <a:latin typeface="Aptos"/>
                <a:ea typeface="+mn-ea"/>
                <a:cs typeface="+mn-c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633B3-100D-901B-3187-5FBB5B26E14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19DF600-6AF6-B963-01C4-1908288E4A3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819DF600-6AF6-B963-01C4-1908288E4A3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B9D96512-5C96-CEED-CBD2-616681AF8959}"/>
              </a:ext>
            </a:extLst>
          </p:cNvPr>
          <p:cNvSpPr>
            <a:spLocks noGrp="1"/>
          </p:cNvSpPr>
          <p:nvPr>
            <p:ph type="title"/>
          </p:nvPr>
        </p:nvSpPr>
        <p:spPr/>
        <p:txBody>
          <a:bodyPr vert="horz" rIns="0"/>
          <a:lstStyle/>
          <a:p>
            <a:r>
              <a:rPr lang="en-US"/>
              <a:t>Contents</a:t>
            </a:r>
          </a:p>
        </p:txBody>
      </p:sp>
      <p:graphicFrame>
        <p:nvGraphicFramePr>
          <p:cNvPr id="9" name="Table 8">
            <a:extLst>
              <a:ext uri="{FF2B5EF4-FFF2-40B4-BE49-F238E27FC236}">
                <a16:creationId xmlns:a16="http://schemas.microsoft.com/office/drawing/2014/main" id="{16025CBF-AD25-875D-0175-246756850112}"/>
              </a:ext>
            </a:extLst>
          </p:cNvPr>
          <p:cNvGraphicFramePr>
            <a:graphicFrameLocks noGrp="1"/>
          </p:cNvGraphicFramePr>
          <p:nvPr>
            <p:extLst>
              <p:ext uri="{D42A27DB-BD31-4B8C-83A1-F6EECF244321}">
                <p14:modId xmlns:p14="http://schemas.microsoft.com/office/powerpoint/2010/main" val="117457149"/>
              </p:ext>
            </p:extLst>
          </p:nvPr>
        </p:nvGraphicFramePr>
        <p:xfrm>
          <a:off x="457200" y="1128097"/>
          <a:ext cx="7799832" cy="5170231"/>
        </p:xfrm>
        <a:graphic>
          <a:graphicData uri="http://schemas.openxmlformats.org/drawingml/2006/table">
            <a:tbl>
              <a:tblPr firstRow="1" bandRow="1">
                <a:tableStyleId>{5C22544A-7EE6-4342-B048-85BDC9FD1C3A}</a:tableStyleId>
              </a:tblPr>
              <a:tblGrid>
                <a:gridCol w="519862">
                  <a:extLst>
                    <a:ext uri="{9D8B030D-6E8A-4147-A177-3AD203B41FA5}">
                      <a16:colId xmlns:a16="http://schemas.microsoft.com/office/drawing/2014/main" val="960981622"/>
                    </a:ext>
                  </a:extLst>
                </a:gridCol>
                <a:gridCol w="6243575">
                  <a:extLst>
                    <a:ext uri="{9D8B030D-6E8A-4147-A177-3AD203B41FA5}">
                      <a16:colId xmlns:a16="http://schemas.microsoft.com/office/drawing/2014/main" val="1045979491"/>
                    </a:ext>
                  </a:extLst>
                </a:gridCol>
                <a:gridCol w="1036395">
                  <a:extLst>
                    <a:ext uri="{9D8B030D-6E8A-4147-A177-3AD203B41FA5}">
                      <a16:colId xmlns:a16="http://schemas.microsoft.com/office/drawing/2014/main" val="3445774031"/>
                    </a:ext>
                  </a:extLst>
                </a:gridCol>
              </a:tblGrid>
              <a:tr h="470021">
                <a:tc gridSpan="2">
                  <a:txBody>
                    <a:bodyPr/>
                    <a:lstStyle/>
                    <a:p>
                      <a:r>
                        <a:rPr lang="en-US" sz="1600">
                          <a:solidFill>
                            <a:schemeClr val="tx1"/>
                          </a:solidFill>
                        </a:rPr>
                        <a:t>Topic</a:t>
                      </a:r>
                    </a:p>
                  </a:txBody>
                  <a:tcPr anchor="ctr">
                    <a:lnB w="19050" cap="flat" cmpd="sng" algn="ctr">
                      <a:solidFill>
                        <a:schemeClr val="accent3"/>
                      </a:solidFill>
                      <a:prstDash val="solid"/>
                      <a:round/>
                      <a:headEnd type="none" w="med" len="med"/>
                      <a:tailEnd type="none" w="med" len="med"/>
                    </a:lnB>
                    <a:solidFill>
                      <a:schemeClr val="bg1"/>
                    </a:solidFill>
                  </a:tcPr>
                </a:tc>
                <a:tc hMerge="1">
                  <a:txBody>
                    <a:bodyPr/>
                    <a:lstStyle/>
                    <a:p>
                      <a:endParaRPr lang="en-US" sz="1600"/>
                    </a:p>
                  </a:txBody>
                  <a:tcPr anchor="ctr">
                    <a:solidFill>
                      <a:schemeClr val="bg1"/>
                    </a:solidFill>
                  </a:tcPr>
                </a:tc>
                <a:tc>
                  <a:txBody>
                    <a:bodyPr/>
                    <a:lstStyle/>
                    <a:p>
                      <a:r>
                        <a:rPr lang="en-US" sz="1600">
                          <a:solidFill>
                            <a:schemeClr val="tx1"/>
                          </a:solidFill>
                        </a:rPr>
                        <a:t>Slide No</a:t>
                      </a:r>
                    </a:p>
                  </a:txBody>
                  <a:tcPr anchor="ctr">
                    <a:lnB w="19050"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905765355"/>
                  </a:ext>
                </a:extLst>
              </a:tr>
              <a:tr h="470021">
                <a:tc>
                  <a:txBody>
                    <a:bodyPr/>
                    <a:lstStyle/>
                    <a:p>
                      <a:r>
                        <a:rPr lang="en-US" sz="1600" b="1"/>
                        <a:t>1.</a:t>
                      </a:r>
                    </a:p>
                  </a:txBody>
                  <a:tcPr anchor="ctr">
                    <a:lnT w="19050" cap="flat" cmpd="sng" algn="ctr">
                      <a:solidFill>
                        <a:schemeClr val="accent3"/>
                      </a:solidFill>
                      <a:prstDash val="solid"/>
                      <a:round/>
                      <a:headEnd type="none" w="med" len="med"/>
                      <a:tailEnd type="none" w="med" len="med"/>
                    </a:lnT>
                    <a:solidFill>
                      <a:schemeClr val="bg1"/>
                    </a:solidFill>
                  </a:tcPr>
                </a:tc>
                <a:tc>
                  <a:txBody>
                    <a:bodyPr/>
                    <a:lstStyle/>
                    <a:p>
                      <a:r>
                        <a:rPr lang="en-US" sz="1600" b="1">
                          <a:solidFill>
                            <a:schemeClr val="accent3"/>
                          </a:solidFill>
                        </a:rPr>
                        <a:t>Where Zora Competes: </a:t>
                      </a:r>
                      <a:r>
                        <a:rPr lang="en-US" sz="1600"/>
                        <a:t>5-layer AI stack</a:t>
                      </a:r>
                    </a:p>
                  </a:txBody>
                  <a:tcPr anchor="ctr">
                    <a:lnT w="19050" cap="flat" cmpd="sng" algn="ctr">
                      <a:solidFill>
                        <a:schemeClr val="accent3"/>
                      </a:solidFill>
                      <a:prstDash val="solid"/>
                      <a:round/>
                      <a:headEnd type="none" w="med" len="med"/>
                      <a:tailEnd type="none" w="med" len="med"/>
                    </a:lnT>
                    <a:solidFill>
                      <a:schemeClr val="bg1"/>
                    </a:solidFill>
                  </a:tcPr>
                </a:tc>
                <a:tc>
                  <a:txBody>
                    <a:bodyPr/>
                    <a:lstStyle/>
                    <a:p>
                      <a:pPr algn="ctr"/>
                      <a:r>
                        <a:rPr lang="en-US" sz="1600">
                          <a:solidFill>
                            <a:schemeClr val="tx1"/>
                          </a:solidFill>
                        </a:rPr>
                        <a:t>4</a:t>
                      </a:r>
                    </a:p>
                  </a:txBody>
                  <a:tcPr anchor="ctr">
                    <a:lnT w="19050" cap="flat" cmpd="sng" algn="ctr">
                      <a:solidFill>
                        <a:schemeClr val="accent3"/>
                      </a:solidFill>
                      <a:prstDash val="solid"/>
                      <a:round/>
                      <a:headEnd type="none" w="med" len="med"/>
                      <a:tailEnd type="none" w="med" len="med"/>
                    </a:lnT>
                    <a:solidFill>
                      <a:schemeClr val="bg1"/>
                    </a:solidFill>
                  </a:tcPr>
                </a:tc>
                <a:extLst>
                  <a:ext uri="{0D108BD9-81ED-4DB2-BD59-A6C34878D82A}">
                    <a16:rowId xmlns:a16="http://schemas.microsoft.com/office/drawing/2014/main" val="2011972125"/>
                  </a:ext>
                </a:extLst>
              </a:tr>
              <a:tr h="470021">
                <a:tc>
                  <a:txBody>
                    <a:bodyPr/>
                    <a:lstStyle/>
                    <a:p>
                      <a:r>
                        <a:rPr lang="en-US" sz="1600" b="1"/>
                        <a:t>2.</a:t>
                      </a:r>
                    </a:p>
                  </a:txBody>
                  <a:tcPr anchor="ctr">
                    <a:solidFill>
                      <a:schemeClr val="bg1"/>
                    </a:solidFill>
                  </a:tcPr>
                </a:tc>
                <a:tc>
                  <a:txBody>
                    <a:bodyPr/>
                    <a:lstStyle/>
                    <a:p>
                      <a:r>
                        <a:rPr lang="en-US" sz="1600" b="1">
                          <a:solidFill>
                            <a:schemeClr val="accent3"/>
                          </a:solidFill>
                        </a:rPr>
                        <a:t>Who do we compete with: </a:t>
                      </a:r>
                      <a:r>
                        <a:rPr lang="en-US" sz="1600"/>
                        <a:t>Market map</a:t>
                      </a:r>
                    </a:p>
                  </a:txBody>
                  <a:tcPr anchor="ctr">
                    <a:solidFill>
                      <a:schemeClr val="bg1"/>
                    </a:solidFill>
                  </a:tcPr>
                </a:tc>
                <a:tc>
                  <a:txBody>
                    <a:bodyPr/>
                    <a:lstStyle/>
                    <a:p>
                      <a:pPr algn="ctr"/>
                      <a:r>
                        <a:rPr lang="en-US" sz="1600">
                          <a:solidFill>
                            <a:schemeClr val="tx1"/>
                          </a:solidFill>
                        </a:rPr>
                        <a:t>5</a:t>
                      </a:r>
                    </a:p>
                  </a:txBody>
                  <a:tcPr anchor="ctr">
                    <a:solidFill>
                      <a:schemeClr val="bg1"/>
                    </a:solidFill>
                  </a:tcPr>
                </a:tc>
                <a:extLst>
                  <a:ext uri="{0D108BD9-81ED-4DB2-BD59-A6C34878D82A}">
                    <a16:rowId xmlns:a16="http://schemas.microsoft.com/office/drawing/2014/main" val="2276244397"/>
                  </a:ext>
                </a:extLst>
              </a:tr>
              <a:tr h="470021">
                <a:tc>
                  <a:txBody>
                    <a:bodyPr/>
                    <a:lstStyle/>
                    <a:p>
                      <a:r>
                        <a:rPr lang="en-US" sz="1600" b="1"/>
                        <a:t>3.</a:t>
                      </a:r>
                    </a:p>
                  </a:txBody>
                  <a:tcPr anchor="ctr">
                    <a:solidFill>
                      <a:schemeClr val="bg1"/>
                    </a:solidFill>
                  </a:tcPr>
                </a:tc>
                <a:tc>
                  <a:txBody>
                    <a:bodyPr/>
                    <a:lstStyle/>
                    <a:p>
                      <a:r>
                        <a:rPr lang="en-US" sz="1600" b="1">
                          <a:solidFill>
                            <a:schemeClr val="accent3"/>
                          </a:solidFill>
                        </a:rPr>
                        <a:t>How do we compare: </a:t>
                      </a:r>
                      <a:r>
                        <a:rPr lang="en-US" sz="1600"/>
                        <a:t>Across categories</a:t>
                      </a:r>
                    </a:p>
                  </a:txBody>
                  <a:tcPr anchor="ctr">
                    <a:solidFill>
                      <a:schemeClr val="bg1"/>
                    </a:solidFill>
                  </a:tcPr>
                </a:tc>
                <a:tc>
                  <a:txBody>
                    <a:bodyPr/>
                    <a:lstStyle/>
                    <a:p>
                      <a:pPr algn="ctr"/>
                      <a:r>
                        <a:rPr lang="en-US" sz="1600">
                          <a:solidFill>
                            <a:schemeClr val="tx1"/>
                          </a:solidFill>
                        </a:rPr>
                        <a:t>6</a:t>
                      </a:r>
                    </a:p>
                  </a:txBody>
                  <a:tcPr anchor="ctr">
                    <a:solidFill>
                      <a:schemeClr val="bg1"/>
                    </a:solidFill>
                  </a:tcPr>
                </a:tc>
                <a:extLst>
                  <a:ext uri="{0D108BD9-81ED-4DB2-BD59-A6C34878D82A}">
                    <a16:rowId xmlns:a16="http://schemas.microsoft.com/office/drawing/2014/main" val="2393474641"/>
                  </a:ext>
                </a:extLst>
              </a:tr>
              <a:tr h="470021">
                <a:tc>
                  <a:txBody>
                    <a:bodyPr/>
                    <a:lstStyle/>
                    <a:p>
                      <a:r>
                        <a:rPr lang="en-US" sz="1600" b="1"/>
                        <a:t>4. </a:t>
                      </a:r>
                    </a:p>
                  </a:txBody>
                  <a:tcPr anchor="ctr">
                    <a:solidFill>
                      <a:schemeClr val="bg1"/>
                    </a:solidFill>
                  </a:tcPr>
                </a:tc>
                <a:tc>
                  <a:txBody>
                    <a:bodyPr/>
                    <a:lstStyle/>
                    <a:p>
                      <a:r>
                        <a:rPr lang="en-US" sz="1600" b="1">
                          <a:solidFill>
                            <a:schemeClr val="accent3"/>
                          </a:solidFill>
                        </a:rPr>
                        <a:t>How do we compare: </a:t>
                      </a:r>
                      <a:r>
                        <a:rPr lang="en-US" sz="1600"/>
                        <a:t>Within packaged agents (Market Maps)</a:t>
                      </a:r>
                    </a:p>
                  </a:txBody>
                  <a:tcPr anchor="ctr">
                    <a:solidFill>
                      <a:schemeClr val="bg1"/>
                    </a:solidFill>
                  </a:tcPr>
                </a:tc>
                <a:tc>
                  <a:txBody>
                    <a:bodyPr/>
                    <a:lstStyle/>
                    <a:p>
                      <a:pPr algn="ctr"/>
                      <a:r>
                        <a:rPr lang="en-US" sz="1600">
                          <a:solidFill>
                            <a:schemeClr val="tx1"/>
                          </a:solidFill>
                        </a:rPr>
                        <a:t>8</a:t>
                      </a:r>
                    </a:p>
                  </a:txBody>
                  <a:tcPr anchor="ctr">
                    <a:solidFill>
                      <a:schemeClr val="bg1"/>
                    </a:solidFill>
                  </a:tcPr>
                </a:tc>
                <a:extLst>
                  <a:ext uri="{0D108BD9-81ED-4DB2-BD59-A6C34878D82A}">
                    <a16:rowId xmlns:a16="http://schemas.microsoft.com/office/drawing/2014/main" val="2606526650"/>
                  </a:ext>
                </a:extLst>
              </a:tr>
              <a:tr h="470021">
                <a:tc>
                  <a:txBody>
                    <a:bodyPr/>
                    <a:lstStyle/>
                    <a:p>
                      <a:r>
                        <a:rPr lang="en-US" sz="1600" b="1"/>
                        <a:t>5.</a:t>
                      </a:r>
                    </a:p>
                  </a:txBody>
                  <a:tcPr anchor="ctr">
                    <a:solidFill>
                      <a:schemeClr val="bg1"/>
                    </a:solidFill>
                  </a:tcPr>
                </a:tc>
                <a:tc>
                  <a:txBody>
                    <a:bodyPr/>
                    <a:lstStyle/>
                    <a:p>
                      <a:r>
                        <a:rPr lang="en-US" sz="1600" b="1">
                          <a:solidFill>
                            <a:schemeClr val="accent3"/>
                          </a:solidFill>
                        </a:rPr>
                        <a:t>How to win: </a:t>
                      </a:r>
                      <a:r>
                        <a:rPr lang="en-US" sz="1600"/>
                        <a:t>Competitor Profiles</a:t>
                      </a:r>
                    </a:p>
                  </a:txBody>
                  <a:tcPr anchor="ctr">
                    <a:solidFill>
                      <a:schemeClr val="bg1"/>
                    </a:solidFill>
                  </a:tcPr>
                </a:tc>
                <a:tc>
                  <a:txBody>
                    <a:bodyPr/>
                    <a:lstStyle/>
                    <a:p>
                      <a:pPr algn="ctr"/>
                      <a:r>
                        <a:rPr lang="en-US" sz="1600">
                          <a:solidFill>
                            <a:schemeClr val="tx1"/>
                          </a:solidFill>
                        </a:rPr>
                        <a:t>12</a:t>
                      </a:r>
                    </a:p>
                  </a:txBody>
                  <a:tcPr anchor="ctr">
                    <a:solidFill>
                      <a:schemeClr val="bg1"/>
                    </a:solidFill>
                  </a:tcPr>
                </a:tc>
                <a:extLst>
                  <a:ext uri="{0D108BD9-81ED-4DB2-BD59-A6C34878D82A}">
                    <a16:rowId xmlns:a16="http://schemas.microsoft.com/office/drawing/2014/main" val="827483082"/>
                  </a:ext>
                </a:extLst>
              </a:tr>
              <a:tr h="470021">
                <a:tc>
                  <a:txBody>
                    <a:bodyPr/>
                    <a:lstStyle/>
                    <a:p>
                      <a:endParaRPr lang="en-US" sz="1600" b="1"/>
                    </a:p>
                  </a:txBody>
                  <a:tcPr anchor="ctr">
                    <a:solidFill>
                      <a:schemeClr val="bg1"/>
                    </a:solidFill>
                  </a:tcPr>
                </a:tc>
                <a:tc>
                  <a:txBody>
                    <a:bodyPr/>
                    <a:lstStyle/>
                    <a:p>
                      <a:r>
                        <a:rPr lang="en-US" sz="1600"/>
                        <a:t>Big 4 and consulting firms </a:t>
                      </a:r>
                    </a:p>
                  </a:txBody>
                  <a:tcPr anchor="ctr">
                    <a:solidFill>
                      <a:schemeClr val="bg1"/>
                    </a:solidFill>
                  </a:tcPr>
                </a:tc>
                <a:tc>
                  <a:txBody>
                    <a:bodyPr/>
                    <a:lstStyle/>
                    <a:p>
                      <a:pPr algn="ctr"/>
                      <a:r>
                        <a:rPr lang="en-US" sz="1600">
                          <a:solidFill>
                            <a:schemeClr val="tx1"/>
                          </a:solidFill>
                        </a:rPr>
                        <a:t>12</a:t>
                      </a:r>
                    </a:p>
                  </a:txBody>
                  <a:tcPr anchor="ctr">
                    <a:solidFill>
                      <a:schemeClr val="bg1"/>
                    </a:solidFill>
                  </a:tcPr>
                </a:tc>
                <a:extLst>
                  <a:ext uri="{0D108BD9-81ED-4DB2-BD59-A6C34878D82A}">
                    <a16:rowId xmlns:a16="http://schemas.microsoft.com/office/drawing/2014/main" val="1094356312"/>
                  </a:ext>
                </a:extLst>
              </a:tr>
              <a:tr h="470021">
                <a:tc>
                  <a:txBody>
                    <a:bodyPr/>
                    <a:lstStyle/>
                    <a:p>
                      <a:endParaRPr lang="en-US" sz="1600" b="1"/>
                    </a:p>
                  </a:txBody>
                  <a:tcPr anchor="ctr">
                    <a:solidFill>
                      <a:schemeClr val="bg1"/>
                    </a:solidFill>
                  </a:tcPr>
                </a:tc>
                <a:tc>
                  <a:txBody>
                    <a:bodyPr/>
                    <a:lstStyle/>
                    <a:p>
                      <a:r>
                        <a:rPr lang="en-US" sz="1600" err="1"/>
                        <a:t>Hyperscalers</a:t>
                      </a:r>
                      <a:r>
                        <a:rPr lang="en-US" sz="1600"/>
                        <a:t> and big tech</a:t>
                      </a:r>
                    </a:p>
                  </a:txBody>
                  <a:tcPr anchor="ctr">
                    <a:solidFill>
                      <a:schemeClr val="bg1"/>
                    </a:solidFill>
                  </a:tcPr>
                </a:tc>
                <a:tc>
                  <a:txBody>
                    <a:bodyPr/>
                    <a:lstStyle/>
                    <a:p>
                      <a:pPr algn="ctr"/>
                      <a:r>
                        <a:rPr lang="en-US" sz="1600">
                          <a:solidFill>
                            <a:schemeClr val="tx1"/>
                          </a:solidFill>
                        </a:rPr>
                        <a:t>20</a:t>
                      </a:r>
                    </a:p>
                  </a:txBody>
                  <a:tcPr anchor="ctr">
                    <a:solidFill>
                      <a:schemeClr val="bg1"/>
                    </a:solidFill>
                  </a:tcPr>
                </a:tc>
                <a:extLst>
                  <a:ext uri="{0D108BD9-81ED-4DB2-BD59-A6C34878D82A}">
                    <a16:rowId xmlns:a16="http://schemas.microsoft.com/office/drawing/2014/main" val="3933067330"/>
                  </a:ext>
                </a:extLst>
              </a:tr>
              <a:tr h="470021">
                <a:tc>
                  <a:txBody>
                    <a:bodyPr/>
                    <a:lstStyle/>
                    <a:p>
                      <a:endParaRPr lang="en-US" sz="1600" b="1"/>
                    </a:p>
                  </a:txBody>
                  <a:tcPr anchor="ctr">
                    <a:solidFill>
                      <a:schemeClr val="bg1"/>
                    </a:solidFill>
                  </a:tcPr>
                </a:tc>
                <a:tc>
                  <a:txBody>
                    <a:bodyPr/>
                    <a:lstStyle/>
                    <a:p>
                      <a:r>
                        <a:rPr lang="en-US" sz="1600"/>
                        <a:t>Frontier AI labs</a:t>
                      </a:r>
                    </a:p>
                  </a:txBody>
                  <a:tcPr anchor="ctr">
                    <a:solidFill>
                      <a:schemeClr val="bg1"/>
                    </a:solidFill>
                  </a:tcPr>
                </a:tc>
                <a:tc>
                  <a:txBody>
                    <a:bodyPr/>
                    <a:lstStyle/>
                    <a:p>
                      <a:pPr algn="ctr"/>
                      <a:r>
                        <a:rPr lang="en-US" sz="1600">
                          <a:solidFill>
                            <a:schemeClr val="tx1"/>
                          </a:solidFill>
                        </a:rPr>
                        <a:t>30</a:t>
                      </a:r>
                    </a:p>
                  </a:txBody>
                  <a:tcPr anchor="ctr">
                    <a:solidFill>
                      <a:schemeClr val="bg1"/>
                    </a:solidFill>
                  </a:tcPr>
                </a:tc>
                <a:extLst>
                  <a:ext uri="{0D108BD9-81ED-4DB2-BD59-A6C34878D82A}">
                    <a16:rowId xmlns:a16="http://schemas.microsoft.com/office/drawing/2014/main" val="2203238896"/>
                  </a:ext>
                </a:extLst>
              </a:tr>
              <a:tr h="470021">
                <a:tc>
                  <a:txBody>
                    <a:bodyPr/>
                    <a:lstStyle/>
                    <a:p>
                      <a:endParaRPr lang="en-US" sz="1600" b="1"/>
                    </a:p>
                  </a:txBody>
                  <a:tcPr anchor="ctr">
                    <a:solidFill>
                      <a:schemeClr val="bg1"/>
                    </a:solidFill>
                  </a:tcPr>
                </a:tc>
                <a:tc>
                  <a:txBody>
                    <a:bodyPr/>
                    <a:lstStyle/>
                    <a:p>
                      <a:r>
                        <a:rPr lang="en-US" sz="1600"/>
                        <a:t>Finance point solutions</a:t>
                      </a:r>
                    </a:p>
                  </a:txBody>
                  <a:tcPr anchor="ctr">
                    <a:solidFill>
                      <a:schemeClr val="bg1"/>
                    </a:solidFill>
                  </a:tcPr>
                </a:tc>
                <a:tc>
                  <a:txBody>
                    <a:bodyPr/>
                    <a:lstStyle/>
                    <a:p>
                      <a:pPr algn="ctr"/>
                      <a:r>
                        <a:rPr lang="en-US" sz="1600">
                          <a:solidFill>
                            <a:schemeClr val="tx1"/>
                          </a:solidFill>
                        </a:rPr>
                        <a:t>33</a:t>
                      </a:r>
                    </a:p>
                  </a:txBody>
                  <a:tcPr anchor="ctr">
                    <a:solidFill>
                      <a:schemeClr val="bg1"/>
                    </a:solidFill>
                  </a:tcPr>
                </a:tc>
                <a:extLst>
                  <a:ext uri="{0D108BD9-81ED-4DB2-BD59-A6C34878D82A}">
                    <a16:rowId xmlns:a16="http://schemas.microsoft.com/office/drawing/2014/main" val="2744902402"/>
                  </a:ext>
                </a:extLst>
              </a:tr>
              <a:tr h="470021">
                <a:tc>
                  <a:txBody>
                    <a:bodyPr/>
                    <a:lstStyle/>
                    <a:p>
                      <a:r>
                        <a:rPr lang="en-US" sz="1600" b="1"/>
                        <a:t>6.</a:t>
                      </a:r>
                    </a:p>
                  </a:txBody>
                  <a:tcPr anchor="ctr">
                    <a:solidFill>
                      <a:schemeClr val="bg1"/>
                    </a:solidFill>
                  </a:tcPr>
                </a:tc>
                <a:tc>
                  <a:txBody>
                    <a:bodyPr/>
                    <a:lstStyle/>
                    <a:p>
                      <a:r>
                        <a:rPr lang="en-US" sz="1600"/>
                        <a:t>Appendix</a:t>
                      </a:r>
                    </a:p>
                  </a:txBody>
                  <a:tcPr anchor="ctr">
                    <a:solidFill>
                      <a:schemeClr val="bg1"/>
                    </a:solidFill>
                  </a:tcPr>
                </a:tc>
                <a:tc>
                  <a:txBody>
                    <a:bodyPr/>
                    <a:lstStyle/>
                    <a:p>
                      <a:pPr algn="ctr"/>
                      <a:r>
                        <a:rPr lang="en-US" sz="1600">
                          <a:solidFill>
                            <a:schemeClr val="tx1"/>
                          </a:solidFill>
                        </a:rPr>
                        <a:t>40</a:t>
                      </a:r>
                    </a:p>
                  </a:txBody>
                  <a:tcPr anchor="ctr">
                    <a:solidFill>
                      <a:schemeClr val="bg1"/>
                    </a:solidFill>
                  </a:tcPr>
                </a:tc>
                <a:extLst>
                  <a:ext uri="{0D108BD9-81ED-4DB2-BD59-A6C34878D82A}">
                    <a16:rowId xmlns:a16="http://schemas.microsoft.com/office/drawing/2014/main" val="368319752"/>
                  </a:ext>
                </a:extLst>
              </a:tr>
            </a:tbl>
          </a:graphicData>
        </a:graphic>
      </p:graphicFrame>
      <p:grpSp>
        <p:nvGrpSpPr>
          <p:cNvPr id="19" name="Group 18">
            <a:extLst>
              <a:ext uri="{FF2B5EF4-FFF2-40B4-BE49-F238E27FC236}">
                <a16:creationId xmlns:a16="http://schemas.microsoft.com/office/drawing/2014/main" id="{D4F5233F-1603-31F4-CE6E-7E3F15FC5B17}"/>
              </a:ext>
            </a:extLst>
          </p:cNvPr>
          <p:cNvGrpSpPr/>
          <p:nvPr/>
        </p:nvGrpSpPr>
        <p:grpSpPr>
          <a:xfrm>
            <a:off x="8494776" y="3054095"/>
            <a:ext cx="3697224" cy="3803903"/>
            <a:chOff x="7811687" y="2343931"/>
            <a:chExt cx="4380313" cy="4514069"/>
          </a:xfrm>
        </p:grpSpPr>
        <p:pic>
          <p:nvPicPr>
            <p:cNvPr id="14" name="Picture 13">
              <a:extLst>
                <a:ext uri="{FF2B5EF4-FFF2-40B4-BE49-F238E27FC236}">
                  <a16:creationId xmlns:a16="http://schemas.microsoft.com/office/drawing/2014/main" id="{E8AD9031-6915-3925-83C9-D50DB2E73E2A}"/>
                </a:ext>
              </a:extLst>
            </p:cNvPr>
            <p:cNvPicPr>
              <a:picLocks noChangeAspect="1"/>
            </p:cNvPicPr>
            <p:nvPr/>
          </p:nvPicPr>
          <p:blipFill>
            <a:blip r:embed="rId5"/>
            <a:srcRect r="25740" b="25351"/>
            <a:stretch>
              <a:fillRect/>
            </a:stretch>
          </p:blipFill>
          <p:spPr>
            <a:xfrm>
              <a:off x="8018514" y="2662636"/>
              <a:ext cx="4173486" cy="4195364"/>
            </a:xfrm>
            <a:prstGeom prst="rect">
              <a:avLst/>
            </a:prstGeom>
          </p:spPr>
        </p:pic>
        <p:sp>
          <p:nvSpPr>
            <p:cNvPr id="15" name="Rectangle 14">
              <a:extLst>
                <a:ext uri="{FF2B5EF4-FFF2-40B4-BE49-F238E27FC236}">
                  <a16:creationId xmlns:a16="http://schemas.microsoft.com/office/drawing/2014/main" id="{865CFB99-A16A-F8E6-8251-C571929B43A8}"/>
                </a:ext>
              </a:extLst>
            </p:cNvPr>
            <p:cNvSpPr/>
            <p:nvPr/>
          </p:nvSpPr>
          <p:spPr bwMode="gray">
            <a:xfrm>
              <a:off x="7811687" y="2343931"/>
              <a:ext cx="4380313" cy="4514069"/>
            </a:xfrm>
            <a:prstGeom prst="rect">
              <a:avLst/>
            </a:prstGeom>
            <a:solidFill>
              <a:schemeClr val="bg1">
                <a:alpha val="86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grpSp>
    </p:spTree>
    <p:extLst>
      <p:ext uri="{BB962C8B-B14F-4D97-AF65-F5344CB8AC3E}">
        <p14:creationId xmlns:p14="http://schemas.microsoft.com/office/powerpoint/2010/main" val="215774619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8C199-3B37-1C7D-E82B-5EBC67790AA5}"/>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D0784B4-B3CB-8AB3-97D4-466B85249F6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DD0784B4-B3CB-8AB3-97D4-466B85249F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5" name="Rectangle: Rounded Corners 34">
            <a:extLst>
              <a:ext uri="{FF2B5EF4-FFF2-40B4-BE49-F238E27FC236}">
                <a16:creationId xmlns:a16="http://schemas.microsoft.com/office/drawing/2014/main" id="{85A2EEBE-0B49-BAC6-3134-843637ED41A4}"/>
              </a:ext>
            </a:extLst>
          </p:cNvPr>
          <p:cNvSpPr/>
          <p:nvPr/>
        </p:nvSpPr>
        <p:spPr bwMode="gray">
          <a:xfrm>
            <a:off x="3559628" y="1262743"/>
            <a:ext cx="8175172" cy="4953000"/>
          </a:xfrm>
          <a:prstGeom prst="roundRect">
            <a:avLst>
              <a:gd name="adj" fmla="val 2825"/>
            </a:avLst>
          </a:prstGeom>
          <a:solidFill>
            <a:srgbClr val="E8F6CF"/>
          </a:solidFill>
          <a:ln w="12700" algn="ctr">
            <a:solidFill>
              <a:schemeClr val="accent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a:ln>
                <a:noFill/>
              </a:ln>
              <a:solidFill>
                <a:prstClr val="black"/>
              </a:solidFill>
              <a:effectLst/>
              <a:uLnTx/>
              <a:uFillTx/>
              <a:latin typeface="Aptos"/>
              <a:ea typeface="+mn-ea"/>
              <a:cs typeface="+mn-cs"/>
            </a:endParaRPr>
          </a:p>
        </p:txBody>
      </p:sp>
      <p:sp>
        <p:nvSpPr>
          <p:cNvPr id="41" name="Rectangle: Rounded Corners 40">
            <a:extLst>
              <a:ext uri="{FF2B5EF4-FFF2-40B4-BE49-F238E27FC236}">
                <a16:creationId xmlns:a16="http://schemas.microsoft.com/office/drawing/2014/main" id="{480E8FA1-A7D2-B659-ACBC-707B611B4524}"/>
              </a:ext>
            </a:extLst>
          </p:cNvPr>
          <p:cNvSpPr/>
          <p:nvPr/>
        </p:nvSpPr>
        <p:spPr bwMode="gray">
          <a:xfrm>
            <a:off x="3712028" y="1763433"/>
            <a:ext cx="7910866" cy="2878521"/>
          </a:xfrm>
          <a:prstGeom prst="roundRect">
            <a:avLst>
              <a:gd name="adj" fmla="val 7422"/>
            </a:avLst>
          </a:prstGeom>
          <a:solidFill>
            <a:schemeClr val="bg1"/>
          </a:solidFill>
          <a:ln w="19050" algn="ctr">
            <a:solidFill>
              <a:schemeClr val="accent4"/>
            </a:solidFill>
            <a:miter lim="800000"/>
            <a:headEnd/>
            <a:tailEnd/>
          </a:ln>
        </p:spPr>
        <p:txBody>
          <a:bodyPr vert="vert270"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sysClr val="windowText" lastClr="000000"/>
                </a:solidFill>
                <a:effectLst/>
                <a:uLnTx/>
                <a:uFillTx/>
                <a:latin typeface="Aptos"/>
                <a:ea typeface="+mn-ea"/>
                <a:cs typeface="+mn-cs"/>
              </a:rPr>
              <a:t>Deployable Agents</a:t>
            </a:r>
          </a:p>
        </p:txBody>
      </p:sp>
      <p:sp>
        <p:nvSpPr>
          <p:cNvPr id="2" name="Title 1">
            <a:extLst>
              <a:ext uri="{FF2B5EF4-FFF2-40B4-BE49-F238E27FC236}">
                <a16:creationId xmlns:a16="http://schemas.microsoft.com/office/drawing/2014/main" id="{CBC6B6FC-D8A3-A055-3006-3D999069E22F}"/>
              </a:ext>
            </a:extLst>
          </p:cNvPr>
          <p:cNvSpPr>
            <a:spLocks noGrp="1"/>
          </p:cNvSpPr>
          <p:nvPr>
            <p:ph type="title"/>
          </p:nvPr>
        </p:nvSpPr>
        <p:spPr>
          <a:xfrm>
            <a:off x="457200" y="345992"/>
            <a:ext cx="11277600" cy="417364"/>
          </a:xfrm>
        </p:spPr>
        <p:txBody>
          <a:bodyPr vert="horz" rIns="0"/>
          <a:lstStyle/>
          <a:p>
            <a:r>
              <a:rPr lang="en-US"/>
              <a:t>Zora belongs to the application layer of the AI stack; the application layer consists of standalone Deployable Agent solutions, as well as Enabling Platforms with Deployable Agent capabilities</a:t>
            </a:r>
          </a:p>
        </p:txBody>
      </p:sp>
      <p:sp>
        <p:nvSpPr>
          <p:cNvPr id="4" name="Rectangle: Rounded Corners 3">
            <a:extLst>
              <a:ext uri="{FF2B5EF4-FFF2-40B4-BE49-F238E27FC236}">
                <a16:creationId xmlns:a16="http://schemas.microsoft.com/office/drawing/2014/main" id="{0C04FB4B-3739-19EE-AC95-488B30EE86B3}"/>
              </a:ext>
            </a:extLst>
          </p:cNvPr>
          <p:cNvSpPr/>
          <p:nvPr/>
        </p:nvSpPr>
        <p:spPr bwMode="gray">
          <a:xfrm>
            <a:off x="457200" y="1262743"/>
            <a:ext cx="2895600" cy="4953000"/>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A4FE9BD5-56A6-09B7-48C8-B8835DAAE668}"/>
              </a:ext>
            </a:extLst>
          </p:cNvPr>
          <p:cNvSpPr/>
          <p:nvPr/>
        </p:nvSpPr>
        <p:spPr bwMode="gray">
          <a:xfrm>
            <a:off x="588818" y="4622361"/>
            <a:ext cx="2632364" cy="640080"/>
          </a:xfrm>
          <a:prstGeom prst="roundRect">
            <a:avLst/>
          </a:prstGeom>
          <a:noFill/>
          <a:ln w="19050" algn="ctr">
            <a:solidFill>
              <a:schemeClr val="accent3">
                <a:lumMod val="7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black"/>
                </a:solidFill>
                <a:effectLst/>
                <a:uLnTx/>
                <a:uFillTx/>
                <a:latin typeface="Aptos"/>
                <a:ea typeface="+mn-ea"/>
                <a:cs typeface="+mn-cs"/>
              </a:rPr>
              <a:t>Chips</a:t>
            </a:r>
          </a:p>
        </p:txBody>
      </p:sp>
      <p:sp>
        <p:nvSpPr>
          <p:cNvPr id="14" name="Rectangle: Rounded Corners 13">
            <a:extLst>
              <a:ext uri="{FF2B5EF4-FFF2-40B4-BE49-F238E27FC236}">
                <a16:creationId xmlns:a16="http://schemas.microsoft.com/office/drawing/2014/main" id="{774613CF-4515-DB00-FB43-F186ACB86FFC}"/>
              </a:ext>
            </a:extLst>
          </p:cNvPr>
          <p:cNvSpPr/>
          <p:nvPr/>
        </p:nvSpPr>
        <p:spPr bwMode="gray">
          <a:xfrm>
            <a:off x="588818" y="5417019"/>
            <a:ext cx="2632364" cy="640080"/>
          </a:xfrm>
          <a:prstGeom prst="roundRect">
            <a:avLst/>
          </a:prstGeom>
          <a:noFill/>
          <a:ln w="19050" algn="ctr">
            <a:solidFill>
              <a:schemeClr val="accent3">
                <a:lumMod val="7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black"/>
                </a:solidFill>
                <a:effectLst/>
                <a:uLnTx/>
                <a:uFillTx/>
                <a:latin typeface="Aptos"/>
                <a:ea typeface="+mn-ea"/>
                <a:cs typeface="+mn-cs"/>
              </a:rPr>
              <a:t>Energy</a:t>
            </a:r>
          </a:p>
        </p:txBody>
      </p:sp>
      <p:sp>
        <p:nvSpPr>
          <p:cNvPr id="17" name="Rectangle: Rounded Corners 16">
            <a:extLst>
              <a:ext uri="{FF2B5EF4-FFF2-40B4-BE49-F238E27FC236}">
                <a16:creationId xmlns:a16="http://schemas.microsoft.com/office/drawing/2014/main" id="{8F46D083-2A64-5E24-186D-55A5EDB81B18}"/>
              </a:ext>
            </a:extLst>
          </p:cNvPr>
          <p:cNvSpPr/>
          <p:nvPr/>
        </p:nvSpPr>
        <p:spPr bwMode="gray">
          <a:xfrm>
            <a:off x="588818" y="3827704"/>
            <a:ext cx="2632364" cy="640080"/>
          </a:xfrm>
          <a:prstGeom prst="roundRect">
            <a:avLst/>
          </a:prstGeom>
          <a:noFill/>
          <a:ln w="19050" algn="ctr">
            <a:solidFill>
              <a:schemeClr val="accent3">
                <a:lumMod val="7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black"/>
                </a:solidFill>
                <a:effectLst/>
                <a:uLnTx/>
                <a:uFillTx/>
                <a:latin typeface="Aptos"/>
                <a:ea typeface="+mn-ea"/>
                <a:cs typeface="+mn-cs"/>
              </a:rPr>
              <a:t>Infrastructure</a:t>
            </a:r>
          </a:p>
        </p:txBody>
      </p:sp>
      <p:sp>
        <p:nvSpPr>
          <p:cNvPr id="21" name="Rectangle: Rounded Corners 20">
            <a:extLst>
              <a:ext uri="{FF2B5EF4-FFF2-40B4-BE49-F238E27FC236}">
                <a16:creationId xmlns:a16="http://schemas.microsoft.com/office/drawing/2014/main" id="{797C9B9F-0C52-4890-AC21-00D3F75CA94B}"/>
              </a:ext>
            </a:extLst>
          </p:cNvPr>
          <p:cNvSpPr/>
          <p:nvPr/>
        </p:nvSpPr>
        <p:spPr bwMode="gray">
          <a:xfrm>
            <a:off x="588818" y="1890047"/>
            <a:ext cx="2632364" cy="988422"/>
          </a:xfrm>
          <a:prstGeom prst="roundRect">
            <a:avLst/>
          </a:prstGeom>
          <a:solidFill>
            <a:schemeClr val="accent1">
              <a:lumMod val="20000"/>
              <a:lumOff val="80000"/>
            </a:schemeClr>
          </a:solidFill>
          <a:ln w="19050" algn="ctr">
            <a:solidFill>
              <a:schemeClr val="accent3">
                <a:lumMod val="7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black"/>
                </a:solidFill>
                <a:effectLst/>
                <a:uLnTx/>
                <a:uFillTx/>
                <a:latin typeface="Aptos"/>
                <a:ea typeface="+mn-ea"/>
                <a:cs typeface="+mn-cs"/>
              </a:rPr>
              <a:t>Applications</a:t>
            </a:r>
          </a:p>
        </p:txBody>
      </p:sp>
      <p:sp>
        <p:nvSpPr>
          <p:cNvPr id="23" name="Rectangle: Rounded Corners 22">
            <a:extLst>
              <a:ext uri="{FF2B5EF4-FFF2-40B4-BE49-F238E27FC236}">
                <a16:creationId xmlns:a16="http://schemas.microsoft.com/office/drawing/2014/main" id="{18EFDD56-0B8D-F42B-4482-D1C74B743E62}"/>
              </a:ext>
            </a:extLst>
          </p:cNvPr>
          <p:cNvSpPr/>
          <p:nvPr/>
        </p:nvSpPr>
        <p:spPr bwMode="gray">
          <a:xfrm>
            <a:off x="588818" y="3033047"/>
            <a:ext cx="2632364" cy="640080"/>
          </a:xfrm>
          <a:prstGeom prst="roundRect">
            <a:avLst/>
          </a:prstGeom>
          <a:noFill/>
          <a:ln w="19050" algn="ctr">
            <a:solidFill>
              <a:schemeClr val="accent3">
                <a:lumMod val="7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black"/>
                </a:solidFill>
                <a:effectLst/>
                <a:uLnTx/>
                <a:uFillTx/>
                <a:latin typeface="Aptos"/>
                <a:ea typeface="+mn-ea"/>
                <a:cs typeface="+mn-cs"/>
              </a:rPr>
              <a:t>Models</a:t>
            </a:r>
          </a:p>
        </p:txBody>
      </p:sp>
      <p:sp>
        <p:nvSpPr>
          <p:cNvPr id="25" name="Rectangle: Rounded Corners 24">
            <a:extLst>
              <a:ext uri="{FF2B5EF4-FFF2-40B4-BE49-F238E27FC236}">
                <a16:creationId xmlns:a16="http://schemas.microsoft.com/office/drawing/2014/main" id="{0453AA10-CBA4-839E-D6E2-004F5AF51EBD}"/>
              </a:ext>
            </a:extLst>
          </p:cNvPr>
          <p:cNvSpPr/>
          <p:nvPr/>
        </p:nvSpPr>
        <p:spPr bwMode="gray">
          <a:xfrm>
            <a:off x="457200" y="6211677"/>
            <a:ext cx="2560320" cy="342000"/>
          </a:xfrm>
          <a:prstGeom prst="roundRect">
            <a:avLst/>
          </a:prstGeom>
          <a:no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Source: NVIDIA 5 - layer cake model</a:t>
            </a:r>
          </a:p>
        </p:txBody>
      </p:sp>
      <p:sp>
        <p:nvSpPr>
          <p:cNvPr id="31" name="Rectangle: Rounded Corners 30">
            <a:extLst>
              <a:ext uri="{FF2B5EF4-FFF2-40B4-BE49-F238E27FC236}">
                <a16:creationId xmlns:a16="http://schemas.microsoft.com/office/drawing/2014/main" id="{EEF56798-3A34-EDD4-D602-B255E76E6A40}"/>
              </a:ext>
            </a:extLst>
          </p:cNvPr>
          <p:cNvSpPr/>
          <p:nvPr/>
        </p:nvSpPr>
        <p:spPr bwMode="gray">
          <a:xfrm>
            <a:off x="1175270" y="1373777"/>
            <a:ext cx="1459460" cy="365866"/>
          </a:xfrm>
          <a:prstGeom prst="round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srgbClr val="046A38"/>
                </a:solidFill>
                <a:effectLst/>
                <a:uLnTx/>
                <a:uFillTx/>
                <a:latin typeface="Aptos"/>
                <a:ea typeface="+mn-ea"/>
                <a:cs typeface="+mn-cs"/>
              </a:rPr>
              <a:t>AI stack</a:t>
            </a:r>
          </a:p>
        </p:txBody>
      </p:sp>
      <p:sp>
        <p:nvSpPr>
          <p:cNvPr id="37" name="Rectangle: Rounded Corners 36">
            <a:extLst>
              <a:ext uri="{FF2B5EF4-FFF2-40B4-BE49-F238E27FC236}">
                <a16:creationId xmlns:a16="http://schemas.microsoft.com/office/drawing/2014/main" id="{CDE412A9-EC25-9B9E-681D-6596DB3B497E}"/>
              </a:ext>
            </a:extLst>
          </p:cNvPr>
          <p:cNvSpPr/>
          <p:nvPr/>
        </p:nvSpPr>
        <p:spPr bwMode="gray">
          <a:xfrm>
            <a:off x="4178697" y="1895756"/>
            <a:ext cx="2377440" cy="2572028"/>
          </a:xfrm>
          <a:prstGeom prst="roundRect">
            <a:avLst/>
          </a:prstGeom>
          <a:solidFill>
            <a:schemeClr val="bg1"/>
          </a:solidFill>
          <a:ln w="31750">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91440" tIns="91440" rIns="91440" bIns="9144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p:txBody>
      </p:sp>
      <p:sp>
        <p:nvSpPr>
          <p:cNvPr id="38" name="Rectangle: Rounded Corners 37">
            <a:extLst>
              <a:ext uri="{FF2B5EF4-FFF2-40B4-BE49-F238E27FC236}">
                <a16:creationId xmlns:a16="http://schemas.microsoft.com/office/drawing/2014/main" id="{E90C8C68-41DB-948C-C7B0-2D901A061028}"/>
              </a:ext>
            </a:extLst>
          </p:cNvPr>
          <p:cNvSpPr/>
          <p:nvPr/>
        </p:nvSpPr>
        <p:spPr bwMode="gray">
          <a:xfrm>
            <a:off x="6635549" y="1895756"/>
            <a:ext cx="2377440" cy="2572028"/>
          </a:xfrm>
          <a:prstGeom prst="roundRect">
            <a:avLst/>
          </a:prstGeom>
          <a:solidFill>
            <a:schemeClr val="accent1">
              <a:lumMod val="20000"/>
              <a:lumOff val="80000"/>
            </a:schemeClr>
          </a:solidFill>
          <a:ln w="12700">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91440" tIns="91440" rIns="91440" bIns="9144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p:txBody>
      </p:sp>
      <p:sp>
        <p:nvSpPr>
          <p:cNvPr id="39" name="Rectangle: Rounded Corners 38">
            <a:extLst>
              <a:ext uri="{FF2B5EF4-FFF2-40B4-BE49-F238E27FC236}">
                <a16:creationId xmlns:a16="http://schemas.microsoft.com/office/drawing/2014/main" id="{7FD7C6C4-E706-4016-5C0A-CADBA28B4E59}"/>
              </a:ext>
            </a:extLst>
          </p:cNvPr>
          <p:cNvSpPr/>
          <p:nvPr/>
        </p:nvSpPr>
        <p:spPr bwMode="gray">
          <a:xfrm>
            <a:off x="9092401" y="1895756"/>
            <a:ext cx="2377440" cy="2572028"/>
          </a:xfrm>
          <a:prstGeom prst="roundRect">
            <a:avLst/>
          </a:prstGeom>
          <a:ln w="12700">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91440" tIns="91440" rIns="91440" bIns="91440" rtlCol="0" anchor="t"/>
          <a:lstStyle/>
          <a:p>
            <a:pPr marL="174625" marR="0" lvl="0" indent="-174625"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sysClr val="windowText" lastClr="000000"/>
                </a:solidFill>
                <a:effectLst/>
                <a:uLnTx/>
                <a:uFillTx/>
                <a:latin typeface="Aptos"/>
                <a:ea typeface="+mn-ea"/>
                <a:cs typeface="+mn-cs"/>
              </a:rPr>
              <a:t>3. Application-native Agents</a:t>
            </a:r>
          </a:p>
        </p:txBody>
      </p:sp>
      <p:sp>
        <p:nvSpPr>
          <p:cNvPr id="40" name="Rectangle: Rounded Corners 39">
            <a:extLst>
              <a:ext uri="{FF2B5EF4-FFF2-40B4-BE49-F238E27FC236}">
                <a16:creationId xmlns:a16="http://schemas.microsoft.com/office/drawing/2014/main" id="{249F7E8A-1AE9-9EB7-4151-BC3173B79365}"/>
              </a:ext>
            </a:extLst>
          </p:cNvPr>
          <p:cNvSpPr/>
          <p:nvPr/>
        </p:nvSpPr>
        <p:spPr bwMode="gray">
          <a:xfrm>
            <a:off x="3712029" y="4800600"/>
            <a:ext cx="7910865" cy="1256498"/>
          </a:xfrm>
          <a:prstGeom prst="roundRect">
            <a:avLst/>
          </a:prstGeom>
          <a:solidFill>
            <a:schemeClr val="bg1"/>
          </a:solidFill>
          <a:ln w="19050" algn="ctr">
            <a:solidFill>
              <a:schemeClr val="accent4"/>
            </a:solidFill>
            <a:miter lim="800000"/>
            <a:headEnd/>
            <a:tailEnd/>
          </a:ln>
        </p:spPr>
        <p:txBody>
          <a:bodyPr wrap="square" lIns="88900" tIns="88900" rIns="88900" bIns="88900" rtlCol="0" anchor="ctr"/>
          <a:lstStyle/>
          <a:p>
            <a:pPr marL="576263" marR="0" lvl="0" indent="-173038"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prstClr val="black"/>
                </a:solidFill>
                <a:effectLst/>
                <a:uLnTx/>
                <a:uFillTx/>
                <a:latin typeface="Aptos"/>
                <a:ea typeface="+mn-ea"/>
                <a:cs typeface="+mn-cs"/>
              </a:rPr>
              <a:t>4. Agent Enabling </a:t>
            </a:r>
            <a:br>
              <a:rPr kumimoji="0" lang="en-US" sz="1400" b="1" i="0" u="none" strike="noStrike" kern="1200" cap="none" spc="0" normalizeH="0" baseline="0" noProof="0">
                <a:ln>
                  <a:noFill/>
                </a:ln>
                <a:solidFill>
                  <a:prstClr val="black"/>
                </a:solidFill>
                <a:effectLst/>
                <a:uLnTx/>
                <a:uFillTx/>
                <a:latin typeface="Aptos"/>
                <a:ea typeface="+mn-ea"/>
                <a:cs typeface="+mn-cs"/>
              </a:rPr>
            </a:br>
            <a:r>
              <a:rPr kumimoji="0" lang="en-US" sz="1400" b="1" i="0" u="none" strike="noStrike" kern="1200" cap="none" spc="0" normalizeH="0" baseline="0" noProof="0">
                <a:ln>
                  <a:noFill/>
                </a:ln>
                <a:solidFill>
                  <a:prstClr val="black"/>
                </a:solidFill>
                <a:effectLst/>
                <a:uLnTx/>
                <a:uFillTx/>
                <a:latin typeface="Aptos"/>
                <a:ea typeface="+mn-ea"/>
                <a:cs typeface="+mn-cs"/>
              </a:rPr>
              <a:t>Platforms </a:t>
            </a:r>
            <a:r>
              <a:rPr kumimoji="0" lang="en-US" sz="1100" b="1" i="0" u="none" strike="noStrike" kern="1200" cap="none" spc="0" normalizeH="0" baseline="0" noProof="0">
                <a:ln>
                  <a:noFill/>
                </a:ln>
                <a:solidFill>
                  <a:prstClr val="black"/>
                </a:solidFill>
                <a:effectLst/>
                <a:uLnTx/>
                <a:uFillTx/>
                <a:latin typeface="Aptos"/>
                <a:ea typeface="+mn-ea"/>
                <a:cs typeface="+mn-cs"/>
              </a:rPr>
              <a:t>(comprises </a:t>
            </a:r>
            <a:br>
              <a:rPr kumimoji="0" lang="en-US" sz="1100" b="1" i="0" u="none" strike="noStrike" kern="1200" cap="none" spc="0" normalizeH="0" baseline="0" noProof="0">
                <a:ln>
                  <a:noFill/>
                </a:ln>
                <a:solidFill>
                  <a:prstClr val="black"/>
                </a:solidFill>
                <a:effectLst/>
                <a:uLnTx/>
                <a:uFillTx/>
                <a:latin typeface="Aptos"/>
                <a:ea typeface="+mn-ea"/>
                <a:cs typeface="+mn-cs"/>
              </a:rPr>
            </a:br>
            <a:r>
              <a:rPr kumimoji="0" lang="en-US" sz="1100" b="1" i="0" u="none" strike="noStrike" kern="1200" cap="none" spc="0" normalizeH="0" baseline="0" noProof="0">
                <a:ln>
                  <a:noFill/>
                </a:ln>
                <a:solidFill>
                  <a:prstClr val="black"/>
                </a:solidFill>
                <a:effectLst/>
                <a:uLnTx/>
                <a:uFillTx/>
                <a:latin typeface="Aptos"/>
                <a:ea typeface="+mn-ea"/>
                <a:cs typeface="+mn-cs"/>
              </a:rPr>
              <a:t>multiple enabling layers)</a:t>
            </a:r>
            <a:endParaRPr kumimoji="0" lang="en-US" sz="1200" b="1" i="0" u="none" strike="noStrike" kern="1200" cap="none" spc="0" normalizeH="0" baseline="0" noProof="0">
              <a:ln>
                <a:noFill/>
              </a:ln>
              <a:solidFill>
                <a:prstClr val="black"/>
              </a:solidFill>
              <a:effectLst/>
              <a:uLnTx/>
              <a:uFillTx/>
              <a:latin typeface="Aptos"/>
              <a:ea typeface="+mn-ea"/>
              <a:cs typeface="+mn-cs"/>
            </a:endParaRPr>
          </a:p>
        </p:txBody>
      </p:sp>
      <p:sp>
        <p:nvSpPr>
          <p:cNvPr id="43" name="Isosceles Triangle 42">
            <a:extLst>
              <a:ext uri="{FF2B5EF4-FFF2-40B4-BE49-F238E27FC236}">
                <a16:creationId xmlns:a16="http://schemas.microsoft.com/office/drawing/2014/main" id="{A3BC5E0E-7911-353D-63F4-64212FF5603D}"/>
              </a:ext>
            </a:extLst>
          </p:cNvPr>
          <p:cNvSpPr/>
          <p:nvPr/>
        </p:nvSpPr>
        <p:spPr bwMode="gray">
          <a:xfrm rot="5400000">
            <a:off x="2991251" y="2273080"/>
            <a:ext cx="805543" cy="222355"/>
          </a:xfrm>
          <a:prstGeom prst="triangl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53" name="Rectangle: Rounded Corners 52">
            <a:extLst>
              <a:ext uri="{FF2B5EF4-FFF2-40B4-BE49-F238E27FC236}">
                <a16:creationId xmlns:a16="http://schemas.microsoft.com/office/drawing/2014/main" id="{FCA7F616-9E38-BE4B-D80F-A4E4D1AE11F5}"/>
              </a:ext>
            </a:extLst>
          </p:cNvPr>
          <p:cNvSpPr/>
          <p:nvPr/>
        </p:nvSpPr>
        <p:spPr bwMode="gray">
          <a:xfrm>
            <a:off x="3712028" y="1342088"/>
            <a:ext cx="2128544" cy="342000"/>
          </a:xfrm>
          <a:prstGeom prst="round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srgbClr val="046A38"/>
                </a:solidFill>
                <a:effectLst/>
                <a:uLnTx/>
                <a:uFillTx/>
                <a:latin typeface="Aptos"/>
                <a:ea typeface="+mn-ea"/>
                <a:cs typeface="+mn-cs"/>
              </a:rPr>
              <a:t>Agentic Applications</a:t>
            </a:r>
          </a:p>
        </p:txBody>
      </p:sp>
      <p:sp>
        <p:nvSpPr>
          <p:cNvPr id="57" name="TextBox 56">
            <a:extLst>
              <a:ext uri="{FF2B5EF4-FFF2-40B4-BE49-F238E27FC236}">
                <a16:creationId xmlns:a16="http://schemas.microsoft.com/office/drawing/2014/main" id="{B9B4E336-174A-F7D5-3B9D-AC28EAAC2D27}"/>
              </a:ext>
            </a:extLst>
          </p:cNvPr>
          <p:cNvSpPr txBox="1"/>
          <p:nvPr/>
        </p:nvSpPr>
        <p:spPr>
          <a:xfrm>
            <a:off x="4178697" y="2604689"/>
            <a:ext cx="2377440" cy="159530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a:ea typeface="+mn-ea"/>
                <a:cs typeface="+mn-cs"/>
              </a:rPr>
              <a:t>Horizontal AI agents that </a:t>
            </a:r>
            <a:r>
              <a:rPr kumimoji="0" lang="en-US" sz="1200" b="1" i="0" u="none" strike="noStrike" kern="1200" cap="none" spc="0" normalizeH="0" baseline="0" noProof="0">
                <a:ln>
                  <a:noFill/>
                </a:ln>
                <a:solidFill>
                  <a:prstClr val="black"/>
                </a:solidFill>
                <a:effectLst/>
                <a:uLnTx/>
                <a:uFillTx/>
                <a:latin typeface="Aptos"/>
                <a:ea typeface="+mn-ea"/>
                <a:cs typeface="+mn-cs"/>
              </a:rPr>
              <a:t>assist with or execute common workplace tasks </a:t>
            </a:r>
            <a:r>
              <a:rPr kumimoji="0" lang="en-US" sz="1200" b="0" i="0" u="none" strike="noStrike" kern="1200" cap="none" spc="0" normalizeH="0" baseline="0" noProof="0">
                <a:ln>
                  <a:noFill/>
                </a:ln>
                <a:solidFill>
                  <a:prstClr val="black"/>
                </a:solidFill>
                <a:effectLst/>
                <a:uLnTx/>
                <a:uFillTx/>
                <a:latin typeface="Aptos"/>
                <a:ea typeface="+mn-ea"/>
                <a:cs typeface="+mn-cs"/>
              </a:rPr>
              <a:t>across multiple functions, </a:t>
            </a:r>
            <a:r>
              <a:rPr kumimoji="0" lang="en-US" sz="1200" b="1" i="0" u="none" strike="noStrike" kern="1200" cap="none" spc="0" normalizeH="0" baseline="0" noProof="0">
                <a:ln>
                  <a:noFill/>
                </a:ln>
                <a:solidFill>
                  <a:prstClr val="black"/>
                </a:solidFill>
                <a:effectLst/>
                <a:uLnTx/>
                <a:uFillTx/>
                <a:latin typeface="Aptos"/>
                <a:ea typeface="+mn-ea"/>
                <a:cs typeface="+mn-cs"/>
              </a:rPr>
              <a:t>no preconfigured workflows</a:t>
            </a:r>
            <a:r>
              <a:rPr kumimoji="0" lang="en-US" sz="1200" b="0" i="0" u="none" strike="noStrike" kern="1200" cap="none" spc="0" normalizeH="0" baseline="0" noProof="0">
                <a:ln>
                  <a:noFill/>
                </a:ln>
                <a:solidFill>
                  <a:prstClr val="black"/>
                </a:solidFill>
                <a:effectLst/>
                <a:uLnTx/>
                <a:uFillTx/>
                <a:latin typeface="Aptos"/>
                <a:ea typeface="+mn-ea"/>
                <a:cs typeface="+mn-cs"/>
              </a:rPr>
              <a:t> for a specific business domain.</a:t>
            </a:r>
          </a:p>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200" b="0" i="1" u="none" strike="noStrike" kern="1200" cap="none" spc="0" normalizeH="0" baseline="0" noProof="0">
                <a:ln>
                  <a:noFill/>
                </a:ln>
                <a:solidFill>
                  <a:prstClr val="black"/>
                </a:solidFill>
                <a:effectLst/>
                <a:uLnTx/>
                <a:uFillTx/>
                <a:latin typeface="Aptos"/>
                <a:ea typeface="+mn-ea"/>
                <a:cs typeface="+mn-cs"/>
              </a:rPr>
              <a:t>e.g., MS Copilot, ChatGPT Work, Claude Cowork</a:t>
            </a:r>
          </a:p>
        </p:txBody>
      </p:sp>
      <p:sp>
        <p:nvSpPr>
          <p:cNvPr id="59" name="TextBox 58">
            <a:extLst>
              <a:ext uri="{FF2B5EF4-FFF2-40B4-BE49-F238E27FC236}">
                <a16:creationId xmlns:a16="http://schemas.microsoft.com/office/drawing/2014/main" id="{2AF9C7C5-C89E-5E0B-1145-F5FECA08E930}"/>
              </a:ext>
            </a:extLst>
          </p:cNvPr>
          <p:cNvSpPr txBox="1"/>
          <p:nvPr/>
        </p:nvSpPr>
        <p:spPr>
          <a:xfrm>
            <a:off x="6662056" y="2604689"/>
            <a:ext cx="2377440" cy="177997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a:ea typeface="+mn-ea"/>
                <a:cs typeface="+mn-cs"/>
              </a:rPr>
              <a:t>Prebuilt agents </a:t>
            </a:r>
            <a:r>
              <a:rPr kumimoji="0" lang="en-US" sz="1200" b="1" i="0" u="none" strike="noStrike" kern="1200" cap="none" spc="0" normalizeH="0" baseline="0" noProof="0">
                <a:ln>
                  <a:noFill/>
                </a:ln>
                <a:solidFill>
                  <a:prstClr val="black"/>
                </a:solidFill>
                <a:effectLst/>
                <a:uLnTx/>
                <a:uFillTx/>
                <a:latin typeface="Aptos"/>
                <a:ea typeface="+mn-ea"/>
                <a:cs typeface="+mn-cs"/>
              </a:rPr>
              <a:t>designed for a particular function or industry</a:t>
            </a:r>
            <a:r>
              <a:rPr kumimoji="0" lang="en-US" sz="1200" b="0" i="0" u="none" strike="noStrike" kern="1200" cap="none" spc="0" normalizeH="0" baseline="0" noProof="0">
                <a:ln>
                  <a:noFill/>
                </a:ln>
                <a:solidFill>
                  <a:prstClr val="black"/>
                </a:solidFill>
                <a:effectLst/>
                <a:uLnTx/>
                <a:uFillTx/>
                <a:latin typeface="Aptos"/>
                <a:ea typeface="+mn-ea"/>
                <a:cs typeface="+mn-cs"/>
              </a:rPr>
              <a:t>, and including productized workflows, templates, accelerators, and/or use-case-specific components</a:t>
            </a:r>
          </a:p>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200" b="0" i="1" u="none" strike="noStrike" kern="1200" cap="none" spc="0" normalizeH="0" baseline="0" noProof="0">
                <a:ln>
                  <a:noFill/>
                </a:ln>
                <a:solidFill>
                  <a:prstClr val="black"/>
                </a:solidFill>
                <a:effectLst/>
                <a:uLnTx/>
                <a:uFillTx/>
                <a:latin typeface="Aptos"/>
                <a:ea typeface="+mn-ea"/>
                <a:cs typeface="+mn-cs"/>
              </a:rPr>
              <a:t>e.g., </a:t>
            </a:r>
            <a:r>
              <a:rPr kumimoji="0" lang="en-US" sz="1200" b="1" i="1" u="none" strike="noStrike" kern="1200" cap="none" spc="0" normalizeH="0" baseline="0" noProof="0">
                <a:ln>
                  <a:noFill/>
                </a:ln>
                <a:solidFill>
                  <a:srgbClr val="046A38"/>
                </a:solidFill>
                <a:effectLst/>
                <a:uLnTx/>
                <a:uFillTx/>
                <a:latin typeface="Aptos"/>
                <a:ea typeface="+mn-ea"/>
                <a:cs typeface="+mn-cs"/>
              </a:rPr>
              <a:t>Zora Agents </a:t>
            </a:r>
            <a:r>
              <a:rPr kumimoji="0" lang="en-US" sz="1200" b="0" i="1" u="none" strike="noStrike" kern="1200" cap="none" spc="0" normalizeH="0" baseline="0" noProof="0">
                <a:ln>
                  <a:noFill/>
                </a:ln>
                <a:solidFill>
                  <a:prstClr val="black"/>
                </a:solidFill>
                <a:effectLst/>
                <a:uLnTx/>
                <a:uFillTx/>
                <a:latin typeface="Aptos"/>
                <a:ea typeface="+mn-ea"/>
                <a:cs typeface="+mn-cs"/>
              </a:rPr>
              <a:t>(Finance, Supply Chain), </a:t>
            </a:r>
            <a:r>
              <a:rPr kumimoji="0" lang="en-US" sz="1200" b="0" i="1" u="none" strike="noStrike" kern="1200" cap="none" spc="0" normalizeH="0" baseline="0" noProof="0">
                <a:ln>
                  <a:noFill/>
                </a:ln>
                <a:solidFill>
                  <a:prstClr val="black">
                    <a:lumMod val="95000"/>
                    <a:lumOff val="5000"/>
                  </a:prstClr>
                </a:solidFill>
                <a:effectLst/>
                <a:uLnTx/>
                <a:uFillTx/>
                <a:latin typeface="Aptos"/>
                <a:ea typeface="+mn-ea"/>
                <a:cs typeface="+mn-cs"/>
              </a:rPr>
              <a:t>HighRadius (Finance), Abridge (Healthcare)</a:t>
            </a:r>
          </a:p>
        </p:txBody>
      </p:sp>
      <p:sp>
        <p:nvSpPr>
          <p:cNvPr id="61" name="TextBox 60">
            <a:extLst>
              <a:ext uri="{FF2B5EF4-FFF2-40B4-BE49-F238E27FC236}">
                <a16:creationId xmlns:a16="http://schemas.microsoft.com/office/drawing/2014/main" id="{0CFDA981-FBCE-B667-27D6-48CC231F4A41}"/>
              </a:ext>
            </a:extLst>
          </p:cNvPr>
          <p:cNvSpPr txBox="1"/>
          <p:nvPr/>
        </p:nvSpPr>
        <p:spPr>
          <a:xfrm>
            <a:off x="9092401" y="2604689"/>
            <a:ext cx="2377440" cy="16459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a:ea typeface="+mn-ea"/>
                <a:cs typeface="+mn-cs"/>
              </a:rPr>
              <a:t>Prebuilt agents </a:t>
            </a:r>
            <a:r>
              <a:rPr kumimoji="0" lang="en-US" sz="1200" b="1" i="0" u="none" strike="noStrike" kern="1200" cap="none" spc="0" normalizeH="0" baseline="0" noProof="0">
                <a:ln>
                  <a:noFill/>
                </a:ln>
                <a:solidFill>
                  <a:prstClr val="black"/>
                </a:solidFill>
                <a:effectLst/>
                <a:uLnTx/>
                <a:uFillTx/>
                <a:latin typeface="Aptos"/>
                <a:ea typeface="+mn-ea"/>
                <a:cs typeface="+mn-cs"/>
              </a:rPr>
              <a:t>delivered within, </a:t>
            </a:r>
            <a:r>
              <a:rPr kumimoji="0" lang="en-US" sz="1200" b="0" i="0" u="none" strike="noStrike" kern="1200" cap="none" spc="0" normalizeH="0" baseline="0" noProof="0">
                <a:ln>
                  <a:noFill/>
                </a:ln>
                <a:solidFill>
                  <a:prstClr val="black"/>
                </a:solidFill>
                <a:effectLst/>
                <a:uLnTx/>
                <a:uFillTx/>
                <a:latin typeface="Aptos"/>
                <a:ea typeface="+mn-ea"/>
                <a:cs typeface="+mn-cs"/>
              </a:rPr>
              <a:t>and principally activated through, </a:t>
            </a:r>
            <a:r>
              <a:rPr kumimoji="0" lang="en-US" sz="1200" b="1" i="0" u="none" strike="noStrike" kern="1200" cap="none" spc="0" normalizeH="0" baseline="0" noProof="0">
                <a:ln>
                  <a:noFill/>
                </a:ln>
                <a:solidFill>
                  <a:prstClr val="black"/>
                </a:solidFill>
                <a:effectLst/>
                <a:uLnTx/>
                <a:uFillTx/>
                <a:latin typeface="Aptos"/>
                <a:ea typeface="+mn-ea"/>
                <a:cs typeface="+mn-cs"/>
              </a:rPr>
              <a:t>a specific system of record or enterprise application</a:t>
            </a:r>
            <a:endParaRPr kumimoji="0" lang="en-US" sz="1200" b="0" i="0"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200" b="0" i="1" u="none" strike="noStrike" kern="1200" cap="none" spc="0" normalizeH="0" baseline="0" noProof="0">
                <a:ln>
                  <a:noFill/>
                </a:ln>
                <a:solidFill>
                  <a:prstClr val="black"/>
                </a:solidFill>
                <a:effectLst/>
                <a:uLnTx/>
                <a:uFillTx/>
                <a:latin typeface="Aptos"/>
                <a:ea typeface="+mn-ea"/>
                <a:cs typeface="+mn-cs"/>
              </a:rPr>
              <a:t>e.g., </a:t>
            </a:r>
            <a:r>
              <a:rPr kumimoji="0" lang="fr-FR" sz="1200" b="0" i="1" u="none" strike="noStrike" kern="1200" cap="none" spc="0" normalizeH="0" baseline="0" noProof="0">
                <a:ln>
                  <a:noFill/>
                </a:ln>
                <a:solidFill>
                  <a:prstClr val="black">
                    <a:lumMod val="95000"/>
                    <a:lumOff val="5000"/>
                  </a:prstClr>
                </a:solidFill>
                <a:effectLst/>
                <a:uLnTx/>
                <a:uFillTx/>
                <a:latin typeface="Aptos"/>
                <a:ea typeface="+mn-ea"/>
                <a:cs typeface="+mn-cs"/>
              </a:rPr>
              <a:t>Salesforce </a:t>
            </a:r>
            <a:r>
              <a:rPr kumimoji="0" lang="fr-FR" sz="1200" b="0" i="1" u="none" strike="noStrike" kern="1200" cap="none" spc="0" normalizeH="0" baseline="0" noProof="0" err="1">
                <a:ln>
                  <a:noFill/>
                </a:ln>
                <a:solidFill>
                  <a:prstClr val="black">
                    <a:lumMod val="95000"/>
                    <a:lumOff val="5000"/>
                  </a:prstClr>
                </a:solidFill>
                <a:effectLst/>
                <a:uLnTx/>
                <a:uFillTx/>
                <a:latin typeface="Aptos"/>
                <a:ea typeface="+mn-ea"/>
                <a:cs typeface="+mn-cs"/>
              </a:rPr>
              <a:t>Agentforce</a:t>
            </a:r>
            <a:r>
              <a:rPr kumimoji="0" lang="fr-FR" sz="1200" b="0" i="1" u="none" strike="noStrike" kern="1200" cap="none" spc="0" normalizeH="0" baseline="0" noProof="0">
                <a:ln>
                  <a:noFill/>
                </a:ln>
                <a:solidFill>
                  <a:prstClr val="black">
                    <a:lumMod val="95000"/>
                    <a:lumOff val="5000"/>
                  </a:prstClr>
                </a:solidFill>
                <a:effectLst/>
                <a:uLnTx/>
                <a:uFillTx/>
                <a:latin typeface="Aptos"/>
                <a:ea typeface="+mn-ea"/>
                <a:cs typeface="+mn-cs"/>
              </a:rPr>
              <a:t> Sales, SAP Joule Agents, Oracle Fusion agents, Microsoft Dynamics 365 Agents</a:t>
            </a:r>
          </a:p>
        </p:txBody>
      </p:sp>
      <p:sp>
        <p:nvSpPr>
          <p:cNvPr id="63" name="TextBox 62">
            <a:extLst>
              <a:ext uri="{FF2B5EF4-FFF2-40B4-BE49-F238E27FC236}">
                <a16:creationId xmlns:a16="http://schemas.microsoft.com/office/drawing/2014/main" id="{6C68FF4F-90D1-C5CC-DD66-36D5DCA7B770}"/>
              </a:ext>
            </a:extLst>
          </p:cNvPr>
          <p:cNvSpPr txBox="1"/>
          <p:nvPr/>
        </p:nvSpPr>
        <p:spPr>
          <a:xfrm>
            <a:off x="6117769" y="4881082"/>
            <a:ext cx="3113317" cy="104131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a:ea typeface="+mn-ea"/>
                <a:cs typeface="+mn-cs"/>
              </a:rPr>
              <a:t>Platforms that help to </a:t>
            </a:r>
            <a:r>
              <a:rPr kumimoji="0" lang="en-US" sz="1200" b="1" i="0" u="none" strike="noStrike" kern="1200" cap="none" spc="0" normalizeH="0" baseline="0" noProof="0">
                <a:ln>
                  <a:noFill/>
                </a:ln>
                <a:solidFill>
                  <a:prstClr val="black"/>
                </a:solidFill>
                <a:effectLst/>
                <a:uLnTx/>
                <a:uFillTx/>
                <a:latin typeface="Aptos"/>
                <a:ea typeface="+mn-ea"/>
                <a:cs typeface="+mn-cs"/>
              </a:rPr>
              <a:t>build and operate agents, </a:t>
            </a:r>
            <a:r>
              <a:rPr kumimoji="0" lang="en-US" sz="1200" b="0" i="0" u="none" strike="noStrike" kern="1200" cap="none" spc="0" normalizeH="0" baseline="0" noProof="0">
                <a:ln>
                  <a:noFill/>
                </a:ln>
                <a:solidFill>
                  <a:prstClr val="black"/>
                </a:solidFill>
                <a:effectLst/>
                <a:uLnTx/>
                <a:uFillTx/>
                <a:latin typeface="Aptos"/>
                <a:ea typeface="+mn-ea"/>
                <a:cs typeface="+mn-cs"/>
              </a:rPr>
              <a:t>providing SDKs, runtime and infrastructure, tooling and orchestration</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0" i="1" u="none" strike="noStrike" kern="1200" cap="none" spc="0" normalizeH="0" baseline="0" noProof="0">
                <a:ln>
                  <a:noFill/>
                </a:ln>
                <a:solidFill>
                  <a:prstClr val="black"/>
                </a:solidFill>
                <a:effectLst/>
                <a:uLnTx/>
                <a:uFillTx/>
                <a:latin typeface="Aptos"/>
                <a:ea typeface="+mn-ea"/>
                <a:cs typeface="+mn-cs"/>
              </a:rPr>
              <a:t>e.g., Microsoft CoPilot Studio, Amazon </a:t>
            </a:r>
            <a:r>
              <a:rPr kumimoji="0" lang="en-US" sz="1200" b="0" i="1" u="none" strike="noStrike" kern="1200" cap="none" spc="0" normalizeH="0" baseline="0" noProof="0" err="1">
                <a:ln>
                  <a:noFill/>
                </a:ln>
                <a:solidFill>
                  <a:prstClr val="black"/>
                </a:solidFill>
                <a:effectLst/>
                <a:uLnTx/>
                <a:uFillTx/>
                <a:latin typeface="Aptos"/>
                <a:ea typeface="+mn-ea"/>
                <a:cs typeface="+mn-cs"/>
              </a:rPr>
              <a:t>BedRock</a:t>
            </a:r>
            <a:r>
              <a:rPr kumimoji="0" lang="en-US" sz="1200" b="0" i="1" u="none" strike="noStrike" kern="1200" cap="none" spc="0" normalizeH="0" baseline="0" noProof="0">
                <a:ln>
                  <a:noFill/>
                </a:ln>
                <a:solidFill>
                  <a:prstClr val="black"/>
                </a:solidFill>
                <a:effectLst/>
                <a:uLnTx/>
                <a:uFillTx/>
                <a:latin typeface="Aptos"/>
                <a:ea typeface="+mn-ea"/>
                <a:cs typeface="+mn-cs"/>
              </a:rPr>
              <a:t> </a:t>
            </a:r>
            <a:r>
              <a:rPr kumimoji="0" lang="en-US" sz="1200" b="0" i="1" u="none" strike="noStrike" kern="1200" cap="none" spc="0" normalizeH="0" baseline="0" noProof="0" err="1">
                <a:ln>
                  <a:noFill/>
                </a:ln>
                <a:solidFill>
                  <a:prstClr val="black"/>
                </a:solidFill>
                <a:effectLst/>
                <a:uLnTx/>
                <a:uFillTx/>
                <a:latin typeface="Aptos"/>
                <a:ea typeface="+mn-ea"/>
                <a:cs typeface="+mn-cs"/>
              </a:rPr>
              <a:t>AgentCore</a:t>
            </a:r>
            <a:r>
              <a:rPr kumimoji="0" lang="en-US" sz="1200" b="0" i="1" u="none" strike="noStrike" kern="1200" cap="none" spc="0" normalizeH="0" baseline="0" noProof="0">
                <a:ln>
                  <a:noFill/>
                </a:ln>
                <a:solidFill>
                  <a:prstClr val="black"/>
                </a:solidFill>
                <a:effectLst/>
                <a:uLnTx/>
                <a:uFillTx/>
                <a:latin typeface="Aptos"/>
                <a:ea typeface="+mn-ea"/>
                <a:cs typeface="+mn-cs"/>
              </a:rPr>
              <a:t>, OpenAI Agent Builder</a:t>
            </a:r>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sp>
        <p:nvSpPr>
          <p:cNvPr id="6" name="Rectangle: Rounded Corners 5">
            <a:extLst>
              <a:ext uri="{FF2B5EF4-FFF2-40B4-BE49-F238E27FC236}">
                <a16:creationId xmlns:a16="http://schemas.microsoft.com/office/drawing/2014/main" id="{E2B61FDD-1397-704A-AFEB-EA6E36FFC60E}"/>
              </a:ext>
            </a:extLst>
          </p:cNvPr>
          <p:cNvSpPr/>
          <p:nvPr/>
        </p:nvSpPr>
        <p:spPr bwMode="gray">
          <a:xfrm>
            <a:off x="10199914" y="4911108"/>
            <a:ext cx="1188720" cy="274320"/>
          </a:xfrm>
          <a:prstGeom prst="roundRect">
            <a:avLst/>
          </a:prstGeom>
          <a:noFill/>
          <a:ln w="3175" algn="ctr">
            <a:solidFill>
              <a:schemeClr val="accent3">
                <a:lumMod val="7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prstClr val="black"/>
                </a:solidFill>
                <a:effectLst/>
                <a:uLnTx/>
                <a:uFillTx/>
                <a:latin typeface="Aptos"/>
                <a:ea typeface="+mn-ea"/>
                <a:cs typeface="+mn-cs"/>
              </a:rPr>
              <a:t> Interoperability</a:t>
            </a:r>
          </a:p>
        </p:txBody>
      </p:sp>
      <p:sp>
        <p:nvSpPr>
          <p:cNvPr id="8" name="Rectangle: Rounded Corners 7">
            <a:extLst>
              <a:ext uri="{FF2B5EF4-FFF2-40B4-BE49-F238E27FC236}">
                <a16:creationId xmlns:a16="http://schemas.microsoft.com/office/drawing/2014/main" id="{9223E4E7-85A1-3FD1-A74D-2717BADC1FBC}"/>
              </a:ext>
            </a:extLst>
          </p:cNvPr>
          <p:cNvSpPr/>
          <p:nvPr/>
        </p:nvSpPr>
        <p:spPr bwMode="gray">
          <a:xfrm>
            <a:off x="10199914" y="5283391"/>
            <a:ext cx="1188720" cy="274320"/>
          </a:xfrm>
          <a:prstGeom prst="roundRect">
            <a:avLst/>
          </a:prstGeom>
          <a:noFill/>
          <a:ln w="3175" algn="ctr">
            <a:solidFill>
              <a:schemeClr val="accent3">
                <a:lumMod val="7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prstClr val="black"/>
                </a:solidFill>
                <a:effectLst/>
                <a:uLnTx/>
                <a:uFillTx/>
                <a:latin typeface="Aptos"/>
                <a:ea typeface="+mn-ea"/>
                <a:cs typeface="+mn-cs"/>
              </a:rPr>
              <a:t>Observability</a:t>
            </a:r>
          </a:p>
        </p:txBody>
      </p:sp>
      <p:sp>
        <p:nvSpPr>
          <p:cNvPr id="10" name="Rectangle: Rounded Corners 9">
            <a:extLst>
              <a:ext uri="{FF2B5EF4-FFF2-40B4-BE49-F238E27FC236}">
                <a16:creationId xmlns:a16="http://schemas.microsoft.com/office/drawing/2014/main" id="{A8BBA31D-2424-F24E-B2EC-A051A9563ADB}"/>
              </a:ext>
            </a:extLst>
          </p:cNvPr>
          <p:cNvSpPr/>
          <p:nvPr/>
        </p:nvSpPr>
        <p:spPr bwMode="gray">
          <a:xfrm>
            <a:off x="10189682" y="5655675"/>
            <a:ext cx="1188720" cy="274320"/>
          </a:xfrm>
          <a:prstGeom prst="roundRect">
            <a:avLst/>
          </a:prstGeom>
          <a:noFill/>
          <a:ln w="3175" algn="ctr">
            <a:solidFill>
              <a:schemeClr val="accent3">
                <a:lumMod val="7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prstClr val="black"/>
                </a:solidFill>
                <a:effectLst/>
                <a:uLnTx/>
                <a:uFillTx/>
                <a:latin typeface="Aptos"/>
                <a:ea typeface="+mn-ea"/>
                <a:cs typeface="+mn-cs"/>
              </a:rPr>
              <a:t>Governance</a:t>
            </a:r>
          </a:p>
        </p:txBody>
      </p:sp>
      <p:sp>
        <p:nvSpPr>
          <p:cNvPr id="13" name="Rectangle: Rounded Corners 12">
            <a:extLst>
              <a:ext uri="{FF2B5EF4-FFF2-40B4-BE49-F238E27FC236}">
                <a16:creationId xmlns:a16="http://schemas.microsoft.com/office/drawing/2014/main" id="{87E3B87F-2346-A574-BB96-2BA11A58F1EC}"/>
              </a:ext>
            </a:extLst>
          </p:cNvPr>
          <p:cNvSpPr/>
          <p:nvPr/>
        </p:nvSpPr>
        <p:spPr bwMode="gray">
          <a:xfrm>
            <a:off x="9196712" y="5295936"/>
            <a:ext cx="1106265" cy="349702"/>
          </a:xfrm>
          <a:prstGeom prst="round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prstClr val="black"/>
                </a:solidFill>
                <a:effectLst/>
                <a:uLnTx/>
                <a:uFillTx/>
                <a:latin typeface="Aptos"/>
                <a:ea typeface="+mn-ea"/>
                <a:cs typeface="+mn-cs"/>
              </a:rPr>
              <a:t>Additional Capabilities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prstClr val="black"/>
                </a:solidFill>
                <a:effectLst/>
                <a:uLnTx/>
                <a:uFillTx/>
                <a:latin typeface="Aptos"/>
                <a:ea typeface="+mn-ea"/>
                <a:cs typeface="+mn-cs"/>
              </a:rPr>
              <a:t>(vendors typically layer on to varying degrees)</a:t>
            </a:r>
          </a:p>
        </p:txBody>
      </p:sp>
      <p:cxnSp>
        <p:nvCxnSpPr>
          <p:cNvPr id="15" name="Straight Connector 14">
            <a:extLst>
              <a:ext uri="{FF2B5EF4-FFF2-40B4-BE49-F238E27FC236}">
                <a16:creationId xmlns:a16="http://schemas.microsoft.com/office/drawing/2014/main" id="{83A8B985-B453-E324-012C-E1EAF375A9C8}"/>
              </a:ext>
            </a:extLst>
          </p:cNvPr>
          <p:cNvCxnSpPr>
            <a:cxnSpLocks/>
          </p:cNvCxnSpPr>
          <p:nvPr/>
        </p:nvCxnSpPr>
        <p:spPr>
          <a:xfrm rot="5400000" flipV="1">
            <a:off x="8912241" y="5419265"/>
            <a:ext cx="73152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438127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0A9C7-D005-9A79-754B-7E40A78A0EA6}"/>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990547-44C1-8038-46AA-EA4F43EF5F3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FB990547-44C1-8038-46AA-EA4F43EF5F3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C74D0D0-0EC3-A918-BBEC-586B9531BB5F}"/>
              </a:ext>
            </a:extLst>
          </p:cNvPr>
          <p:cNvSpPr>
            <a:spLocks noGrp="1"/>
          </p:cNvSpPr>
          <p:nvPr>
            <p:ph type="title"/>
          </p:nvPr>
        </p:nvSpPr>
        <p:spPr/>
        <p:txBody>
          <a:bodyPr vert="horz" rIns="0"/>
          <a:lstStyle/>
          <a:p>
            <a:r>
              <a:rPr lang="en-US"/>
              <a:t>Zora’s immediate competitors are function and industry-specialized agents, and application-native offerings, while agent-building platforms also present alternatives for clients</a:t>
            </a:r>
          </a:p>
        </p:txBody>
      </p:sp>
      <p:sp>
        <p:nvSpPr>
          <p:cNvPr id="29" name="Rectangle: Rounded Corners 28">
            <a:extLst>
              <a:ext uri="{FF2B5EF4-FFF2-40B4-BE49-F238E27FC236}">
                <a16:creationId xmlns:a16="http://schemas.microsoft.com/office/drawing/2014/main" id="{422D1012-F716-9F53-95D0-10CD8DCF2D9E}"/>
              </a:ext>
            </a:extLst>
          </p:cNvPr>
          <p:cNvSpPr/>
          <p:nvPr/>
        </p:nvSpPr>
        <p:spPr bwMode="gray">
          <a:xfrm>
            <a:off x="457200" y="1095199"/>
            <a:ext cx="11161776" cy="561842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Aptos"/>
              <a:ea typeface="+mn-ea"/>
              <a:cs typeface="+mn-cs"/>
            </a:endParaRPr>
          </a:p>
        </p:txBody>
      </p:sp>
      <p:sp>
        <p:nvSpPr>
          <p:cNvPr id="5" name="Rectangle: Rounded Corners 4">
            <a:extLst>
              <a:ext uri="{FF2B5EF4-FFF2-40B4-BE49-F238E27FC236}">
                <a16:creationId xmlns:a16="http://schemas.microsoft.com/office/drawing/2014/main" id="{14192961-FD4D-D923-A44C-688933104C2F}"/>
              </a:ext>
            </a:extLst>
          </p:cNvPr>
          <p:cNvSpPr/>
          <p:nvPr/>
        </p:nvSpPr>
        <p:spPr bwMode="gray">
          <a:xfrm>
            <a:off x="1584960" y="1348486"/>
            <a:ext cx="2182809" cy="3314127"/>
          </a:xfrm>
          <a:prstGeom prst="roundRect">
            <a:avLst>
              <a:gd name="adj" fmla="val 5828"/>
            </a:avLst>
          </a:prstGeom>
          <a:solidFill>
            <a:schemeClr val="bg1"/>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p:txBody>
      </p:sp>
      <p:sp>
        <p:nvSpPr>
          <p:cNvPr id="10" name="Rectangle: Rounded Corners 9">
            <a:extLst>
              <a:ext uri="{FF2B5EF4-FFF2-40B4-BE49-F238E27FC236}">
                <a16:creationId xmlns:a16="http://schemas.microsoft.com/office/drawing/2014/main" id="{2E97F71C-611A-596F-CF7A-0BA73E0E2A46}"/>
              </a:ext>
            </a:extLst>
          </p:cNvPr>
          <p:cNvSpPr/>
          <p:nvPr/>
        </p:nvSpPr>
        <p:spPr bwMode="gray">
          <a:xfrm>
            <a:off x="3941772" y="1348486"/>
            <a:ext cx="4081000" cy="3314126"/>
          </a:xfrm>
          <a:prstGeom prst="roundRect">
            <a:avLst>
              <a:gd name="adj" fmla="val 8291"/>
            </a:avLst>
          </a:prstGeom>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p:txBody>
      </p:sp>
      <p:sp>
        <p:nvSpPr>
          <p:cNvPr id="16" name="Rectangle: Rounded Corners 15">
            <a:extLst>
              <a:ext uri="{FF2B5EF4-FFF2-40B4-BE49-F238E27FC236}">
                <a16:creationId xmlns:a16="http://schemas.microsoft.com/office/drawing/2014/main" id="{0D99991B-87A2-ED9B-1A30-08D040399497}"/>
              </a:ext>
            </a:extLst>
          </p:cNvPr>
          <p:cNvSpPr/>
          <p:nvPr/>
        </p:nvSpPr>
        <p:spPr bwMode="gray">
          <a:xfrm>
            <a:off x="8196772" y="1348486"/>
            <a:ext cx="3177230" cy="3314129"/>
          </a:xfrm>
          <a:prstGeom prst="roundRect">
            <a:avLst>
              <a:gd name="adj" fmla="val 5018"/>
            </a:avLst>
          </a:prstGeom>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3. Application-native Agents</a:t>
            </a:r>
          </a:p>
        </p:txBody>
      </p:sp>
      <p:sp>
        <p:nvSpPr>
          <p:cNvPr id="18" name="Rectangle: Rounded Corners 17">
            <a:extLst>
              <a:ext uri="{FF2B5EF4-FFF2-40B4-BE49-F238E27FC236}">
                <a16:creationId xmlns:a16="http://schemas.microsoft.com/office/drawing/2014/main" id="{F15AA430-6723-40E2-3188-7278B08BD2AD}"/>
              </a:ext>
            </a:extLst>
          </p:cNvPr>
          <p:cNvSpPr/>
          <p:nvPr/>
        </p:nvSpPr>
        <p:spPr bwMode="gray">
          <a:xfrm>
            <a:off x="883377" y="4867201"/>
            <a:ext cx="10516142" cy="1327800"/>
          </a:xfrm>
          <a:prstGeom prst="roundRect">
            <a:avLst/>
          </a:prstGeom>
          <a:solidFill>
            <a:schemeClr val="bg1"/>
          </a:solidFill>
          <a:ln w="19050" algn="ctr">
            <a:solidFill>
              <a:schemeClr val="accent3">
                <a:lumMod val="50000"/>
              </a:schemeClr>
            </a:solidFill>
            <a:miter lim="800000"/>
            <a:headEnd/>
            <a:tailEnd/>
          </a:ln>
        </p:spPr>
        <p:txBody>
          <a:bodyPr wrap="square" lIns="88900" tIns="88900" rIns="88900" bIns="88900" rtlCol="0" anchor="ctr"/>
          <a:lstStyle/>
          <a:p>
            <a:pPr marL="347663" marR="0" lvl="0" indent="-173038"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4. Agent Enabling </a:t>
            </a:r>
            <a:br>
              <a:rPr kumimoji="0" lang="en-US" sz="1200" b="1" i="0" u="none" strike="noStrike" kern="1200" cap="none" spc="0" normalizeH="0" baseline="0" noProof="0">
                <a:ln>
                  <a:noFill/>
                </a:ln>
                <a:solidFill>
                  <a:prstClr val="black"/>
                </a:solidFill>
                <a:effectLst/>
                <a:uLnTx/>
                <a:uFillTx/>
                <a:latin typeface="Aptos"/>
                <a:ea typeface="+mn-ea"/>
                <a:cs typeface="+mn-cs"/>
              </a:rPr>
            </a:br>
            <a:r>
              <a:rPr kumimoji="0" lang="en-US" sz="1200" b="1" i="0" u="none" strike="noStrike" kern="1200" cap="none" spc="0" normalizeH="0" baseline="0" noProof="0">
                <a:ln>
                  <a:noFill/>
                </a:ln>
                <a:solidFill>
                  <a:prstClr val="black"/>
                </a:solidFill>
                <a:effectLst/>
                <a:uLnTx/>
                <a:uFillTx/>
                <a:latin typeface="Aptos"/>
                <a:ea typeface="+mn-ea"/>
                <a:cs typeface="+mn-cs"/>
              </a:rPr>
              <a:t>Platforms</a:t>
            </a:r>
          </a:p>
        </p:txBody>
      </p:sp>
      <p:sp>
        <p:nvSpPr>
          <p:cNvPr id="20" name="Rectangle: Rounded Corners 19">
            <a:extLst>
              <a:ext uri="{FF2B5EF4-FFF2-40B4-BE49-F238E27FC236}">
                <a16:creationId xmlns:a16="http://schemas.microsoft.com/office/drawing/2014/main" id="{E2E6182E-B46F-D7B2-4F2C-390359CD2A29}"/>
              </a:ext>
            </a:extLst>
          </p:cNvPr>
          <p:cNvSpPr/>
          <p:nvPr/>
        </p:nvSpPr>
        <p:spPr bwMode="gray">
          <a:xfrm>
            <a:off x="883377" y="1348486"/>
            <a:ext cx="527581" cy="3314127"/>
          </a:xfrm>
          <a:prstGeom prst="roundRect">
            <a:avLst/>
          </a:prstGeom>
          <a:solidFill>
            <a:schemeClr val="bg1">
              <a:lumMod val="75000"/>
            </a:schemeClr>
          </a:solidFill>
          <a:ln w="19050" algn="ctr">
            <a:solidFill>
              <a:schemeClr val="accent2">
                <a:lumMod val="75000"/>
              </a:schemeClr>
            </a:solidFill>
            <a:miter lim="800000"/>
            <a:headEnd/>
            <a:tailEnd/>
          </a:ln>
        </p:spPr>
        <p:txBody>
          <a:bodyPr vert="vert270"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Deployable Agents</a:t>
            </a:r>
          </a:p>
        </p:txBody>
      </p:sp>
      <p:sp>
        <p:nvSpPr>
          <p:cNvPr id="7" name="Rectangle: Rounded Corners 6">
            <a:extLst>
              <a:ext uri="{FF2B5EF4-FFF2-40B4-BE49-F238E27FC236}">
                <a16:creationId xmlns:a16="http://schemas.microsoft.com/office/drawing/2014/main" id="{858AB0DB-FF09-35A7-11AA-88AB13532047}"/>
              </a:ext>
            </a:extLst>
          </p:cNvPr>
          <p:cNvSpPr/>
          <p:nvPr/>
        </p:nvSpPr>
        <p:spPr bwMode="gray">
          <a:xfrm>
            <a:off x="4217163" y="1906463"/>
            <a:ext cx="1682496" cy="356616"/>
          </a:xfrm>
          <a:prstGeom prst="roundRect">
            <a:avLst/>
          </a:prstGeom>
          <a:solidFill>
            <a:srgbClr val="E3E48D"/>
          </a:solidFill>
          <a:ln w="3175" algn="ctr">
            <a:solidFill>
              <a:schemeClr val="accent1"/>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Deloitte Zora</a:t>
            </a:r>
          </a:p>
        </p:txBody>
      </p:sp>
      <p:sp>
        <p:nvSpPr>
          <p:cNvPr id="9" name="Rectangle: Rounded Corners 8">
            <a:extLst>
              <a:ext uri="{FF2B5EF4-FFF2-40B4-BE49-F238E27FC236}">
                <a16:creationId xmlns:a16="http://schemas.microsoft.com/office/drawing/2014/main" id="{71E8465F-5B21-9A5B-5ACC-4068EF0E44A8}"/>
              </a:ext>
            </a:extLst>
          </p:cNvPr>
          <p:cNvSpPr/>
          <p:nvPr/>
        </p:nvSpPr>
        <p:spPr bwMode="gray">
          <a:xfrm>
            <a:off x="8394192" y="2037092"/>
            <a:ext cx="1307592" cy="457200"/>
          </a:xfrm>
          <a:prstGeom prst="roundRect">
            <a:avLst/>
          </a:prstGeom>
          <a:noFill/>
          <a:ln w="3175" algn="ctr">
            <a:solidFill>
              <a:schemeClr val="accent1"/>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Microsoft Dynamics 365 Agents</a:t>
            </a:r>
          </a:p>
        </p:txBody>
      </p:sp>
      <p:sp>
        <p:nvSpPr>
          <p:cNvPr id="12" name="Rectangle: Rounded Corners 11">
            <a:extLst>
              <a:ext uri="{FF2B5EF4-FFF2-40B4-BE49-F238E27FC236}">
                <a16:creationId xmlns:a16="http://schemas.microsoft.com/office/drawing/2014/main" id="{D0A728C0-8122-4E25-6022-3EEBF78666B3}"/>
              </a:ext>
            </a:extLst>
          </p:cNvPr>
          <p:cNvSpPr/>
          <p:nvPr/>
        </p:nvSpPr>
        <p:spPr bwMode="gray">
          <a:xfrm>
            <a:off x="6064252" y="1906463"/>
            <a:ext cx="1682496" cy="356616"/>
          </a:xfrm>
          <a:prstGeom prst="roundRect">
            <a:avLst/>
          </a:prstGeom>
          <a:solidFill>
            <a:schemeClr val="accent1">
              <a:lumMod val="20000"/>
              <a:lumOff val="80000"/>
            </a:schemeClr>
          </a:solidFill>
          <a:ln w="3175" algn="ctr">
            <a:solidFill>
              <a:schemeClr val="accent1"/>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HighRadius</a:t>
            </a:r>
            <a:endParaRPr kumimoji="0" lang="en-US" sz="1200" b="1" i="0" u="none" strike="noStrike" kern="1200" cap="none" spc="0" normalizeH="0" baseline="0" noProof="0">
              <a:ln>
                <a:noFill/>
              </a:ln>
              <a:solidFill>
                <a:prstClr val="black"/>
              </a:solidFill>
              <a:effectLst/>
              <a:uLnTx/>
              <a:uFillTx/>
              <a:latin typeface="Aptos"/>
              <a:ea typeface="+mn-ea"/>
              <a:cs typeface="+mn-cs"/>
            </a:endParaRPr>
          </a:p>
        </p:txBody>
      </p:sp>
      <p:sp>
        <p:nvSpPr>
          <p:cNvPr id="17" name="Rectangle: Rounded Corners 16">
            <a:extLst>
              <a:ext uri="{FF2B5EF4-FFF2-40B4-BE49-F238E27FC236}">
                <a16:creationId xmlns:a16="http://schemas.microsoft.com/office/drawing/2014/main" id="{3F1E49C1-F8C7-550A-C285-FC8A159AFD5F}"/>
              </a:ext>
            </a:extLst>
          </p:cNvPr>
          <p:cNvSpPr/>
          <p:nvPr/>
        </p:nvSpPr>
        <p:spPr bwMode="gray">
          <a:xfrm>
            <a:off x="8394192" y="2604020"/>
            <a:ext cx="1307592" cy="457200"/>
          </a:xfrm>
          <a:prstGeom prst="roundRect">
            <a:avLst/>
          </a:prstGeom>
          <a:noFill/>
          <a:ln w="3175" algn="ctr">
            <a:solidFill>
              <a:schemeClr val="accent1"/>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SAP Joule Agents</a:t>
            </a:r>
          </a:p>
        </p:txBody>
      </p:sp>
      <p:sp>
        <p:nvSpPr>
          <p:cNvPr id="26" name="Rectangle: Rounded Corners 25">
            <a:extLst>
              <a:ext uri="{FF2B5EF4-FFF2-40B4-BE49-F238E27FC236}">
                <a16:creationId xmlns:a16="http://schemas.microsoft.com/office/drawing/2014/main" id="{172D6711-CC62-387E-1FD8-9EE4385EE099}"/>
              </a:ext>
            </a:extLst>
          </p:cNvPr>
          <p:cNvSpPr/>
          <p:nvPr/>
        </p:nvSpPr>
        <p:spPr bwMode="gray">
          <a:xfrm>
            <a:off x="8394192" y="3170948"/>
            <a:ext cx="1307592" cy="457200"/>
          </a:xfrm>
          <a:prstGeom prst="roundRect">
            <a:avLst/>
          </a:prstGeom>
          <a:noFill/>
          <a:ln w="3175" algn="ctr">
            <a:solidFill>
              <a:schemeClr val="accent1"/>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Oracle Fusion Agents</a:t>
            </a:r>
          </a:p>
        </p:txBody>
      </p:sp>
      <p:sp>
        <p:nvSpPr>
          <p:cNvPr id="30" name="Rectangle: Rounded Corners 29">
            <a:extLst>
              <a:ext uri="{FF2B5EF4-FFF2-40B4-BE49-F238E27FC236}">
                <a16:creationId xmlns:a16="http://schemas.microsoft.com/office/drawing/2014/main" id="{5D323494-603C-FE3B-7B49-FD60184D05DD}"/>
              </a:ext>
            </a:extLst>
          </p:cNvPr>
          <p:cNvSpPr/>
          <p:nvPr/>
        </p:nvSpPr>
        <p:spPr bwMode="gray">
          <a:xfrm>
            <a:off x="1902172" y="2106841"/>
            <a:ext cx="1548384" cy="342000"/>
          </a:xfrm>
          <a:prstGeom prst="roundRect">
            <a:avLst/>
          </a:prstGeom>
          <a:noFill/>
          <a:ln w="3175"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MS Copilot</a:t>
            </a:r>
          </a:p>
        </p:txBody>
      </p:sp>
      <p:sp>
        <p:nvSpPr>
          <p:cNvPr id="33" name="Rectangle: Rounded Corners 32">
            <a:extLst>
              <a:ext uri="{FF2B5EF4-FFF2-40B4-BE49-F238E27FC236}">
                <a16:creationId xmlns:a16="http://schemas.microsoft.com/office/drawing/2014/main" id="{EC9F0428-6F1D-2BB0-0C7E-968455DE15DF}"/>
              </a:ext>
            </a:extLst>
          </p:cNvPr>
          <p:cNvSpPr/>
          <p:nvPr/>
        </p:nvSpPr>
        <p:spPr bwMode="gray">
          <a:xfrm>
            <a:off x="6006535" y="5110545"/>
            <a:ext cx="1554480" cy="384048"/>
          </a:xfrm>
          <a:prstGeom prst="roundRect">
            <a:avLst/>
          </a:prstGeom>
          <a:solidFill>
            <a:srgbClr val="DDEFE8"/>
          </a:solidFill>
          <a:ln w="3175" algn="ctr">
            <a:solidFill>
              <a:srgbClr val="007CB0"/>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Accenture AI Refinery</a:t>
            </a:r>
          </a:p>
        </p:txBody>
      </p:sp>
      <p:sp>
        <p:nvSpPr>
          <p:cNvPr id="36" name="Rectangle: Rounded Corners 35">
            <a:extLst>
              <a:ext uri="{FF2B5EF4-FFF2-40B4-BE49-F238E27FC236}">
                <a16:creationId xmlns:a16="http://schemas.microsoft.com/office/drawing/2014/main" id="{0818F53C-0B36-5D2E-AED3-FB2085CD1270}"/>
              </a:ext>
            </a:extLst>
          </p:cNvPr>
          <p:cNvSpPr/>
          <p:nvPr/>
        </p:nvSpPr>
        <p:spPr bwMode="gray">
          <a:xfrm>
            <a:off x="4360615" y="5110545"/>
            <a:ext cx="1554480" cy="384048"/>
          </a:xfrm>
          <a:prstGeom prst="roundRect">
            <a:avLst/>
          </a:prstGeom>
          <a:solidFill>
            <a:srgbClr val="DDEFE8"/>
          </a:solidFill>
          <a:ln w="3175" algn="ctr">
            <a:solidFill>
              <a:srgbClr val="007CB0"/>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IBM </a:t>
            </a:r>
            <a:r>
              <a:rPr kumimoji="0" lang="en-US" sz="1050" b="1" i="0" u="none" strike="noStrike" kern="1200" cap="none" spc="0" normalizeH="0" baseline="0" noProof="0" err="1">
                <a:ln>
                  <a:noFill/>
                </a:ln>
                <a:solidFill>
                  <a:prstClr val="black"/>
                </a:solidFill>
                <a:effectLst/>
                <a:uLnTx/>
                <a:uFillTx/>
                <a:latin typeface="Aptos"/>
                <a:ea typeface="+mn-ea"/>
                <a:cs typeface="+mn-cs"/>
              </a:rPr>
              <a:t>Watsonx</a:t>
            </a:r>
            <a:r>
              <a:rPr kumimoji="0" lang="en-US" sz="1050" b="1" i="0" u="none" strike="noStrike" kern="1200" cap="none" spc="0" normalizeH="0" baseline="0" noProof="0">
                <a:ln>
                  <a:noFill/>
                </a:ln>
                <a:solidFill>
                  <a:prstClr val="black"/>
                </a:solidFill>
                <a:effectLst/>
                <a:uLnTx/>
                <a:uFillTx/>
                <a:latin typeface="Aptos"/>
                <a:ea typeface="+mn-ea"/>
                <a:cs typeface="+mn-cs"/>
              </a:rPr>
              <a:t> Orchestrate</a:t>
            </a:r>
          </a:p>
        </p:txBody>
      </p:sp>
      <p:sp>
        <p:nvSpPr>
          <p:cNvPr id="4" name="Rectangle: Rounded Corners 3">
            <a:extLst>
              <a:ext uri="{FF2B5EF4-FFF2-40B4-BE49-F238E27FC236}">
                <a16:creationId xmlns:a16="http://schemas.microsoft.com/office/drawing/2014/main" id="{526126A3-CAFD-98AC-6862-65B68BD10F56}"/>
              </a:ext>
            </a:extLst>
          </p:cNvPr>
          <p:cNvSpPr/>
          <p:nvPr/>
        </p:nvSpPr>
        <p:spPr bwMode="gray">
          <a:xfrm>
            <a:off x="1902172" y="2699633"/>
            <a:ext cx="1548384" cy="342000"/>
          </a:xfrm>
          <a:prstGeom prst="roundRect">
            <a:avLst/>
          </a:prstGeom>
          <a:noFill/>
          <a:ln w="3175"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Chat GPT Work</a:t>
            </a:r>
          </a:p>
        </p:txBody>
      </p:sp>
      <p:sp>
        <p:nvSpPr>
          <p:cNvPr id="6" name="Rectangle: Rounded Corners 5">
            <a:extLst>
              <a:ext uri="{FF2B5EF4-FFF2-40B4-BE49-F238E27FC236}">
                <a16:creationId xmlns:a16="http://schemas.microsoft.com/office/drawing/2014/main" id="{A0E70172-C321-F0BE-2DDC-C432B28A1376}"/>
              </a:ext>
            </a:extLst>
          </p:cNvPr>
          <p:cNvSpPr/>
          <p:nvPr/>
        </p:nvSpPr>
        <p:spPr bwMode="gray">
          <a:xfrm>
            <a:off x="1902172" y="3292425"/>
            <a:ext cx="1548384" cy="342000"/>
          </a:xfrm>
          <a:prstGeom prst="roundRect">
            <a:avLst/>
          </a:prstGeom>
          <a:noFill/>
          <a:ln w="3175"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Claude Cowork</a:t>
            </a:r>
          </a:p>
        </p:txBody>
      </p:sp>
      <p:sp>
        <p:nvSpPr>
          <p:cNvPr id="8" name="Rectangle: Rounded Corners 7">
            <a:extLst>
              <a:ext uri="{FF2B5EF4-FFF2-40B4-BE49-F238E27FC236}">
                <a16:creationId xmlns:a16="http://schemas.microsoft.com/office/drawing/2014/main" id="{65C6F104-0055-5F16-BBD7-FDD2AE40F333}"/>
              </a:ext>
            </a:extLst>
          </p:cNvPr>
          <p:cNvSpPr/>
          <p:nvPr/>
        </p:nvSpPr>
        <p:spPr bwMode="gray">
          <a:xfrm>
            <a:off x="4217163" y="3625535"/>
            <a:ext cx="1682496" cy="356616"/>
          </a:xfrm>
          <a:prstGeom prst="roundRect">
            <a:avLst/>
          </a:prstGeom>
          <a:solidFill>
            <a:srgbClr val="E3E48D"/>
          </a:solidFill>
          <a:ln w="3175" algn="ctr">
            <a:solidFill>
              <a:schemeClr val="accent1"/>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Accenture: Industry Agent Solutions</a:t>
            </a:r>
          </a:p>
        </p:txBody>
      </p:sp>
      <p:sp>
        <p:nvSpPr>
          <p:cNvPr id="11" name="Rectangle: Rounded Corners 10">
            <a:extLst>
              <a:ext uri="{FF2B5EF4-FFF2-40B4-BE49-F238E27FC236}">
                <a16:creationId xmlns:a16="http://schemas.microsoft.com/office/drawing/2014/main" id="{F027C93A-7FF7-1802-11C5-190CC96A0E10}"/>
              </a:ext>
            </a:extLst>
          </p:cNvPr>
          <p:cNvSpPr/>
          <p:nvPr/>
        </p:nvSpPr>
        <p:spPr bwMode="gray">
          <a:xfrm>
            <a:off x="4217163" y="2336231"/>
            <a:ext cx="1682496" cy="356616"/>
          </a:xfrm>
          <a:prstGeom prst="roundRect">
            <a:avLst/>
          </a:prstGeom>
          <a:solidFill>
            <a:srgbClr val="E3E48D"/>
          </a:solidFill>
          <a:ln w="3175" algn="ctr">
            <a:solidFill>
              <a:schemeClr val="accent1"/>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PWC Industry Agents</a:t>
            </a:r>
          </a:p>
        </p:txBody>
      </p:sp>
      <p:sp>
        <p:nvSpPr>
          <p:cNvPr id="13" name="Rectangle: Rounded Corners 12">
            <a:extLst>
              <a:ext uri="{FF2B5EF4-FFF2-40B4-BE49-F238E27FC236}">
                <a16:creationId xmlns:a16="http://schemas.microsoft.com/office/drawing/2014/main" id="{C9C2C98D-A4F1-4FE5-CEBB-5D409E12C632}"/>
              </a:ext>
            </a:extLst>
          </p:cNvPr>
          <p:cNvSpPr/>
          <p:nvPr/>
        </p:nvSpPr>
        <p:spPr bwMode="gray">
          <a:xfrm>
            <a:off x="6064252" y="2765997"/>
            <a:ext cx="1682496" cy="356616"/>
          </a:xfrm>
          <a:prstGeom prst="roundRect">
            <a:avLst/>
          </a:prstGeom>
          <a:solidFill>
            <a:schemeClr val="accent1">
              <a:lumMod val="20000"/>
              <a:lumOff val="80000"/>
            </a:schemeClr>
          </a:solidFill>
          <a:ln w="3175" algn="ctr">
            <a:solidFill>
              <a:schemeClr val="accent1"/>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EY Tax Agents</a:t>
            </a:r>
          </a:p>
        </p:txBody>
      </p:sp>
      <p:sp>
        <p:nvSpPr>
          <p:cNvPr id="14" name="Rectangle: Rounded Corners 13">
            <a:extLst>
              <a:ext uri="{FF2B5EF4-FFF2-40B4-BE49-F238E27FC236}">
                <a16:creationId xmlns:a16="http://schemas.microsoft.com/office/drawing/2014/main" id="{4AE1937B-0E86-A7DB-B5E0-31CD017360B3}"/>
              </a:ext>
            </a:extLst>
          </p:cNvPr>
          <p:cNvSpPr/>
          <p:nvPr/>
        </p:nvSpPr>
        <p:spPr bwMode="gray">
          <a:xfrm>
            <a:off x="4217163" y="3195766"/>
            <a:ext cx="1682496" cy="356616"/>
          </a:xfrm>
          <a:prstGeom prst="roundRect">
            <a:avLst/>
          </a:prstGeom>
          <a:solidFill>
            <a:srgbClr val="E3E48D"/>
          </a:solidFill>
          <a:ln w="3175" algn="ctr">
            <a:solidFill>
              <a:schemeClr val="accent1"/>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IBM </a:t>
            </a:r>
            <a:r>
              <a:rPr kumimoji="0" lang="en-US" sz="1050" b="1" i="0" u="none" strike="noStrike" kern="1200" cap="none" spc="0" normalizeH="0" baseline="0" noProof="0" err="1">
                <a:ln>
                  <a:noFill/>
                </a:ln>
                <a:solidFill>
                  <a:prstClr val="black"/>
                </a:solidFill>
                <a:effectLst/>
                <a:uLnTx/>
                <a:uFillTx/>
                <a:latin typeface="Aptos"/>
                <a:ea typeface="+mn-ea"/>
                <a:cs typeface="+mn-cs"/>
              </a:rPr>
              <a:t>Watsonx</a:t>
            </a:r>
            <a:r>
              <a:rPr kumimoji="0" lang="en-US" sz="1050" b="1" i="0" u="none" strike="noStrike" kern="1200" cap="none" spc="0" normalizeH="0" baseline="0" noProof="0">
                <a:ln>
                  <a:noFill/>
                </a:ln>
                <a:solidFill>
                  <a:prstClr val="black"/>
                </a:solidFill>
                <a:effectLst/>
                <a:uLnTx/>
                <a:uFillTx/>
                <a:latin typeface="Aptos"/>
                <a:ea typeface="+mn-ea"/>
                <a:cs typeface="+mn-cs"/>
              </a:rPr>
              <a:t> Agents</a:t>
            </a:r>
          </a:p>
        </p:txBody>
      </p:sp>
      <p:sp>
        <p:nvSpPr>
          <p:cNvPr id="19" name="Rectangle: Rounded Corners 18">
            <a:extLst>
              <a:ext uri="{FF2B5EF4-FFF2-40B4-BE49-F238E27FC236}">
                <a16:creationId xmlns:a16="http://schemas.microsoft.com/office/drawing/2014/main" id="{2352C5BD-BAB1-4D7B-0DAC-713CD25E9D2D}"/>
              </a:ext>
            </a:extLst>
          </p:cNvPr>
          <p:cNvSpPr/>
          <p:nvPr/>
        </p:nvSpPr>
        <p:spPr bwMode="gray">
          <a:xfrm>
            <a:off x="4217163" y="4055302"/>
            <a:ext cx="1682496" cy="356616"/>
          </a:xfrm>
          <a:prstGeom prst="roundRect">
            <a:avLst/>
          </a:prstGeom>
          <a:solidFill>
            <a:srgbClr val="E3E48D"/>
          </a:solidFill>
          <a:ln w="3175" algn="ctr">
            <a:solidFill>
              <a:schemeClr val="accent1"/>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Infosys: Agentic Foundry Agents</a:t>
            </a:r>
          </a:p>
        </p:txBody>
      </p:sp>
      <p:sp>
        <p:nvSpPr>
          <p:cNvPr id="21" name="Rectangle: Rounded Corners 20">
            <a:extLst>
              <a:ext uri="{FF2B5EF4-FFF2-40B4-BE49-F238E27FC236}">
                <a16:creationId xmlns:a16="http://schemas.microsoft.com/office/drawing/2014/main" id="{51483685-D372-96A2-7BC0-4856C89885B2}"/>
              </a:ext>
            </a:extLst>
          </p:cNvPr>
          <p:cNvSpPr/>
          <p:nvPr/>
        </p:nvSpPr>
        <p:spPr bwMode="gray">
          <a:xfrm>
            <a:off x="6006535" y="5604321"/>
            <a:ext cx="1554480" cy="384048"/>
          </a:xfrm>
          <a:prstGeom prst="roundRect">
            <a:avLst/>
          </a:prstGeom>
          <a:solidFill>
            <a:srgbClr val="9DD4CF"/>
          </a:solidFill>
          <a:ln w="3175" algn="ctr">
            <a:solidFill>
              <a:srgbClr val="007CB0"/>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PWC Agent OS</a:t>
            </a:r>
          </a:p>
        </p:txBody>
      </p:sp>
      <p:sp>
        <p:nvSpPr>
          <p:cNvPr id="22" name="Rectangle: Rounded Corners 21">
            <a:extLst>
              <a:ext uri="{FF2B5EF4-FFF2-40B4-BE49-F238E27FC236}">
                <a16:creationId xmlns:a16="http://schemas.microsoft.com/office/drawing/2014/main" id="{A07A0457-E43C-C3FA-F5BE-FA7EE51D4774}"/>
              </a:ext>
            </a:extLst>
          </p:cNvPr>
          <p:cNvSpPr/>
          <p:nvPr/>
        </p:nvSpPr>
        <p:spPr bwMode="gray">
          <a:xfrm>
            <a:off x="4360615" y="5604321"/>
            <a:ext cx="1554480" cy="384048"/>
          </a:xfrm>
          <a:prstGeom prst="roundRect">
            <a:avLst/>
          </a:prstGeom>
          <a:solidFill>
            <a:srgbClr val="9DD4CF"/>
          </a:solidFill>
          <a:ln w="3175" algn="ctr">
            <a:solidFill>
              <a:srgbClr val="007CB0"/>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EY.ai Agentic Platform</a:t>
            </a:r>
          </a:p>
        </p:txBody>
      </p:sp>
      <p:sp>
        <p:nvSpPr>
          <p:cNvPr id="23" name="Rectangle: Rounded Corners 22">
            <a:extLst>
              <a:ext uri="{FF2B5EF4-FFF2-40B4-BE49-F238E27FC236}">
                <a16:creationId xmlns:a16="http://schemas.microsoft.com/office/drawing/2014/main" id="{B1F48048-6AE6-CB75-93C6-CAB7C85400B8}"/>
              </a:ext>
            </a:extLst>
          </p:cNvPr>
          <p:cNvSpPr/>
          <p:nvPr/>
        </p:nvSpPr>
        <p:spPr bwMode="gray">
          <a:xfrm>
            <a:off x="7652454" y="5604321"/>
            <a:ext cx="1554480" cy="384048"/>
          </a:xfrm>
          <a:prstGeom prst="roundRect">
            <a:avLst/>
          </a:prstGeom>
          <a:solidFill>
            <a:srgbClr val="9DD4CF"/>
          </a:solidFill>
          <a:ln w="3175" algn="ctr">
            <a:solidFill>
              <a:srgbClr val="007CB0"/>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KPMG Workbench</a:t>
            </a:r>
          </a:p>
        </p:txBody>
      </p:sp>
      <p:sp>
        <p:nvSpPr>
          <p:cNvPr id="24" name="Rectangle: Rounded Corners 23">
            <a:extLst>
              <a:ext uri="{FF2B5EF4-FFF2-40B4-BE49-F238E27FC236}">
                <a16:creationId xmlns:a16="http://schemas.microsoft.com/office/drawing/2014/main" id="{A24E5E33-53A6-1427-61F7-643166F79D22}"/>
              </a:ext>
            </a:extLst>
          </p:cNvPr>
          <p:cNvSpPr/>
          <p:nvPr/>
        </p:nvSpPr>
        <p:spPr bwMode="gray">
          <a:xfrm>
            <a:off x="2714695" y="5604321"/>
            <a:ext cx="1554480" cy="384048"/>
          </a:xfrm>
          <a:prstGeom prst="roundRect">
            <a:avLst/>
          </a:prstGeom>
          <a:solidFill>
            <a:srgbClr val="9DD4CF"/>
          </a:solidFill>
          <a:ln w="3175" algn="ctr">
            <a:solidFill>
              <a:srgbClr val="007CB0"/>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Infosys Agentic Foundry</a:t>
            </a:r>
          </a:p>
        </p:txBody>
      </p:sp>
      <p:sp>
        <p:nvSpPr>
          <p:cNvPr id="25" name="Rectangle: Rounded Corners 24">
            <a:extLst>
              <a:ext uri="{FF2B5EF4-FFF2-40B4-BE49-F238E27FC236}">
                <a16:creationId xmlns:a16="http://schemas.microsoft.com/office/drawing/2014/main" id="{2388C272-E519-3880-E7E3-3D91DC26A3B1}"/>
              </a:ext>
            </a:extLst>
          </p:cNvPr>
          <p:cNvSpPr/>
          <p:nvPr/>
        </p:nvSpPr>
        <p:spPr bwMode="gray">
          <a:xfrm>
            <a:off x="2714695" y="5110545"/>
            <a:ext cx="1554480" cy="384048"/>
          </a:xfrm>
          <a:prstGeom prst="roundRect">
            <a:avLst/>
          </a:prstGeom>
          <a:solidFill>
            <a:srgbClr val="DDEFE8"/>
          </a:solidFill>
          <a:ln w="3175" algn="ctr">
            <a:solidFill>
              <a:srgbClr val="007CB0"/>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Microsoft Copilot Studio</a:t>
            </a:r>
          </a:p>
        </p:txBody>
      </p:sp>
      <p:sp>
        <p:nvSpPr>
          <p:cNvPr id="15" name="Rectangle: Rounded Corners 14">
            <a:extLst>
              <a:ext uri="{FF2B5EF4-FFF2-40B4-BE49-F238E27FC236}">
                <a16:creationId xmlns:a16="http://schemas.microsoft.com/office/drawing/2014/main" id="{E7C92AE0-8D70-07FF-4F80-4B537D312A1C}"/>
              </a:ext>
            </a:extLst>
          </p:cNvPr>
          <p:cNvSpPr/>
          <p:nvPr/>
        </p:nvSpPr>
        <p:spPr bwMode="gray">
          <a:xfrm>
            <a:off x="1655739" y="6298284"/>
            <a:ext cx="1349864" cy="334751"/>
          </a:xfrm>
          <a:prstGeom prst="roundRect">
            <a:avLst/>
          </a:prstGeom>
          <a:solidFill>
            <a:srgbClr val="E3E48D"/>
          </a:solidFill>
          <a:ln w="12700">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Broad Industry/ domain focus</a:t>
            </a:r>
          </a:p>
        </p:txBody>
      </p:sp>
      <p:sp>
        <p:nvSpPr>
          <p:cNvPr id="27" name="Rectangle: Rounded Corners 26">
            <a:extLst>
              <a:ext uri="{FF2B5EF4-FFF2-40B4-BE49-F238E27FC236}">
                <a16:creationId xmlns:a16="http://schemas.microsoft.com/office/drawing/2014/main" id="{BF0B7189-DB50-0BA0-8A92-9C6FD843DFE9}"/>
              </a:ext>
            </a:extLst>
          </p:cNvPr>
          <p:cNvSpPr/>
          <p:nvPr/>
        </p:nvSpPr>
        <p:spPr bwMode="gray">
          <a:xfrm>
            <a:off x="3175994" y="6298285"/>
            <a:ext cx="1349863" cy="334750"/>
          </a:xfrm>
          <a:prstGeom prst="roundRect">
            <a:avLst/>
          </a:prstGeom>
          <a:solidFill>
            <a:schemeClr val="accent1">
              <a:lumMod val="20000"/>
              <a:lumOff val="80000"/>
            </a:schemeClr>
          </a:solidFill>
          <a:ln w="12700">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Single Industry/ domain focus</a:t>
            </a:r>
          </a:p>
        </p:txBody>
      </p:sp>
      <p:sp>
        <p:nvSpPr>
          <p:cNvPr id="28" name="Rectangle: Rounded Corners 27">
            <a:extLst>
              <a:ext uri="{FF2B5EF4-FFF2-40B4-BE49-F238E27FC236}">
                <a16:creationId xmlns:a16="http://schemas.microsoft.com/office/drawing/2014/main" id="{CEA123B9-D409-1C68-3C5F-07246BF1DEA1}"/>
              </a:ext>
            </a:extLst>
          </p:cNvPr>
          <p:cNvSpPr/>
          <p:nvPr/>
        </p:nvSpPr>
        <p:spPr bwMode="gray">
          <a:xfrm>
            <a:off x="883377" y="6298285"/>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1" name="Rectangle: Rounded Corners 30">
            <a:extLst>
              <a:ext uri="{FF2B5EF4-FFF2-40B4-BE49-F238E27FC236}">
                <a16:creationId xmlns:a16="http://schemas.microsoft.com/office/drawing/2014/main" id="{EBEF323B-BF33-592F-AF7E-E2774863CF0C}"/>
              </a:ext>
            </a:extLst>
          </p:cNvPr>
          <p:cNvSpPr/>
          <p:nvPr/>
        </p:nvSpPr>
        <p:spPr bwMode="gray">
          <a:xfrm>
            <a:off x="4696248" y="6298283"/>
            <a:ext cx="1349864" cy="334751"/>
          </a:xfrm>
          <a:prstGeom prst="roundRect">
            <a:avLst/>
          </a:prstGeom>
          <a:solidFill>
            <a:srgbClr val="DDEFE8"/>
          </a:solidFill>
          <a:ln w="12700">
            <a:solidFill>
              <a:srgbClr val="007CB0"/>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Own agent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building stack</a:t>
            </a:r>
          </a:p>
        </p:txBody>
      </p:sp>
      <p:sp>
        <p:nvSpPr>
          <p:cNvPr id="32" name="Rectangle: Rounded Corners 31">
            <a:extLst>
              <a:ext uri="{FF2B5EF4-FFF2-40B4-BE49-F238E27FC236}">
                <a16:creationId xmlns:a16="http://schemas.microsoft.com/office/drawing/2014/main" id="{C7660D25-AABE-4F6C-CEB0-5AF11031865D}"/>
              </a:ext>
            </a:extLst>
          </p:cNvPr>
          <p:cNvSpPr/>
          <p:nvPr/>
        </p:nvSpPr>
        <p:spPr bwMode="gray">
          <a:xfrm>
            <a:off x="6216502" y="6298282"/>
            <a:ext cx="1349864" cy="334751"/>
          </a:xfrm>
          <a:prstGeom prst="roundRect">
            <a:avLst/>
          </a:prstGeom>
          <a:solidFill>
            <a:srgbClr val="9DD4CF"/>
          </a:solidFill>
          <a:ln w="12700">
            <a:solidFill>
              <a:srgbClr val="007CB0"/>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Uses partner’s agent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building stack</a:t>
            </a:r>
          </a:p>
        </p:txBody>
      </p:sp>
      <p:sp>
        <p:nvSpPr>
          <p:cNvPr id="34" name="Rectangle: Rounded Corners 33">
            <a:extLst>
              <a:ext uri="{FF2B5EF4-FFF2-40B4-BE49-F238E27FC236}">
                <a16:creationId xmlns:a16="http://schemas.microsoft.com/office/drawing/2014/main" id="{EA86B2C6-81B6-F93A-7BF3-4239A639EBDA}"/>
              </a:ext>
            </a:extLst>
          </p:cNvPr>
          <p:cNvSpPr/>
          <p:nvPr/>
        </p:nvSpPr>
        <p:spPr bwMode="gray">
          <a:xfrm>
            <a:off x="6064252" y="2336231"/>
            <a:ext cx="1682496" cy="356616"/>
          </a:xfrm>
          <a:prstGeom prst="roundRect">
            <a:avLst/>
          </a:prstGeom>
          <a:solidFill>
            <a:schemeClr val="accent1">
              <a:lumMod val="20000"/>
              <a:lumOff val="80000"/>
            </a:schemeClr>
          </a:solidFill>
          <a:ln w="3175" algn="ctr">
            <a:solidFill>
              <a:schemeClr val="accent1"/>
            </a:solidFill>
            <a:miter lim="800000"/>
            <a:headEnd/>
            <a:tailEnd/>
          </a:ln>
        </p:spPr>
        <p:txBody>
          <a:bodyPr wrap="square" lIns="50292" tIns="32004" rIns="50292" bIns="32004"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err="1">
                <a:ln>
                  <a:noFill/>
                </a:ln>
                <a:solidFill>
                  <a:prstClr val="black"/>
                </a:solidFill>
                <a:effectLst/>
                <a:uLnTx/>
                <a:uFillTx/>
                <a:latin typeface="Aptos"/>
                <a:ea typeface="+mn-ea"/>
                <a:cs typeface="+mn-cs"/>
              </a:rPr>
              <a:t>DataRails</a:t>
            </a:r>
            <a:endParaRPr kumimoji="0" lang="en-US" sz="1200" b="1" i="0" u="none" strike="noStrike" kern="1200" cap="none" spc="0" normalizeH="0" baseline="0" noProof="0">
              <a:ln>
                <a:noFill/>
              </a:ln>
              <a:solidFill>
                <a:prstClr val="black"/>
              </a:solidFill>
              <a:effectLst/>
              <a:uLnTx/>
              <a:uFillTx/>
              <a:latin typeface="Aptos"/>
              <a:ea typeface="+mn-ea"/>
              <a:cs typeface="+mn-cs"/>
            </a:endParaRPr>
          </a:p>
        </p:txBody>
      </p:sp>
      <p:sp>
        <p:nvSpPr>
          <p:cNvPr id="37" name="Rounded Rectangle 36"/>
          <p:cNvSpPr/>
          <p:nvPr/>
        </p:nvSpPr>
        <p:spPr>
          <a:xfrm>
            <a:off x="4213868" y="2765997"/>
            <a:ext cx="1682496" cy="356616"/>
          </a:xfrm>
          <a:prstGeom prst="roundRect">
            <a:avLst/>
          </a:prstGeom>
          <a:solidFill>
            <a:srgbClr val="E3E48D"/>
          </a:solidFill>
          <a:ln w="3175">
            <a:solidFill>
              <a:schemeClr val="accent1"/>
            </a:solidFill>
          </a:ln>
        </p:spPr>
        <p:txBody>
          <a:bodyPr wrap="square" lIns="50292" tIns="32004" rIns="50292" bIns="32004" rtlCol="0" anchor="ctr">
            <a:noAutofit/>
          </a:bodyPr>
          <a:lstStyle/>
          <a:p>
            <a:pPr algn="ctr">
              <a:lnSpc>
                <a:spcPct val="100000"/>
              </a:lnSpc>
              <a:spcBef>
                <a:spcPts val="0"/>
              </a:spcBef>
              <a:spcAft>
                <a:spcPts val="0"/>
              </a:spcAft>
            </a:pPr>
            <a:r>
              <a:rPr sz="1050" b="1">
                <a:solidFill>
                  <a:srgbClr val="000000"/>
                </a:solidFill>
                <a:latin typeface="Aptos"/>
              </a:rPr>
              <a:t>Databricks Genie Agents</a:t>
            </a:r>
          </a:p>
        </p:txBody>
      </p:sp>
      <p:sp>
        <p:nvSpPr>
          <p:cNvPr id="38" name="Rounded Rectangle 37"/>
          <p:cNvSpPr/>
          <p:nvPr/>
        </p:nvSpPr>
        <p:spPr>
          <a:xfrm>
            <a:off x="6064252" y="3195766"/>
            <a:ext cx="1682496" cy="356616"/>
          </a:xfrm>
          <a:prstGeom prst="roundRect">
            <a:avLst/>
          </a:prstGeom>
          <a:solidFill>
            <a:schemeClr val="accent1">
              <a:lumMod val="20000"/>
              <a:lumOff val="80000"/>
            </a:schemeClr>
          </a:solidFill>
          <a:ln w="3175">
            <a:solidFill>
              <a:schemeClr val="accent1"/>
            </a:solidFill>
          </a:ln>
        </p:spPr>
        <p:txBody>
          <a:bodyPr wrap="square" lIns="50292" tIns="32004" rIns="50292" bIns="32004" rtlCol="0" anchor="ctr">
            <a:noAutofit/>
          </a:bodyPr>
          <a:lstStyle/>
          <a:p>
            <a:pPr algn="ctr">
              <a:lnSpc>
                <a:spcPct val="100000"/>
              </a:lnSpc>
              <a:spcBef>
                <a:spcPts val="0"/>
              </a:spcBef>
              <a:spcAft>
                <a:spcPts val="0"/>
              </a:spcAft>
            </a:pPr>
            <a:r>
              <a:rPr sz="1050" b="1">
                <a:solidFill>
                  <a:srgbClr val="000000"/>
                </a:solidFill>
                <a:latin typeface="Aptos"/>
              </a:rPr>
              <a:t>Abacum AI for FP&amp;A</a:t>
            </a:r>
          </a:p>
        </p:txBody>
      </p:sp>
      <p:sp>
        <p:nvSpPr>
          <p:cNvPr id="39" name="Rounded Rectangle 38"/>
          <p:cNvSpPr/>
          <p:nvPr/>
        </p:nvSpPr>
        <p:spPr>
          <a:xfrm>
            <a:off x="6064252" y="3625535"/>
            <a:ext cx="1682496" cy="356616"/>
          </a:xfrm>
          <a:prstGeom prst="roundRect">
            <a:avLst/>
          </a:prstGeom>
          <a:solidFill>
            <a:schemeClr val="accent1">
              <a:lumMod val="20000"/>
              <a:lumOff val="80000"/>
            </a:schemeClr>
          </a:solidFill>
          <a:ln w="3175">
            <a:solidFill>
              <a:schemeClr val="accent1"/>
            </a:solidFill>
          </a:ln>
        </p:spPr>
        <p:txBody>
          <a:bodyPr wrap="square" lIns="50292" tIns="32004" rIns="50292" bIns="32004" rtlCol="0" anchor="ctr">
            <a:noAutofit/>
          </a:bodyPr>
          <a:lstStyle/>
          <a:p>
            <a:pPr algn="ctr">
              <a:lnSpc>
                <a:spcPct val="100000"/>
              </a:lnSpc>
              <a:spcBef>
                <a:spcPts val="0"/>
              </a:spcBef>
              <a:spcAft>
                <a:spcPts val="0"/>
              </a:spcAft>
            </a:pPr>
            <a:r>
              <a:rPr sz="1050" b="1">
                <a:solidFill>
                  <a:srgbClr val="000000"/>
                </a:solidFill>
                <a:latin typeface="Aptos"/>
              </a:rPr>
              <a:t>Salient AI Agents</a:t>
            </a:r>
          </a:p>
        </p:txBody>
      </p:sp>
      <p:sp>
        <p:nvSpPr>
          <p:cNvPr id="40" name="Rounded Rectangle 39"/>
          <p:cNvSpPr/>
          <p:nvPr/>
        </p:nvSpPr>
        <p:spPr>
          <a:xfrm>
            <a:off x="8394192" y="3737876"/>
            <a:ext cx="1307592" cy="457200"/>
          </a:xfrm>
          <a:prstGeom prst="roundRect">
            <a:avLst/>
          </a:prstGeom>
          <a:noFill/>
          <a:ln w="3175">
            <a:solidFill>
              <a:schemeClr val="accent1"/>
            </a:solidFill>
          </a:ln>
        </p:spPr>
        <p:txBody>
          <a:bodyPr wrap="square" lIns="50292" tIns="32004" rIns="50292" bIns="32004" rtlCol="0" anchor="ctr">
            <a:noAutofit/>
          </a:bodyPr>
          <a:lstStyle/>
          <a:p>
            <a:pPr algn="ctr">
              <a:lnSpc>
                <a:spcPct val="100000"/>
              </a:lnSpc>
              <a:spcBef>
                <a:spcPts val="0"/>
              </a:spcBef>
              <a:spcAft>
                <a:spcPts val="0"/>
              </a:spcAft>
            </a:pPr>
            <a:r>
              <a:rPr sz="1050" b="1">
                <a:solidFill>
                  <a:srgbClr val="000000"/>
                </a:solidFill>
                <a:latin typeface="Aptos"/>
              </a:rPr>
              <a:t>ServiceNow Autonomous Workforce</a:t>
            </a:r>
          </a:p>
        </p:txBody>
      </p:sp>
      <p:sp>
        <p:nvSpPr>
          <p:cNvPr id="41" name="Rounded Rectangle 40"/>
          <p:cNvSpPr/>
          <p:nvPr/>
        </p:nvSpPr>
        <p:spPr>
          <a:xfrm>
            <a:off x="9838944" y="2037092"/>
            <a:ext cx="1307592" cy="457200"/>
          </a:xfrm>
          <a:prstGeom prst="roundRect">
            <a:avLst/>
          </a:prstGeom>
          <a:noFill/>
          <a:ln w="3175">
            <a:solidFill>
              <a:schemeClr val="accent1"/>
            </a:solidFill>
          </a:ln>
        </p:spPr>
        <p:txBody>
          <a:bodyPr wrap="square" lIns="50292" tIns="32004" rIns="50292" bIns="32004" rtlCol="0" anchor="ctr">
            <a:noAutofit/>
          </a:bodyPr>
          <a:lstStyle/>
          <a:p>
            <a:pPr algn="ctr">
              <a:lnSpc>
                <a:spcPct val="100000"/>
              </a:lnSpc>
              <a:spcBef>
                <a:spcPts val="0"/>
              </a:spcBef>
              <a:spcAft>
                <a:spcPts val="0"/>
              </a:spcAft>
            </a:pPr>
            <a:r>
              <a:rPr sz="1050" b="1">
                <a:solidFill>
                  <a:srgbClr val="000000"/>
                </a:solidFill>
                <a:latin typeface="Aptos"/>
              </a:rPr>
              <a:t>Salesforce Agentforce</a:t>
            </a:r>
          </a:p>
        </p:txBody>
      </p:sp>
      <p:sp>
        <p:nvSpPr>
          <p:cNvPr id="42" name="Rounded Rectangle 41"/>
          <p:cNvSpPr/>
          <p:nvPr/>
        </p:nvSpPr>
        <p:spPr>
          <a:xfrm>
            <a:off x="9838944" y="2604020"/>
            <a:ext cx="1307592" cy="457200"/>
          </a:xfrm>
          <a:prstGeom prst="roundRect">
            <a:avLst/>
          </a:prstGeom>
          <a:noFill/>
          <a:ln w="3175">
            <a:solidFill>
              <a:schemeClr val="accent1"/>
            </a:solidFill>
          </a:ln>
        </p:spPr>
        <p:txBody>
          <a:bodyPr wrap="square" lIns="50292" tIns="32004" rIns="50292" bIns="32004" rtlCol="0" anchor="ctr">
            <a:noAutofit/>
          </a:bodyPr>
          <a:lstStyle/>
          <a:p>
            <a:pPr algn="ctr">
              <a:lnSpc>
                <a:spcPct val="100000"/>
              </a:lnSpc>
              <a:spcBef>
                <a:spcPts val="0"/>
              </a:spcBef>
              <a:spcAft>
                <a:spcPts val="0"/>
              </a:spcAft>
            </a:pPr>
            <a:r>
              <a:rPr sz="1050" b="1">
                <a:solidFill>
                  <a:srgbClr val="000000"/>
                </a:solidFill>
                <a:latin typeface="Aptos"/>
              </a:rPr>
              <a:t>Workday Agents</a:t>
            </a:r>
          </a:p>
        </p:txBody>
      </p:sp>
      <p:sp>
        <p:nvSpPr>
          <p:cNvPr id="43" name="Rounded Rectangle 42"/>
          <p:cNvSpPr/>
          <p:nvPr/>
        </p:nvSpPr>
        <p:spPr>
          <a:xfrm>
            <a:off x="9838944" y="3170948"/>
            <a:ext cx="1307592" cy="457200"/>
          </a:xfrm>
          <a:prstGeom prst="roundRect">
            <a:avLst/>
          </a:prstGeom>
          <a:noFill/>
          <a:ln w="3175">
            <a:solidFill>
              <a:schemeClr val="accent1"/>
            </a:solidFill>
          </a:ln>
        </p:spPr>
        <p:txBody>
          <a:bodyPr wrap="square" lIns="50292" tIns="32004" rIns="50292" bIns="32004" rtlCol="0" anchor="ctr">
            <a:noAutofit/>
          </a:bodyPr>
          <a:lstStyle/>
          <a:p>
            <a:pPr algn="ctr">
              <a:lnSpc>
                <a:spcPct val="100000"/>
              </a:lnSpc>
              <a:spcBef>
                <a:spcPts val="0"/>
              </a:spcBef>
              <a:spcAft>
                <a:spcPts val="0"/>
              </a:spcAft>
            </a:pPr>
            <a:r>
              <a:rPr sz="1050" b="1">
                <a:solidFill>
                  <a:srgbClr val="000000"/>
                </a:solidFill>
                <a:latin typeface="Aptos"/>
              </a:rPr>
              <a:t>OneStream </a:t>
            </a:r>
            <a:r>
              <a:rPr sz="1050" b="1" err="1">
                <a:solidFill>
                  <a:srgbClr val="000000"/>
                </a:solidFill>
                <a:latin typeface="Aptos"/>
              </a:rPr>
              <a:t>SensibleAI</a:t>
            </a:r>
            <a:r>
              <a:rPr sz="1050" b="1">
                <a:solidFill>
                  <a:srgbClr val="000000"/>
                </a:solidFill>
                <a:latin typeface="Aptos"/>
              </a:rPr>
              <a:t> Agents</a:t>
            </a:r>
          </a:p>
        </p:txBody>
      </p:sp>
      <p:sp>
        <p:nvSpPr>
          <p:cNvPr id="44" name="Rounded Rectangle 43"/>
          <p:cNvSpPr/>
          <p:nvPr/>
        </p:nvSpPr>
        <p:spPr>
          <a:xfrm>
            <a:off x="9838944" y="3737876"/>
            <a:ext cx="1307592" cy="457200"/>
          </a:xfrm>
          <a:prstGeom prst="roundRect">
            <a:avLst/>
          </a:prstGeom>
          <a:noFill/>
          <a:ln w="3175">
            <a:solidFill>
              <a:schemeClr val="accent1"/>
            </a:solidFill>
          </a:ln>
        </p:spPr>
        <p:txBody>
          <a:bodyPr wrap="square" lIns="50292" tIns="32004" rIns="50292" bIns="32004" rtlCol="0" anchor="ctr">
            <a:noAutofit/>
          </a:bodyPr>
          <a:lstStyle/>
          <a:p>
            <a:pPr algn="ctr">
              <a:lnSpc>
                <a:spcPct val="100000"/>
              </a:lnSpc>
              <a:spcBef>
                <a:spcPts val="0"/>
              </a:spcBef>
              <a:spcAft>
                <a:spcPts val="0"/>
              </a:spcAft>
            </a:pPr>
            <a:r>
              <a:rPr sz="1050" b="1">
                <a:solidFill>
                  <a:srgbClr val="000000"/>
                </a:solidFill>
                <a:latin typeface="Aptos"/>
              </a:rPr>
              <a:t>Coupa Navi Agents</a:t>
            </a:r>
          </a:p>
        </p:txBody>
      </p:sp>
      <p:sp>
        <p:nvSpPr>
          <p:cNvPr id="45" name="Rounded Rectangle 44"/>
          <p:cNvSpPr/>
          <p:nvPr/>
        </p:nvSpPr>
        <p:spPr>
          <a:xfrm>
            <a:off x="7652454" y="5110545"/>
            <a:ext cx="1554480" cy="384048"/>
          </a:xfrm>
          <a:prstGeom prst="roundRect">
            <a:avLst/>
          </a:prstGeom>
          <a:solidFill>
            <a:srgbClr val="DDEFE8"/>
          </a:solidFill>
          <a:ln w="3175">
            <a:solidFill>
              <a:srgbClr val="007CB0"/>
            </a:solidFill>
          </a:ln>
        </p:spPr>
        <p:txBody>
          <a:bodyPr wrap="square" lIns="50292" tIns="32004" rIns="50292" bIns="32004" rtlCol="0" anchor="ctr">
            <a:noAutofit/>
          </a:bodyPr>
          <a:lstStyle/>
          <a:p>
            <a:pPr algn="ctr">
              <a:lnSpc>
                <a:spcPct val="100000"/>
              </a:lnSpc>
              <a:spcBef>
                <a:spcPts val="0"/>
              </a:spcBef>
              <a:spcAft>
                <a:spcPts val="0"/>
              </a:spcAft>
            </a:pPr>
            <a:r>
              <a:rPr sz="1050" b="1">
                <a:solidFill>
                  <a:srgbClr val="000000"/>
                </a:solidFill>
                <a:latin typeface="Aptos"/>
              </a:rPr>
              <a:t>Google Gemini Enterprise</a:t>
            </a:r>
          </a:p>
        </p:txBody>
      </p:sp>
      <p:sp>
        <p:nvSpPr>
          <p:cNvPr id="46" name="Rounded Rectangle 45"/>
          <p:cNvSpPr/>
          <p:nvPr/>
        </p:nvSpPr>
        <p:spPr>
          <a:xfrm>
            <a:off x="9298375" y="5110545"/>
            <a:ext cx="1554480" cy="384048"/>
          </a:xfrm>
          <a:prstGeom prst="roundRect">
            <a:avLst/>
          </a:prstGeom>
          <a:solidFill>
            <a:srgbClr val="DDEFE8"/>
          </a:solidFill>
          <a:ln w="3175">
            <a:solidFill>
              <a:srgbClr val="007CB0"/>
            </a:solidFill>
          </a:ln>
        </p:spPr>
        <p:txBody>
          <a:bodyPr wrap="square" lIns="50292" tIns="32004" rIns="50292" bIns="32004" rtlCol="0" anchor="ctr">
            <a:noAutofit/>
          </a:bodyPr>
          <a:lstStyle/>
          <a:p>
            <a:pPr algn="ctr">
              <a:lnSpc>
                <a:spcPct val="100000"/>
              </a:lnSpc>
              <a:spcBef>
                <a:spcPts val="0"/>
              </a:spcBef>
              <a:spcAft>
                <a:spcPts val="0"/>
              </a:spcAft>
            </a:pPr>
            <a:r>
              <a:rPr sz="1050" b="1">
                <a:solidFill>
                  <a:srgbClr val="000000"/>
                </a:solidFill>
                <a:latin typeface="Aptos"/>
              </a:rPr>
              <a:t>AWS Bedrock AgentCore</a:t>
            </a:r>
          </a:p>
        </p:txBody>
      </p:sp>
      <p:sp>
        <p:nvSpPr>
          <p:cNvPr id="47" name="Rounded Rectangle 46"/>
          <p:cNvSpPr/>
          <p:nvPr/>
        </p:nvSpPr>
        <p:spPr>
          <a:xfrm>
            <a:off x="9298375" y="5604321"/>
            <a:ext cx="1554480" cy="384048"/>
          </a:xfrm>
          <a:prstGeom prst="roundRect">
            <a:avLst/>
          </a:prstGeom>
          <a:solidFill>
            <a:srgbClr val="9DD4CF"/>
          </a:solidFill>
          <a:ln w="3175">
            <a:solidFill>
              <a:srgbClr val="007CB0"/>
            </a:solidFill>
          </a:ln>
        </p:spPr>
        <p:txBody>
          <a:bodyPr wrap="square" lIns="50292" tIns="32004" rIns="50292" bIns="32004" rtlCol="0" anchor="ctr">
            <a:noAutofit/>
          </a:bodyPr>
          <a:lstStyle/>
          <a:p>
            <a:pPr algn="ctr">
              <a:lnSpc>
                <a:spcPct val="100000"/>
              </a:lnSpc>
              <a:spcBef>
                <a:spcPts val="0"/>
              </a:spcBef>
              <a:spcAft>
                <a:spcPts val="0"/>
              </a:spcAft>
            </a:pPr>
            <a:r>
              <a:rPr sz="1050" b="1">
                <a:solidFill>
                  <a:srgbClr val="000000"/>
                </a:solidFill>
                <a:latin typeface="Aptos"/>
              </a:rPr>
              <a:t>Capgemini RAISE</a:t>
            </a:r>
          </a:p>
        </p:txBody>
      </p:sp>
      <p:sp>
        <p:nvSpPr>
          <p:cNvPr id="48" name="Rectangle: Rounded Corners 47">
            <a:extLst>
              <a:ext uri="{FF2B5EF4-FFF2-40B4-BE49-F238E27FC236}">
                <a16:creationId xmlns:a16="http://schemas.microsoft.com/office/drawing/2014/main" id="{DEA5FD19-47C5-D804-21A0-9B5179FD1E1B}"/>
              </a:ext>
            </a:extLst>
          </p:cNvPr>
          <p:cNvSpPr/>
          <p:nvPr/>
        </p:nvSpPr>
        <p:spPr bwMode="gray">
          <a:xfrm>
            <a:off x="1902172" y="3885217"/>
            <a:ext cx="1548384" cy="342000"/>
          </a:xfrm>
          <a:prstGeom prst="roundRect">
            <a:avLst/>
          </a:prstGeom>
          <a:noFill/>
          <a:ln w="3175"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Aptos"/>
                <a:ea typeface="+mn-ea"/>
                <a:cs typeface="+mn-cs"/>
              </a:rPr>
              <a:t>Gemini Enterprise</a:t>
            </a:r>
          </a:p>
        </p:txBody>
      </p:sp>
    </p:spTree>
    <p:extLst>
      <p:ext uri="{BB962C8B-B14F-4D97-AF65-F5344CB8AC3E}">
        <p14:creationId xmlns:p14="http://schemas.microsoft.com/office/powerpoint/2010/main" val="79970675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2EA14-D66E-660A-500E-B3D5DC6833B7}"/>
            </a:ext>
          </a:extLst>
        </p:cNvPr>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3A6A049D-D303-AB91-AEE0-61AE4F7C3C9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5" imgH="405" progId="TCLayout.ActiveDocument.1">
                  <p:embed/>
                </p:oleObj>
              </mc:Choice>
              <mc:Fallback>
                <p:oleObj name="think-cell Slide" r:id="rId5" imgW="405" imgH="405" progId="TCLayout.ActiveDocument.1">
                  <p:embed/>
                  <p:pic>
                    <p:nvPicPr>
                      <p:cNvPr id="40" name="think-cell data - do not delete" hidden="1">
                        <a:extLst>
                          <a:ext uri="{FF2B5EF4-FFF2-40B4-BE49-F238E27FC236}">
                            <a16:creationId xmlns:a16="http://schemas.microsoft.com/office/drawing/2014/main" id="{3A6A049D-D303-AB91-AEE0-61AE4F7C3C9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8AAE294-2BE5-109B-7480-7AC742C91B31}"/>
              </a:ext>
            </a:extLst>
          </p:cNvPr>
          <p:cNvSpPr>
            <a:spLocks noGrp="1"/>
          </p:cNvSpPr>
          <p:nvPr>
            <p:ph type="title"/>
          </p:nvPr>
        </p:nvSpPr>
        <p:spPr>
          <a:xfrm>
            <a:off x="457200" y="292608"/>
            <a:ext cx="11274552" cy="822960"/>
          </a:xfrm>
        </p:spPr>
        <p:txBody>
          <a:bodyPr vert="horz" wrap="square" rIns="0"/>
          <a:lstStyle/>
          <a:p>
            <a:pPr>
              <a:lnSpc>
                <a:spcPct val="100000"/>
              </a:lnSpc>
            </a:pPr>
            <a:r>
              <a:t>Zora's direct competition sits in the </a:t>
            </a:r>
            <a:r>
              <a:rPr lang="en-US"/>
              <a:t>deployable agents </a:t>
            </a:r>
            <a:r>
              <a:t>layer, split into three categories that each need a different </a:t>
            </a:r>
            <a:r>
              <a:rPr lang="en-US"/>
              <a:t>sales posturing</a:t>
            </a:r>
            <a:endParaRPr/>
          </a:p>
        </p:txBody>
      </p:sp>
      <p:sp>
        <p:nvSpPr>
          <p:cNvPr id="4" name="Rectangle 3">
            <a:extLst>
              <a:ext uri="{FF2B5EF4-FFF2-40B4-BE49-F238E27FC236}">
                <a16:creationId xmlns:a16="http://schemas.microsoft.com/office/drawing/2014/main" id="{28FD4D69-B9EC-CCF6-D86B-1BD4847A6E68}"/>
              </a:ext>
            </a:extLst>
          </p:cNvPr>
          <p:cNvSpPr/>
          <p:nvPr/>
        </p:nvSpPr>
        <p:spPr>
          <a:xfrm>
            <a:off x="457200" y="1280160"/>
            <a:ext cx="3290835" cy="384048"/>
          </a:xfrm>
          <a:prstGeom prst="rect">
            <a:avLst/>
          </a:prstGeom>
          <a:solidFill>
            <a:srgbClr val="86BC25"/>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5" name="TextBox 4">
            <a:extLst>
              <a:ext uri="{FF2B5EF4-FFF2-40B4-BE49-F238E27FC236}">
                <a16:creationId xmlns:a16="http://schemas.microsoft.com/office/drawing/2014/main" id="{3465E542-1893-3C5B-60E5-92DC2CDA942C}"/>
              </a:ext>
            </a:extLst>
          </p:cNvPr>
          <p:cNvSpPr txBox="1"/>
          <p:nvPr/>
        </p:nvSpPr>
        <p:spPr>
          <a:xfrm>
            <a:off x="813816" y="1385316"/>
            <a:ext cx="2861067" cy="17373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ptos"/>
                <a:ea typeface="+mn-ea"/>
                <a:cs typeface="+mn-cs"/>
              </a:rPr>
              <a:t>1. General Productivity Agents</a:t>
            </a:r>
          </a:p>
        </p:txBody>
      </p:sp>
      <p:sp>
        <p:nvSpPr>
          <p:cNvPr id="6" name="Rectangle 5">
            <a:extLst>
              <a:ext uri="{FF2B5EF4-FFF2-40B4-BE49-F238E27FC236}">
                <a16:creationId xmlns:a16="http://schemas.microsoft.com/office/drawing/2014/main" id="{6AA303F7-604D-45DC-DD6E-37E058DD6CC6}"/>
              </a:ext>
            </a:extLst>
          </p:cNvPr>
          <p:cNvSpPr/>
          <p:nvPr/>
        </p:nvSpPr>
        <p:spPr>
          <a:xfrm>
            <a:off x="457201" y="1664208"/>
            <a:ext cx="3290834" cy="1726196"/>
          </a:xfrm>
          <a:prstGeom prst="rect">
            <a:avLst/>
          </a:prstGeom>
          <a:solidFill>
            <a:srgbClr val="FFFFFF"/>
          </a:solidFill>
          <a:ln w="9525">
            <a:solidFill>
              <a:srgbClr val="D0D0D0"/>
            </a:solid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9" name="Rectangle 8">
            <a:extLst>
              <a:ext uri="{FF2B5EF4-FFF2-40B4-BE49-F238E27FC236}">
                <a16:creationId xmlns:a16="http://schemas.microsoft.com/office/drawing/2014/main" id="{A3C99A4F-48AC-9753-BF3C-FEA5D6FADD9F}"/>
              </a:ext>
            </a:extLst>
          </p:cNvPr>
          <p:cNvSpPr/>
          <p:nvPr/>
        </p:nvSpPr>
        <p:spPr>
          <a:xfrm>
            <a:off x="457200" y="3536709"/>
            <a:ext cx="3290835" cy="1353312"/>
          </a:xfrm>
          <a:prstGeom prst="rect">
            <a:avLst/>
          </a:prstGeom>
          <a:solidFill>
            <a:schemeClr val="accent1">
              <a:lumMod val="20000"/>
              <a:lumOff val="80000"/>
            </a:schemeClr>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Box 9">
            <a:extLst>
              <a:ext uri="{FF2B5EF4-FFF2-40B4-BE49-F238E27FC236}">
                <a16:creationId xmlns:a16="http://schemas.microsoft.com/office/drawing/2014/main" id="{C9F14E95-9503-4CE7-51DE-52BC8CE78A21}"/>
              </a:ext>
            </a:extLst>
          </p:cNvPr>
          <p:cNvSpPr txBox="1"/>
          <p:nvPr/>
        </p:nvSpPr>
        <p:spPr>
          <a:xfrm>
            <a:off x="585216" y="3628149"/>
            <a:ext cx="3082432" cy="11887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POSSIBLE SALES POSITIONING FOR ZORA</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Position as complementary: copilots raise individual productivity; Zora owns the functional workflow.</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Clarify employee-versus-agent roles, escalation, and outcome measures.</a:t>
            </a:r>
          </a:p>
        </p:txBody>
      </p:sp>
      <p:sp>
        <p:nvSpPr>
          <p:cNvPr id="12" name="Rectangle 11">
            <a:extLst>
              <a:ext uri="{FF2B5EF4-FFF2-40B4-BE49-F238E27FC236}">
                <a16:creationId xmlns:a16="http://schemas.microsoft.com/office/drawing/2014/main" id="{436BAC8A-DA48-4DA7-7313-AB14B83DEFAB}"/>
              </a:ext>
            </a:extLst>
          </p:cNvPr>
          <p:cNvSpPr/>
          <p:nvPr/>
        </p:nvSpPr>
        <p:spPr>
          <a:xfrm>
            <a:off x="457200" y="5036325"/>
            <a:ext cx="3290835" cy="960120"/>
          </a:xfrm>
          <a:prstGeom prst="rect">
            <a:avLst/>
          </a:prstGeom>
          <a:solidFill>
            <a:schemeClr val="accent2"/>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Box 13">
            <a:extLst>
              <a:ext uri="{FF2B5EF4-FFF2-40B4-BE49-F238E27FC236}">
                <a16:creationId xmlns:a16="http://schemas.microsoft.com/office/drawing/2014/main" id="{DACE2FCA-DE5F-3D3B-5BBA-71F7E9F9866D}"/>
              </a:ext>
            </a:extLst>
          </p:cNvPr>
          <p:cNvSpPr txBox="1"/>
          <p:nvPr/>
        </p:nvSpPr>
        <p:spPr>
          <a:xfrm>
            <a:off x="566928" y="5118621"/>
            <a:ext cx="3100720" cy="17373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ptos"/>
                <a:ea typeface="+mn-ea"/>
                <a:cs typeface="+mn-cs"/>
              </a:rPr>
              <a:t>POSSIBLE SELLER RESPONSE</a:t>
            </a:r>
          </a:p>
        </p:txBody>
      </p:sp>
      <p:sp>
        <p:nvSpPr>
          <p:cNvPr id="15" name="TextBox 14">
            <a:extLst>
              <a:ext uri="{FF2B5EF4-FFF2-40B4-BE49-F238E27FC236}">
                <a16:creationId xmlns:a16="http://schemas.microsoft.com/office/drawing/2014/main" id="{34FFF0DB-468B-A6C8-D9E1-FD6EDD718E20}"/>
              </a:ext>
            </a:extLst>
          </p:cNvPr>
          <p:cNvSpPr txBox="1"/>
          <p:nvPr/>
        </p:nvSpPr>
        <p:spPr>
          <a:xfrm>
            <a:off x="566928" y="5328933"/>
            <a:ext cx="3100720" cy="603504"/>
          </a:xfrm>
          <a:prstGeom prst="rect">
            <a:avLst/>
          </a:prstGeom>
          <a:noFill/>
        </p:spPr>
        <p:txBody>
          <a:bodyPr wrap="square" lIns="0" tIns="0" rIns="0" bIns="0" anchor="t">
            <a:sp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lang="en-US" sz="1100" b="0" i="1" u="none">
                <a:solidFill>
                  <a:srgbClr val="FFFFFF"/>
                </a:solidFill>
                <a:latin typeface="Aptos"/>
              </a:rPr>
              <a:t>“Copilots assist employees; Zora executes governed, domain-specific workflows.”</a:t>
            </a:r>
          </a:p>
        </p:txBody>
      </p:sp>
      <p:sp>
        <p:nvSpPr>
          <p:cNvPr id="16" name="Rectangle 15">
            <a:extLst>
              <a:ext uri="{FF2B5EF4-FFF2-40B4-BE49-F238E27FC236}">
                <a16:creationId xmlns:a16="http://schemas.microsoft.com/office/drawing/2014/main" id="{CE998582-DBD0-6F2A-E56F-54F7BB2F0E63}"/>
              </a:ext>
            </a:extLst>
          </p:cNvPr>
          <p:cNvSpPr/>
          <p:nvPr/>
        </p:nvSpPr>
        <p:spPr>
          <a:xfrm>
            <a:off x="3876051" y="1280160"/>
            <a:ext cx="4619729" cy="384048"/>
          </a:xfrm>
          <a:prstGeom prst="rect">
            <a:avLst/>
          </a:prstGeom>
          <a:solidFill>
            <a:srgbClr val="86BC25"/>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Box 16">
            <a:extLst>
              <a:ext uri="{FF2B5EF4-FFF2-40B4-BE49-F238E27FC236}">
                <a16:creationId xmlns:a16="http://schemas.microsoft.com/office/drawing/2014/main" id="{BB7ADF6E-B08D-B8D6-873F-1A2A1EB69E7E}"/>
              </a:ext>
            </a:extLst>
          </p:cNvPr>
          <p:cNvSpPr txBox="1"/>
          <p:nvPr/>
        </p:nvSpPr>
        <p:spPr>
          <a:xfrm>
            <a:off x="4232667" y="1385316"/>
            <a:ext cx="4189961" cy="17373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ptos"/>
                <a:ea typeface="+mn-ea"/>
                <a:cs typeface="+mn-cs"/>
              </a:rPr>
              <a:t>2. Functional/Industry Agents</a:t>
            </a:r>
          </a:p>
        </p:txBody>
      </p:sp>
      <p:sp>
        <p:nvSpPr>
          <p:cNvPr id="18" name="Rectangle 17">
            <a:extLst>
              <a:ext uri="{FF2B5EF4-FFF2-40B4-BE49-F238E27FC236}">
                <a16:creationId xmlns:a16="http://schemas.microsoft.com/office/drawing/2014/main" id="{44650C38-53AB-F37E-FCA7-7BA1B84B61D8}"/>
              </a:ext>
            </a:extLst>
          </p:cNvPr>
          <p:cNvSpPr/>
          <p:nvPr/>
        </p:nvSpPr>
        <p:spPr>
          <a:xfrm>
            <a:off x="3876051" y="1664207"/>
            <a:ext cx="4619729" cy="1726197"/>
          </a:xfrm>
          <a:prstGeom prst="rect">
            <a:avLst/>
          </a:prstGeom>
          <a:solidFill>
            <a:srgbClr val="FFFFFF"/>
          </a:solidFill>
          <a:ln w="9525">
            <a:solidFill>
              <a:srgbClr val="D0D0D0"/>
            </a:solid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21" name="Rectangle 20">
            <a:extLst>
              <a:ext uri="{FF2B5EF4-FFF2-40B4-BE49-F238E27FC236}">
                <a16:creationId xmlns:a16="http://schemas.microsoft.com/office/drawing/2014/main" id="{9D7378C1-0107-1F92-6438-DA8C5E12447B}"/>
              </a:ext>
            </a:extLst>
          </p:cNvPr>
          <p:cNvSpPr/>
          <p:nvPr/>
        </p:nvSpPr>
        <p:spPr>
          <a:xfrm>
            <a:off x="3876051" y="3536709"/>
            <a:ext cx="4619729" cy="1353312"/>
          </a:xfrm>
          <a:prstGeom prst="rect">
            <a:avLst/>
          </a:prstGeom>
          <a:solidFill>
            <a:schemeClr val="accent1">
              <a:lumMod val="20000"/>
              <a:lumOff val="80000"/>
            </a:schemeClr>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22" name="TextBox 21">
            <a:extLst>
              <a:ext uri="{FF2B5EF4-FFF2-40B4-BE49-F238E27FC236}">
                <a16:creationId xmlns:a16="http://schemas.microsoft.com/office/drawing/2014/main" id="{AF766E45-50B2-C280-4CAA-30AF2B217A63}"/>
              </a:ext>
            </a:extLst>
          </p:cNvPr>
          <p:cNvSpPr txBox="1"/>
          <p:nvPr/>
        </p:nvSpPr>
        <p:spPr>
          <a:xfrm>
            <a:off x="3985779" y="3628149"/>
            <a:ext cx="4410969" cy="971292"/>
          </a:xfrm>
          <a:prstGeom prst="rect">
            <a:avLst/>
          </a:prstGeom>
          <a:noFill/>
        </p:spPr>
        <p:txBody>
          <a:bodyPr wrap="square" lIns="0" tIns="0" rIns="0" bIns="0" anchor="t">
            <a:spAutoFit/>
          </a:bodyPr>
          <a:lstStyle/>
          <a:p>
            <a:pPr lvl="0">
              <a:spcAft>
                <a:spcPts val="500"/>
              </a:spcAft>
              <a:defRPr/>
            </a:pPr>
            <a:r>
              <a:rPr lang="en-US" sz="1100" b="1">
                <a:solidFill>
                  <a:prstClr val="black"/>
                </a:solidFill>
              </a:rPr>
              <a:t>POSSIBLE SALES POSITIONING FOR ZORA</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Against Enterprise Suites, prove named-workflow depth, autonomy and outcomes.</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Against Specialists, lead with cross-domain/system breadth; concede when niche depth or application replacement </a:t>
            </a:r>
            <a:r>
              <a:rPr lang="en-US" sz="1100">
                <a:latin typeface="Aptos"/>
              </a:rPr>
              <a:t>is client priority</a:t>
            </a:r>
            <a:r>
              <a:rPr lang="en-US" sz="1100" b="0" i="0" u="none">
                <a:latin typeface="Aptos"/>
              </a:rPr>
              <a:t>.</a:t>
            </a:r>
          </a:p>
        </p:txBody>
      </p:sp>
      <p:sp>
        <p:nvSpPr>
          <p:cNvPr id="24" name="Rectangle 23">
            <a:extLst>
              <a:ext uri="{FF2B5EF4-FFF2-40B4-BE49-F238E27FC236}">
                <a16:creationId xmlns:a16="http://schemas.microsoft.com/office/drawing/2014/main" id="{2B23D133-239E-DF31-160C-BBCFDA271953}"/>
              </a:ext>
            </a:extLst>
          </p:cNvPr>
          <p:cNvSpPr/>
          <p:nvPr/>
        </p:nvSpPr>
        <p:spPr>
          <a:xfrm>
            <a:off x="3876051" y="5036325"/>
            <a:ext cx="4619729" cy="960120"/>
          </a:xfrm>
          <a:prstGeom prst="rect">
            <a:avLst/>
          </a:prstGeom>
          <a:solidFill>
            <a:schemeClr val="accent2"/>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26" name="TextBox 25">
            <a:extLst>
              <a:ext uri="{FF2B5EF4-FFF2-40B4-BE49-F238E27FC236}">
                <a16:creationId xmlns:a16="http://schemas.microsoft.com/office/drawing/2014/main" id="{42ABBA50-5111-DF52-D2E5-B9B88FA776E3}"/>
              </a:ext>
            </a:extLst>
          </p:cNvPr>
          <p:cNvSpPr txBox="1"/>
          <p:nvPr/>
        </p:nvSpPr>
        <p:spPr>
          <a:xfrm>
            <a:off x="3985778" y="5118621"/>
            <a:ext cx="3410712" cy="17373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ptos"/>
                <a:ea typeface="+mn-ea"/>
                <a:cs typeface="+mn-cs"/>
              </a:rPr>
              <a:t>POSSIBLE SELLER RESPONSE</a:t>
            </a:r>
          </a:p>
        </p:txBody>
      </p:sp>
      <p:sp>
        <p:nvSpPr>
          <p:cNvPr id="27" name="TextBox 26">
            <a:extLst>
              <a:ext uri="{FF2B5EF4-FFF2-40B4-BE49-F238E27FC236}">
                <a16:creationId xmlns:a16="http://schemas.microsoft.com/office/drawing/2014/main" id="{6E92035E-2B82-21F0-5781-BBB9EB99847E}"/>
              </a:ext>
            </a:extLst>
          </p:cNvPr>
          <p:cNvSpPr txBox="1"/>
          <p:nvPr/>
        </p:nvSpPr>
        <p:spPr>
          <a:xfrm>
            <a:off x="3985778" y="5328933"/>
            <a:ext cx="4410970" cy="172355"/>
          </a:xfrm>
          <a:prstGeom prst="rect">
            <a:avLst/>
          </a:prstGeom>
          <a:noFill/>
        </p:spPr>
        <p:txBody>
          <a:bodyPr wrap="square" lIns="0" tIns="0" rIns="0" bIns="0" anchor="t">
            <a:sp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lang="en-US" sz="1100" b="0" i="1" u="none">
                <a:solidFill>
                  <a:srgbClr val="FFFFFF"/>
                </a:solidFill>
                <a:latin typeface="Aptos"/>
              </a:rPr>
              <a:t>“Zora combines domain breadth with deeper, productized workflows”</a:t>
            </a:r>
          </a:p>
        </p:txBody>
      </p:sp>
      <p:sp>
        <p:nvSpPr>
          <p:cNvPr id="28" name="Rectangle 27">
            <a:extLst>
              <a:ext uri="{FF2B5EF4-FFF2-40B4-BE49-F238E27FC236}">
                <a16:creationId xmlns:a16="http://schemas.microsoft.com/office/drawing/2014/main" id="{54925D5C-0EEF-59BC-C56C-7E7F240D6BA9}"/>
              </a:ext>
            </a:extLst>
          </p:cNvPr>
          <p:cNvSpPr/>
          <p:nvPr/>
        </p:nvSpPr>
        <p:spPr>
          <a:xfrm>
            <a:off x="8623796" y="1280160"/>
            <a:ext cx="3290836" cy="384048"/>
          </a:xfrm>
          <a:prstGeom prst="rect">
            <a:avLst/>
          </a:prstGeom>
          <a:solidFill>
            <a:srgbClr val="86BC25"/>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29" name="TextBox 28">
            <a:extLst>
              <a:ext uri="{FF2B5EF4-FFF2-40B4-BE49-F238E27FC236}">
                <a16:creationId xmlns:a16="http://schemas.microsoft.com/office/drawing/2014/main" id="{87DFA6D4-9F59-E596-677C-3A7653956246}"/>
              </a:ext>
            </a:extLst>
          </p:cNvPr>
          <p:cNvSpPr txBox="1"/>
          <p:nvPr/>
        </p:nvSpPr>
        <p:spPr>
          <a:xfrm>
            <a:off x="8980412" y="1385316"/>
            <a:ext cx="2861068" cy="17373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ptos"/>
                <a:ea typeface="+mn-ea"/>
                <a:cs typeface="+mn-cs"/>
              </a:rPr>
              <a:t>3. Application-native Agents</a:t>
            </a:r>
          </a:p>
        </p:txBody>
      </p:sp>
      <p:sp>
        <p:nvSpPr>
          <p:cNvPr id="30" name="Rectangle 29">
            <a:extLst>
              <a:ext uri="{FF2B5EF4-FFF2-40B4-BE49-F238E27FC236}">
                <a16:creationId xmlns:a16="http://schemas.microsoft.com/office/drawing/2014/main" id="{F64FFCB0-D0B5-979C-6B5C-3B6FB96E59AB}"/>
              </a:ext>
            </a:extLst>
          </p:cNvPr>
          <p:cNvSpPr/>
          <p:nvPr/>
        </p:nvSpPr>
        <p:spPr>
          <a:xfrm>
            <a:off x="8623796" y="1664208"/>
            <a:ext cx="3290836" cy="1726196"/>
          </a:xfrm>
          <a:prstGeom prst="rect">
            <a:avLst/>
          </a:prstGeom>
          <a:solidFill>
            <a:srgbClr val="FFFFFF"/>
          </a:solidFill>
          <a:ln w="9525">
            <a:solidFill>
              <a:srgbClr val="D0D0D0"/>
            </a:solid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33" name="Rectangle 32">
            <a:extLst>
              <a:ext uri="{FF2B5EF4-FFF2-40B4-BE49-F238E27FC236}">
                <a16:creationId xmlns:a16="http://schemas.microsoft.com/office/drawing/2014/main" id="{6A30427E-ADC1-A4A5-EAFB-E9F754E74336}"/>
              </a:ext>
            </a:extLst>
          </p:cNvPr>
          <p:cNvSpPr/>
          <p:nvPr/>
        </p:nvSpPr>
        <p:spPr>
          <a:xfrm>
            <a:off x="8623796" y="3536709"/>
            <a:ext cx="3290835" cy="1353312"/>
          </a:xfrm>
          <a:prstGeom prst="rect">
            <a:avLst/>
          </a:prstGeom>
          <a:solidFill>
            <a:schemeClr val="accent1">
              <a:lumMod val="20000"/>
              <a:lumOff val="80000"/>
            </a:schemeClr>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34" name="TextBox 33">
            <a:extLst>
              <a:ext uri="{FF2B5EF4-FFF2-40B4-BE49-F238E27FC236}">
                <a16:creationId xmlns:a16="http://schemas.microsoft.com/office/drawing/2014/main" id="{A9152EB9-60F1-4A23-7FAF-86A674B2E5C4}"/>
              </a:ext>
            </a:extLst>
          </p:cNvPr>
          <p:cNvSpPr txBox="1"/>
          <p:nvPr/>
        </p:nvSpPr>
        <p:spPr>
          <a:xfrm>
            <a:off x="8734829" y="3628149"/>
            <a:ext cx="3051785" cy="1188720"/>
          </a:xfrm>
          <a:prstGeom prst="rect">
            <a:avLst/>
          </a:prstGeom>
          <a:noFill/>
        </p:spPr>
        <p:txBody>
          <a:bodyPr wrap="square" lIns="0" tIns="0" rIns="0" bIns="0" anchor="t">
            <a:spAutoFit/>
          </a:bodyPr>
          <a:lstStyle/>
          <a:p>
            <a:pPr lvl="0">
              <a:spcAft>
                <a:spcPts val="500"/>
              </a:spcAft>
              <a:defRPr/>
            </a:pPr>
            <a:r>
              <a:rPr lang="en-US" sz="1100" b="1">
                <a:solidFill>
                  <a:prstClr val="black"/>
                </a:solidFill>
              </a:rPr>
              <a:t>POSSIBLE SALES POSITIONING FOR ZORA</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Position Zora as the cross-application orchestration layer.</a:t>
            </a:r>
          </a:p>
          <a:p>
            <a:pPr marL="171450" lvl="0" indent="-171450">
              <a:lnSpc>
                <a:spcPct val="102000"/>
              </a:lnSpc>
              <a:spcBef>
                <a:spcPts val="0"/>
              </a:spcBef>
              <a:spcAft>
                <a:spcPts val="400"/>
              </a:spcAft>
              <a:buFont typeface="Arial" panose="020B0604020202020204" pitchFamily="34" charset="0"/>
              <a:buChar char="•"/>
              <a:defRPr/>
            </a:pPr>
            <a:r>
              <a:rPr lang="en-US" sz="1100" b="0" i="0" u="none">
                <a:latin typeface="Aptos"/>
              </a:rPr>
              <a:t>Complements native agents where outcomes span systems and functions, </a:t>
            </a:r>
            <a:r>
              <a:rPr lang="en-US" sz="1100">
                <a:solidFill>
                  <a:prstClr val="black"/>
                </a:solidFill>
              </a:rPr>
              <a:t>coordinating tasks with app-native agents</a:t>
            </a:r>
            <a:endParaRPr lang="en-US" sz="1100" b="0" i="0" u="none">
              <a:latin typeface="Aptos"/>
            </a:endParaRPr>
          </a:p>
        </p:txBody>
      </p:sp>
      <p:sp>
        <p:nvSpPr>
          <p:cNvPr id="36" name="Rectangle 35">
            <a:extLst>
              <a:ext uri="{FF2B5EF4-FFF2-40B4-BE49-F238E27FC236}">
                <a16:creationId xmlns:a16="http://schemas.microsoft.com/office/drawing/2014/main" id="{56705E20-90E5-4052-FEEF-AF2DD514A8C8}"/>
              </a:ext>
            </a:extLst>
          </p:cNvPr>
          <p:cNvSpPr/>
          <p:nvPr/>
        </p:nvSpPr>
        <p:spPr>
          <a:xfrm>
            <a:off x="8623796" y="5036325"/>
            <a:ext cx="3290836" cy="960120"/>
          </a:xfrm>
          <a:prstGeom prst="rect">
            <a:avLst/>
          </a:prstGeom>
          <a:solidFill>
            <a:schemeClr val="accent2"/>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38" name="TextBox 37">
            <a:extLst>
              <a:ext uri="{FF2B5EF4-FFF2-40B4-BE49-F238E27FC236}">
                <a16:creationId xmlns:a16="http://schemas.microsoft.com/office/drawing/2014/main" id="{11847390-3A07-34B9-639D-FE9BA0BE821B}"/>
              </a:ext>
            </a:extLst>
          </p:cNvPr>
          <p:cNvSpPr txBox="1"/>
          <p:nvPr/>
        </p:nvSpPr>
        <p:spPr>
          <a:xfrm>
            <a:off x="8734830" y="5118621"/>
            <a:ext cx="3033498" cy="17373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ptos"/>
                <a:ea typeface="+mn-ea"/>
                <a:cs typeface="+mn-cs"/>
              </a:rPr>
              <a:t>POSSIBLE SELLER RESPONSE</a:t>
            </a:r>
          </a:p>
        </p:txBody>
      </p:sp>
      <p:sp>
        <p:nvSpPr>
          <p:cNvPr id="39" name="TextBox 38">
            <a:extLst>
              <a:ext uri="{FF2B5EF4-FFF2-40B4-BE49-F238E27FC236}">
                <a16:creationId xmlns:a16="http://schemas.microsoft.com/office/drawing/2014/main" id="{DCE55FFA-2115-B483-FB5B-A821C89EE789}"/>
              </a:ext>
            </a:extLst>
          </p:cNvPr>
          <p:cNvSpPr txBox="1"/>
          <p:nvPr/>
        </p:nvSpPr>
        <p:spPr>
          <a:xfrm>
            <a:off x="8734830" y="5328933"/>
            <a:ext cx="3033498" cy="603504"/>
          </a:xfrm>
          <a:prstGeom prst="rect">
            <a:avLst/>
          </a:prstGeom>
          <a:noFill/>
        </p:spPr>
        <p:txBody>
          <a:bodyPr wrap="square" lIns="0" tIns="0" rIns="0" bIns="0" anchor="t">
            <a:sp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lang="en-US" sz="1100" b="0" i="1" u="none">
                <a:solidFill>
                  <a:srgbClr val="FFFFFF"/>
                </a:solidFill>
                <a:latin typeface="Aptos"/>
              </a:rPr>
              <a:t>“Native agents optimize workflow in one application; Zora orchestrates the end-to-end outcome across applications.”</a:t>
            </a:r>
          </a:p>
        </p:txBody>
      </p:sp>
      <p:sp>
        <p:nvSpPr>
          <p:cNvPr id="8" name="TextBox 7">
            <a:extLst>
              <a:ext uri="{FF2B5EF4-FFF2-40B4-BE49-F238E27FC236}">
                <a16:creationId xmlns:a16="http://schemas.microsoft.com/office/drawing/2014/main" id="{F7FAD07E-7A82-F873-6D25-513CF2D15030}"/>
              </a:ext>
            </a:extLst>
          </p:cNvPr>
          <p:cNvSpPr txBox="1"/>
          <p:nvPr/>
        </p:nvSpPr>
        <p:spPr>
          <a:xfrm>
            <a:off x="585216" y="1755648"/>
            <a:ext cx="3082432" cy="130381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HOW IT COMPARES WITH </a:t>
            </a:r>
            <a:r>
              <a:rPr kumimoji="0" sz="1100" b="1" i="0" u="none" strike="noStrike" kern="1200" cap="none" spc="0" normalizeH="0" baseline="0" noProof="0">
                <a:ln>
                  <a:noFill/>
                </a:ln>
                <a:solidFill>
                  <a:prstClr val="black"/>
                </a:solidFill>
                <a:effectLst/>
                <a:uLnTx/>
                <a:uFillTx/>
                <a:latin typeface="Aptos"/>
                <a:ea typeface="+mn-ea"/>
                <a:cs typeface="+mn-cs"/>
              </a:rPr>
              <a:t>ZORA</a:t>
            </a:r>
            <a:endParaRPr kumimoji="0" lang="en-US" sz="1100" b="1" i="0" u="none" strike="noStrike" kern="1200" cap="none" spc="0" normalizeH="0" baseline="0" noProof="0">
              <a:ln>
                <a:noFill/>
              </a:ln>
              <a:solidFill>
                <a:prstClr val="black"/>
              </a:solidFill>
              <a:effectLst/>
              <a:uLnTx/>
              <a:uFillTx/>
              <a:latin typeface="Aptos"/>
              <a:ea typeface="+mn-ea"/>
              <a:cs typeface="+mn-cs"/>
            </a:endParaRPr>
          </a:p>
          <a:p>
            <a:pPr marL="171450" marR="0" lvl="0" indent="-171450" algn="l" defTabSz="914400" rtl="0" eaLnBrk="1" fontAlgn="auto" latinLnBrk="0" hangingPunct="1">
              <a:lnSpc>
                <a:spcPct val="102000"/>
              </a:lnSpc>
              <a:spcBef>
                <a:spcPts val="0"/>
              </a:spcBef>
              <a:spcAft>
                <a:spcPts val="300"/>
              </a:spcAft>
              <a:buClrTx/>
              <a:buSzTx/>
              <a:buFont typeface="Arial" panose="020B0604020202020204" pitchFamily="34" charset="0"/>
              <a:buChar char="•"/>
              <a:tabLst/>
              <a:defRPr/>
            </a:pPr>
            <a:r>
              <a:rPr lang="en-US" sz="1100" b="1" i="0" u="none">
                <a:latin typeface="Aptos"/>
              </a:rPr>
              <a:t>Offerings in this category </a:t>
            </a:r>
            <a:r>
              <a:rPr lang="en-US" sz="1100" b="0" i="0" u="none">
                <a:latin typeface="Aptos"/>
              </a:rPr>
              <a:t>assist individual workers with a wide range of tasks, rather than autonomously executing domain workflows.</a:t>
            </a:r>
          </a:p>
          <a:p>
            <a:pPr marL="171450" marR="0" lvl="0" indent="-171450" algn="l" defTabSz="914400" rtl="0" eaLnBrk="1" fontAlgn="auto" latinLnBrk="0" hangingPunct="1">
              <a:lnSpc>
                <a:spcPct val="102000"/>
              </a:lnSpc>
              <a:spcBef>
                <a:spcPts val="0"/>
              </a:spcBef>
              <a:spcAft>
                <a:spcPts val="300"/>
              </a:spcAft>
              <a:buClrTx/>
              <a:buSzTx/>
              <a:buFont typeface="Arial" panose="020B0604020202020204" pitchFamily="34" charset="0"/>
              <a:buChar char="•"/>
              <a:tabLst/>
              <a:defRPr/>
            </a:pPr>
            <a:r>
              <a:rPr lang="en-US" sz="1100" b="1" i="0" u="none">
                <a:latin typeface="Aptos"/>
              </a:rPr>
              <a:t>Zora, in contrast, offers </a:t>
            </a:r>
            <a:r>
              <a:rPr lang="en-US" sz="1100" i="0" u="none">
                <a:latin typeface="Aptos"/>
              </a:rPr>
              <a:t>p</a:t>
            </a:r>
            <a:r>
              <a:rPr lang="en-US" sz="1100" b="0" i="0" u="none">
                <a:latin typeface="Aptos"/>
              </a:rPr>
              <a:t>roductized end-to-end workflows with domain logic, approvals, and exception handling.</a:t>
            </a:r>
          </a:p>
        </p:txBody>
      </p:sp>
      <p:sp>
        <p:nvSpPr>
          <p:cNvPr id="20" name="TextBox 19">
            <a:extLst>
              <a:ext uri="{FF2B5EF4-FFF2-40B4-BE49-F238E27FC236}">
                <a16:creationId xmlns:a16="http://schemas.microsoft.com/office/drawing/2014/main" id="{27FDD846-8AA0-4ADC-07F1-C4D615C8E8D5}"/>
              </a:ext>
            </a:extLst>
          </p:cNvPr>
          <p:cNvSpPr txBox="1"/>
          <p:nvPr/>
        </p:nvSpPr>
        <p:spPr>
          <a:xfrm>
            <a:off x="3985778" y="1755648"/>
            <a:ext cx="4410970" cy="155343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HOW IT COMPARES WITH </a:t>
            </a:r>
            <a:r>
              <a:rPr kumimoji="0" sz="1100" b="1" i="0" u="none" strike="noStrike" kern="1200" cap="none" spc="0" normalizeH="0" baseline="0" noProof="0">
                <a:ln>
                  <a:noFill/>
                </a:ln>
                <a:solidFill>
                  <a:prstClr val="black"/>
                </a:solidFill>
                <a:effectLst/>
                <a:uLnTx/>
                <a:uFillTx/>
                <a:latin typeface="Aptos"/>
                <a:ea typeface="+mn-ea"/>
                <a:cs typeface="+mn-cs"/>
              </a:rPr>
              <a:t>ZORA</a:t>
            </a:r>
            <a:endParaRPr kumimoji="0" lang="en-US" sz="1100" b="1" i="0" u="none" strike="noStrike" kern="1200" cap="none" spc="0" normalizeH="0" baseline="0" noProof="0">
              <a:ln>
                <a:noFill/>
              </a:ln>
              <a:solidFill>
                <a:prstClr val="black"/>
              </a:solidFill>
              <a:effectLst/>
              <a:uLnTx/>
              <a:uFillTx/>
              <a:latin typeface="Aptos"/>
              <a:ea typeface="+mn-ea"/>
              <a:cs typeface="+mn-cs"/>
            </a:endParaRPr>
          </a:p>
          <a:p>
            <a:pPr marL="171450" marR="0" lvl="0" indent="-171450" algn="l" defTabSz="914400" rtl="0" eaLnBrk="1" fontAlgn="auto" latinLnBrk="0" hangingPunct="1">
              <a:lnSpc>
                <a:spcPct val="102000"/>
              </a:lnSpc>
              <a:spcBef>
                <a:spcPts val="0"/>
              </a:spcBef>
              <a:spcAft>
                <a:spcPts val="300"/>
              </a:spcAft>
              <a:buClrTx/>
              <a:buSzTx/>
              <a:buFont typeface="Arial" panose="020B0604020202020204" pitchFamily="34" charset="0"/>
              <a:buChar char="•"/>
              <a:tabLst/>
              <a:defRPr/>
            </a:pPr>
            <a:r>
              <a:rPr lang="en-US" sz="1100" b="1" i="0" u="none">
                <a:latin typeface="Aptos"/>
              </a:rPr>
              <a:t>Offerings in this category </a:t>
            </a:r>
            <a:r>
              <a:rPr lang="en-US" sz="1100" i="0" u="none">
                <a:latin typeface="Aptos"/>
              </a:rPr>
              <a:t>fall into two sub-categories</a:t>
            </a:r>
          </a:p>
          <a:p>
            <a:pPr lvl="1" indent="-174625">
              <a:lnSpc>
                <a:spcPct val="102000"/>
              </a:lnSpc>
              <a:spcAft>
                <a:spcPts val="300"/>
              </a:spcAft>
              <a:buFont typeface="Aptos" panose="020B0004020202020204" pitchFamily="34" charset="0"/>
              <a:buChar char="–"/>
              <a:defRPr/>
            </a:pPr>
            <a:r>
              <a:rPr lang="en-US" sz="1100" i="0" u="none">
                <a:latin typeface="Aptos"/>
              </a:rPr>
              <a:t>Enterprise </a:t>
            </a:r>
            <a:r>
              <a:rPr lang="en-US" sz="1100" b="0" i="0" u="none">
                <a:latin typeface="Aptos"/>
              </a:rPr>
              <a:t>Suites that maximize breadth (broad agent catalogue) but lacks depth, and productization</a:t>
            </a:r>
            <a:endParaRPr lang="en-US" sz="1100">
              <a:latin typeface="Aptos"/>
            </a:endParaRPr>
          </a:p>
          <a:p>
            <a:pPr lvl="1" indent="-174625">
              <a:lnSpc>
                <a:spcPct val="102000"/>
              </a:lnSpc>
              <a:spcAft>
                <a:spcPts val="300"/>
              </a:spcAft>
              <a:buFont typeface="Aptos" panose="020B0004020202020204" pitchFamily="34" charset="0"/>
              <a:buChar char="–"/>
              <a:defRPr/>
            </a:pPr>
            <a:r>
              <a:rPr lang="en-US" sz="1100" b="0" i="0" u="none">
                <a:latin typeface="Aptos"/>
              </a:rPr>
              <a:t>Specialists that maximize depth</a:t>
            </a:r>
            <a:r>
              <a:rPr lang="en-US" sz="1100">
                <a:latin typeface="Aptos"/>
              </a:rPr>
              <a:t>, p</a:t>
            </a:r>
            <a:r>
              <a:rPr lang="en-US" sz="1100" b="0" i="0" u="none">
                <a:latin typeface="Aptos"/>
              </a:rPr>
              <a:t>roductization, and autonomy, but are focused on one domain.</a:t>
            </a:r>
          </a:p>
          <a:p>
            <a:pPr marL="171450" lvl="0" indent="-171450">
              <a:lnSpc>
                <a:spcPct val="102000"/>
              </a:lnSpc>
              <a:spcBef>
                <a:spcPts val="0"/>
              </a:spcBef>
              <a:spcAft>
                <a:spcPts val="300"/>
              </a:spcAft>
              <a:buFont typeface="Arial" panose="020B0604020202020204" pitchFamily="34" charset="0"/>
              <a:buChar char="•"/>
              <a:defRPr/>
            </a:pPr>
            <a:r>
              <a:rPr lang="en-US" sz="1100" b="1" i="0" u="none">
                <a:latin typeface="Aptos"/>
              </a:rPr>
              <a:t>Zora, in contrast, offers </a:t>
            </a:r>
            <a:r>
              <a:rPr lang="en-US" sz="1100" i="0" u="none">
                <a:latin typeface="Aptos"/>
              </a:rPr>
              <a:t>greater </a:t>
            </a:r>
            <a:r>
              <a:rPr lang="en-US" sz="1100" b="0" i="0" u="none">
                <a:latin typeface="Aptos"/>
              </a:rPr>
              <a:t>domain breadth than Speciali</a:t>
            </a:r>
            <a:r>
              <a:rPr lang="en-US" sz="1100">
                <a:latin typeface="Aptos"/>
              </a:rPr>
              <a:t>sts and faster time to value (</a:t>
            </a:r>
            <a:r>
              <a:rPr lang="en-US" sz="1100" b="0" i="0" u="none">
                <a:latin typeface="Aptos"/>
              </a:rPr>
              <a:t>finance-led depth) </a:t>
            </a:r>
            <a:r>
              <a:rPr lang="en-US" sz="1100"/>
              <a:t>than the Enterprise Suites.</a:t>
            </a: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32" name="TextBox 31">
            <a:extLst>
              <a:ext uri="{FF2B5EF4-FFF2-40B4-BE49-F238E27FC236}">
                <a16:creationId xmlns:a16="http://schemas.microsoft.com/office/drawing/2014/main" id="{32F0E3D4-E7F3-C227-5B84-F7A555C6749F}"/>
              </a:ext>
            </a:extLst>
          </p:cNvPr>
          <p:cNvSpPr txBox="1"/>
          <p:nvPr/>
        </p:nvSpPr>
        <p:spPr>
          <a:xfrm>
            <a:off x="8734829" y="1755648"/>
            <a:ext cx="3179802" cy="113114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HOW IT COMPARES WITH </a:t>
            </a:r>
            <a:r>
              <a:rPr kumimoji="0" sz="1100" b="1" i="0" u="none" strike="noStrike" kern="1200" cap="none" spc="0" normalizeH="0" baseline="0" noProof="0">
                <a:ln>
                  <a:noFill/>
                </a:ln>
                <a:solidFill>
                  <a:prstClr val="black"/>
                </a:solidFill>
                <a:effectLst/>
                <a:uLnTx/>
                <a:uFillTx/>
                <a:latin typeface="Aptos"/>
                <a:ea typeface="+mn-ea"/>
                <a:cs typeface="+mn-cs"/>
              </a:rPr>
              <a:t>ZORA</a:t>
            </a:r>
            <a:endParaRPr kumimoji="0" lang="en-US" sz="1100" b="1" i="0" u="none" strike="noStrike" kern="1200" cap="none" spc="0" normalizeH="0" baseline="0" noProof="0">
              <a:ln>
                <a:noFill/>
              </a:ln>
              <a:solidFill>
                <a:prstClr val="black"/>
              </a:solidFill>
              <a:effectLst/>
              <a:uLnTx/>
              <a:uFillTx/>
              <a:latin typeface="Aptos"/>
              <a:ea typeface="+mn-ea"/>
              <a:cs typeface="+mn-cs"/>
            </a:endParaRPr>
          </a:p>
          <a:p>
            <a:pPr marL="171450" marR="0" lvl="0" indent="-171450" algn="l" defTabSz="914400" rtl="0" eaLnBrk="1" fontAlgn="auto" latinLnBrk="0" hangingPunct="1">
              <a:lnSpc>
                <a:spcPct val="102000"/>
              </a:lnSpc>
              <a:spcBef>
                <a:spcPts val="0"/>
              </a:spcBef>
              <a:spcAft>
                <a:spcPts val="300"/>
              </a:spcAft>
              <a:buClrTx/>
              <a:buSzTx/>
              <a:buFont typeface="Arial" panose="020B0604020202020204" pitchFamily="34" charset="0"/>
              <a:buChar char="•"/>
              <a:tabLst/>
              <a:defRPr/>
            </a:pPr>
            <a:r>
              <a:rPr lang="en-US" sz="1100" b="1" i="0" u="none">
                <a:latin typeface="Aptos"/>
              </a:rPr>
              <a:t>Offerings in this category </a:t>
            </a:r>
            <a:r>
              <a:rPr lang="en-US" sz="1100" i="0" u="none">
                <a:latin typeface="Aptos"/>
              </a:rPr>
              <a:t>automate tasks </a:t>
            </a:r>
            <a:r>
              <a:rPr lang="en-US" sz="1100">
                <a:latin typeface="Aptos"/>
              </a:rPr>
              <a:t>primarily</a:t>
            </a:r>
            <a:r>
              <a:rPr lang="en-US" sz="1100" b="0" i="0" u="none">
                <a:latin typeface="Aptos"/>
              </a:rPr>
              <a:t> within vendors’ broader platforms/applications (i.e., ERP, CRM).</a:t>
            </a:r>
          </a:p>
          <a:p>
            <a:pPr marL="171450" marR="0" lvl="0" indent="-171450" algn="l" defTabSz="914400" rtl="0" eaLnBrk="1" fontAlgn="auto" latinLnBrk="0" hangingPunct="1">
              <a:lnSpc>
                <a:spcPct val="102000"/>
              </a:lnSpc>
              <a:spcBef>
                <a:spcPts val="0"/>
              </a:spcBef>
              <a:spcAft>
                <a:spcPts val="300"/>
              </a:spcAft>
              <a:buClrTx/>
              <a:buSzTx/>
              <a:buFont typeface="Arial" panose="020B0604020202020204" pitchFamily="34" charset="0"/>
              <a:buChar char="•"/>
              <a:tabLst/>
              <a:defRPr/>
            </a:pPr>
            <a:r>
              <a:rPr lang="en-US" sz="1100" b="1" i="0" u="none">
                <a:latin typeface="Aptos"/>
              </a:rPr>
              <a:t>Zora, in contrast, offers </a:t>
            </a:r>
            <a:r>
              <a:rPr lang="en-US" sz="1100">
                <a:latin typeface="Aptos"/>
              </a:rPr>
              <a:t>workflow automation </a:t>
            </a:r>
            <a:r>
              <a:rPr lang="en-US" sz="1100" i="0" u="none">
                <a:latin typeface="Aptos"/>
              </a:rPr>
              <a:t>that spans multiple applications and functions.</a:t>
            </a:r>
            <a:endParaRPr kumimoji="0" lang="en-US" sz="1100" i="0" u="none" strike="noStrike" kern="1200" cap="none" spc="0" normalizeH="0" baseline="0" noProof="0">
              <a:ln>
                <a:noFill/>
              </a:ln>
              <a:solidFill>
                <a:prstClr val="black"/>
              </a:solidFill>
              <a:effectLst/>
              <a:uLnTx/>
              <a:uFillTx/>
              <a:latin typeface="Aptos"/>
              <a:ea typeface="+mn-ea"/>
              <a:cs typeface="+mn-cs"/>
            </a:endParaRPr>
          </a:p>
        </p:txBody>
      </p:sp>
      <p:sp>
        <p:nvSpPr>
          <p:cNvPr id="41" name="Productivity icon"/>
          <p:cNvSpPr txBox="1"/>
          <p:nvPr/>
        </p:nvSpPr>
        <p:spPr>
          <a:xfrm>
            <a:off x="553212" y="1348739"/>
            <a:ext cx="196596" cy="246888"/>
          </a:xfrm>
          <a:prstGeom prst="rect">
            <a:avLst/>
          </a:prstGeom>
          <a:noFill/>
        </p:spPr>
        <p:txBody>
          <a:bodyPr wrap="square" lIns="0" tIns="0" rIns="0" bIns="0" anchor="ctr">
            <a:spAutoFit/>
          </a:bodyPr>
          <a:lstStyle/>
          <a:p>
            <a:pPr algn="ctr"/>
            <a:r>
              <a:rPr sz="1300" b="1">
                <a:solidFill>
                  <a:srgbClr val="FFFFFF"/>
                </a:solidFill>
                <a:latin typeface="Segoe UI Symbol"/>
              </a:rPr>
              <a:t>⚡</a:t>
            </a:r>
          </a:p>
        </p:txBody>
      </p:sp>
      <p:sp>
        <p:nvSpPr>
          <p:cNvPr id="42" name="Functional workflow icon"/>
          <p:cNvSpPr txBox="1"/>
          <p:nvPr/>
        </p:nvSpPr>
        <p:spPr>
          <a:xfrm>
            <a:off x="3972063" y="1348739"/>
            <a:ext cx="196596" cy="246888"/>
          </a:xfrm>
          <a:prstGeom prst="rect">
            <a:avLst/>
          </a:prstGeom>
          <a:noFill/>
        </p:spPr>
        <p:txBody>
          <a:bodyPr wrap="square" lIns="0" tIns="0" rIns="0" bIns="0" anchor="ctr">
            <a:spAutoFit/>
          </a:bodyPr>
          <a:lstStyle/>
          <a:p>
            <a:pPr algn="ctr"/>
            <a:r>
              <a:rPr sz="1300" b="1">
                <a:solidFill>
                  <a:srgbClr val="FFFFFF"/>
                </a:solidFill>
                <a:latin typeface="Segoe UI Symbol"/>
              </a:rPr>
              <a:t>⚙</a:t>
            </a:r>
          </a:p>
        </p:txBody>
      </p:sp>
      <p:sp>
        <p:nvSpPr>
          <p:cNvPr id="43" name="Application-native icon"/>
          <p:cNvSpPr txBox="1"/>
          <p:nvPr/>
        </p:nvSpPr>
        <p:spPr>
          <a:xfrm>
            <a:off x="8719808" y="1348739"/>
            <a:ext cx="196596" cy="246888"/>
          </a:xfrm>
          <a:prstGeom prst="rect">
            <a:avLst/>
          </a:prstGeom>
          <a:noFill/>
        </p:spPr>
        <p:txBody>
          <a:bodyPr wrap="square" lIns="0" tIns="0" rIns="0" bIns="0" anchor="ctr">
            <a:spAutoFit/>
          </a:bodyPr>
          <a:lstStyle/>
          <a:p>
            <a:pPr algn="ctr"/>
            <a:r>
              <a:rPr sz="1300" b="1">
                <a:solidFill>
                  <a:srgbClr val="FFFFFF"/>
                </a:solidFill>
                <a:latin typeface="Segoe UI Symbol"/>
              </a:rPr>
              <a:t>▦</a:t>
            </a:r>
          </a:p>
        </p:txBody>
      </p:sp>
    </p:spTree>
    <p:extLst>
      <p:ext uri="{BB962C8B-B14F-4D97-AF65-F5344CB8AC3E}">
        <p14:creationId xmlns:p14="http://schemas.microsoft.com/office/powerpoint/2010/main" val="3604156415"/>
      </p:ext>
    </p:extLst>
  </p:cSld>
  <p:clrMapOvr>
    <a:masterClrMapping/>
  </p:clrMapOvr>
  <p:extLst>
    <p:ext uri="{6950BFC3-D8DA-4A85-94F7-54DA5524770B}">
      <p188:commentRel xmlns:p188="http://schemas.microsoft.com/office/powerpoint/2018/8/main" r:id="rId4"/>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9D55F14E-F97E-9CA5-91C7-8DC6F618FD2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25" name="think-cell data - do not delete" hidden="1">
                        <a:extLst>
                          <a:ext uri="{FF2B5EF4-FFF2-40B4-BE49-F238E27FC236}">
                            <a16:creationId xmlns:a16="http://schemas.microsoft.com/office/drawing/2014/main" id="{9D55F14E-F97E-9CA5-91C7-8DC6F618FD2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457200" y="292608"/>
            <a:ext cx="11274552" cy="502920"/>
          </a:xfrm>
        </p:spPr>
        <p:txBody>
          <a:bodyPr vert="horz" wrap="square" rIns="0"/>
          <a:lstStyle/>
          <a:p>
            <a:r>
              <a:rPr lang="en-US"/>
              <a:t>Zora also indirectly competes with p</a:t>
            </a:r>
            <a:r>
              <a:t>latforms</a:t>
            </a:r>
            <a:r>
              <a:rPr lang="en-US"/>
              <a:t> that</a:t>
            </a:r>
            <a:r>
              <a:t> </a:t>
            </a:r>
            <a:r>
              <a:rPr lang="en-US"/>
              <a:t>provide agent</a:t>
            </a:r>
            <a:r>
              <a:t> infrastructure, not outcomes</a:t>
            </a:r>
          </a:p>
        </p:txBody>
      </p:sp>
      <p:sp>
        <p:nvSpPr>
          <p:cNvPr id="3" name="Rectangle 2"/>
          <p:cNvSpPr/>
          <p:nvPr/>
        </p:nvSpPr>
        <p:spPr>
          <a:xfrm>
            <a:off x="457200" y="1078992"/>
            <a:ext cx="11274552" cy="594360"/>
          </a:xfrm>
          <a:prstGeom prst="rect">
            <a:avLst/>
          </a:prstGeom>
          <a:solidFill>
            <a:srgbClr val="F5F5F5"/>
          </a:solidFill>
          <a:ln w="9525">
            <a:solidFill>
              <a:srgbClr val="D0D0D0"/>
            </a:solid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4" name="TextBox 3"/>
          <p:cNvSpPr txBox="1"/>
          <p:nvPr/>
        </p:nvSpPr>
        <p:spPr>
          <a:xfrm>
            <a:off x="603504" y="1170432"/>
            <a:ext cx="11000232" cy="381899"/>
          </a:xfrm>
          <a:prstGeom prst="rect">
            <a:avLst/>
          </a:prstGeom>
          <a:noFill/>
        </p:spPr>
        <p:txBody>
          <a:bodyPr wrap="square" lIns="0" tIns="0" rIns="0" bIns="0" anchor="t">
            <a:spAutoFit/>
          </a:bodyPr>
          <a:lstStyle/>
          <a:p>
            <a:pPr marL="0" marR="0" lvl="0" indent="0" algn="l" defTabSz="914400" rtl="0" eaLnBrk="1" fontAlgn="auto" latinLnBrk="0" hangingPunct="1">
              <a:lnSpc>
                <a:spcPct val="105000"/>
              </a:lnSpc>
              <a:spcBef>
                <a:spcPts val="0"/>
              </a:spcBef>
              <a:spcAft>
                <a:spcPts val="400"/>
              </a:spcAft>
              <a:buClrTx/>
              <a:buSzTx/>
              <a:buFontTx/>
              <a:buNone/>
              <a:tabLst/>
              <a:defRPr/>
            </a:pPr>
            <a:r>
              <a:rPr lang="en-US" sz="1200" b="0" i="0" u="none">
                <a:solidFill>
                  <a:srgbClr val="282728"/>
                </a:solidFill>
                <a:latin typeface="Aptos"/>
              </a:rPr>
              <a:t>Agent platforms provide tools to build, connect, govern and run agents. They compete with Zora when clients weigh buying productized functional workflows with Zora vs. building a custom solution on one of these platforms.</a:t>
            </a:r>
          </a:p>
        </p:txBody>
      </p:sp>
      <p:sp>
        <p:nvSpPr>
          <p:cNvPr id="5" name="Rectangle 4"/>
          <p:cNvSpPr/>
          <p:nvPr/>
        </p:nvSpPr>
        <p:spPr>
          <a:xfrm>
            <a:off x="457200" y="1783080"/>
            <a:ext cx="5554980" cy="384048"/>
          </a:xfrm>
          <a:prstGeom prst="rect">
            <a:avLst/>
          </a:prstGeom>
          <a:solidFill>
            <a:srgbClr val="86BC25"/>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Box 5"/>
          <p:cNvSpPr txBox="1"/>
          <p:nvPr/>
        </p:nvSpPr>
        <p:spPr>
          <a:xfrm>
            <a:off x="850392" y="1883664"/>
            <a:ext cx="5070348"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a:ea typeface="+mn-ea"/>
                <a:cs typeface="+mn-cs"/>
              </a:rPr>
              <a:t>4A. </a:t>
            </a:r>
            <a:r>
              <a:rPr lang="en-US" sz="1200" b="1">
                <a:solidFill>
                  <a:srgbClr val="FFFFFF"/>
                </a:solidFill>
                <a:latin typeface="Aptos"/>
              </a:rPr>
              <a:t>Platforms having own agent-building stack</a:t>
            </a:r>
            <a:endParaRPr kumimoji="0" sz="1200" b="1" i="0" u="none" strike="noStrike" kern="1200" cap="none" spc="0" normalizeH="0" baseline="0" noProof="0">
              <a:ln>
                <a:noFill/>
              </a:ln>
              <a:solidFill>
                <a:srgbClr val="FFFFFF"/>
              </a:solidFill>
              <a:effectLst/>
              <a:uLnTx/>
              <a:uFillTx/>
              <a:latin typeface="Aptos"/>
              <a:ea typeface="+mn-ea"/>
              <a:cs typeface="+mn-cs"/>
            </a:endParaRPr>
          </a:p>
        </p:txBody>
      </p:sp>
      <p:sp>
        <p:nvSpPr>
          <p:cNvPr id="7" name="Rectangle 6"/>
          <p:cNvSpPr/>
          <p:nvPr/>
        </p:nvSpPr>
        <p:spPr>
          <a:xfrm>
            <a:off x="457200" y="2167128"/>
            <a:ext cx="5554980" cy="1417320"/>
          </a:xfrm>
          <a:prstGeom prst="rect">
            <a:avLst/>
          </a:prstGeom>
          <a:solidFill>
            <a:srgbClr val="FFFFFF"/>
          </a:solidFill>
          <a:ln w="9525">
            <a:solidFill>
              <a:srgbClr val="D0D0D0"/>
            </a:solid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9" name="Rectangle 8"/>
          <p:cNvSpPr/>
          <p:nvPr/>
        </p:nvSpPr>
        <p:spPr>
          <a:xfrm>
            <a:off x="457200" y="5065776"/>
            <a:ext cx="11274552" cy="822960"/>
          </a:xfrm>
          <a:prstGeom prst="rect">
            <a:avLst/>
          </a:prstGeom>
          <a:solidFill>
            <a:schemeClr val="accent2"/>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Box 10"/>
          <p:cNvSpPr txBox="1"/>
          <p:nvPr/>
        </p:nvSpPr>
        <p:spPr>
          <a:xfrm>
            <a:off x="621792" y="5157216"/>
            <a:ext cx="5244084"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prstClr val="white"/>
                </a:solidFill>
                <a:effectLst/>
                <a:uLnTx/>
                <a:uFillTx/>
                <a:latin typeface="Aptos"/>
                <a:ea typeface="+mn-ea"/>
                <a:cs typeface="+mn-cs"/>
              </a:rPr>
              <a:t>POSSIBLE SELLER RESPONSE</a:t>
            </a:r>
          </a:p>
        </p:txBody>
      </p:sp>
      <p:sp>
        <p:nvSpPr>
          <p:cNvPr id="12" name="TextBox 11"/>
          <p:cNvSpPr txBox="1"/>
          <p:nvPr/>
        </p:nvSpPr>
        <p:spPr>
          <a:xfrm>
            <a:off x="621792" y="5394960"/>
            <a:ext cx="10981944" cy="188000"/>
          </a:xfrm>
          <a:prstGeom prst="rect">
            <a:avLst/>
          </a:prstGeom>
          <a:noFill/>
        </p:spPr>
        <p:txBody>
          <a:bodyPr wrap="square" lIns="0" tIns="0" rIns="0" bIns="0" anchor="t">
            <a:sp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lang="en-US" sz="1200" b="0" i="1" u="none">
                <a:solidFill>
                  <a:schemeClr val="bg1"/>
                </a:solidFill>
                <a:latin typeface="Aptos"/>
              </a:rPr>
              <a:t>“Keep your preferred agent platform; use Zora for governed, productized functional workflows without building each one.”</a:t>
            </a:r>
            <a:endParaRPr kumimoji="0" sz="1200" b="0" i="1" u="none" strike="noStrike" kern="1200" cap="none" spc="0" normalizeH="0" baseline="0" noProof="0">
              <a:ln>
                <a:noFill/>
              </a:ln>
              <a:solidFill>
                <a:schemeClr val="bg1"/>
              </a:solidFill>
              <a:effectLst/>
              <a:uLnTx/>
              <a:uFillTx/>
              <a:latin typeface="Aptos"/>
              <a:ea typeface="+mn-ea"/>
              <a:cs typeface="+mn-cs"/>
            </a:endParaRPr>
          </a:p>
        </p:txBody>
      </p:sp>
      <p:sp>
        <p:nvSpPr>
          <p:cNvPr id="13" name="Rectangle 12"/>
          <p:cNvSpPr/>
          <p:nvPr/>
        </p:nvSpPr>
        <p:spPr>
          <a:xfrm>
            <a:off x="6176772" y="1783080"/>
            <a:ext cx="5554980" cy="384048"/>
          </a:xfrm>
          <a:prstGeom prst="rect">
            <a:avLst/>
          </a:prstGeom>
          <a:solidFill>
            <a:srgbClr val="86BC25"/>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Box 13"/>
          <p:cNvSpPr txBox="1"/>
          <p:nvPr/>
        </p:nvSpPr>
        <p:spPr>
          <a:xfrm>
            <a:off x="6569964" y="1883664"/>
            <a:ext cx="5070348"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a:ea typeface="+mn-ea"/>
                <a:cs typeface="+mn-cs"/>
              </a:rPr>
              <a:t>4B. Platforms using partner agent-building stack</a:t>
            </a:r>
            <a:endParaRPr kumimoji="0" sz="1200" b="1" i="0" u="none" strike="noStrike" kern="1200" cap="none" spc="0" normalizeH="0" baseline="0" noProof="0">
              <a:ln>
                <a:noFill/>
              </a:ln>
              <a:solidFill>
                <a:srgbClr val="FFFFFF"/>
              </a:solidFill>
              <a:effectLst/>
              <a:uLnTx/>
              <a:uFillTx/>
              <a:latin typeface="Aptos"/>
              <a:ea typeface="+mn-ea"/>
              <a:cs typeface="+mn-cs"/>
            </a:endParaRPr>
          </a:p>
        </p:txBody>
      </p:sp>
      <p:sp>
        <p:nvSpPr>
          <p:cNvPr id="15" name="Rectangle 14"/>
          <p:cNvSpPr/>
          <p:nvPr/>
        </p:nvSpPr>
        <p:spPr>
          <a:xfrm>
            <a:off x="6176772" y="2167128"/>
            <a:ext cx="5554980" cy="1417320"/>
          </a:xfrm>
          <a:prstGeom prst="rect">
            <a:avLst/>
          </a:prstGeom>
          <a:solidFill>
            <a:srgbClr val="FFFFFF"/>
          </a:solidFill>
          <a:ln w="9525">
            <a:solidFill>
              <a:srgbClr val="D0D0D0"/>
            </a:solid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22" name="Rectangle 21"/>
          <p:cNvSpPr/>
          <p:nvPr/>
        </p:nvSpPr>
        <p:spPr>
          <a:xfrm>
            <a:off x="457200" y="3703320"/>
            <a:ext cx="5554980" cy="1225296"/>
          </a:xfrm>
          <a:prstGeom prst="rect">
            <a:avLst/>
          </a:prstGeom>
          <a:solidFill>
            <a:schemeClr val="accent1">
              <a:lumMod val="20000"/>
              <a:lumOff val="80000"/>
            </a:schemeClr>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TextBox 17">
            <a:extLst>
              <a:ext uri="{FF2B5EF4-FFF2-40B4-BE49-F238E27FC236}">
                <a16:creationId xmlns:a16="http://schemas.microsoft.com/office/drawing/2014/main" id="{46A93D22-3C69-7BE1-E206-4645F387EC69}"/>
              </a:ext>
            </a:extLst>
          </p:cNvPr>
          <p:cNvSpPr txBox="1"/>
          <p:nvPr/>
        </p:nvSpPr>
        <p:spPr>
          <a:xfrm>
            <a:off x="585216" y="2258568"/>
            <a:ext cx="5426964" cy="130381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HOW THEY COMPARE WITH </a:t>
            </a:r>
            <a:r>
              <a:rPr kumimoji="0" sz="1100" b="1" i="0" u="none" strike="noStrike" kern="1200" cap="none" spc="0" normalizeH="0" baseline="0" noProof="0">
                <a:ln>
                  <a:noFill/>
                </a:ln>
                <a:solidFill>
                  <a:prstClr val="black"/>
                </a:solidFill>
                <a:effectLst/>
                <a:uLnTx/>
                <a:uFillTx/>
                <a:latin typeface="Aptos"/>
                <a:ea typeface="+mn-ea"/>
                <a:cs typeface="+mn-cs"/>
              </a:rPr>
              <a:t>ZORA</a:t>
            </a:r>
            <a:endParaRPr kumimoji="0" lang="en-US" sz="1100" b="1" i="0" u="none" strike="noStrike" kern="1200" cap="none" spc="0" normalizeH="0" baseline="0" noProof="0">
              <a:ln>
                <a:noFill/>
              </a:ln>
              <a:solidFill>
                <a:prstClr val="black"/>
              </a:solidFill>
              <a:effectLst/>
              <a:uLnTx/>
              <a:uFillTx/>
              <a:latin typeface="Aptos"/>
              <a:ea typeface="+mn-ea"/>
              <a:cs typeface="+mn-cs"/>
            </a:endParaRPr>
          </a:p>
          <a:p>
            <a:pPr marL="171450" marR="0" lvl="0" indent="-171450" algn="l" defTabSz="914400" rtl="0" eaLnBrk="1" fontAlgn="auto" latinLnBrk="0" hangingPunct="1">
              <a:lnSpc>
                <a:spcPct val="102000"/>
              </a:lnSpc>
              <a:spcBef>
                <a:spcPts val="0"/>
              </a:spcBef>
              <a:spcAft>
                <a:spcPts val="300"/>
              </a:spcAft>
              <a:buClrTx/>
              <a:buSzTx/>
              <a:buFont typeface="Arial" panose="020B0604020202020204" pitchFamily="34" charset="0"/>
              <a:buChar char="•"/>
              <a:tabLst/>
              <a:defRPr/>
            </a:pPr>
            <a:r>
              <a:rPr lang="en-US" sz="1100" b="1">
                <a:latin typeface="Aptos"/>
              </a:rPr>
              <a:t>Platforms in this category </a:t>
            </a:r>
            <a:r>
              <a:rPr lang="en-US" sz="1100">
                <a:latin typeface="Aptos"/>
              </a:rPr>
              <a:t>p</a:t>
            </a:r>
            <a:r>
              <a:rPr lang="en-US" sz="1100" b="0" i="0" u="none">
                <a:latin typeface="Aptos"/>
              </a:rPr>
              <a:t>rovide no-code and pro-code agent building tools, runtime, orchestration, evaluation, observability and governance; the client owns workflow and integration.</a:t>
            </a:r>
          </a:p>
          <a:p>
            <a:pPr marL="171450" marR="0" lvl="0" indent="-171450" algn="l" defTabSz="914400" rtl="0" eaLnBrk="1" fontAlgn="auto" latinLnBrk="0" hangingPunct="1">
              <a:lnSpc>
                <a:spcPct val="102000"/>
              </a:lnSpc>
              <a:spcBef>
                <a:spcPts val="0"/>
              </a:spcBef>
              <a:spcAft>
                <a:spcPts val="300"/>
              </a:spcAft>
              <a:buClrTx/>
              <a:buSzTx/>
              <a:buFont typeface="Arial" panose="020B0604020202020204" pitchFamily="34" charset="0"/>
              <a:buChar char="•"/>
              <a:tabLst/>
              <a:defRPr/>
            </a:pPr>
            <a:r>
              <a:rPr lang="en-US" sz="1100" b="1">
                <a:latin typeface="Aptos"/>
              </a:rPr>
              <a:t>Zora, in contrast, offers </a:t>
            </a:r>
            <a:r>
              <a:rPr lang="en-US" sz="1100" i="0" u="none">
                <a:latin typeface="Aptos"/>
              </a:rPr>
              <a:t>p</a:t>
            </a:r>
            <a:r>
              <a:rPr lang="en-US" sz="1100" b="0" i="0" u="none">
                <a:latin typeface="Aptos"/>
              </a:rPr>
              <a:t>roductize</a:t>
            </a:r>
            <a:r>
              <a:rPr lang="en-US" sz="1100">
                <a:latin typeface="Aptos"/>
              </a:rPr>
              <a:t>d </a:t>
            </a:r>
            <a:r>
              <a:rPr lang="en-US" sz="1100" b="0" i="0" u="none">
                <a:latin typeface="Aptos"/>
              </a:rPr>
              <a:t>workflows with abstracted governance and observability, greater embedded domain logic, and fewer customization required on the client</a:t>
            </a:r>
            <a:r>
              <a:rPr lang="en-US" sz="1100">
                <a:latin typeface="Aptos"/>
              </a:rPr>
              <a:t>’s part.</a:t>
            </a:r>
            <a:endParaRPr lang="en-US" sz="1100" b="0" i="0" u="none">
              <a:latin typeface="Aptos"/>
            </a:endParaRPr>
          </a:p>
        </p:txBody>
      </p:sp>
      <p:sp>
        <p:nvSpPr>
          <p:cNvPr id="26" name="TextBox 25">
            <a:extLst>
              <a:ext uri="{FF2B5EF4-FFF2-40B4-BE49-F238E27FC236}">
                <a16:creationId xmlns:a16="http://schemas.microsoft.com/office/drawing/2014/main" id="{CC3120F7-E0A7-E4FB-B7C5-E306BC4D2597}"/>
              </a:ext>
            </a:extLst>
          </p:cNvPr>
          <p:cNvSpPr txBox="1"/>
          <p:nvPr/>
        </p:nvSpPr>
        <p:spPr>
          <a:xfrm>
            <a:off x="6304788" y="2258568"/>
            <a:ext cx="5426964" cy="9584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HOW THEY COMPARE WITH </a:t>
            </a:r>
            <a:r>
              <a:rPr kumimoji="0" sz="1100" b="1" i="0" u="none" strike="noStrike" kern="1200" cap="none" spc="0" normalizeH="0" baseline="0" noProof="0">
                <a:ln>
                  <a:noFill/>
                </a:ln>
                <a:solidFill>
                  <a:prstClr val="black"/>
                </a:solidFill>
                <a:effectLst/>
                <a:uLnTx/>
                <a:uFillTx/>
                <a:latin typeface="Aptos"/>
                <a:ea typeface="+mn-ea"/>
                <a:cs typeface="+mn-cs"/>
              </a:rPr>
              <a:t>ZORA</a:t>
            </a:r>
            <a:endParaRPr kumimoji="0" lang="en-US" sz="1100" b="1" i="0" u="none" strike="noStrike" kern="1200" cap="none" spc="0" normalizeH="0" baseline="0" noProof="0">
              <a:ln>
                <a:noFill/>
              </a:ln>
              <a:solidFill>
                <a:prstClr val="black"/>
              </a:solidFill>
              <a:effectLst/>
              <a:uLnTx/>
              <a:uFillTx/>
              <a:latin typeface="Aptos"/>
              <a:ea typeface="+mn-ea"/>
              <a:cs typeface="+mn-cs"/>
            </a:endParaRPr>
          </a:p>
          <a:p>
            <a:pPr marL="171450" marR="0" lvl="0" indent="-171450" algn="l" defTabSz="914400" rtl="0" eaLnBrk="1" fontAlgn="auto" latinLnBrk="0" hangingPunct="1">
              <a:lnSpc>
                <a:spcPct val="102000"/>
              </a:lnSpc>
              <a:spcBef>
                <a:spcPts val="0"/>
              </a:spcBef>
              <a:spcAft>
                <a:spcPts val="300"/>
              </a:spcAft>
              <a:buClrTx/>
              <a:buSzTx/>
              <a:buFont typeface="Arial" panose="020B0604020202020204" pitchFamily="34" charset="0"/>
              <a:buChar char="•"/>
              <a:tabLst/>
              <a:defRPr/>
            </a:pPr>
            <a:r>
              <a:rPr lang="en-US" sz="1100" b="1" i="0" u="none">
                <a:latin typeface="Aptos"/>
              </a:rPr>
              <a:t>Platforms in this category </a:t>
            </a:r>
            <a:r>
              <a:rPr lang="en-US" sz="1100">
                <a:latin typeface="Aptos"/>
              </a:rPr>
              <a:t>provide reusable components for clients to build/customize agents, typically as part of a platform + services proposition</a:t>
            </a:r>
            <a:endParaRPr lang="en-US" sz="1100" b="1" i="0" u="none">
              <a:latin typeface="Aptos"/>
            </a:endParaRPr>
          </a:p>
          <a:p>
            <a:pPr marL="171450" marR="0" lvl="0" indent="-171450" algn="l" defTabSz="914400" rtl="0" eaLnBrk="1" fontAlgn="auto" latinLnBrk="0" hangingPunct="1">
              <a:lnSpc>
                <a:spcPct val="102000"/>
              </a:lnSpc>
              <a:spcBef>
                <a:spcPts val="0"/>
              </a:spcBef>
              <a:spcAft>
                <a:spcPts val="300"/>
              </a:spcAft>
              <a:buClrTx/>
              <a:buSzTx/>
              <a:buFont typeface="Arial" panose="020B0604020202020204" pitchFamily="34" charset="0"/>
              <a:buChar char="•"/>
              <a:tabLst/>
              <a:defRPr/>
            </a:pPr>
            <a:r>
              <a:rPr lang="en-US" sz="1100" b="1">
                <a:latin typeface="Aptos"/>
              </a:rPr>
              <a:t>Zora, in contrast, offers </a:t>
            </a:r>
            <a:r>
              <a:rPr lang="en-US" sz="1100">
                <a:latin typeface="Aptos"/>
              </a:rPr>
              <a:t>n</a:t>
            </a:r>
            <a:r>
              <a:rPr lang="en-US" sz="1100" b="0" i="0" u="none">
                <a:latin typeface="Aptos"/>
              </a:rPr>
              <a:t>amed agents with defined domain workflow</a:t>
            </a:r>
            <a:r>
              <a:rPr lang="en-US" sz="1100">
                <a:latin typeface="Aptos"/>
              </a:rPr>
              <a:t> </a:t>
            </a:r>
            <a:r>
              <a:rPr lang="en-US" sz="1100" b="0" i="0" u="none">
                <a:latin typeface="Aptos"/>
              </a:rPr>
              <a:t>across finance, procurement, tax, audit, and HR; Product + Services proposition</a:t>
            </a:r>
          </a:p>
        </p:txBody>
      </p:sp>
      <p:sp>
        <p:nvSpPr>
          <p:cNvPr id="28" name="TextBox 27">
            <a:extLst>
              <a:ext uri="{FF2B5EF4-FFF2-40B4-BE49-F238E27FC236}">
                <a16:creationId xmlns:a16="http://schemas.microsoft.com/office/drawing/2014/main" id="{4EF38CC5-996D-E10A-7D07-CA7B2E5C7990}"/>
              </a:ext>
            </a:extLst>
          </p:cNvPr>
          <p:cNvSpPr txBox="1"/>
          <p:nvPr/>
        </p:nvSpPr>
        <p:spPr>
          <a:xfrm>
            <a:off x="585216" y="3794759"/>
            <a:ext cx="5426964" cy="1022588"/>
          </a:xfrm>
          <a:prstGeom prst="rect">
            <a:avLst/>
          </a:prstGeom>
          <a:noFill/>
        </p:spPr>
        <p:txBody>
          <a:bodyPr wrap="square" lIns="0" tIns="0" rIns="0" bIns="0" anchor="t">
            <a:spAutoFit/>
          </a:bodyPr>
          <a:lstStyle/>
          <a:p>
            <a:pPr lvl="0">
              <a:spcAft>
                <a:spcPts val="500"/>
              </a:spcAft>
              <a:defRPr/>
            </a:pPr>
            <a:r>
              <a:rPr lang="en-US" sz="1100" b="1">
                <a:solidFill>
                  <a:prstClr val="black"/>
                </a:solidFill>
              </a:rPr>
              <a:t>POSSIBLE SALES POSITIONING FOR ZORA</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Avoid tooling comparison with platforms: Lead with outcome versus build effort.</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Quantify what Zora eliminates or accelerates: Workflow design, domain logic, controls, integration and deployment effort.</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Position Zora as potentially complementary to the client’s chosen platform.</a:t>
            </a:r>
          </a:p>
        </p:txBody>
      </p:sp>
      <p:sp>
        <p:nvSpPr>
          <p:cNvPr id="30" name="Rectangle 29">
            <a:extLst>
              <a:ext uri="{FF2B5EF4-FFF2-40B4-BE49-F238E27FC236}">
                <a16:creationId xmlns:a16="http://schemas.microsoft.com/office/drawing/2014/main" id="{D9816BB5-822F-6C96-2223-707DB757E7A1}"/>
              </a:ext>
            </a:extLst>
          </p:cNvPr>
          <p:cNvSpPr/>
          <p:nvPr/>
        </p:nvSpPr>
        <p:spPr>
          <a:xfrm>
            <a:off x="6176772" y="3703320"/>
            <a:ext cx="5554980" cy="1225296"/>
          </a:xfrm>
          <a:prstGeom prst="rect">
            <a:avLst/>
          </a:prstGeom>
          <a:solidFill>
            <a:schemeClr val="accent1">
              <a:lumMod val="20000"/>
              <a:lumOff val="80000"/>
            </a:schemeClr>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32" name="TextBox 31">
            <a:extLst>
              <a:ext uri="{FF2B5EF4-FFF2-40B4-BE49-F238E27FC236}">
                <a16:creationId xmlns:a16="http://schemas.microsoft.com/office/drawing/2014/main" id="{8E3353E6-F5AF-0465-D6FA-41FDFF7CC51A}"/>
              </a:ext>
            </a:extLst>
          </p:cNvPr>
          <p:cNvSpPr txBox="1"/>
          <p:nvPr/>
        </p:nvSpPr>
        <p:spPr>
          <a:xfrm>
            <a:off x="6304788" y="3794759"/>
            <a:ext cx="5426964" cy="971292"/>
          </a:xfrm>
          <a:prstGeom prst="rect">
            <a:avLst/>
          </a:prstGeom>
          <a:noFill/>
        </p:spPr>
        <p:txBody>
          <a:bodyPr wrap="square" lIns="0" tIns="0" rIns="0" bIns="0" anchor="t">
            <a:spAutoFit/>
          </a:bodyPr>
          <a:lstStyle/>
          <a:p>
            <a:pPr lvl="0">
              <a:spcAft>
                <a:spcPts val="500"/>
              </a:spcAft>
              <a:defRPr/>
            </a:pPr>
            <a:r>
              <a:rPr lang="en-US" sz="1100" b="1">
                <a:solidFill>
                  <a:prstClr val="black"/>
                </a:solidFill>
              </a:rPr>
              <a:t>POSSIBLE SALES POSITIONING FOR ZORA</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Focus on workflows, not platform capabilities: compare named Zora workflows with competitor workflows available today rather than their overall platform.</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Concede that Zora does not provide an enterpris</a:t>
            </a:r>
            <a:r>
              <a:rPr lang="en-US" sz="1100">
                <a:latin typeface="Aptos"/>
              </a:rPr>
              <a:t>e-level “agent factory” like these offerings do</a:t>
            </a:r>
            <a:r>
              <a:rPr lang="en-US" sz="1100" b="0" i="0" u="none">
                <a:latin typeface="Aptos"/>
              </a:rPr>
              <a:t>;</a:t>
            </a:r>
            <a:r>
              <a:rPr lang="en-US" sz="1100">
                <a:latin typeface="Aptos"/>
              </a:rPr>
              <a:t> instead,</a:t>
            </a:r>
            <a:r>
              <a:rPr lang="en-US" sz="1100" b="0" i="0" u="none">
                <a:latin typeface="Aptos"/>
              </a:rPr>
              <a:t> Zora </a:t>
            </a:r>
            <a:r>
              <a:rPr lang="en-US" sz="1100">
                <a:latin typeface="Aptos"/>
              </a:rPr>
              <a:t>offers </a:t>
            </a:r>
            <a:r>
              <a:rPr lang="en-US" sz="1100" b="0" i="0" u="none">
                <a:latin typeface="Aptos"/>
              </a:rPr>
              <a:t>domain depth, repeatability, and faster time to value.</a:t>
            </a:r>
          </a:p>
        </p:txBody>
      </p:sp>
      <p:sp>
        <p:nvSpPr>
          <p:cNvPr id="33" name="Technology platform icon"/>
          <p:cNvSpPr txBox="1"/>
          <p:nvPr/>
        </p:nvSpPr>
        <p:spPr>
          <a:xfrm>
            <a:off x="557784" y="1851660"/>
            <a:ext cx="201168" cy="246888"/>
          </a:xfrm>
          <a:prstGeom prst="rect">
            <a:avLst/>
          </a:prstGeom>
          <a:noFill/>
        </p:spPr>
        <p:txBody>
          <a:bodyPr wrap="square" lIns="0" tIns="0" rIns="0" bIns="0" anchor="ctr">
            <a:spAutoFit/>
          </a:bodyPr>
          <a:lstStyle/>
          <a:p>
            <a:pPr algn="ctr"/>
            <a:r>
              <a:rPr sz="1300" b="1">
                <a:solidFill>
                  <a:srgbClr val="FFFFFF"/>
                </a:solidFill>
                <a:latin typeface="Segoe UI Symbol"/>
              </a:rPr>
              <a:t>⚙</a:t>
            </a:r>
          </a:p>
        </p:txBody>
      </p:sp>
      <p:sp>
        <p:nvSpPr>
          <p:cNvPr id="34" name="Partner infrastructure icon"/>
          <p:cNvSpPr txBox="1"/>
          <p:nvPr/>
        </p:nvSpPr>
        <p:spPr>
          <a:xfrm>
            <a:off x="6277356" y="1851660"/>
            <a:ext cx="201168" cy="246888"/>
          </a:xfrm>
          <a:prstGeom prst="rect">
            <a:avLst/>
          </a:prstGeom>
          <a:noFill/>
        </p:spPr>
        <p:txBody>
          <a:bodyPr wrap="square" lIns="0" tIns="0" rIns="0" bIns="0" anchor="ctr">
            <a:spAutoFit/>
          </a:bodyPr>
          <a:lstStyle/>
          <a:p>
            <a:pPr algn="ctr"/>
            <a:r>
              <a:rPr sz="1300" b="1">
                <a:solidFill>
                  <a:srgbClr val="FFFFFF"/>
                </a:solidFill>
                <a:latin typeface="Segoe UI Symbol"/>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23C89-8402-5DF3-0B9F-0B4AD5BAF80C}"/>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91BF88E-37B9-CE73-DF89-247D37BD92B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491BF88E-37B9-CE73-DF89-247D37BD92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FADC96B-1D09-897D-965F-CF2C1D4291DC}"/>
              </a:ext>
            </a:extLst>
          </p:cNvPr>
          <p:cNvSpPr>
            <a:spLocks noGrp="1"/>
          </p:cNvSpPr>
          <p:nvPr>
            <p:ph type="title"/>
          </p:nvPr>
        </p:nvSpPr>
        <p:spPr/>
        <p:txBody>
          <a:bodyPr vert="horz" rIns="0"/>
          <a:lstStyle/>
          <a:p>
            <a:r>
              <a:rPr lang="en-US"/>
              <a:t>Limited competitors offer a combination of breadth and depth, a unique position that Zora occupies, shared with only SAP’s Joule Agents</a:t>
            </a:r>
          </a:p>
        </p:txBody>
      </p:sp>
      <p:sp>
        <p:nvSpPr>
          <p:cNvPr id="8" name="Rectangle: Rounded Corners 7">
            <a:extLst>
              <a:ext uri="{FF2B5EF4-FFF2-40B4-BE49-F238E27FC236}">
                <a16:creationId xmlns:a16="http://schemas.microsoft.com/office/drawing/2014/main" id="{D1870630-2B30-3E93-FCAD-95C28A9ADB27}"/>
              </a:ext>
            </a:extLst>
          </p:cNvPr>
          <p:cNvSpPr/>
          <p:nvPr/>
        </p:nvSpPr>
        <p:spPr bwMode="gray">
          <a:xfrm>
            <a:off x="457199" y="1197430"/>
            <a:ext cx="11114315" cy="5148942"/>
          </a:xfrm>
          <a:prstGeom prst="roundRect">
            <a:avLst>
              <a:gd name="adj" fmla="val 6243"/>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D8DF137A-514D-60AB-79CC-7F282FA1C829}"/>
              </a:ext>
            </a:extLst>
          </p:cNvPr>
          <p:cNvSpPr/>
          <p:nvPr/>
        </p:nvSpPr>
        <p:spPr bwMode="gray">
          <a:xfrm>
            <a:off x="5165009" y="5894360"/>
            <a:ext cx="2194560" cy="342000"/>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Business Domain Breadth</a:t>
            </a:r>
          </a:p>
        </p:txBody>
      </p:sp>
      <p:sp>
        <p:nvSpPr>
          <p:cNvPr id="21" name="Rectangle: Rounded Corners 20">
            <a:extLst>
              <a:ext uri="{FF2B5EF4-FFF2-40B4-BE49-F238E27FC236}">
                <a16:creationId xmlns:a16="http://schemas.microsoft.com/office/drawing/2014/main" id="{DCC138D5-3D19-4FB8-AAA8-D4D7F179AC57}"/>
              </a:ext>
            </a:extLst>
          </p:cNvPr>
          <p:cNvSpPr/>
          <p:nvPr/>
        </p:nvSpPr>
        <p:spPr bwMode="gray">
          <a:xfrm rot="16200000">
            <a:off x="-465524" y="3469153"/>
            <a:ext cx="1548384" cy="342000"/>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Domain Depth</a:t>
            </a:r>
          </a:p>
        </p:txBody>
      </p:sp>
      <p:sp>
        <p:nvSpPr>
          <p:cNvPr id="22" name="Rectangle: Rounded Corners 21">
            <a:extLst>
              <a:ext uri="{FF2B5EF4-FFF2-40B4-BE49-F238E27FC236}">
                <a16:creationId xmlns:a16="http://schemas.microsoft.com/office/drawing/2014/main" id="{90D12F0C-05CF-88A4-1EAF-B33BF5719DCA}"/>
              </a:ext>
            </a:extLst>
          </p:cNvPr>
          <p:cNvSpPr/>
          <p:nvPr/>
        </p:nvSpPr>
        <p:spPr bwMode="gray">
          <a:xfrm>
            <a:off x="1557600" y="5635850"/>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02" name="Rectangle: Rounded Corners 21">
            <a:extLst>
              <a:ext uri="{FF2B5EF4-FFF2-40B4-BE49-F238E27FC236}">
                <a16:creationId xmlns:a16="http://schemas.microsoft.com/office/drawing/2014/main" id="{90D12F0C-05CF-88A4-1EAF-B33BF5719DCA}"/>
              </a:ext>
            </a:extLst>
          </p:cNvPr>
          <p:cNvSpPr/>
          <p:nvPr/>
        </p:nvSpPr>
        <p:spPr bwMode="gray">
          <a:xfrm>
            <a:off x="7953451" y="5635447"/>
            <a:ext cx="100584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01" name="Rectangle: Rounded Corners 21">
            <a:extLst>
              <a:ext uri="{FF2B5EF4-FFF2-40B4-BE49-F238E27FC236}">
                <a16:creationId xmlns:a16="http://schemas.microsoft.com/office/drawing/2014/main" id="{90D12F0C-05CF-88A4-1EAF-B33BF5719DCA}"/>
              </a:ext>
            </a:extLst>
          </p:cNvPr>
          <p:cNvSpPr/>
          <p:nvPr/>
        </p:nvSpPr>
        <p:spPr bwMode="gray">
          <a:xfrm>
            <a:off x="3513124" y="5635447"/>
            <a:ext cx="100584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3" name="Rectangle: Rounded Corners 22">
            <a:extLst>
              <a:ext uri="{FF2B5EF4-FFF2-40B4-BE49-F238E27FC236}">
                <a16:creationId xmlns:a16="http://schemas.microsoft.com/office/drawing/2014/main" id="{C2A7A1E2-6B69-F3D9-6A8E-C2CE948EB8E4}"/>
              </a:ext>
            </a:extLst>
          </p:cNvPr>
          <p:cNvSpPr/>
          <p:nvPr/>
        </p:nvSpPr>
        <p:spPr bwMode="gray">
          <a:xfrm>
            <a:off x="10438371" y="5635850"/>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4" name="Rectangle: Rounded Corners 23">
            <a:extLst>
              <a:ext uri="{FF2B5EF4-FFF2-40B4-BE49-F238E27FC236}">
                <a16:creationId xmlns:a16="http://schemas.microsoft.com/office/drawing/2014/main" id="{9D93AB17-AC0B-AE42-E975-9CBEB8B1C61D}"/>
              </a:ext>
            </a:extLst>
          </p:cNvPr>
          <p:cNvSpPr/>
          <p:nvPr/>
        </p:nvSpPr>
        <p:spPr bwMode="gray">
          <a:xfrm>
            <a:off x="5890295" y="5635850"/>
            <a:ext cx="693317" cy="217918"/>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5" name="Rectangle: Rounded Corners 24">
            <a:extLst>
              <a:ext uri="{FF2B5EF4-FFF2-40B4-BE49-F238E27FC236}">
                <a16:creationId xmlns:a16="http://schemas.microsoft.com/office/drawing/2014/main" id="{6072BCFC-0A99-2538-3C1D-AC5730B1F227}"/>
              </a:ext>
            </a:extLst>
          </p:cNvPr>
          <p:cNvSpPr/>
          <p:nvPr/>
        </p:nvSpPr>
        <p:spPr bwMode="gray">
          <a:xfrm>
            <a:off x="823394" y="5272284"/>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04" name="Rectangle: Rounded Corners 24">
            <a:extLst>
              <a:ext uri="{FF2B5EF4-FFF2-40B4-BE49-F238E27FC236}">
                <a16:creationId xmlns:a16="http://schemas.microsoft.com/office/drawing/2014/main" id="{6072BCFC-0A99-2538-3C1D-AC5730B1F227}"/>
              </a:ext>
            </a:extLst>
          </p:cNvPr>
          <p:cNvSpPr/>
          <p:nvPr/>
        </p:nvSpPr>
        <p:spPr bwMode="gray">
          <a:xfrm>
            <a:off x="256242" y="2667304"/>
            <a:ext cx="141732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03" name="Rectangle: Rounded Corners 24">
            <a:extLst>
              <a:ext uri="{FF2B5EF4-FFF2-40B4-BE49-F238E27FC236}">
                <a16:creationId xmlns:a16="http://schemas.microsoft.com/office/drawing/2014/main" id="{6072BCFC-0A99-2538-3C1D-AC5730B1F227}"/>
              </a:ext>
            </a:extLst>
          </p:cNvPr>
          <p:cNvSpPr/>
          <p:nvPr/>
        </p:nvSpPr>
        <p:spPr bwMode="gray">
          <a:xfrm>
            <a:off x="256242" y="4403750"/>
            <a:ext cx="141732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8" name="Rectangle: Rounded Corners 27">
            <a:extLst>
              <a:ext uri="{FF2B5EF4-FFF2-40B4-BE49-F238E27FC236}">
                <a16:creationId xmlns:a16="http://schemas.microsoft.com/office/drawing/2014/main" id="{4AA048D3-03F0-2FFF-6002-49425E066DB5}"/>
              </a:ext>
            </a:extLst>
          </p:cNvPr>
          <p:cNvSpPr/>
          <p:nvPr/>
        </p:nvSpPr>
        <p:spPr bwMode="gray">
          <a:xfrm>
            <a:off x="823394" y="1800228"/>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31" name="Rectangle: Rounded Corners 30">
            <a:extLst>
              <a:ext uri="{FF2B5EF4-FFF2-40B4-BE49-F238E27FC236}">
                <a16:creationId xmlns:a16="http://schemas.microsoft.com/office/drawing/2014/main" id="{1EA97D45-54B1-F581-7678-D0EC7C8FF09E}"/>
              </a:ext>
            </a:extLst>
          </p:cNvPr>
          <p:cNvSpPr/>
          <p:nvPr/>
        </p:nvSpPr>
        <p:spPr bwMode="gray">
          <a:xfrm>
            <a:off x="715704" y="3536257"/>
            <a:ext cx="693317" cy="217918"/>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grpSp>
        <p:nvGrpSpPr>
          <p:cNvPr id="38" name="Group 37">
            <a:extLst>
              <a:ext uri="{FF2B5EF4-FFF2-40B4-BE49-F238E27FC236}">
                <a16:creationId xmlns:a16="http://schemas.microsoft.com/office/drawing/2014/main" id="{2A5EECCF-809F-28E2-72EF-8CB7E8DAB5B8}"/>
              </a:ext>
            </a:extLst>
          </p:cNvPr>
          <p:cNvGrpSpPr/>
          <p:nvPr/>
        </p:nvGrpSpPr>
        <p:grpSpPr>
          <a:xfrm>
            <a:off x="1323178" y="1524000"/>
            <a:ext cx="9878222" cy="4038600"/>
            <a:chOff x="1323178" y="1717706"/>
            <a:chExt cx="1931349" cy="1931349"/>
          </a:xfrm>
        </p:grpSpPr>
        <p:sp>
          <p:nvSpPr>
            <p:cNvPr id="11" name="Rectangle 10">
              <a:extLst>
                <a:ext uri="{FF2B5EF4-FFF2-40B4-BE49-F238E27FC236}">
                  <a16:creationId xmlns:a16="http://schemas.microsoft.com/office/drawing/2014/main" id="{7568CFBD-BCBB-666C-4C08-9894192D6C11}"/>
                </a:ext>
              </a:extLst>
            </p:cNvPr>
            <p:cNvSpPr/>
            <p:nvPr/>
          </p:nvSpPr>
          <p:spPr bwMode="gray">
            <a:xfrm>
              <a:off x="1333148" y="1800228"/>
              <a:ext cx="1852656" cy="1848827"/>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cxnSp>
          <p:nvCxnSpPr>
            <p:cNvPr id="13" name="Straight Arrow Connector 12">
              <a:extLst>
                <a:ext uri="{FF2B5EF4-FFF2-40B4-BE49-F238E27FC236}">
                  <a16:creationId xmlns:a16="http://schemas.microsoft.com/office/drawing/2014/main" id="{2EAFC399-0EAD-8120-8221-A639E07E6AE8}"/>
                </a:ext>
              </a:extLst>
            </p:cNvPr>
            <p:cNvCxnSpPr/>
            <p:nvPr/>
          </p:nvCxnSpPr>
          <p:spPr>
            <a:xfrm>
              <a:off x="1333148" y="1717706"/>
              <a:ext cx="0" cy="193134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874BA65-1361-D55F-39D8-D6B13E70A09F}"/>
                </a:ext>
              </a:extLst>
            </p:cNvPr>
            <p:cNvCxnSpPr>
              <a:cxnSpLocks/>
            </p:cNvCxnSpPr>
            <p:nvPr/>
          </p:nvCxnSpPr>
          <p:spPr>
            <a:xfrm rot="5400000">
              <a:off x="2288853" y="2673412"/>
              <a:ext cx="0" cy="193134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13DAEB9-509A-411A-69F0-643F4E36A187}"/>
                </a:ext>
              </a:extLst>
            </p:cNvPr>
            <p:cNvCxnSpPr>
              <a:cxnSpLocks/>
            </p:cNvCxnSpPr>
            <p:nvPr/>
          </p:nvCxnSpPr>
          <p:spPr>
            <a:xfrm>
              <a:off x="1960705" y="1800228"/>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D5E9C1D-57BC-4F71-DDE8-57CB6AF878E6}"/>
                </a:ext>
              </a:extLst>
            </p:cNvPr>
            <p:cNvCxnSpPr>
              <a:cxnSpLocks/>
            </p:cNvCxnSpPr>
            <p:nvPr/>
          </p:nvCxnSpPr>
          <p:spPr>
            <a:xfrm>
              <a:off x="2668583" y="1807347"/>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D3C828C-11AD-A11B-CA83-302725484D35}"/>
                </a:ext>
              </a:extLst>
            </p:cNvPr>
            <p:cNvCxnSpPr>
              <a:cxnSpLocks/>
            </p:cNvCxnSpPr>
            <p:nvPr/>
          </p:nvCxnSpPr>
          <p:spPr>
            <a:xfrm rot="16200000">
              <a:off x="2259479" y="1397152"/>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9ADD336-0A4D-9248-B6A0-F3B3ED6C86CF}"/>
                </a:ext>
              </a:extLst>
            </p:cNvPr>
            <p:cNvCxnSpPr>
              <a:cxnSpLocks/>
            </p:cNvCxnSpPr>
            <p:nvPr/>
          </p:nvCxnSpPr>
          <p:spPr>
            <a:xfrm rot="16200000">
              <a:off x="2259479" y="2070843"/>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Rectangle: Rounded Corners 16">
            <a:extLst>
              <a:ext uri="{FF2B5EF4-FFF2-40B4-BE49-F238E27FC236}">
                <a16:creationId xmlns:a16="http://schemas.microsoft.com/office/drawing/2014/main" id="{FFE55C55-D254-1E4B-553B-3F3396D82734}"/>
              </a:ext>
            </a:extLst>
          </p:cNvPr>
          <p:cNvSpPr/>
          <p:nvPr/>
        </p:nvSpPr>
        <p:spPr bwMode="gray">
          <a:xfrm>
            <a:off x="6573291" y="1280431"/>
            <a:ext cx="2042676" cy="333229"/>
          </a:xfrm>
          <a:prstGeom prst="roundRect">
            <a:avLst/>
          </a:prstGeom>
          <a:solidFill>
            <a:schemeClr val="bg1"/>
          </a:solidFill>
          <a:ln>
            <a:solidFill>
              <a:srgbClr val="007CB0"/>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Functional/ Industry Agents</a:t>
            </a:r>
          </a:p>
        </p:txBody>
      </p:sp>
      <p:sp>
        <p:nvSpPr>
          <p:cNvPr id="18" name="Rectangle: Rounded Corners 17">
            <a:extLst>
              <a:ext uri="{FF2B5EF4-FFF2-40B4-BE49-F238E27FC236}">
                <a16:creationId xmlns:a16="http://schemas.microsoft.com/office/drawing/2014/main" id="{5517CD64-4FB8-A02F-F83E-63BFB4C5F2BD}"/>
              </a:ext>
            </a:extLst>
          </p:cNvPr>
          <p:cNvSpPr/>
          <p:nvPr/>
        </p:nvSpPr>
        <p:spPr bwMode="gray">
          <a:xfrm>
            <a:off x="4371427" y="1280431"/>
            <a:ext cx="2042677" cy="322035"/>
          </a:xfrm>
          <a:prstGeom prst="roundRect">
            <a:avLst/>
          </a:prstGeom>
          <a:solidFill>
            <a:schemeClr val="bg1"/>
          </a:solidFill>
          <a:ln>
            <a:solidFill>
              <a:srgbClr val="009A44"/>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09A44"/>
                </a:solidFill>
                <a:effectLst/>
                <a:uLnTx/>
                <a:uFillTx/>
                <a:latin typeface="Aptos"/>
                <a:ea typeface="+mn-ea"/>
                <a:cs typeface="+mn-cs"/>
              </a:rPr>
              <a:t>General Productivity Agents</a:t>
            </a:r>
          </a:p>
        </p:txBody>
      </p:sp>
      <p:sp>
        <p:nvSpPr>
          <p:cNvPr id="19" name="Rectangle: Rounded Corners 18">
            <a:extLst>
              <a:ext uri="{FF2B5EF4-FFF2-40B4-BE49-F238E27FC236}">
                <a16:creationId xmlns:a16="http://schemas.microsoft.com/office/drawing/2014/main" id="{66CBC455-E1A1-32DB-EBEF-F0B9A85B6BA8}"/>
              </a:ext>
            </a:extLst>
          </p:cNvPr>
          <p:cNvSpPr/>
          <p:nvPr/>
        </p:nvSpPr>
        <p:spPr bwMode="gray">
          <a:xfrm>
            <a:off x="8775153" y="1280431"/>
            <a:ext cx="2042676" cy="342879"/>
          </a:xfrm>
          <a:prstGeom prst="roundRect">
            <a:avLst/>
          </a:prstGeom>
          <a:solidFill>
            <a:schemeClr val="bg1"/>
          </a:solidFill>
          <a:ln>
            <a:solidFill>
              <a:schemeClr val="tx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black"/>
                </a:solidFill>
                <a:effectLst/>
                <a:uLnTx/>
                <a:uFillTx/>
                <a:latin typeface="Aptos"/>
                <a:ea typeface="+mn-ea"/>
                <a:cs typeface="+mn-cs"/>
              </a:rPr>
              <a:t>Application Native Agents</a:t>
            </a:r>
          </a:p>
        </p:txBody>
      </p:sp>
      <p:sp>
        <p:nvSpPr>
          <p:cNvPr id="9005" name="TextBox 9004"/>
          <p:cNvSpPr txBox="1"/>
          <p:nvPr/>
        </p:nvSpPr>
        <p:spPr>
          <a:xfrm>
            <a:off x="5941771" y="5289804"/>
            <a:ext cx="2377439"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Accenture Refinery Agents</a:t>
            </a:r>
          </a:p>
        </p:txBody>
      </p:sp>
      <p:sp>
        <p:nvSpPr>
          <p:cNvPr id="9006" name="TextBox 9005"/>
          <p:cNvSpPr txBox="1"/>
          <p:nvPr/>
        </p:nvSpPr>
        <p:spPr>
          <a:xfrm>
            <a:off x="1696624" y="5289804"/>
            <a:ext cx="1385284"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9A44"/>
                </a:solidFill>
                <a:effectLst/>
                <a:uLnTx/>
                <a:uFillTx/>
                <a:latin typeface="Aptos"/>
                <a:ea typeface="+mn-ea"/>
                <a:cs typeface="+mn-cs"/>
              </a:rPr>
              <a:t>Chat GPT Work</a:t>
            </a:r>
          </a:p>
        </p:txBody>
      </p:sp>
      <p:sp>
        <p:nvSpPr>
          <p:cNvPr id="9007" name="TextBox 9006"/>
          <p:cNvSpPr txBox="1"/>
          <p:nvPr/>
        </p:nvSpPr>
        <p:spPr>
          <a:xfrm>
            <a:off x="1696624" y="5098923"/>
            <a:ext cx="1206062"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9A44"/>
                </a:solidFill>
                <a:effectLst/>
                <a:uLnTx/>
                <a:uFillTx/>
                <a:latin typeface="Aptos"/>
                <a:ea typeface="+mn-ea"/>
                <a:cs typeface="+mn-cs"/>
              </a:rPr>
              <a:t>MS Copilot</a:t>
            </a:r>
          </a:p>
        </p:txBody>
      </p:sp>
      <p:sp>
        <p:nvSpPr>
          <p:cNvPr id="9008" name="TextBox 9007"/>
          <p:cNvSpPr txBox="1"/>
          <p:nvPr/>
        </p:nvSpPr>
        <p:spPr>
          <a:xfrm>
            <a:off x="1933041" y="1817827"/>
            <a:ext cx="767133"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HighRadius</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9009" name="TextBox 9008"/>
          <p:cNvSpPr txBox="1"/>
          <p:nvPr/>
        </p:nvSpPr>
        <p:spPr>
          <a:xfrm>
            <a:off x="6530644" y="4422038"/>
            <a:ext cx="1788566"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IBM Watsonx Agents</a:t>
            </a:r>
          </a:p>
        </p:txBody>
      </p:sp>
      <p:sp>
        <p:nvSpPr>
          <p:cNvPr id="9010" name="TextBox 9009"/>
          <p:cNvSpPr txBox="1"/>
          <p:nvPr/>
        </p:nvSpPr>
        <p:spPr>
          <a:xfrm>
            <a:off x="9003182" y="4422038"/>
            <a:ext cx="1536192"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0000"/>
                </a:solidFill>
                <a:effectLst/>
                <a:uLnTx/>
                <a:uFillTx/>
                <a:latin typeface="Aptos"/>
                <a:ea typeface="+mn-ea"/>
                <a:cs typeface="+mn-cs"/>
              </a:rPr>
              <a:t>MS Dynamics 365</a:t>
            </a:r>
          </a:p>
        </p:txBody>
      </p:sp>
      <p:sp>
        <p:nvSpPr>
          <p:cNvPr id="9011" name="TextBox 9010"/>
          <p:cNvSpPr txBox="1"/>
          <p:nvPr/>
        </p:nvSpPr>
        <p:spPr>
          <a:xfrm>
            <a:off x="1933041" y="4422038"/>
            <a:ext cx="1367942"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EY Tax Agents</a:t>
            </a:r>
          </a:p>
        </p:txBody>
      </p:sp>
      <p:sp>
        <p:nvSpPr>
          <p:cNvPr id="9012" name="TextBox 9011"/>
          <p:cNvSpPr txBox="1"/>
          <p:nvPr/>
        </p:nvSpPr>
        <p:spPr>
          <a:xfrm>
            <a:off x="1933041" y="3553358"/>
            <a:ext cx="644857"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srgbClr val="007CB0"/>
                </a:solidFill>
                <a:effectLst/>
                <a:uLnTx/>
                <a:uFillTx/>
                <a:latin typeface="Aptos"/>
                <a:ea typeface="+mn-ea"/>
                <a:cs typeface="+mn-cs"/>
              </a:rPr>
              <a:t>DataRails</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9013" name="TextBox 9012"/>
          <p:cNvSpPr txBox="1"/>
          <p:nvPr/>
        </p:nvSpPr>
        <p:spPr>
          <a:xfrm>
            <a:off x="8666683" y="3553358"/>
            <a:ext cx="1872691"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PWC Industry Agents</a:t>
            </a:r>
          </a:p>
        </p:txBody>
      </p:sp>
      <p:sp>
        <p:nvSpPr>
          <p:cNvPr id="9014" name="TextBox 9013"/>
          <p:cNvSpPr txBox="1"/>
          <p:nvPr/>
        </p:nvSpPr>
        <p:spPr>
          <a:xfrm>
            <a:off x="9161174" y="2408423"/>
            <a:ext cx="48423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7CB0"/>
                </a:solidFill>
                <a:effectLst/>
                <a:uLnTx/>
                <a:uFillTx/>
                <a:latin typeface="Aptos"/>
                <a:ea typeface="+mn-ea"/>
                <a:cs typeface="+mn-cs"/>
              </a:rPr>
              <a:t>Zora AI</a:t>
            </a:r>
          </a:p>
        </p:txBody>
      </p:sp>
      <p:sp>
        <p:nvSpPr>
          <p:cNvPr id="9015" name="TextBox 9014"/>
          <p:cNvSpPr txBox="1"/>
          <p:nvPr/>
        </p:nvSpPr>
        <p:spPr>
          <a:xfrm>
            <a:off x="7594629" y="2428455"/>
            <a:ext cx="1620316"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0000"/>
                </a:solidFill>
                <a:effectLst/>
                <a:uLnTx/>
                <a:uFillTx/>
                <a:latin typeface="Aptos"/>
                <a:ea typeface="+mn-ea"/>
                <a:cs typeface="+mn-cs"/>
              </a:rPr>
              <a:t>SAP Joule Agents</a:t>
            </a:r>
          </a:p>
        </p:txBody>
      </p:sp>
      <p:sp>
        <p:nvSpPr>
          <p:cNvPr id="4" name="Rectangle 3">
            <a:extLst>
              <a:ext uri="{FF2B5EF4-FFF2-40B4-BE49-F238E27FC236}">
                <a16:creationId xmlns:a16="http://schemas.microsoft.com/office/drawing/2014/main" id="{E308BAAC-A7EE-A9CA-3050-54F3D7D148D1}"/>
              </a:ext>
            </a:extLst>
          </p:cNvPr>
          <p:cNvSpPr/>
          <p:nvPr/>
        </p:nvSpPr>
        <p:spPr bwMode="gray">
          <a:xfrm>
            <a:off x="5780315" y="3429000"/>
            <a:ext cx="4864416" cy="2091911"/>
          </a:xfrm>
          <a:prstGeom prst="rect">
            <a:avLst/>
          </a:prstGeom>
          <a:noFill/>
          <a:ln w="19050" algn="ctr">
            <a:solidFill>
              <a:schemeClr val="bg1">
                <a:lumMod val="65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5" name="TextBox 4">
            <a:extLst>
              <a:ext uri="{FF2B5EF4-FFF2-40B4-BE49-F238E27FC236}">
                <a16:creationId xmlns:a16="http://schemas.microsoft.com/office/drawing/2014/main" id="{A14B2B03-AD25-981A-4959-BF943B34D203}"/>
              </a:ext>
            </a:extLst>
          </p:cNvPr>
          <p:cNvSpPr txBox="1"/>
          <p:nvPr/>
        </p:nvSpPr>
        <p:spPr>
          <a:xfrm>
            <a:off x="5941771" y="3233057"/>
            <a:ext cx="4735068"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a:ln>
                  <a:noFill/>
                </a:ln>
                <a:solidFill>
                  <a:prstClr val="white">
                    <a:lumMod val="65000"/>
                  </a:prstClr>
                </a:solidFill>
                <a:effectLst/>
                <a:uLnTx/>
                <a:uFillTx/>
                <a:latin typeface="Aptos"/>
                <a:ea typeface="+mn-ea"/>
                <a:cs typeface="+mn-cs"/>
              </a:rPr>
              <a:t>Broad enterprise suites addressing many domains, but without significant depth</a:t>
            </a:r>
            <a:endParaRPr kumimoji="0" lang="en-US" sz="1800" b="0" i="1" u="none" strike="noStrike" kern="1200" cap="none" spc="0" normalizeH="0" baseline="0" noProof="0">
              <a:ln>
                <a:noFill/>
              </a:ln>
              <a:solidFill>
                <a:prstClr val="white">
                  <a:lumMod val="65000"/>
                </a:prstClr>
              </a:solidFill>
              <a:effectLst/>
              <a:uLnTx/>
              <a:uFillTx/>
              <a:latin typeface="Aptos"/>
              <a:ea typeface="+mn-ea"/>
              <a:cs typeface="+mn-cs"/>
            </a:endParaRPr>
          </a:p>
        </p:txBody>
      </p:sp>
      <p:sp>
        <p:nvSpPr>
          <p:cNvPr id="6" name="Rectangle 5">
            <a:extLst>
              <a:ext uri="{FF2B5EF4-FFF2-40B4-BE49-F238E27FC236}">
                <a16:creationId xmlns:a16="http://schemas.microsoft.com/office/drawing/2014/main" id="{86B4F157-293E-673B-45F4-DC4837CF7302}"/>
              </a:ext>
            </a:extLst>
          </p:cNvPr>
          <p:cNvSpPr/>
          <p:nvPr/>
        </p:nvSpPr>
        <p:spPr bwMode="gray">
          <a:xfrm>
            <a:off x="1515161" y="1775026"/>
            <a:ext cx="2653037" cy="2178020"/>
          </a:xfrm>
          <a:prstGeom prst="rect">
            <a:avLst/>
          </a:prstGeom>
          <a:noFill/>
          <a:ln w="19050" algn="ctr">
            <a:solidFill>
              <a:schemeClr val="bg1">
                <a:lumMod val="65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7" name="TextBox 6">
            <a:extLst>
              <a:ext uri="{FF2B5EF4-FFF2-40B4-BE49-F238E27FC236}">
                <a16:creationId xmlns:a16="http://schemas.microsoft.com/office/drawing/2014/main" id="{101C7783-4255-A469-A2C8-4F559A01AAA7}"/>
              </a:ext>
            </a:extLst>
          </p:cNvPr>
          <p:cNvSpPr txBox="1"/>
          <p:nvPr/>
        </p:nvSpPr>
        <p:spPr>
          <a:xfrm>
            <a:off x="1636626" y="4022117"/>
            <a:ext cx="2399411" cy="32316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a:ln>
                  <a:noFill/>
                </a:ln>
                <a:solidFill>
                  <a:prstClr val="white">
                    <a:lumMod val="65000"/>
                  </a:prstClr>
                </a:solidFill>
                <a:effectLst/>
                <a:uLnTx/>
                <a:uFillTx/>
                <a:latin typeface="Aptos"/>
                <a:ea typeface="+mn-ea"/>
                <a:cs typeface="+mn-cs"/>
              </a:rPr>
              <a:t>Specialists with significant depth in finance but no breadth in other domains</a:t>
            </a:r>
            <a:endParaRPr kumimoji="0" lang="en-US" sz="1800" b="0" i="1" u="none" strike="noStrike" kern="1200" cap="none" spc="0" normalizeH="0" baseline="0" noProof="0">
              <a:ln>
                <a:noFill/>
              </a:ln>
              <a:solidFill>
                <a:prstClr val="white">
                  <a:lumMod val="65000"/>
                </a:prstClr>
              </a:solidFill>
              <a:effectLst/>
              <a:uLnTx/>
              <a:uFillTx/>
              <a:latin typeface="Aptos"/>
              <a:ea typeface="+mn-ea"/>
              <a:cs typeface="+mn-cs"/>
            </a:endParaRPr>
          </a:p>
        </p:txBody>
      </p:sp>
      <p:sp>
        <p:nvSpPr>
          <p:cNvPr id="9" name="Oval 8">
            <a:extLst>
              <a:ext uri="{FF2B5EF4-FFF2-40B4-BE49-F238E27FC236}">
                <a16:creationId xmlns:a16="http://schemas.microsoft.com/office/drawing/2014/main" id="{CC63639A-A424-00D1-362F-ACCA7533C4A3}"/>
              </a:ext>
            </a:extLst>
          </p:cNvPr>
          <p:cNvSpPr/>
          <p:nvPr/>
        </p:nvSpPr>
        <p:spPr bwMode="gray">
          <a:xfrm rot="524074">
            <a:off x="6096297" y="1773089"/>
            <a:ext cx="3788168" cy="1150355"/>
          </a:xfrm>
          <a:prstGeom prst="ellipse">
            <a:avLst/>
          </a:prstGeom>
          <a:noFill/>
          <a:ln w="19050" algn="ctr">
            <a:solidFill>
              <a:schemeClr val="bg1">
                <a:lumMod val="50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10" name="TextBox 9">
            <a:extLst>
              <a:ext uri="{FF2B5EF4-FFF2-40B4-BE49-F238E27FC236}">
                <a16:creationId xmlns:a16="http://schemas.microsoft.com/office/drawing/2014/main" id="{B2AAFFDC-D6CF-2ADC-7861-0D2278B3A59B}"/>
              </a:ext>
            </a:extLst>
          </p:cNvPr>
          <p:cNvSpPr txBox="1"/>
          <p:nvPr/>
        </p:nvSpPr>
        <p:spPr>
          <a:xfrm>
            <a:off x="4716082" y="2533760"/>
            <a:ext cx="2042676" cy="48474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a:ln>
                  <a:noFill/>
                </a:ln>
                <a:solidFill>
                  <a:prstClr val="white">
                    <a:lumMod val="50000"/>
                  </a:prstClr>
                </a:solidFill>
                <a:effectLst/>
                <a:uLnTx/>
                <a:uFillTx/>
                <a:latin typeface="Aptos"/>
                <a:ea typeface="+mn-ea"/>
                <a:cs typeface="+mn-cs"/>
              </a:rPr>
              <a:t>Broad enough to be enterprise-credible; deep enough in finance to compete with specialists</a:t>
            </a:r>
            <a:endParaRPr kumimoji="0" lang="en-US" sz="1800" b="0" i="1" u="none" strike="noStrike" kern="1200" cap="none" spc="0" normalizeH="0" baseline="0" noProof="0">
              <a:ln>
                <a:noFill/>
              </a:ln>
              <a:solidFill>
                <a:prstClr val="white">
                  <a:lumMod val="50000"/>
                </a:prstClr>
              </a:solidFill>
              <a:effectLst/>
              <a:uLnTx/>
              <a:uFillTx/>
              <a:latin typeface="Aptos"/>
              <a:ea typeface="+mn-ea"/>
              <a:cs typeface="+mn-cs"/>
            </a:endParaRPr>
          </a:p>
        </p:txBody>
      </p:sp>
      <p:sp>
        <p:nvSpPr>
          <p:cNvPr id="12" name="TextBox 11">
            <a:extLst>
              <a:ext uri="{FF2B5EF4-FFF2-40B4-BE49-F238E27FC236}">
                <a16:creationId xmlns:a16="http://schemas.microsoft.com/office/drawing/2014/main" id="{5B88960C-BCB9-AE0B-3DC3-BF9389CDE078}"/>
              </a:ext>
            </a:extLst>
          </p:cNvPr>
          <p:cNvSpPr txBox="1"/>
          <p:nvPr/>
        </p:nvSpPr>
        <p:spPr>
          <a:xfrm>
            <a:off x="1439670" y="6166927"/>
            <a:ext cx="2175462"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a:ln>
                  <a:noFill/>
                </a:ln>
                <a:solidFill>
                  <a:srgbClr val="313131"/>
                </a:solidFill>
                <a:effectLst/>
                <a:uLnTx/>
                <a:uFillTx/>
                <a:latin typeface="Aptos"/>
                <a:ea typeface="+mn-ea"/>
                <a:cs typeface="+mn-cs"/>
                <a:hlinkClick r:id="rId5" action="ppaction://hlinksldjump"/>
              </a:rPr>
              <a:t>Scoring Matrix</a:t>
            </a:r>
            <a:endParaRPr kumimoji="0" lang="en-US" sz="900" b="0" i="0" u="none" strike="noStrike" kern="1200" cap="none" spc="0" normalizeH="0" baseline="0" noProof="0">
              <a:ln>
                <a:noFill/>
              </a:ln>
              <a:solidFill>
                <a:srgbClr val="313131"/>
              </a:solidFill>
              <a:effectLst/>
              <a:uLnTx/>
              <a:uFillTx/>
              <a:latin typeface="Aptos"/>
              <a:ea typeface="+mn-ea"/>
              <a:cs typeface="+mn-cs"/>
            </a:endParaRPr>
          </a:p>
        </p:txBody>
      </p:sp>
      <p:sp>
        <p:nvSpPr>
          <p:cNvPr id="20" name="TextBox 19">
            <a:extLst>
              <a:ext uri="{FF2B5EF4-FFF2-40B4-BE49-F238E27FC236}">
                <a16:creationId xmlns:a16="http://schemas.microsoft.com/office/drawing/2014/main" id="{ADEDBB20-4FEA-F8C3-EFE5-99415384CDAB}"/>
              </a:ext>
            </a:extLst>
          </p:cNvPr>
          <p:cNvSpPr txBox="1"/>
          <p:nvPr/>
        </p:nvSpPr>
        <p:spPr>
          <a:xfrm>
            <a:off x="6996542" y="3551572"/>
            <a:ext cx="1540037"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Infosys</a:t>
            </a:r>
            <a:r>
              <a:rPr kumimoji="0" sz="1200" b="0" i="0" u="none" strike="noStrike" kern="1200" cap="none" spc="0" normalizeH="0" baseline="0" noProof="0">
                <a:ln>
                  <a:noFill/>
                </a:ln>
                <a:solidFill>
                  <a:srgbClr val="007CB0"/>
                </a:solidFill>
                <a:effectLst/>
                <a:uLnTx/>
                <a:uFillTx/>
                <a:latin typeface="Aptos"/>
                <a:ea typeface="+mn-ea"/>
                <a:cs typeface="+mn-cs"/>
              </a:rPr>
              <a:t> Industry Agents</a:t>
            </a:r>
          </a:p>
        </p:txBody>
      </p:sp>
      <p:sp>
        <p:nvSpPr>
          <p:cNvPr id="27" name="TextBox 26">
            <a:extLst>
              <a:ext uri="{FF2B5EF4-FFF2-40B4-BE49-F238E27FC236}">
                <a16:creationId xmlns:a16="http://schemas.microsoft.com/office/drawing/2014/main" id="{D296F1AF-5416-701A-4D76-3066D9495A98}"/>
              </a:ext>
            </a:extLst>
          </p:cNvPr>
          <p:cNvSpPr txBox="1"/>
          <p:nvPr/>
        </p:nvSpPr>
        <p:spPr>
          <a:xfrm>
            <a:off x="1696624" y="4903198"/>
            <a:ext cx="1024576"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09A44"/>
                </a:solidFill>
                <a:latin typeface="Aptos"/>
              </a:rPr>
              <a:t>Claude Cowork</a:t>
            </a:r>
            <a:endParaRPr kumimoji="0" sz="1200" b="0" i="0" u="none" strike="noStrike" kern="1200" cap="none" spc="0" normalizeH="0" baseline="0" noProof="0">
              <a:ln>
                <a:noFill/>
              </a:ln>
              <a:solidFill>
                <a:srgbClr val="009A44"/>
              </a:solidFill>
              <a:effectLst/>
              <a:uLnTx/>
              <a:uFillTx/>
              <a:latin typeface="Aptos"/>
              <a:ea typeface="+mn-ea"/>
              <a:cs typeface="+mn-cs"/>
            </a:endParaRPr>
          </a:p>
        </p:txBody>
      </p:sp>
      <p:sp>
        <p:nvSpPr>
          <p:cNvPr id="30" name="TextBox 29">
            <a:extLst>
              <a:ext uri="{FF2B5EF4-FFF2-40B4-BE49-F238E27FC236}">
                <a16:creationId xmlns:a16="http://schemas.microsoft.com/office/drawing/2014/main" id="{90D787D8-C956-C7BC-5B4D-643A7CF43642}"/>
              </a:ext>
            </a:extLst>
          </p:cNvPr>
          <p:cNvSpPr txBox="1"/>
          <p:nvPr/>
        </p:nvSpPr>
        <p:spPr>
          <a:xfrm>
            <a:off x="9003182" y="4236504"/>
            <a:ext cx="1284454"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ServiceNow Agents</a:t>
            </a:r>
            <a:endParaRPr kumimoji="0" sz="1200" b="0" i="0" u="none" strike="noStrike" kern="1200" cap="none" spc="0" normalizeH="0" baseline="0" noProof="0">
              <a:ln>
                <a:noFill/>
              </a:ln>
              <a:solidFill>
                <a:srgbClr val="000000"/>
              </a:solidFill>
              <a:effectLst/>
              <a:uLnTx/>
              <a:uFillTx/>
              <a:latin typeface="Aptos"/>
              <a:ea typeface="+mn-ea"/>
              <a:cs typeface="+mn-cs"/>
            </a:endParaRPr>
          </a:p>
        </p:txBody>
      </p:sp>
      <p:sp>
        <p:nvSpPr>
          <p:cNvPr id="36" name="TextBox 35">
            <a:extLst>
              <a:ext uri="{FF2B5EF4-FFF2-40B4-BE49-F238E27FC236}">
                <a16:creationId xmlns:a16="http://schemas.microsoft.com/office/drawing/2014/main" id="{B7FA3504-0E92-6988-78BE-62888986823C}"/>
              </a:ext>
            </a:extLst>
          </p:cNvPr>
          <p:cNvSpPr txBox="1"/>
          <p:nvPr/>
        </p:nvSpPr>
        <p:spPr>
          <a:xfrm>
            <a:off x="604938" y="6396000"/>
            <a:ext cx="8061745"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a:ln>
                  <a:noFill/>
                </a:ln>
                <a:solidFill>
                  <a:srgbClr val="313131"/>
                </a:solidFill>
                <a:effectLst/>
                <a:uLnTx/>
                <a:uFillTx/>
                <a:latin typeface="Aptos"/>
                <a:ea typeface="+mn-ea"/>
                <a:cs typeface="+mn-cs"/>
              </a:rPr>
              <a:t>Note: Domain depth is considered only in Finance, Procurement and Supply Chain</a:t>
            </a:r>
          </a:p>
        </p:txBody>
      </p:sp>
      <p:sp>
        <p:nvSpPr>
          <p:cNvPr id="40" name="TextBox 39">
            <a:extLst>
              <a:ext uri="{FF2B5EF4-FFF2-40B4-BE49-F238E27FC236}">
                <a16:creationId xmlns:a16="http://schemas.microsoft.com/office/drawing/2014/main" id="{157BC39A-7699-1E99-4731-6B00788D0866}"/>
              </a:ext>
            </a:extLst>
          </p:cNvPr>
          <p:cNvSpPr txBox="1"/>
          <p:nvPr/>
        </p:nvSpPr>
        <p:spPr>
          <a:xfrm>
            <a:off x="9003182" y="4638136"/>
            <a:ext cx="1463670"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Salesforce Agentforce</a:t>
            </a:r>
            <a:endParaRPr kumimoji="0" sz="1200" b="0" i="0" u="none" strike="noStrike" kern="1200" cap="none" spc="0" normalizeH="0" baseline="0" noProof="0">
              <a:ln>
                <a:noFill/>
              </a:ln>
              <a:solidFill>
                <a:srgbClr val="000000"/>
              </a:solidFill>
              <a:effectLst/>
              <a:uLnTx/>
              <a:uFillTx/>
              <a:latin typeface="Aptos"/>
              <a:ea typeface="+mn-ea"/>
              <a:cs typeface="+mn-cs"/>
            </a:endParaRPr>
          </a:p>
        </p:txBody>
      </p:sp>
      <p:sp>
        <p:nvSpPr>
          <p:cNvPr id="26" name="TextBox 25">
            <a:extLst>
              <a:ext uri="{FF2B5EF4-FFF2-40B4-BE49-F238E27FC236}">
                <a16:creationId xmlns:a16="http://schemas.microsoft.com/office/drawing/2014/main" id="{270EC759-C565-1E97-8632-9930542FE835}"/>
              </a:ext>
            </a:extLst>
          </p:cNvPr>
          <p:cNvSpPr txBox="1"/>
          <p:nvPr/>
        </p:nvSpPr>
        <p:spPr>
          <a:xfrm>
            <a:off x="7613371" y="4236458"/>
            <a:ext cx="1070806"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Workday Agents</a:t>
            </a:r>
            <a:endParaRPr kumimoji="0" sz="1200" b="0" i="0" u="none" strike="noStrike" kern="1200" cap="none" spc="0" normalizeH="0" baseline="0" noProof="0">
              <a:ln>
                <a:noFill/>
              </a:ln>
              <a:solidFill>
                <a:srgbClr val="000000"/>
              </a:solidFill>
              <a:effectLst/>
              <a:uLnTx/>
              <a:uFillTx/>
              <a:latin typeface="Aptos"/>
              <a:ea typeface="+mn-ea"/>
              <a:cs typeface="+mn-cs"/>
            </a:endParaRPr>
          </a:p>
        </p:txBody>
      </p:sp>
      <p:sp>
        <p:nvSpPr>
          <p:cNvPr id="33" name="TextBox 32">
            <a:extLst>
              <a:ext uri="{FF2B5EF4-FFF2-40B4-BE49-F238E27FC236}">
                <a16:creationId xmlns:a16="http://schemas.microsoft.com/office/drawing/2014/main" id="{75AE5EF3-2D5C-CF95-6964-84EA8CAE2007}"/>
              </a:ext>
            </a:extLst>
          </p:cNvPr>
          <p:cNvSpPr txBox="1"/>
          <p:nvPr/>
        </p:nvSpPr>
        <p:spPr>
          <a:xfrm>
            <a:off x="1696624" y="4691872"/>
            <a:ext cx="1196674"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09A44"/>
                </a:solidFill>
                <a:latin typeface="Aptos"/>
              </a:rPr>
              <a:t>Gemini Enterprise</a:t>
            </a:r>
            <a:endParaRPr kumimoji="0" sz="1200" b="0" i="0" u="none" strike="noStrike" kern="1200" cap="none" spc="0" normalizeH="0" baseline="0" noProof="0">
              <a:ln>
                <a:noFill/>
              </a:ln>
              <a:solidFill>
                <a:srgbClr val="009A44"/>
              </a:solidFill>
              <a:effectLst/>
              <a:uLnTx/>
              <a:uFillTx/>
              <a:latin typeface="Aptos"/>
              <a:ea typeface="+mn-ea"/>
              <a:cs typeface="+mn-cs"/>
            </a:endParaRPr>
          </a:p>
        </p:txBody>
      </p:sp>
      <p:sp>
        <p:nvSpPr>
          <p:cNvPr id="41" name="TextBox 40">
            <a:extLst>
              <a:ext uri="{FF2B5EF4-FFF2-40B4-BE49-F238E27FC236}">
                <a16:creationId xmlns:a16="http://schemas.microsoft.com/office/drawing/2014/main" id="{963D38CC-8AF0-47E8-E2EB-54AF1EC9E407}"/>
              </a:ext>
            </a:extLst>
          </p:cNvPr>
          <p:cNvSpPr txBox="1"/>
          <p:nvPr/>
        </p:nvSpPr>
        <p:spPr>
          <a:xfrm>
            <a:off x="7463784" y="4057845"/>
            <a:ext cx="1635576"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Amazon Connect </a:t>
            </a:r>
            <a:r>
              <a:rPr kumimoji="0" sz="1200" b="0" i="0" u="none" strike="noStrike" kern="1200" cap="none" spc="0" normalizeH="0" baseline="0" noProof="0">
                <a:ln>
                  <a:noFill/>
                </a:ln>
                <a:solidFill>
                  <a:srgbClr val="000000"/>
                </a:solidFill>
                <a:effectLst/>
                <a:uLnTx/>
                <a:uFillTx/>
                <a:latin typeface="Aptos"/>
                <a:ea typeface="+mn-ea"/>
                <a:cs typeface="+mn-cs"/>
              </a:rPr>
              <a:t>Agents</a:t>
            </a:r>
          </a:p>
        </p:txBody>
      </p:sp>
      <p:sp>
        <p:nvSpPr>
          <p:cNvPr id="43" name="TextBox 42">
            <a:extLst>
              <a:ext uri="{FF2B5EF4-FFF2-40B4-BE49-F238E27FC236}">
                <a16:creationId xmlns:a16="http://schemas.microsoft.com/office/drawing/2014/main" id="{1AAA277B-165D-703E-D5CB-25CBADAF38FA}"/>
              </a:ext>
            </a:extLst>
          </p:cNvPr>
          <p:cNvSpPr txBox="1"/>
          <p:nvPr/>
        </p:nvSpPr>
        <p:spPr>
          <a:xfrm>
            <a:off x="1933041" y="3371065"/>
            <a:ext cx="791370"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One Stream</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45" name="TextBox 44">
            <a:extLst>
              <a:ext uri="{FF2B5EF4-FFF2-40B4-BE49-F238E27FC236}">
                <a16:creationId xmlns:a16="http://schemas.microsoft.com/office/drawing/2014/main" id="{9AF81206-D3E0-1F3F-BF29-5034DC5A5B04}"/>
              </a:ext>
            </a:extLst>
          </p:cNvPr>
          <p:cNvSpPr txBox="1"/>
          <p:nvPr/>
        </p:nvSpPr>
        <p:spPr>
          <a:xfrm>
            <a:off x="1942431" y="3733237"/>
            <a:ext cx="55784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Abacum</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47" name="TextBox 46">
            <a:extLst>
              <a:ext uri="{FF2B5EF4-FFF2-40B4-BE49-F238E27FC236}">
                <a16:creationId xmlns:a16="http://schemas.microsoft.com/office/drawing/2014/main" id="{B9214859-2E93-88BC-FF60-70D5C5077427}"/>
              </a:ext>
            </a:extLst>
          </p:cNvPr>
          <p:cNvSpPr txBox="1"/>
          <p:nvPr/>
        </p:nvSpPr>
        <p:spPr>
          <a:xfrm>
            <a:off x="6180511" y="1988932"/>
            <a:ext cx="44563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Coupa</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49" name="TextBox 48">
            <a:extLst>
              <a:ext uri="{FF2B5EF4-FFF2-40B4-BE49-F238E27FC236}">
                <a16:creationId xmlns:a16="http://schemas.microsoft.com/office/drawing/2014/main" id="{5909AF66-CD74-5DA2-15E4-0EDAFB23FBFD}"/>
              </a:ext>
            </a:extLst>
          </p:cNvPr>
          <p:cNvSpPr txBox="1"/>
          <p:nvPr/>
        </p:nvSpPr>
        <p:spPr>
          <a:xfrm>
            <a:off x="1933041" y="3198723"/>
            <a:ext cx="46166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Salient</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Tree>
    <p:extLst>
      <p:ext uri="{BB962C8B-B14F-4D97-AF65-F5344CB8AC3E}">
        <p14:creationId xmlns:p14="http://schemas.microsoft.com/office/powerpoint/2010/main" val="112253799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56195-967A-DAAF-C56F-3840B453E08B}"/>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2D1CCEA-E18D-C7C5-1136-518B3A12CB2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 name="think-cell data - do not delete" hidden="1">
                        <a:extLst>
                          <a:ext uri="{FF2B5EF4-FFF2-40B4-BE49-F238E27FC236}">
                            <a16:creationId xmlns:a16="http://schemas.microsoft.com/office/drawing/2014/main" id="{12D1CCEA-E18D-C7C5-1136-518B3A12CB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2509157-9D34-F158-6BF6-C4869B953449}"/>
              </a:ext>
            </a:extLst>
          </p:cNvPr>
          <p:cNvSpPr>
            <a:spLocks noGrp="1"/>
          </p:cNvSpPr>
          <p:nvPr>
            <p:ph type="title"/>
          </p:nvPr>
        </p:nvSpPr>
        <p:spPr>
          <a:xfrm>
            <a:off x="457200" y="345992"/>
            <a:ext cx="11325226" cy="342000"/>
          </a:xfrm>
        </p:spPr>
        <p:txBody>
          <a:bodyPr vert="horz" rIns="0"/>
          <a:lstStyle/>
          <a:p>
            <a:r>
              <a:rPr lang="en-US" sz="2000"/>
              <a:t>Zora leads PSF peers in productization, but trails point solutions; PSFs, few Application native solutions offer cross-system interoperability, but announced partnerships are less evidenced than Zora</a:t>
            </a:r>
          </a:p>
        </p:txBody>
      </p:sp>
      <p:sp>
        <p:nvSpPr>
          <p:cNvPr id="8" name="Rectangle: Rounded Corners 7">
            <a:extLst>
              <a:ext uri="{FF2B5EF4-FFF2-40B4-BE49-F238E27FC236}">
                <a16:creationId xmlns:a16="http://schemas.microsoft.com/office/drawing/2014/main" id="{D0C00DFC-2952-9D77-C398-1D78FE8A9A1B}"/>
              </a:ext>
            </a:extLst>
          </p:cNvPr>
          <p:cNvSpPr/>
          <p:nvPr/>
        </p:nvSpPr>
        <p:spPr bwMode="gray">
          <a:xfrm>
            <a:off x="457199" y="1197430"/>
            <a:ext cx="11114315" cy="5148942"/>
          </a:xfrm>
          <a:prstGeom prst="roundRect">
            <a:avLst>
              <a:gd name="adj" fmla="val 6243"/>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3981A918-7609-3DA6-8BB1-9276D95D5898}"/>
              </a:ext>
            </a:extLst>
          </p:cNvPr>
          <p:cNvSpPr/>
          <p:nvPr/>
        </p:nvSpPr>
        <p:spPr bwMode="gray">
          <a:xfrm>
            <a:off x="5073569" y="5894360"/>
            <a:ext cx="2377440" cy="342000"/>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Ecosystem Integration Maturity</a:t>
            </a:r>
          </a:p>
        </p:txBody>
      </p:sp>
      <p:sp>
        <p:nvSpPr>
          <p:cNvPr id="21" name="Rectangle: Rounded Corners 20">
            <a:extLst>
              <a:ext uri="{FF2B5EF4-FFF2-40B4-BE49-F238E27FC236}">
                <a16:creationId xmlns:a16="http://schemas.microsoft.com/office/drawing/2014/main" id="{FDCC8797-9E15-BC09-126B-12F4B01B8440}"/>
              </a:ext>
            </a:extLst>
          </p:cNvPr>
          <p:cNvSpPr/>
          <p:nvPr/>
        </p:nvSpPr>
        <p:spPr bwMode="gray">
          <a:xfrm rot="16200000">
            <a:off x="-982430" y="3452373"/>
            <a:ext cx="2530993" cy="313578"/>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Productized/</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Repeatability of pre-built solution</a:t>
            </a:r>
          </a:p>
        </p:txBody>
      </p:sp>
      <p:sp>
        <p:nvSpPr>
          <p:cNvPr id="22" name="Rectangle: Rounded Corners 21">
            <a:extLst>
              <a:ext uri="{FF2B5EF4-FFF2-40B4-BE49-F238E27FC236}">
                <a16:creationId xmlns:a16="http://schemas.microsoft.com/office/drawing/2014/main" id="{A774C5CE-7B5D-41FA-01FC-C4F4FCD5B868}"/>
              </a:ext>
            </a:extLst>
          </p:cNvPr>
          <p:cNvSpPr/>
          <p:nvPr/>
        </p:nvSpPr>
        <p:spPr bwMode="gray">
          <a:xfrm>
            <a:off x="1557600" y="5635850"/>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06" name="Rectangle: Rounded Corners 21">
            <a:extLst>
              <a:ext uri="{FF2B5EF4-FFF2-40B4-BE49-F238E27FC236}">
                <a16:creationId xmlns:a16="http://schemas.microsoft.com/office/drawing/2014/main" id="{A774C5CE-7B5D-41FA-01FC-C4F4FCD5B868}"/>
              </a:ext>
            </a:extLst>
          </p:cNvPr>
          <p:cNvSpPr/>
          <p:nvPr/>
        </p:nvSpPr>
        <p:spPr bwMode="gray">
          <a:xfrm>
            <a:off x="7953451" y="5635447"/>
            <a:ext cx="100584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05" name="Rectangle: Rounded Corners 21">
            <a:extLst>
              <a:ext uri="{FF2B5EF4-FFF2-40B4-BE49-F238E27FC236}">
                <a16:creationId xmlns:a16="http://schemas.microsoft.com/office/drawing/2014/main" id="{A774C5CE-7B5D-41FA-01FC-C4F4FCD5B868}"/>
              </a:ext>
            </a:extLst>
          </p:cNvPr>
          <p:cNvSpPr/>
          <p:nvPr/>
        </p:nvSpPr>
        <p:spPr bwMode="gray">
          <a:xfrm>
            <a:off x="3513124" y="5635447"/>
            <a:ext cx="100584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3" name="Rectangle: Rounded Corners 22">
            <a:extLst>
              <a:ext uri="{FF2B5EF4-FFF2-40B4-BE49-F238E27FC236}">
                <a16:creationId xmlns:a16="http://schemas.microsoft.com/office/drawing/2014/main" id="{E9D65D9D-DB2F-522B-52BD-8C9D96DD5136}"/>
              </a:ext>
            </a:extLst>
          </p:cNvPr>
          <p:cNvSpPr/>
          <p:nvPr/>
        </p:nvSpPr>
        <p:spPr bwMode="gray">
          <a:xfrm>
            <a:off x="10438371" y="5635850"/>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4" name="Rectangle: Rounded Corners 23">
            <a:extLst>
              <a:ext uri="{FF2B5EF4-FFF2-40B4-BE49-F238E27FC236}">
                <a16:creationId xmlns:a16="http://schemas.microsoft.com/office/drawing/2014/main" id="{1F539478-2489-70AB-E854-EC897FFD4D11}"/>
              </a:ext>
            </a:extLst>
          </p:cNvPr>
          <p:cNvSpPr/>
          <p:nvPr/>
        </p:nvSpPr>
        <p:spPr bwMode="gray">
          <a:xfrm>
            <a:off x="5890295" y="5635850"/>
            <a:ext cx="693317" cy="217918"/>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5" name="Rectangle: Rounded Corners 24">
            <a:extLst>
              <a:ext uri="{FF2B5EF4-FFF2-40B4-BE49-F238E27FC236}">
                <a16:creationId xmlns:a16="http://schemas.microsoft.com/office/drawing/2014/main" id="{1FC05931-449F-132A-395A-895CCD0E95C5}"/>
              </a:ext>
            </a:extLst>
          </p:cNvPr>
          <p:cNvSpPr/>
          <p:nvPr/>
        </p:nvSpPr>
        <p:spPr bwMode="gray">
          <a:xfrm>
            <a:off x="823394" y="5272284"/>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08" name="Rectangle: Rounded Corners 24">
            <a:extLst>
              <a:ext uri="{FF2B5EF4-FFF2-40B4-BE49-F238E27FC236}">
                <a16:creationId xmlns:a16="http://schemas.microsoft.com/office/drawing/2014/main" id="{1FC05931-449F-132A-395A-895CCD0E95C5}"/>
              </a:ext>
            </a:extLst>
          </p:cNvPr>
          <p:cNvSpPr/>
          <p:nvPr/>
        </p:nvSpPr>
        <p:spPr bwMode="gray">
          <a:xfrm>
            <a:off x="245609" y="2667304"/>
            <a:ext cx="141732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07" name="Rectangle: Rounded Corners 24">
            <a:extLst>
              <a:ext uri="{FF2B5EF4-FFF2-40B4-BE49-F238E27FC236}">
                <a16:creationId xmlns:a16="http://schemas.microsoft.com/office/drawing/2014/main" id="{1FC05931-449F-132A-395A-895CCD0E95C5}"/>
              </a:ext>
            </a:extLst>
          </p:cNvPr>
          <p:cNvSpPr/>
          <p:nvPr/>
        </p:nvSpPr>
        <p:spPr bwMode="gray">
          <a:xfrm>
            <a:off x="245609" y="4403750"/>
            <a:ext cx="141732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8" name="Rectangle: Rounded Corners 27">
            <a:extLst>
              <a:ext uri="{FF2B5EF4-FFF2-40B4-BE49-F238E27FC236}">
                <a16:creationId xmlns:a16="http://schemas.microsoft.com/office/drawing/2014/main" id="{101F3CEA-B64D-398E-FAF6-FEE7422931CC}"/>
              </a:ext>
            </a:extLst>
          </p:cNvPr>
          <p:cNvSpPr/>
          <p:nvPr/>
        </p:nvSpPr>
        <p:spPr bwMode="gray">
          <a:xfrm>
            <a:off x="823394" y="1800228"/>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31" name="Rectangle: Rounded Corners 30">
            <a:extLst>
              <a:ext uri="{FF2B5EF4-FFF2-40B4-BE49-F238E27FC236}">
                <a16:creationId xmlns:a16="http://schemas.microsoft.com/office/drawing/2014/main" id="{DE4B9352-ED9D-89B1-F2AE-9A568E1D04ED}"/>
              </a:ext>
            </a:extLst>
          </p:cNvPr>
          <p:cNvSpPr/>
          <p:nvPr/>
        </p:nvSpPr>
        <p:spPr bwMode="gray">
          <a:xfrm>
            <a:off x="715704" y="3536257"/>
            <a:ext cx="693317" cy="217918"/>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grpSp>
        <p:nvGrpSpPr>
          <p:cNvPr id="38" name="Group 37">
            <a:extLst>
              <a:ext uri="{FF2B5EF4-FFF2-40B4-BE49-F238E27FC236}">
                <a16:creationId xmlns:a16="http://schemas.microsoft.com/office/drawing/2014/main" id="{B21F4DD8-1EB9-3C3F-6767-75DA88D88FB2}"/>
              </a:ext>
            </a:extLst>
          </p:cNvPr>
          <p:cNvGrpSpPr/>
          <p:nvPr/>
        </p:nvGrpSpPr>
        <p:grpSpPr>
          <a:xfrm>
            <a:off x="1323178" y="1524000"/>
            <a:ext cx="9878222" cy="4038600"/>
            <a:chOff x="1323178" y="1717706"/>
            <a:chExt cx="1931349" cy="1931349"/>
          </a:xfrm>
        </p:grpSpPr>
        <p:sp>
          <p:nvSpPr>
            <p:cNvPr id="11" name="Rectangle 10">
              <a:extLst>
                <a:ext uri="{FF2B5EF4-FFF2-40B4-BE49-F238E27FC236}">
                  <a16:creationId xmlns:a16="http://schemas.microsoft.com/office/drawing/2014/main" id="{21CDC11E-DA22-B520-BB1E-40D63DA50DB3}"/>
                </a:ext>
              </a:extLst>
            </p:cNvPr>
            <p:cNvSpPr/>
            <p:nvPr/>
          </p:nvSpPr>
          <p:spPr bwMode="gray">
            <a:xfrm>
              <a:off x="1333148" y="1800228"/>
              <a:ext cx="1852656" cy="1848827"/>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cxnSp>
          <p:nvCxnSpPr>
            <p:cNvPr id="13" name="Straight Arrow Connector 12">
              <a:extLst>
                <a:ext uri="{FF2B5EF4-FFF2-40B4-BE49-F238E27FC236}">
                  <a16:creationId xmlns:a16="http://schemas.microsoft.com/office/drawing/2014/main" id="{8AB47024-B95B-272A-DB37-60FE21BFBE24}"/>
                </a:ext>
              </a:extLst>
            </p:cNvPr>
            <p:cNvCxnSpPr/>
            <p:nvPr/>
          </p:nvCxnSpPr>
          <p:spPr>
            <a:xfrm>
              <a:off x="1333148" y="1717706"/>
              <a:ext cx="0" cy="193134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1B0A51-00FF-D211-AD7F-9F04701742F4}"/>
                </a:ext>
              </a:extLst>
            </p:cNvPr>
            <p:cNvCxnSpPr>
              <a:cxnSpLocks/>
            </p:cNvCxnSpPr>
            <p:nvPr/>
          </p:nvCxnSpPr>
          <p:spPr>
            <a:xfrm rot="5400000">
              <a:off x="2288853" y="2673412"/>
              <a:ext cx="0" cy="193134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39D9243-32FB-9CB4-620D-274D9638E2D3}"/>
                </a:ext>
              </a:extLst>
            </p:cNvPr>
            <p:cNvCxnSpPr>
              <a:cxnSpLocks/>
            </p:cNvCxnSpPr>
            <p:nvPr/>
          </p:nvCxnSpPr>
          <p:spPr>
            <a:xfrm>
              <a:off x="1960705" y="1800228"/>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99428FF-372E-348E-154B-3C1844F2A090}"/>
                </a:ext>
              </a:extLst>
            </p:cNvPr>
            <p:cNvCxnSpPr>
              <a:cxnSpLocks/>
            </p:cNvCxnSpPr>
            <p:nvPr/>
          </p:nvCxnSpPr>
          <p:spPr>
            <a:xfrm>
              <a:off x="2668583" y="1807347"/>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FCFFD65-E274-DC2D-3C31-78E1CD652B10}"/>
                </a:ext>
              </a:extLst>
            </p:cNvPr>
            <p:cNvCxnSpPr>
              <a:cxnSpLocks/>
            </p:cNvCxnSpPr>
            <p:nvPr/>
          </p:nvCxnSpPr>
          <p:spPr>
            <a:xfrm rot="16200000">
              <a:off x="2259479" y="1397152"/>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7039C8A-E51B-3DFE-EBEB-89C0DCFD5E39}"/>
                </a:ext>
              </a:extLst>
            </p:cNvPr>
            <p:cNvCxnSpPr>
              <a:cxnSpLocks/>
            </p:cNvCxnSpPr>
            <p:nvPr/>
          </p:nvCxnSpPr>
          <p:spPr>
            <a:xfrm rot="16200000">
              <a:off x="2259479" y="2070843"/>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Rectangle: Rounded Corners 17">
            <a:extLst>
              <a:ext uri="{FF2B5EF4-FFF2-40B4-BE49-F238E27FC236}">
                <a16:creationId xmlns:a16="http://schemas.microsoft.com/office/drawing/2014/main" id="{A4F2EB8C-2CB9-5DD1-9091-D1B48BE601CF}"/>
              </a:ext>
            </a:extLst>
          </p:cNvPr>
          <p:cNvSpPr/>
          <p:nvPr/>
        </p:nvSpPr>
        <p:spPr bwMode="gray">
          <a:xfrm>
            <a:off x="6573291" y="1280431"/>
            <a:ext cx="2042676" cy="333229"/>
          </a:xfrm>
          <a:prstGeom prst="roundRect">
            <a:avLst/>
          </a:prstGeom>
          <a:solidFill>
            <a:schemeClr val="bg1"/>
          </a:solidFill>
          <a:ln>
            <a:solidFill>
              <a:srgbClr val="007CB0"/>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Functional/ Industry Agents</a:t>
            </a:r>
          </a:p>
        </p:txBody>
      </p:sp>
      <p:sp>
        <p:nvSpPr>
          <p:cNvPr id="19" name="Rectangle: Rounded Corners 18">
            <a:extLst>
              <a:ext uri="{FF2B5EF4-FFF2-40B4-BE49-F238E27FC236}">
                <a16:creationId xmlns:a16="http://schemas.microsoft.com/office/drawing/2014/main" id="{94F7ABCE-3DB9-4E64-DEB9-85180F7E7401}"/>
              </a:ext>
            </a:extLst>
          </p:cNvPr>
          <p:cNvSpPr/>
          <p:nvPr/>
        </p:nvSpPr>
        <p:spPr bwMode="gray">
          <a:xfrm>
            <a:off x="4371427" y="1280431"/>
            <a:ext cx="2042677" cy="322035"/>
          </a:xfrm>
          <a:prstGeom prst="roundRect">
            <a:avLst/>
          </a:prstGeom>
          <a:solidFill>
            <a:schemeClr val="bg1"/>
          </a:solidFill>
          <a:ln>
            <a:solidFill>
              <a:srgbClr val="009A44"/>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09A44"/>
                </a:solidFill>
                <a:effectLst/>
                <a:uLnTx/>
                <a:uFillTx/>
                <a:latin typeface="Aptos"/>
                <a:ea typeface="+mn-ea"/>
                <a:cs typeface="+mn-cs"/>
              </a:rPr>
              <a:t>General Productivity Agents</a:t>
            </a:r>
          </a:p>
        </p:txBody>
      </p:sp>
      <p:sp>
        <p:nvSpPr>
          <p:cNvPr id="20" name="Rectangle: Rounded Corners 19">
            <a:extLst>
              <a:ext uri="{FF2B5EF4-FFF2-40B4-BE49-F238E27FC236}">
                <a16:creationId xmlns:a16="http://schemas.microsoft.com/office/drawing/2014/main" id="{3F9B6C58-6135-E49E-04AD-568626B0E7CA}"/>
              </a:ext>
            </a:extLst>
          </p:cNvPr>
          <p:cNvSpPr/>
          <p:nvPr/>
        </p:nvSpPr>
        <p:spPr bwMode="gray">
          <a:xfrm>
            <a:off x="8775153" y="1280431"/>
            <a:ext cx="2042676" cy="342879"/>
          </a:xfrm>
          <a:prstGeom prst="roundRect">
            <a:avLst/>
          </a:prstGeom>
          <a:solidFill>
            <a:schemeClr val="bg1"/>
          </a:solidFill>
          <a:ln>
            <a:solidFill>
              <a:schemeClr val="tx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black"/>
                </a:solidFill>
                <a:effectLst/>
                <a:uLnTx/>
                <a:uFillTx/>
                <a:latin typeface="Aptos"/>
                <a:ea typeface="+mn-ea"/>
                <a:cs typeface="+mn-cs"/>
              </a:rPr>
              <a:t>Application Native Agents</a:t>
            </a:r>
          </a:p>
        </p:txBody>
      </p:sp>
      <p:sp>
        <p:nvSpPr>
          <p:cNvPr id="9009" name="TextBox 9008"/>
          <p:cNvSpPr txBox="1"/>
          <p:nvPr/>
        </p:nvSpPr>
        <p:spPr>
          <a:xfrm>
            <a:off x="5941826" y="2656980"/>
            <a:ext cx="2377439"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Accenture Refinery Agents</a:t>
            </a:r>
          </a:p>
        </p:txBody>
      </p:sp>
      <p:sp>
        <p:nvSpPr>
          <p:cNvPr id="9010" name="TextBox 9009"/>
          <p:cNvSpPr txBox="1"/>
          <p:nvPr/>
        </p:nvSpPr>
        <p:spPr>
          <a:xfrm>
            <a:off x="8306310" y="2524189"/>
            <a:ext cx="51629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7CB0"/>
                </a:solidFill>
                <a:effectLst/>
                <a:uLnTx/>
                <a:uFillTx/>
                <a:latin typeface="Aptos"/>
                <a:ea typeface="+mn-ea"/>
                <a:cs typeface="+mn-cs"/>
              </a:rPr>
              <a:t>Zora AI </a:t>
            </a:r>
          </a:p>
        </p:txBody>
      </p:sp>
      <p:sp>
        <p:nvSpPr>
          <p:cNvPr id="9011" name="TextBox 9010"/>
          <p:cNvSpPr txBox="1"/>
          <p:nvPr/>
        </p:nvSpPr>
        <p:spPr>
          <a:xfrm>
            <a:off x="3567868" y="2321716"/>
            <a:ext cx="1620316"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0000"/>
                </a:solidFill>
                <a:effectLst/>
                <a:uLnTx/>
                <a:uFillTx/>
                <a:latin typeface="Aptos"/>
                <a:ea typeface="+mn-ea"/>
                <a:cs typeface="+mn-cs"/>
              </a:rPr>
              <a:t>SAP Joule Agents</a:t>
            </a:r>
          </a:p>
        </p:txBody>
      </p:sp>
      <p:sp>
        <p:nvSpPr>
          <p:cNvPr id="9012" name="TextBox 9011"/>
          <p:cNvSpPr txBox="1"/>
          <p:nvPr/>
        </p:nvSpPr>
        <p:spPr>
          <a:xfrm>
            <a:off x="3578461" y="1817827"/>
            <a:ext cx="644857"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err="1">
                <a:ln>
                  <a:noFill/>
                </a:ln>
                <a:solidFill>
                  <a:srgbClr val="007CB0"/>
                </a:solidFill>
                <a:effectLst/>
                <a:uLnTx/>
                <a:uFillTx/>
                <a:latin typeface="Aptos"/>
                <a:ea typeface="+mn-ea"/>
                <a:cs typeface="+mn-cs"/>
              </a:rPr>
              <a:t>DataRails</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9013" name="TextBox 9012"/>
          <p:cNvSpPr txBox="1"/>
          <p:nvPr/>
        </p:nvSpPr>
        <p:spPr>
          <a:xfrm>
            <a:off x="1933041" y="2477043"/>
            <a:ext cx="1536192"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0000"/>
                </a:solidFill>
                <a:effectLst/>
                <a:uLnTx/>
                <a:uFillTx/>
                <a:latin typeface="Aptos"/>
                <a:ea typeface="+mn-ea"/>
                <a:cs typeface="+mn-cs"/>
              </a:rPr>
              <a:t>MS Dynamics 365</a:t>
            </a:r>
          </a:p>
        </p:txBody>
      </p:sp>
      <p:sp>
        <p:nvSpPr>
          <p:cNvPr id="9014" name="TextBox 9013"/>
          <p:cNvSpPr txBox="1"/>
          <p:nvPr/>
        </p:nvSpPr>
        <p:spPr>
          <a:xfrm>
            <a:off x="5793638" y="1817827"/>
            <a:ext cx="1188720"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HighRadius</a:t>
            </a:r>
          </a:p>
        </p:txBody>
      </p:sp>
      <p:sp>
        <p:nvSpPr>
          <p:cNvPr id="9017" name="TextBox 9016"/>
          <p:cNvSpPr txBox="1"/>
          <p:nvPr/>
        </p:nvSpPr>
        <p:spPr>
          <a:xfrm>
            <a:off x="5298948" y="4564782"/>
            <a:ext cx="1872691"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PWC Industry Agents</a:t>
            </a:r>
          </a:p>
        </p:txBody>
      </p:sp>
      <p:sp>
        <p:nvSpPr>
          <p:cNvPr id="9018" name="TextBox 9017"/>
          <p:cNvSpPr txBox="1"/>
          <p:nvPr/>
        </p:nvSpPr>
        <p:spPr>
          <a:xfrm>
            <a:off x="8750808" y="3553358"/>
            <a:ext cx="1352230"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IBM </a:t>
            </a:r>
            <a:r>
              <a:rPr kumimoji="0" lang="en-US" sz="1200" b="0" i="0" u="none" strike="noStrike" kern="1200" cap="none" spc="0" normalizeH="0" baseline="0" noProof="0" err="1">
                <a:ln>
                  <a:noFill/>
                </a:ln>
                <a:solidFill>
                  <a:srgbClr val="007CB0"/>
                </a:solidFill>
                <a:effectLst/>
                <a:uLnTx/>
                <a:uFillTx/>
                <a:latin typeface="Aptos"/>
                <a:ea typeface="+mn-ea"/>
                <a:cs typeface="+mn-cs"/>
              </a:rPr>
              <a:t>Watsonx</a:t>
            </a:r>
            <a:r>
              <a:rPr kumimoji="0" sz="1200" b="0" i="0" u="none" strike="noStrike" kern="1200" cap="none" spc="0" normalizeH="0" baseline="0" noProof="0">
                <a:ln>
                  <a:noFill/>
                </a:ln>
                <a:solidFill>
                  <a:srgbClr val="007CB0"/>
                </a:solidFill>
                <a:effectLst/>
                <a:uLnTx/>
                <a:uFillTx/>
                <a:latin typeface="Aptos"/>
                <a:ea typeface="+mn-ea"/>
                <a:cs typeface="+mn-cs"/>
              </a:rPr>
              <a:t> Agents</a:t>
            </a:r>
          </a:p>
        </p:txBody>
      </p:sp>
      <p:sp>
        <p:nvSpPr>
          <p:cNvPr id="9019" name="TextBox 9018"/>
          <p:cNvSpPr txBox="1"/>
          <p:nvPr/>
        </p:nvSpPr>
        <p:spPr>
          <a:xfrm>
            <a:off x="5551322" y="4345326"/>
            <a:ext cx="1367942"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EY Tax Agents</a:t>
            </a:r>
          </a:p>
        </p:txBody>
      </p:sp>
      <p:sp>
        <p:nvSpPr>
          <p:cNvPr id="4" name="Rectangle 3">
            <a:extLst>
              <a:ext uri="{FF2B5EF4-FFF2-40B4-BE49-F238E27FC236}">
                <a16:creationId xmlns:a16="http://schemas.microsoft.com/office/drawing/2014/main" id="{AD9F6F63-CEA9-111A-1FDD-8B1C8A64D9BC}"/>
              </a:ext>
            </a:extLst>
          </p:cNvPr>
          <p:cNvSpPr/>
          <p:nvPr/>
        </p:nvSpPr>
        <p:spPr bwMode="gray">
          <a:xfrm>
            <a:off x="1515162" y="1775027"/>
            <a:ext cx="4105412" cy="994560"/>
          </a:xfrm>
          <a:prstGeom prst="rect">
            <a:avLst/>
          </a:prstGeom>
          <a:noFill/>
          <a:ln w="19050" algn="ctr">
            <a:solidFill>
              <a:schemeClr val="bg1">
                <a:lumMod val="65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5" name="TextBox 4">
            <a:extLst>
              <a:ext uri="{FF2B5EF4-FFF2-40B4-BE49-F238E27FC236}">
                <a16:creationId xmlns:a16="http://schemas.microsoft.com/office/drawing/2014/main" id="{42A27255-B212-7147-9E96-3F3003B2CAFA}"/>
              </a:ext>
            </a:extLst>
          </p:cNvPr>
          <p:cNvSpPr txBox="1"/>
          <p:nvPr/>
        </p:nvSpPr>
        <p:spPr>
          <a:xfrm>
            <a:off x="1661985" y="2858973"/>
            <a:ext cx="3780719" cy="6463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a:ln>
                  <a:noFill/>
                </a:ln>
                <a:solidFill>
                  <a:prstClr val="white">
                    <a:lumMod val="65000"/>
                  </a:prstClr>
                </a:solidFill>
                <a:effectLst/>
                <a:uLnTx/>
                <a:uFillTx/>
                <a:latin typeface="Aptos"/>
                <a:ea typeface="+mn-ea"/>
                <a:cs typeface="+mn-cs"/>
              </a:rPr>
              <a:t>Most "ready to deploy" products are also the most locked-in to a single vendor’s platform; </a:t>
            </a:r>
            <a:r>
              <a:rPr kumimoji="0" lang="en-US" sz="1050" b="0" i="1" u="none" strike="noStrike" kern="1200" cap="none" spc="0" normalizeH="0" baseline="0" noProof="0" err="1">
                <a:ln>
                  <a:noFill/>
                </a:ln>
                <a:solidFill>
                  <a:prstClr val="white">
                    <a:lumMod val="65000"/>
                  </a:prstClr>
                </a:solidFill>
                <a:effectLst/>
                <a:uLnTx/>
                <a:uFillTx/>
                <a:latin typeface="Aptos"/>
                <a:ea typeface="+mn-ea"/>
                <a:cs typeface="+mn-cs"/>
              </a:rPr>
              <a:t>DataRails</a:t>
            </a:r>
            <a:r>
              <a:rPr kumimoji="0" lang="en-US" sz="1050" b="0" i="1" u="none" strike="noStrike" kern="1200" cap="none" spc="0" normalizeH="0" baseline="0" noProof="0">
                <a:ln>
                  <a:noFill/>
                </a:ln>
                <a:solidFill>
                  <a:prstClr val="white">
                    <a:lumMod val="65000"/>
                  </a:prstClr>
                </a:solidFill>
                <a:effectLst/>
                <a:uLnTx/>
                <a:uFillTx/>
                <a:latin typeface="Aptos"/>
                <a:ea typeface="+mn-ea"/>
                <a:cs typeface="+mn-cs"/>
              </a:rPr>
              <a:t>, OneStream offers broad connectivity across ERPs, but lacks write back to system of records. </a:t>
            </a:r>
            <a:endParaRPr kumimoji="0" lang="en-US" sz="1800" b="0" i="1" u="none" strike="noStrike" kern="1200" cap="none" spc="0" normalizeH="0" baseline="0" noProof="0">
              <a:ln>
                <a:noFill/>
              </a:ln>
              <a:solidFill>
                <a:prstClr val="white">
                  <a:lumMod val="65000"/>
                </a:prstClr>
              </a:solidFill>
              <a:effectLst/>
              <a:uLnTx/>
              <a:uFillTx/>
              <a:latin typeface="Aptos"/>
              <a:ea typeface="+mn-ea"/>
              <a:cs typeface="+mn-cs"/>
            </a:endParaRPr>
          </a:p>
        </p:txBody>
      </p:sp>
      <p:sp>
        <p:nvSpPr>
          <p:cNvPr id="6" name="TextBox 5">
            <a:extLst>
              <a:ext uri="{FF2B5EF4-FFF2-40B4-BE49-F238E27FC236}">
                <a16:creationId xmlns:a16="http://schemas.microsoft.com/office/drawing/2014/main" id="{F8E3DC8F-2EFB-69D1-B5EB-D7C5956A1783}"/>
              </a:ext>
            </a:extLst>
          </p:cNvPr>
          <p:cNvSpPr txBox="1"/>
          <p:nvPr/>
        </p:nvSpPr>
        <p:spPr>
          <a:xfrm>
            <a:off x="553048" y="6395091"/>
            <a:ext cx="9105302"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a:ln>
                  <a:noFill/>
                </a:ln>
                <a:solidFill>
                  <a:srgbClr val="313131"/>
                </a:solidFill>
                <a:effectLst/>
                <a:uLnTx/>
                <a:uFillTx/>
                <a:latin typeface="Aptos"/>
                <a:ea typeface="+mn-ea"/>
                <a:cs typeface="+mn-cs"/>
              </a:rPr>
              <a:t>Note: Excluded Claude Cowork, MS Copilot, Gemini Enterprise and ChatGPT in this chart for better comparison (Both are productized but do not offer domain workflow product) </a:t>
            </a:r>
          </a:p>
        </p:txBody>
      </p:sp>
      <p:sp>
        <p:nvSpPr>
          <p:cNvPr id="9" name="TextBox 8">
            <a:extLst>
              <a:ext uri="{FF2B5EF4-FFF2-40B4-BE49-F238E27FC236}">
                <a16:creationId xmlns:a16="http://schemas.microsoft.com/office/drawing/2014/main" id="{F38D7437-59EE-A235-70E6-063999F46E11}"/>
              </a:ext>
            </a:extLst>
          </p:cNvPr>
          <p:cNvSpPr txBox="1"/>
          <p:nvPr/>
        </p:nvSpPr>
        <p:spPr>
          <a:xfrm>
            <a:off x="1439670" y="6166927"/>
            <a:ext cx="2175462" cy="138499"/>
          </a:xfrm>
          <a:prstGeom prst="rect">
            <a:avLst/>
          </a:prstGeom>
          <a:noFill/>
        </p:spPr>
        <p:txBody>
          <a:bodyPr wrap="square" lIns="0" tIns="0" rIns="0" bIns="0" rtlCol="0">
            <a:spAutoFit/>
          </a:bodyPr>
          <a:lstStyle/>
          <a:p>
            <a:pPr lvl="0">
              <a:spcBef>
                <a:spcPts val="600"/>
              </a:spcBef>
              <a:buSzPct val="100000"/>
              <a:defRPr/>
            </a:pPr>
            <a:r>
              <a:rPr lang="en-US" sz="900">
                <a:solidFill>
                  <a:srgbClr val="313131"/>
                </a:solidFill>
                <a:hlinkClick r:id="rId6" action="ppaction://hlinksldjump"/>
              </a:rPr>
              <a:t>Scoring Matrix</a:t>
            </a:r>
            <a:endParaRPr lang="en-US" sz="900">
              <a:solidFill>
                <a:srgbClr val="313131"/>
              </a:solidFill>
            </a:endParaRPr>
          </a:p>
        </p:txBody>
      </p:sp>
      <p:sp>
        <p:nvSpPr>
          <p:cNvPr id="10" name="TextBox 9">
            <a:extLst>
              <a:ext uri="{FF2B5EF4-FFF2-40B4-BE49-F238E27FC236}">
                <a16:creationId xmlns:a16="http://schemas.microsoft.com/office/drawing/2014/main" id="{39C8F4B1-8078-B4CC-8A69-5A7E410D91E9}"/>
              </a:ext>
            </a:extLst>
          </p:cNvPr>
          <p:cNvSpPr txBox="1"/>
          <p:nvPr/>
        </p:nvSpPr>
        <p:spPr>
          <a:xfrm>
            <a:off x="5247684" y="3496282"/>
            <a:ext cx="1540037"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Infosys Industry </a:t>
            </a:r>
            <a:r>
              <a:rPr kumimoji="0" sz="1200" b="0" i="0" u="none" strike="noStrike" kern="1200" cap="none" spc="0" normalizeH="0" baseline="0" noProof="0">
                <a:ln>
                  <a:noFill/>
                </a:ln>
                <a:solidFill>
                  <a:srgbClr val="007CB0"/>
                </a:solidFill>
                <a:effectLst/>
                <a:uLnTx/>
                <a:uFillTx/>
                <a:latin typeface="Aptos"/>
                <a:ea typeface="+mn-ea"/>
                <a:cs typeface="+mn-cs"/>
              </a:rPr>
              <a:t>Agents</a:t>
            </a:r>
          </a:p>
        </p:txBody>
      </p:sp>
      <p:sp>
        <p:nvSpPr>
          <p:cNvPr id="16" name="TextBox 15">
            <a:extLst>
              <a:ext uri="{FF2B5EF4-FFF2-40B4-BE49-F238E27FC236}">
                <a16:creationId xmlns:a16="http://schemas.microsoft.com/office/drawing/2014/main" id="{51859A7B-D8FC-260D-C3DB-6167E18A8D1E}"/>
              </a:ext>
            </a:extLst>
          </p:cNvPr>
          <p:cNvSpPr txBox="1"/>
          <p:nvPr/>
        </p:nvSpPr>
        <p:spPr>
          <a:xfrm>
            <a:off x="7899339" y="2715640"/>
            <a:ext cx="1284454"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ServiceNow Agents</a:t>
            </a:r>
            <a:endParaRPr kumimoji="0" sz="1200" b="0" i="0" u="none" strike="noStrike" kern="1200" cap="none" spc="0" normalizeH="0" baseline="0" noProof="0">
              <a:ln>
                <a:noFill/>
              </a:ln>
              <a:solidFill>
                <a:srgbClr val="000000"/>
              </a:solidFill>
              <a:effectLst/>
              <a:uLnTx/>
              <a:uFillTx/>
              <a:latin typeface="Aptos"/>
              <a:ea typeface="+mn-ea"/>
              <a:cs typeface="+mn-cs"/>
            </a:endParaRPr>
          </a:p>
        </p:txBody>
      </p:sp>
      <p:sp>
        <p:nvSpPr>
          <p:cNvPr id="26" name="TextBox 25">
            <a:extLst>
              <a:ext uri="{FF2B5EF4-FFF2-40B4-BE49-F238E27FC236}">
                <a16:creationId xmlns:a16="http://schemas.microsoft.com/office/drawing/2014/main" id="{05E50023-772E-862D-9422-237572062334}"/>
              </a:ext>
            </a:extLst>
          </p:cNvPr>
          <p:cNvSpPr txBox="1"/>
          <p:nvPr/>
        </p:nvSpPr>
        <p:spPr>
          <a:xfrm>
            <a:off x="5932998" y="2872421"/>
            <a:ext cx="1463670"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Salesforce Agentforce</a:t>
            </a:r>
            <a:endParaRPr kumimoji="0" sz="1200" b="0" i="0" u="none" strike="noStrike" kern="1200" cap="none" spc="0" normalizeH="0" baseline="0" noProof="0">
              <a:ln>
                <a:noFill/>
              </a:ln>
              <a:solidFill>
                <a:srgbClr val="000000"/>
              </a:solidFill>
              <a:effectLst/>
              <a:uLnTx/>
              <a:uFillTx/>
              <a:latin typeface="Aptos"/>
              <a:ea typeface="+mn-ea"/>
              <a:cs typeface="+mn-cs"/>
            </a:endParaRPr>
          </a:p>
        </p:txBody>
      </p:sp>
      <p:sp>
        <p:nvSpPr>
          <p:cNvPr id="12" name="TextBox 11">
            <a:extLst>
              <a:ext uri="{FF2B5EF4-FFF2-40B4-BE49-F238E27FC236}">
                <a16:creationId xmlns:a16="http://schemas.microsoft.com/office/drawing/2014/main" id="{002CEE0B-D668-3699-3AAA-4A27A555F9E5}"/>
              </a:ext>
            </a:extLst>
          </p:cNvPr>
          <p:cNvSpPr txBox="1"/>
          <p:nvPr/>
        </p:nvSpPr>
        <p:spPr>
          <a:xfrm>
            <a:off x="3603105" y="2521746"/>
            <a:ext cx="1070806"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Workday Agents</a:t>
            </a:r>
            <a:endParaRPr kumimoji="0" sz="1200" b="0" i="0" u="none" strike="noStrike" kern="1200" cap="none" spc="0" normalizeH="0" baseline="0" noProof="0">
              <a:ln>
                <a:noFill/>
              </a:ln>
              <a:solidFill>
                <a:srgbClr val="000000"/>
              </a:solidFill>
              <a:effectLst/>
              <a:uLnTx/>
              <a:uFillTx/>
              <a:latin typeface="Aptos"/>
              <a:ea typeface="+mn-ea"/>
              <a:cs typeface="+mn-cs"/>
            </a:endParaRPr>
          </a:p>
        </p:txBody>
      </p:sp>
      <p:sp>
        <p:nvSpPr>
          <p:cNvPr id="27" name="TextBox 26">
            <a:extLst>
              <a:ext uri="{FF2B5EF4-FFF2-40B4-BE49-F238E27FC236}">
                <a16:creationId xmlns:a16="http://schemas.microsoft.com/office/drawing/2014/main" id="{ABFAC25F-C2C3-EB9B-53C2-7BA4602D8EAD}"/>
              </a:ext>
            </a:extLst>
          </p:cNvPr>
          <p:cNvSpPr txBox="1"/>
          <p:nvPr/>
        </p:nvSpPr>
        <p:spPr>
          <a:xfrm>
            <a:off x="7788479" y="2873215"/>
            <a:ext cx="1635576"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Amazon Connect </a:t>
            </a:r>
            <a:r>
              <a:rPr kumimoji="0" sz="1200" b="0" i="0" u="none" strike="noStrike" kern="1200" cap="none" spc="0" normalizeH="0" baseline="0" noProof="0">
                <a:ln>
                  <a:noFill/>
                </a:ln>
                <a:solidFill>
                  <a:srgbClr val="000000"/>
                </a:solidFill>
                <a:effectLst/>
                <a:uLnTx/>
                <a:uFillTx/>
                <a:latin typeface="Aptos"/>
                <a:ea typeface="+mn-ea"/>
                <a:cs typeface="+mn-cs"/>
              </a:rPr>
              <a:t>Agents</a:t>
            </a:r>
          </a:p>
        </p:txBody>
      </p:sp>
      <p:sp>
        <p:nvSpPr>
          <p:cNvPr id="30" name="TextBox 29">
            <a:extLst>
              <a:ext uri="{FF2B5EF4-FFF2-40B4-BE49-F238E27FC236}">
                <a16:creationId xmlns:a16="http://schemas.microsoft.com/office/drawing/2014/main" id="{F418A72A-BF3A-BEF9-7782-B549808872F6}"/>
              </a:ext>
            </a:extLst>
          </p:cNvPr>
          <p:cNvSpPr txBox="1"/>
          <p:nvPr/>
        </p:nvSpPr>
        <p:spPr>
          <a:xfrm>
            <a:off x="3567868" y="2057082"/>
            <a:ext cx="791370"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One Stream</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36" name="TextBox 35">
            <a:extLst>
              <a:ext uri="{FF2B5EF4-FFF2-40B4-BE49-F238E27FC236}">
                <a16:creationId xmlns:a16="http://schemas.microsoft.com/office/drawing/2014/main" id="{17DDE6C5-3F23-B881-C1BA-6EDB0A0EC12C}"/>
              </a:ext>
            </a:extLst>
          </p:cNvPr>
          <p:cNvSpPr txBox="1"/>
          <p:nvPr/>
        </p:nvSpPr>
        <p:spPr>
          <a:xfrm>
            <a:off x="5668206" y="4125838"/>
            <a:ext cx="55784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Abacum</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40" name="TextBox 39">
            <a:extLst>
              <a:ext uri="{FF2B5EF4-FFF2-40B4-BE49-F238E27FC236}">
                <a16:creationId xmlns:a16="http://schemas.microsoft.com/office/drawing/2014/main" id="{602D82FC-10C8-09A8-5BCC-A7AC5342D7C2}"/>
              </a:ext>
            </a:extLst>
          </p:cNvPr>
          <p:cNvSpPr txBox="1"/>
          <p:nvPr/>
        </p:nvSpPr>
        <p:spPr>
          <a:xfrm>
            <a:off x="8306310" y="1970518"/>
            <a:ext cx="44563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Coupa</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42" name="TextBox 41">
            <a:extLst>
              <a:ext uri="{FF2B5EF4-FFF2-40B4-BE49-F238E27FC236}">
                <a16:creationId xmlns:a16="http://schemas.microsoft.com/office/drawing/2014/main" id="{15CCA65E-AC77-768A-8935-0DC530C424E0}"/>
              </a:ext>
            </a:extLst>
          </p:cNvPr>
          <p:cNvSpPr txBox="1"/>
          <p:nvPr/>
        </p:nvSpPr>
        <p:spPr>
          <a:xfrm>
            <a:off x="8296801" y="1816854"/>
            <a:ext cx="46166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Salient</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Tree>
    <p:extLst>
      <p:ext uri="{BB962C8B-B14F-4D97-AF65-F5344CB8AC3E}">
        <p14:creationId xmlns:p14="http://schemas.microsoft.com/office/powerpoint/2010/main" val="383082546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C9F60-6BA8-B14E-8A15-B4C2D0CF0273}"/>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2D9EC65-F525-5FAF-4E10-8B15DB96077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12D9EC65-F525-5FAF-4E10-8B15DB9607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334658C-3B39-7BF6-7D7A-1890837C1CBD}"/>
              </a:ext>
            </a:extLst>
          </p:cNvPr>
          <p:cNvSpPr>
            <a:spLocks noGrp="1"/>
          </p:cNvSpPr>
          <p:nvPr>
            <p:ph type="title"/>
          </p:nvPr>
        </p:nvSpPr>
        <p:spPr/>
        <p:txBody>
          <a:bodyPr vert="horz" rIns="0"/>
          <a:lstStyle/>
          <a:p>
            <a:r>
              <a:rPr lang="en-US"/>
              <a:t>Zora offers autonomous execution closer to specialized solutions; governance needs to be more evidenced (identity, action level authorization, approvals) to match few competitors</a:t>
            </a:r>
          </a:p>
        </p:txBody>
      </p:sp>
      <p:sp>
        <p:nvSpPr>
          <p:cNvPr id="8" name="Rectangle: Rounded Corners 7">
            <a:extLst>
              <a:ext uri="{FF2B5EF4-FFF2-40B4-BE49-F238E27FC236}">
                <a16:creationId xmlns:a16="http://schemas.microsoft.com/office/drawing/2014/main" id="{843E51A8-0D70-1134-93C9-DED4378700CC}"/>
              </a:ext>
            </a:extLst>
          </p:cNvPr>
          <p:cNvSpPr/>
          <p:nvPr/>
        </p:nvSpPr>
        <p:spPr bwMode="gray">
          <a:xfrm>
            <a:off x="457199" y="1197430"/>
            <a:ext cx="11114315" cy="5148942"/>
          </a:xfrm>
          <a:prstGeom prst="roundRect">
            <a:avLst>
              <a:gd name="adj" fmla="val 6243"/>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82C65BE4-20CA-D8DB-3740-93095EB5F155}"/>
              </a:ext>
            </a:extLst>
          </p:cNvPr>
          <p:cNvSpPr/>
          <p:nvPr/>
        </p:nvSpPr>
        <p:spPr bwMode="gray">
          <a:xfrm>
            <a:off x="5302169" y="5894360"/>
            <a:ext cx="1920240" cy="342000"/>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Autonomy</a:t>
            </a:r>
          </a:p>
        </p:txBody>
      </p:sp>
      <p:sp>
        <p:nvSpPr>
          <p:cNvPr id="21" name="Rectangle: Rounded Corners 20">
            <a:extLst>
              <a:ext uri="{FF2B5EF4-FFF2-40B4-BE49-F238E27FC236}">
                <a16:creationId xmlns:a16="http://schemas.microsoft.com/office/drawing/2014/main" id="{1F684263-FD65-034B-D6B9-888FB8BAF55C}"/>
              </a:ext>
            </a:extLst>
          </p:cNvPr>
          <p:cNvSpPr/>
          <p:nvPr/>
        </p:nvSpPr>
        <p:spPr bwMode="gray">
          <a:xfrm rot="16200000">
            <a:off x="-1102265" y="3372301"/>
            <a:ext cx="2651760" cy="342000"/>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Embedded Governance Readiness</a:t>
            </a:r>
          </a:p>
        </p:txBody>
      </p:sp>
      <p:sp>
        <p:nvSpPr>
          <p:cNvPr id="22" name="Rectangle: Rounded Corners 21">
            <a:extLst>
              <a:ext uri="{FF2B5EF4-FFF2-40B4-BE49-F238E27FC236}">
                <a16:creationId xmlns:a16="http://schemas.microsoft.com/office/drawing/2014/main" id="{C05E90B7-626F-4D1B-1A4B-AB27231A6C4F}"/>
              </a:ext>
            </a:extLst>
          </p:cNvPr>
          <p:cNvSpPr/>
          <p:nvPr/>
        </p:nvSpPr>
        <p:spPr bwMode="gray">
          <a:xfrm>
            <a:off x="1557600" y="5635850"/>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10" name="Rectangle: Rounded Corners 21">
            <a:extLst>
              <a:ext uri="{FF2B5EF4-FFF2-40B4-BE49-F238E27FC236}">
                <a16:creationId xmlns:a16="http://schemas.microsoft.com/office/drawing/2014/main" id="{C05E90B7-626F-4D1B-1A4B-AB27231A6C4F}"/>
              </a:ext>
            </a:extLst>
          </p:cNvPr>
          <p:cNvSpPr/>
          <p:nvPr/>
        </p:nvSpPr>
        <p:spPr bwMode="gray">
          <a:xfrm>
            <a:off x="7953451" y="5635447"/>
            <a:ext cx="100584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09" name="Rectangle: Rounded Corners 21">
            <a:extLst>
              <a:ext uri="{FF2B5EF4-FFF2-40B4-BE49-F238E27FC236}">
                <a16:creationId xmlns:a16="http://schemas.microsoft.com/office/drawing/2014/main" id="{C05E90B7-626F-4D1B-1A4B-AB27231A6C4F}"/>
              </a:ext>
            </a:extLst>
          </p:cNvPr>
          <p:cNvSpPr/>
          <p:nvPr/>
        </p:nvSpPr>
        <p:spPr bwMode="gray">
          <a:xfrm>
            <a:off x="3513124" y="5635447"/>
            <a:ext cx="100584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3" name="Rectangle: Rounded Corners 22">
            <a:extLst>
              <a:ext uri="{FF2B5EF4-FFF2-40B4-BE49-F238E27FC236}">
                <a16:creationId xmlns:a16="http://schemas.microsoft.com/office/drawing/2014/main" id="{F099BB8D-7F16-A78C-DF2C-E7C22CFB399D}"/>
              </a:ext>
            </a:extLst>
          </p:cNvPr>
          <p:cNvSpPr/>
          <p:nvPr/>
        </p:nvSpPr>
        <p:spPr bwMode="gray">
          <a:xfrm>
            <a:off x="10438371" y="5635850"/>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4" name="Rectangle: Rounded Corners 23">
            <a:extLst>
              <a:ext uri="{FF2B5EF4-FFF2-40B4-BE49-F238E27FC236}">
                <a16:creationId xmlns:a16="http://schemas.microsoft.com/office/drawing/2014/main" id="{737B9BA6-26BC-B46D-1FC5-4BEBD850B6C2}"/>
              </a:ext>
            </a:extLst>
          </p:cNvPr>
          <p:cNvSpPr/>
          <p:nvPr/>
        </p:nvSpPr>
        <p:spPr bwMode="gray">
          <a:xfrm>
            <a:off x="5890295" y="5635850"/>
            <a:ext cx="693317" cy="217918"/>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5" name="Rectangle: Rounded Corners 24">
            <a:extLst>
              <a:ext uri="{FF2B5EF4-FFF2-40B4-BE49-F238E27FC236}">
                <a16:creationId xmlns:a16="http://schemas.microsoft.com/office/drawing/2014/main" id="{7DF515BB-71ED-14E7-4BFB-C106340C9DE9}"/>
              </a:ext>
            </a:extLst>
          </p:cNvPr>
          <p:cNvSpPr/>
          <p:nvPr/>
        </p:nvSpPr>
        <p:spPr bwMode="gray">
          <a:xfrm>
            <a:off x="823394" y="5272284"/>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12" name="Rectangle: Rounded Corners 24">
            <a:extLst>
              <a:ext uri="{FF2B5EF4-FFF2-40B4-BE49-F238E27FC236}">
                <a16:creationId xmlns:a16="http://schemas.microsoft.com/office/drawing/2014/main" id="{7DF515BB-71ED-14E7-4BFB-C106340C9DE9}"/>
              </a:ext>
            </a:extLst>
          </p:cNvPr>
          <p:cNvSpPr/>
          <p:nvPr/>
        </p:nvSpPr>
        <p:spPr bwMode="gray">
          <a:xfrm>
            <a:off x="224344" y="2667304"/>
            <a:ext cx="141732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11" name="Rectangle: Rounded Corners 24">
            <a:extLst>
              <a:ext uri="{FF2B5EF4-FFF2-40B4-BE49-F238E27FC236}">
                <a16:creationId xmlns:a16="http://schemas.microsoft.com/office/drawing/2014/main" id="{7DF515BB-71ED-14E7-4BFB-C106340C9DE9}"/>
              </a:ext>
            </a:extLst>
          </p:cNvPr>
          <p:cNvSpPr/>
          <p:nvPr/>
        </p:nvSpPr>
        <p:spPr bwMode="gray">
          <a:xfrm>
            <a:off x="224344" y="4403750"/>
            <a:ext cx="141732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8" name="Rectangle: Rounded Corners 27">
            <a:extLst>
              <a:ext uri="{FF2B5EF4-FFF2-40B4-BE49-F238E27FC236}">
                <a16:creationId xmlns:a16="http://schemas.microsoft.com/office/drawing/2014/main" id="{B060C061-698E-182C-D27B-CF48342B199D}"/>
              </a:ext>
            </a:extLst>
          </p:cNvPr>
          <p:cNvSpPr/>
          <p:nvPr/>
        </p:nvSpPr>
        <p:spPr bwMode="gray">
          <a:xfrm>
            <a:off x="823394" y="1800228"/>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31" name="Rectangle: Rounded Corners 30">
            <a:extLst>
              <a:ext uri="{FF2B5EF4-FFF2-40B4-BE49-F238E27FC236}">
                <a16:creationId xmlns:a16="http://schemas.microsoft.com/office/drawing/2014/main" id="{0C4991EA-5605-E7C6-651D-1138A9E1E840}"/>
              </a:ext>
            </a:extLst>
          </p:cNvPr>
          <p:cNvSpPr/>
          <p:nvPr/>
        </p:nvSpPr>
        <p:spPr bwMode="gray">
          <a:xfrm>
            <a:off x="715704" y="3536257"/>
            <a:ext cx="693317" cy="217918"/>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grpSp>
        <p:nvGrpSpPr>
          <p:cNvPr id="38" name="Group 37">
            <a:extLst>
              <a:ext uri="{FF2B5EF4-FFF2-40B4-BE49-F238E27FC236}">
                <a16:creationId xmlns:a16="http://schemas.microsoft.com/office/drawing/2014/main" id="{CAE3C87C-D168-481D-1511-EAED24837CAB}"/>
              </a:ext>
            </a:extLst>
          </p:cNvPr>
          <p:cNvGrpSpPr/>
          <p:nvPr/>
        </p:nvGrpSpPr>
        <p:grpSpPr>
          <a:xfrm>
            <a:off x="1323178" y="1524000"/>
            <a:ext cx="9878222" cy="4038600"/>
            <a:chOff x="1323178" y="1717706"/>
            <a:chExt cx="1931349" cy="1931349"/>
          </a:xfrm>
        </p:grpSpPr>
        <p:sp>
          <p:nvSpPr>
            <p:cNvPr id="11" name="Rectangle 10">
              <a:extLst>
                <a:ext uri="{FF2B5EF4-FFF2-40B4-BE49-F238E27FC236}">
                  <a16:creationId xmlns:a16="http://schemas.microsoft.com/office/drawing/2014/main" id="{1E03EC95-D0CA-9EFB-8115-182796AB73C9}"/>
                </a:ext>
              </a:extLst>
            </p:cNvPr>
            <p:cNvSpPr/>
            <p:nvPr/>
          </p:nvSpPr>
          <p:spPr bwMode="gray">
            <a:xfrm>
              <a:off x="1333148" y="1800228"/>
              <a:ext cx="1852656" cy="1848827"/>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cxnSp>
          <p:nvCxnSpPr>
            <p:cNvPr id="13" name="Straight Arrow Connector 12">
              <a:extLst>
                <a:ext uri="{FF2B5EF4-FFF2-40B4-BE49-F238E27FC236}">
                  <a16:creationId xmlns:a16="http://schemas.microsoft.com/office/drawing/2014/main" id="{2293E5B8-9104-B817-D68A-7C83D51FC7E0}"/>
                </a:ext>
              </a:extLst>
            </p:cNvPr>
            <p:cNvCxnSpPr/>
            <p:nvPr/>
          </p:nvCxnSpPr>
          <p:spPr>
            <a:xfrm>
              <a:off x="1333148" y="1717706"/>
              <a:ext cx="0" cy="193134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CD1DF63-4239-43CE-8EED-81055EF482AF}"/>
                </a:ext>
              </a:extLst>
            </p:cNvPr>
            <p:cNvCxnSpPr>
              <a:cxnSpLocks/>
            </p:cNvCxnSpPr>
            <p:nvPr/>
          </p:nvCxnSpPr>
          <p:spPr>
            <a:xfrm rot="5400000">
              <a:off x="2288853" y="2673412"/>
              <a:ext cx="0" cy="193134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B078D8D-FD59-FC68-56B2-AE68D312FC5B}"/>
                </a:ext>
              </a:extLst>
            </p:cNvPr>
            <p:cNvCxnSpPr>
              <a:cxnSpLocks/>
            </p:cNvCxnSpPr>
            <p:nvPr/>
          </p:nvCxnSpPr>
          <p:spPr>
            <a:xfrm>
              <a:off x="1960705" y="1800228"/>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D4586AC-394E-7B3B-F60E-51938B05A9EE}"/>
                </a:ext>
              </a:extLst>
            </p:cNvPr>
            <p:cNvCxnSpPr>
              <a:cxnSpLocks/>
            </p:cNvCxnSpPr>
            <p:nvPr/>
          </p:nvCxnSpPr>
          <p:spPr>
            <a:xfrm>
              <a:off x="2668583" y="1807347"/>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E3FF315-8F9A-3329-8762-DB84515BAB9B}"/>
                </a:ext>
              </a:extLst>
            </p:cNvPr>
            <p:cNvCxnSpPr>
              <a:cxnSpLocks/>
            </p:cNvCxnSpPr>
            <p:nvPr/>
          </p:nvCxnSpPr>
          <p:spPr>
            <a:xfrm rot="16200000">
              <a:off x="2259479" y="1397152"/>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F86FE00-6497-5B14-A7A4-1B5A248C012C}"/>
                </a:ext>
              </a:extLst>
            </p:cNvPr>
            <p:cNvCxnSpPr>
              <a:cxnSpLocks/>
            </p:cNvCxnSpPr>
            <p:nvPr/>
          </p:nvCxnSpPr>
          <p:spPr>
            <a:xfrm rot="16200000">
              <a:off x="2259479" y="2070843"/>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Rectangle: Rounded Corners 17">
            <a:extLst>
              <a:ext uri="{FF2B5EF4-FFF2-40B4-BE49-F238E27FC236}">
                <a16:creationId xmlns:a16="http://schemas.microsoft.com/office/drawing/2014/main" id="{392F7E9F-5D0C-B5E8-899A-67BC724012CC}"/>
              </a:ext>
            </a:extLst>
          </p:cNvPr>
          <p:cNvSpPr/>
          <p:nvPr/>
        </p:nvSpPr>
        <p:spPr bwMode="gray">
          <a:xfrm>
            <a:off x="6573291" y="1280431"/>
            <a:ext cx="2042676" cy="333229"/>
          </a:xfrm>
          <a:prstGeom prst="roundRect">
            <a:avLst/>
          </a:prstGeom>
          <a:solidFill>
            <a:schemeClr val="bg1"/>
          </a:solidFill>
          <a:ln>
            <a:solidFill>
              <a:srgbClr val="007CB0"/>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Functional/ Industry Agents</a:t>
            </a:r>
          </a:p>
        </p:txBody>
      </p:sp>
      <p:sp>
        <p:nvSpPr>
          <p:cNvPr id="19" name="Rectangle: Rounded Corners 18">
            <a:extLst>
              <a:ext uri="{FF2B5EF4-FFF2-40B4-BE49-F238E27FC236}">
                <a16:creationId xmlns:a16="http://schemas.microsoft.com/office/drawing/2014/main" id="{7AFE9B52-567E-981A-4E7D-203E513FB125}"/>
              </a:ext>
            </a:extLst>
          </p:cNvPr>
          <p:cNvSpPr/>
          <p:nvPr/>
        </p:nvSpPr>
        <p:spPr bwMode="gray">
          <a:xfrm>
            <a:off x="4371427" y="1280431"/>
            <a:ext cx="2042677" cy="322035"/>
          </a:xfrm>
          <a:prstGeom prst="roundRect">
            <a:avLst/>
          </a:prstGeom>
          <a:solidFill>
            <a:schemeClr val="bg1"/>
          </a:solidFill>
          <a:ln>
            <a:solidFill>
              <a:srgbClr val="009A44"/>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09A44"/>
                </a:solidFill>
                <a:effectLst/>
                <a:uLnTx/>
                <a:uFillTx/>
                <a:latin typeface="Aptos"/>
                <a:ea typeface="+mn-ea"/>
                <a:cs typeface="+mn-cs"/>
              </a:rPr>
              <a:t>General Productivity Agents</a:t>
            </a:r>
          </a:p>
        </p:txBody>
      </p:sp>
      <p:sp>
        <p:nvSpPr>
          <p:cNvPr id="20" name="Rectangle: Rounded Corners 19">
            <a:extLst>
              <a:ext uri="{FF2B5EF4-FFF2-40B4-BE49-F238E27FC236}">
                <a16:creationId xmlns:a16="http://schemas.microsoft.com/office/drawing/2014/main" id="{DDE73B4F-4DA3-6D5D-5D7A-6483AA6E06C3}"/>
              </a:ext>
            </a:extLst>
          </p:cNvPr>
          <p:cNvSpPr/>
          <p:nvPr/>
        </p:nvSpPr>
        <p:spPr bwMode="gray">
          <a:xfrm>
            <a:off x="8775153" y="1280431"/>
            <a:ext cx="2042676" cy="342879"/>
          </a:xfrm>
          <a:prstGeom prst="roundRect">
            <a:avLst/>
          </a:prstGeom>
          <a:solidFill>
            <a:schemeClr val="bg1"/>
          </a:solidFill>
          <a:ln>
            <a:solidFill>
              <a:schemeClr val="tx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black"/>
                </a:solidFill>
                <a:effectLst/>
                <a:uLnTx/>
                <a:uFillTx/>
                <a:latin typeface="Aptos"/>
                <a:ea typeface="+mn-ea"/>
                <a:cs typeface="+mn-cs"/>
              </a:rPr>
              <a:t>Application Native Agents</a:t>
            </a:r>
          </a:p>
        </p:txBody>
      </p:sp>
      <p:sp>
        <p:nvSpPr>
          <p:cNvPr id="9013" name="TextBox 9012"/>
          <p:cNvSpPr txBox="1"/>
          <p:nvPr/>
        </p:nvSpPr>
        <p:spPr>
          <a:xfrm>
            <a:off x="5420918" y="3756209"/>
            <a:ext cx="1756699"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Accenture Refinery Agents</a:t>
            </a:r>
          </a:p>
        </p:txBody>
      </p:sp>
      <p:sp>
        <p:nvSpPr>
          <p:cNvPr id="9014" name="TextBox 9013"/>
          <p:cNvSpPr txBox="1"/>
          <p:nvPr/>
        </p:nvSpPr>
        <p:spPr>
          <a:xfrm>
            <a:off x="5298948" y="2685592"/>
            <a:ext cx="1872691"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PWC Industry Agents</a:t>
            </a:r>
          </a:p>
        </p:txBody>
      </p:sp>
      <p:sp>
        <p:nvSpPr>
          <p:cNvPr id="9015" name="TextBox 9014"/>
          <p:cNvSpPr txBox="1"/>
          <p:nvPr/>
        </p:nvSpPr>
        <p:spPr>
          <a:xfrm>
            <a:off x="1933041" y="2609392"/>
            <a:ext cx="1367942"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9A44"/>
                </a:solidFill>
                <a:effectLst/>
                <a:uLnTx/>
                <a:uFillTx/>
                <a:latin typeface="Aptos"/>
                <a:ea typeface="+mn-ea"/>
                <a:cs typeface="+mn-cs"/>
              </a:rPr>
              <a:t>Chat GPT Work</a:t>
            </a:r>
          </a:p>
        </p:txBody>
      </p:sp>
      <p:sp>
        <p:nvSpPr>
          <p:cNvPr id="9016" name="TextBox 9015"/>
          <p:cNvSpPr txBox="1"/>
          <p:nvPr/>
        </p:nvSpPr>
        <p:spPr>
          <a:xfrm>
            <a:off x="9350654" y="2685592"/>
            <a:ext cx="767133"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HighRadius</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9017" name="TextBox 9016"/>
          <p:cNvSpPr txBox="1"/>
          <p:nvPr/>
        </p:nvSpPr>
        <p:spPr>
          <a:xfrm>
            <a:off x="5341010" y="1817827"/>
            <a:ext cx="1352230"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IBM </a:t>
            </a:r>
            <a:r>
              <a:rPr kumimoji="0" lang="en-US" sz="1200" b="0" i="0" u="none" strike="noStrike" kern="1200" cap="none" spc="0" normalizeH="0" baseline="0" noProof="0" err="1">
                <a:ln>
                  <a:noFill/>
                </a:ln>
                <a:solidFill>
                  <a:srgbClr val="007CB0"/>
                </a:solidFill>
                <a:effectLst/>
                <a:uLnTx/>
                <a:uFillTx/>
                <a:latin typeface="Aptos"/>
                <a:ea typeface="+mn-ea"/>
                <a:cs typeface="+mn-cs"/>
              </a:rPr>
              <a:t>Watsonx</a:t>
            </a:r>
            <a:r>
              <a:rPr kumimoji="0" sz="1200" b="0" i="0" u="none" strike="noStrike" kern="1200" cap="none" spc="0" normalizeH="0" baseline="0" noProof="0">
                <a:ln>
                  <a:noFill/>
                </a:ln>
                <a:solidFill>
                  <a:srgbClr val="007CB0"/>
                </a:solidFill>
                <a:effectLst/>
                <a:uLnTx/>
                <a:uFillTx/>
                <a:latin typeface="Aptos"/>
                <a:ea typeface="+mn-ea"/>
                <a:cs typeface="+mn-cs"/>
              </a:rPr>
              <a:t> Agents</a:t>
            </a:r>
          </a:p>
        </p:txBody>
      </p:sp>
      <p:sp>
        <p:nvSpPr>
          <p:cNvPr id="9018" name="TextBox 9017"/>
          <p:cNvSpPr txBox="1"/>
          <p:nvPr/>
        </p:nvSpPr>
        <p:spPr>
          <a:xfrm>
            <a:off x="6698894" y="2037283"/>
            <a:ext cx="1620316"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0000"/>
                </a:solidFill>
                <a:effectLst/>
                <a:uLnTx/>
                <a:uFillTx/>
                <a:latin typeface="Aptos"/>
                <a:ea typeface="+mn-ea"/>
                <a:cs typeface="+mn-cs"/>
              </a:rPr>
              <a:t>SAP Joule Agents</a:t>
            </a:r>
          </a:p>
        </p:txBody>
      </p:sp>
      <p:sp>
        <p:nvSpPr>
          <p:cNvPr id="9019" name="TextBox 9018"/>
          <p:cNvSpPr txBox="1"/>
          <p:nvPr/>
        </p:nvSpPr>
        <p:spPr>
          <a:xfrm>
            <a:off x="1933041" y="1817827"/>
            <a:ext cx="1188720"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9A44"/>
                </a:solidFill>
                <a:effectLst/>
                <a:uLnTx/>
                <a:uFillTx/>
                <a:latin typeface="Aptos"/>
                <a:ea typeface="+mn-ea"/>
                <a:cs typeface="+mn-cs"/>
              </a:rPr>
              <a:t>MS Copilot</a:t>
            </a:r>
          </a:p>
        </p:txBody>
      </p:sp>
      <p:sp>
        <p:nvSpPr>
          <p:cNvPr id="9020" name="TextBox 9019"/>
          <p:cNvSpPr txBox="1"/>
          <p:nvPr/>
        </p:nvSpPr>
        <p:spPr>
          <a:xfrm>
            <a:off x="3897154" y="3542971"/>
            <a:ext cx="644857"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srgbClr val="007CB0"/>
                </a:solidFill>
                <a:effectLst/>
                <a:uLnTx/>
                <a:uFillTx/>
                <a:latin typeface="Aptos"/>
                <a:ea typeface="+mn-ea"/>
                <a:cs typeface="+mn-cs"/>
              </a:rPr>
              <a:t>DataRails</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9021" name="TextBox 9020"/>
          <p:cNvSpPr txBox="1"/>
          <p:nvPr/>
        </p:nvSpPr>
        <p:spPr>
          <a:xfrm>
            <a:off x="8286327" y="2429285"/>
            <a:ext cx="51629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7CB0"/>
                </a:solidFill>
                <a:effectLst/>
                <a:uLnTx/>
                <a:uFillTx/>
                <a:latin typeface="Aptos"/>
                <a:ea typeface="+mn-ea"/>
                <a:cs typeface="+mn-cs"/>
              </a:rPr>
              <a:t>Zora AI </a:t>
            </a:r>
          </a:p>
        </p:txBody>
      </p:sp>
      <p:sp>
        <p:nvSpPr>
          <p:cNvPr id="9022" name="TextBox 9021"/>
          <p:cNvSpPr txBox="1"/>
          <p:nvPr/>
        </p:nvSpPr>
        <p:spPr>
          <a:xfrm>
            <a:off x="6653386" y="3333902"/>
            <a:ext cx="1536192"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0000"/>
                </a:solidFill>
                <a:effectLst/>
                <a:uLnTx/>
                <a:uFillTx/>
                <a:latin typeface="Aptos"/>
                <a:ea typeface="+mn-ea"/>
                <a:cs typeface="+mn-cs"/>
              </a:rPr>
              <a:t>MS Dynamics 365</a:t>
            </a:r>
          </a:p>
        </p:txBody>
      </p:sp>
      <p:sp>
        <p:nvSpPr>
          <p:cNvPr id="9023" name="TextBox 9022"/>
          <p:cNvSpPr txBox="1"/>
          <p:nvPr/>
        </p:nvSpPr>
        <p:spPr>
          <a:xfrm>
            <a:off x="5551322" y="3333902"/>
            <a:ext cx="1367942"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EY Tax Agents</a:t>
            </a:r>
          </a:p>
        </p:txBody>
      </p:sp>
      <p:sp>
        <p:nvSpPr>
          <p:cNvPr id="5" name="Rectangle 4">
            <a:extLst>
              <a:ext uri="{FF2B5EF4-FFF2-40B4-BE49-F238E27FC236}">
                <a16:creationId xmlns:a16="http://schemas.microsoft.com/office/drawing/2014/main" id="{BE1801E2-2B63-389E-40BC-7E17077B1C28}"/>
              </a:ext>
            </a:extLst>
          </p:cNvPr>
          <p:cNvSpPr/>
          <p:nvPr/>
        </p:nvSpPr>
        <p:spPr bwMode="gray">
          <a:xfrm>
            <a:off x="1515162" y="1775027"/>
            <a:ext cx="2311670" cy="2021910"/>
          </a:xfrm>
          <a:prstGeom prst="rect">
            <a:avLst/>
          </a:prstGeom>
          <a:noFill/>
          <a:ln w="19050" algn="ctr">
            <a:solidFill>
              <a:schemeClr val="bg1">
                <a:lumMod val="65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7" name="TextBox 6">
            <a:extLst>
              <a:ext uri="{FF2B5EF4-FFF2-40B4-BE49-F238E27FC236}">
                <a16:creationId xmlns:a16="http://schemas.microsoft.com/office/drawing/2014/main" id="{766E0608-08C0-484D-D864-957D37FF2B93}"/>
              </a:ext>
            </a:extLst>
          </p:cNvPr>
          <p:cNvSpPr txBox="1"/>
          <p:nvPr/>
        </p:nvSpPr>
        <p:spPr>
          <a:xfrm>
            <a:off x="1522120" y="3841386"/>
            <a:ext cx="2304711"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a:ln>
                  <a:noFill/>
                </a:ln>
                <a:solidFill>
                  <a:prstClr val="white">
                    <a:lumMod val="65000"/>
                  </a:prstClr>
                </a:solidFill>
                <a:effectLst/>
                <a:uLnTx/>
                <a:uFillTx/>
                <a:latin typeface="Aptos"/>
                <a:ea typeface="+mn-ea"/>
                <a:cs typeface="+mn-cs"/>
              </a:rPr>
              <a:t>Assistance oriented, low on Autonomy</a:t>
            </a:r>
            <a:endParaRPr kumimoji="0" lang="en-US" sz="1800" b="0" i="1" u="none" strike="noStrike" kern="1200" cap="none" spc="0" normalizeH="0" baseline="0" noProof="0">
              <a:ln>
                <a:noFill/>
              </a:ln>
              <a:solidFill>
                <a:prstClr val="white">
                  <a:lumMod val="65000"/>
                </a:prstClr>
              </a:solidFill>
              <a:effectLst/>
              <a:uLnTx/>
              <a:uFillTx/>
              <a:latin typeface="Aptos"/>
              <a:ea typeface="+mn-ea"/>
              <a:cs typeface="+mn-cs"/>
            </a:endParaRPr>
          </a:p>
        </p:txBody>
      </p:sp>
      <p:sp>
        <p:nvSpPr>
          <p:cNvPr id="10" name="Rectangle 9">
            <a:extLst>
              <a:ext uri="{FF2B5EF4-FFF2-40B4-BE49-F238E27FC236}">
                <a16:creationId xmlns:a16="http://schemas.microsoft.com/office/drawing/2014/main" id="{F9B42E8C-E8C6-F85C-E7E4-4060D4E53DEF}"/>
              </a:ext>
            </a:extLst>
          </p:cNvPr>
          <p:cNvSpPr/>
          <p:nvPr/>
        </p:nvSpPr>
        <p:spPr bwMode="gray">
          <a:xfrm>
            <a:off x="4541857" y="1775027"/>
            <a:ext cx="3411589" cy="2240998"/>
          </a:xfrm>
          <a:prstGeom prst="rect">
            <a:avLst/>
          </a:prstGeom>
          <a:noFill/>
          <a:ln w="19050" algn="ctr">
            <a:solidFill>
              <a:schemeClr val="bg1">
                <a:lumMod val="65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16" name="TextBox 15">
            <a:extLst>
              <a:ext uri="{FF2B5EF4-FFF2-40B4-BE49-F238E27FC236}">
                <a16:creationId xmlns:a16="http://schemas.microsoft.com/office/drawing/2014/main" id="{51211C39-E086-3E54-7643-DE35167D1417}"/>
              </a:ext>
            </a:extLst>
          </p:cNvPr>
          <p:cNvSpPr txBox="1"/>
          <p:nvPr/>
        </p:nvSpPr>
        <p:spPr>
          <a:xfrm>
            <a:off x="4696938" y="4084093"/>
            <a:ext cx="3174668" cy="48474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a:ln>
                  <a:noFill/>
                </a:ln>
                <a:solidFill>
                  <a:prstClr val="white">
                    <a:lumMod val="65000"/>
                  </a:prstClr>
                </a:solidFill>
                <a:effectLst/>
                <a:uLnTx/>
                <a:uFillTx/>
                <a:latin typeface="Aptos"/>
                <a:ea typeface="+mn-ea"/>
                <a:cs typeface="+mn-cs"/>
              </a:rPr>
              <a:t>Mostly enterprise platforms, marketed as high on embedded governance but requires human in the loop to advance workflows</a:t>
            </a:r>
            <a:endParaRPr kumimoji="0" lang="en-US" sz="1800" b="0" i="1" u="none" strike="noStrike" kern="1200" cap="none" spc="0" normalizeH="0" baseline="0" noProof="0">
              <a:ln>
                <a:noFill/>
              </a:ln>
              <a:solidFill>
                <a:prstClr val="white">
                  <a:lumMod val="65000"/>
                </a:prstClr>
              </a:solidFill>
              <a:effectLst/>
              <a:uLnTx/>
              <a:uFillTx/>
              <a:latin typeface="Aptos"/>
              <a:ea typeface="+mn-ea"/>
              <a:cs typeface="+mn-cs"/>
            </a:endParaRPr>
          </a:p>
        </p:txBody>
      </p:sp>
      <p:sp>
        <p:nvSpPr>
          <p:cNvPr id="29" name="TextBox 28">
            <a:extLst>
              <a:ext uri="{FF2B5EF4-FFF2-40B4-BE49-F238E27FC236}">
                <a16:creationId xmlns:a16="http://schemas.microsoft.com/office/drawing/2014/main" id="{FD47196D-4A09-3A66-7FCD-2F0EE16C679B}"/>
              </a:ext>
            </a:extLst>
          </p:cNvPr>
          <p:cNvSpPr txBox="1"/>
          <p:nvPr/>
        </p:nvSpPr>
        <p:spPr>
          <a:xfrm>
            <a:off x="8449370" y="3481924"/>
            <a:ext cx="2042676" cy="48474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a:ln>
                  <a:noFill/>
                </a:ln>
                <a:solidFill>
                  <a:prstClr val="white">
                    <a:lumMod val="50000"/>
                  </a:prstClr>
                </a:solidFill>
                <a:effectLst/>
                <a:uLnTx/>
                <a:uFillTx/>
                <a:latin typeface="Aptos"/>
                <a:ea typeface="+mn-ea"/>
                <a:cs typeface="+mn-cs"/>
              </a:rPr>
              <a:t>Autonomous solutions that can independently complete a bounded workflow</a:t>
            </a:r>
            <a:endParaRPr kumimoji="0" lang="en-US" sz="1800" b="0" i="1" u="none" strike="noStrike" kern="1200" cap="none" spc="0" normalizeH="0" baseline="0" noProof="0">
              <a:ln>
                <a:noFill/>
              </a:ln>
              <a:solidFill>
                <a:prstClr val="white">
                  <a:lumMod val="50000"/>
                </a:prstClr>
              </a:solidFill>
              <a:effectLst/>
              <a:uLnTx/>
              <a:uFillTx/>
              <a:latin typeface="Aptos"/>
              <a:ea typeface="+mn-ea"/>
              <a:cs typeface="+mn-cs"/>
            </a:endParaRPr>
          </a:p>
        </p:txBody>
      </p:sp>
      <p:sp>
        <p:nvSpPr>
          <p:cNvPr id="33" name="TextBox 32">
            <a:extLst>
              <a:ext uri="{FF2B5EF4-FFF2-40B4-BE49-F238E27FC236}">
                <a16:creationId xmlns:a16="http://schemas.microsoft.com/office/drawing/2014/main" id="{519C6F28-67C6-894F-CD13-D4A3CC7BFDDC}"/>
              </a:ext>
            </a:extLst>
          </p:cNvPr>
          <p:cNvSpPr txBox="1"/>
          <p:nvPr/>
        </p:nvSpPr>
        <p:spPr>
          <a:xfrm>
            <a:off x="1439670" y="6166927"/>
            <a:ext cx="2175462" cy="138499"/>
          </a:xfrm>
          <a:prstGeom prst="rect">
            <a:avLst/>
          </a:prstGeom>
          <a:noFill/>
        </p:spPr>
        <p:txBody>
          <a:bodyPr wrap="square" lIns="0" tIns="0" rIns="0" bIns="0" rtlCol="0">
            <a:spAutoFit/>
          </a:bodyPr>
          <a:lstStyle/>
          <a:p>
            <a:pPr lvl="0">
              <a:spcBef>
                <a:spcPts val="600"/>
              </a:spcBef>
              <a:buSzPct val="100000"/>
              <a:defRPr/>
            </a:pPr>
            <a:r>
              <a:rPr lang="en-US" sz="900">
                <a:solidFill>
                  <a:srgbClr val="313131"/>
                </a:solidFill>
                <a:hlinkClick r:id="rId5" action="ppaction://hlinksldjump"/>
              </a:rPr>
              <a:t>Scoring Matrix</a:t>
            </a:r>
            <a:endParaRPr lang="en-US" sz="900">
              <a:solidFill>
                <a:srgbClr val="313131"/>
              </a:solidFill>
            </a:endParaRPr>
          </a:p>
        </p:txBody>
      </p:sp>
      <p:sp>
        <p:nvSpPr>
          <p:cNvPr id="6" name="TextBox 5">
            <a:extLst>
              <a:ext uri="{FF2B5EF4-FFF2-40B4-BE49-F238E27FC236}">
                <a16:creationId xmlns:a16="http://schemas.microsoft.com/office/drawing/2014/main" id="{655A8627-5956-24F6-FE44-4ACFF255BF34}"/>
              </a:ext>
            </a:extLst>
          </p:cNvPr>
          <p:cNvSpPr txBox="1"/>
          <p:nvPr/>
        </p:nvSpPr>
        <p:spPr>
          <a:xfrm>
            <a:off x="5298947" y="2507944"/>
            <a:ext cx="1540037"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Infosys</a:t>
            </a:r>
            <a:r>
              <a:rPr kumimoji="0" sz="1200" b="0" i="0" u="none" strike="noStrike" kern="1200" cap="none" spc="0" normalizeH="0" baseline="0" noProof="0">
                <a:ln>
                  <a:noFill/>
                </a:ln>
                <a:solidFill>
                  <a:srgbClr val="007CB0"/>
                </a:solidFill>
                <a:effectLst/>
                <a:uLnTx/>
                <a:uFillTx/>
                <a:latin typeface="Aptos"/>
                <a:ea typeface="+mn-ea"/>
                <a:cs typeface="+mn-cs"/>
              </a:rPr>
              <a:t> Industry Agents</a:t>
            </a:r>
          </a:p>
        </p:txBody>
      </p:sp>
      <p:sp>
        <p:nvSpPr>
          <p:cNvPr id="12" name="TextBox 11">
            <a:extLst>
              <a:ext uri="{FF2B5EF4-FFF2-40B4-BE49-F238E27FC236}">
                <a16:creationId xmlns:a16="http://schemas.microsoft.com/office/drawing/2014/main" id="{BEAA0166-3D98-9E3D-4429-CE26C2E311AB}"/>
              </a:ext>
            </a:extLst>
          </p:cNvPr>
          <p:cNvSpPr txBox="1"/>
          <p:nvPr/>
        </p:nvSpPr>
        <p:spPr>
          <a:xfrm>
            <a:off x="1933041" y="3543300"/>
            <a:ext cx="1024576"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9A44"/>
                </a:solidFill>
                <a:effectLst/>
                <a:uLnTx/>
                <a:uFillTx/>
                <a:latin typeface="Aptos"/>
                <a:ea typeface="+mn-ea"/>
                <a:cs typeface="+mn-cs"/>
              </a:rPr>
              <a:t>Claude Cow</a:t>
            </a:r>
            <a:r>
              <a:rPr kumimoji="0" sz="1200" b="0" i="0" u="none" strike="noStrike" kern="1200" cap="none" spc="0" normalizeH="0" baseline="0" noProof="0">
                <a:ln>
                  <a:noFill/>
                </a:ln>
                <a:solidFill>
                  <a:srgbClr val="009A44"/>
                </a:solidFill>
                <a:effectLst/>
                <a:uLnTx/>
                <a:uFillTx/>
                <a:latin typeface="Aptos"/>
                <a:ea typeface="+mn-ea"/>
                <a:cs typeface="+mn-cs"/>
              </a:rPr>
              <a:t>ork</a:t>
            </a:r>
          </a:p>
        </p:txBody>
      </p:sp>
      <p:sp>
        <p:nvSpPr>
          <p:cNvPr id="27" name="TextBox 26">
            <a:extLst>
              <a:ext uri="{FF2B5EF4-FFF2-40B4-BE49-F238E27FC236}">
                <a16:creationId xmlns:a16="http://schemas.microsoft.com/office/drawing/2014/main" id="{FBE9F970-7C3D-05D5-591C-A4E2BB7AB183}"/>
              </a:ext>
            </a:extLst>
          </p:cNvPr>
          <p:cNvSpPr txBox="1"/>
          <p:nvPr/>
        </p:nvSpPr>
        <p:spPr>
          <a:xfrm>
            <a:off x="9254920" y="1869922"/>
            <a:ext cx="1284454"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ServiceNow Agents</a:t>
            </a:r>
            <a:endParaRPr kumimoji="0" sz="1200" b="0" i="0" u="none" strike="noStrike" kern="1200" cap="none" spc="0" normalizeH="0" baseline="0" noProof="0">
              <a:ln>
                <a:noFill/>
              </a:ln>
              <a:solidFill>
                <a:srgbClr val="000000"/>
              </a:solidFill>
              <a:effectLst/>
              <a:uLnTx/>
              <a:uFillTx/>
              <a:latin typeface="Aptos"/>
              <a:ea typeface="+mn-ea"/>
              <a:cs typeface="+mn-cs"/>
            </a:endParaRPr>
          </a:p>
        </p:txBody>
      </p:sp>
      <p:sp>
        <p:nvSpPr>
          <p:cNvPr id="36" name="Rectangle 35">
            <a:extLst>
              <a:ext uri="{FF2B5EF4-FFF2-40B4-BE49-F238E27FC236}">
                <a16:creationId xmlns:a16="http://schemas.microsoft.com/office/drawing/2014/main" id="{42D9F560-BE5B-F9AA-0A91-B85A59C45A3C}"/>
              </a:ext>
            </a:extLst>
          </p:cNvPr>
          <p:cNvSpPr/>
          <p:nvPr/>
        </p:nvSpPr>
        <p:spPr bwMode="gray">
          <a:xfrm>
            <a:off x="8189578" y="1773451"/>
            <a:ext cx="2487260" cy="1687629"/>
          </a:xfrm>
          <a:prstGeom prst="rect">
            <a:avLst/>
          </a:prstGeom>
          <a:noFill/>
          <a:ln w="19050" algn="ctr">
            <a:solidFill>
              <a:schemeClr val="bg1">
                <a:lumMod val="65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40" name="TextBox 39">
            <a:extLst>
              <a:ext uri="{FF2B5EF4-FFF2-40B4-BE49-F238E27FC236}">
                <a16:creationId xmlns:a16="http://schemas.microsoft.com/office/drawing/2014/main" id="{EE02FA3E-DE12-C316-8CEF-7FA1EA7EEFCB}"/>
              </a:ext>
            </a:extLst>
          </p:cNvPr>
          <p:cNvSpPr txBox="1"/>
          <p:nvPr/>
        </p:nvSpPr>
        <p:spPr>
          <a:xfrm>
            <a:off x="9193477" y="2060783"/>
            <a:ext cx="1463670"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Salesforce Agentforce</a:t>
            </a:r>
            <a:endParaRPr kumimoji="0" sz="1200" b="0" i="0" u="none" strike="noStrike" kern="1200" cap="none" spc="0" normalizeH="0" baseline="0" noProof="0">
              <a:ln>
                <a:noFill/>
              </a:ln>
              <a:solidFill>
                <a:srgbClr val="000000"/>
              </a:solidFill>
              <a:effectLst/>
              <a:uLnTx/>
              <a:uFillTx/>
              <a:latin typeface="Aptos"/>
              <a:ea typeface="+mn-ea"/>
              <a:cs typeface="+mn-cs"/>
            </a:endParaRPr>
          </a:p>
        </p:txBody>
      </p:sp>
      <p:sp>
        <p:nvSpPr>
          <p:cNvPr id="9" name="TextBox 8">
            <a:extLst>
              <a:ext uri="{FF2B5EF4-FFF2-40B4-BE49-F238E27FC236}">
                <a16:creationId xmlns:a16="http://schemas.microsoft.com/office/drawing/2014/main" id="{CC1630C2-063F-2283-3688-900482DF5CC3}"/>
              </a:ext>
            </a:extLst>
          </p:cNvPr>
          <p:cNvSpPr txBox="1"/>
          <p:nvPr/>
        </p:nvSpPr>
        <p:spPr>
          <a:xfrm>
            <a:off x="5539377" y="2035888"/>
            <a:ext cx="1070806"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Workday Agents</a:t>
            </a:r>
            <a:endParaRPr kumimoji="0" sz="1200" b="0" i="0" u="none" strike="noStrike" kern="1200" cap="none" spc="0" normalizeH="0" baseline="0" noProof="0">
              <a:ln>
                <a:noFill/>
              </a:ln>
              <a:solidFill>
                <a:srgbClr val="000000"/>
              </a:solidFill>
              <a:effectLst/>
              <a:uLnTx/>
              <a:uFillTx/>
              <a:latin typeface="Aptos"/>
              <a:ea typeface="+mn-ea"/>
              <a:cs typeface="+mn-cs"/>
            </a:endParaRPr>
          </a:p>
        </p:txBody>
      </p:sp>
      <p:sp>
        <p:nvSpPr>
          <p:cNvPr id="26" name="TextBox 25">
            <a:extLst>
              <a:ext uri="{FF2B5EF4-FFF2-40B4-BE49-F238E27FC236}">
                <a16:creationId xmlns:a16="http://schemas.microsoft.com/office/drawing/2014/main" id="{5BAD357C-6A73-FB74-87B0-8F608C6A226F}"/>
              </a:ext>
            </a:extLst>
          </p:cNvPr>
          <p:cNvSpPr txBox="1"/>
          <p:nvPr/>
        </p:nvSpPr>
        <p:spPr>
          <a:xfrm>
            <a:off x="1933040" y="2795656"/>
            <a:ext cx="1196674"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09A44"/>
                </a:solidFill>
                <a:latin typeface="Aptos"/>
              </a:rPr>
              <a:t>Gemini Enterprise</a:t>
            </a:r>
            <a:endParaRPr kumimoji="0" sz="1200" b="0" i="0" u="none" strike="noStrike" kern="1200" cap="none" spc="0" normalizeH="0" baseline="0" noProof="0">
              <a:ln>
                <a:noFill/>
              </a:ln>
              <a:solidFill>
                <a:srgbClr val="009A44"/>
              </a:solidFill>
              <a:effectLst/>
              <a:uLnTx/>
              <a:uFillTx/>
              <a:latin typeface="Aptos"/>
              <a:ea typeface="+mn-ea"/>
              <a:cs typeface="+mn-cs"/>
            </a:endParaRPr>
          </a:p>
        </p:txBody>
      </p:sp>
      <p:sp>
        <p:nvSpPr>
          <p:cNvPr id="39" name="TextBox 38">
            <a:extLst>
              <a:ext uri="{FF2B5EF4-FFF2-40B4-BE49-F238E27FC236}">
                <a16:creationId xmlns:a16="http://schemas.microsoft.com/office/drawing/2014/main" id="{3C2BCB99-C54F-C19F-D852-3290C81FAB00}"/>
              </a:ext>
            </a:extLst>
          </p:cNvPr>
          <p:cNvSpPr txBox="1"/>
          <p:nvPr/>
        </p:nvSpPr>
        <p:spPr>
          <a:xfrm>
            <a:off x="5263549" y="2200291"/>
            <a:ext cx="1635576"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Amazon Connect </a:t>
            </a:r>
            <a:r>
              <a:rPr kumimoji="0" sz="1200" b="0" i="0" u="none" strike="noStrike" kern="1200" cap="none" spc="0" normalizeH="0" baseline="0" noProof="0">
                <a:ln>
                  <a:noFill/>
                </a:ln>
                <a:solidFill>
                  <a:srgbClr val="000000"/>
                </a:solidFill>
                <a:effectLst/>
                <a:uLnTx/>
                <a:uFillTx/>
                <a:latin typeface="Aptos"/>
                <a:ea typeface="+mn-ea"/>
                <a:cs typeface="+mn-cs"/>
              </a:rPr>
              <a:t>Agents</a:t>
            </a:r>
          </a:p>
        </p:txBody>
      </p:sp>
      <p:sp>
        <p:nvSpPr>
          <p:cNvPr id="42" name="TextBox 41">
            <a:extLst>
              <a:ext uri="{FF2B5EF4-FFF2-40B4-BE49-F238E27FC236}">
                <a16:creationId xmlns:a16="http://schemas.microsoft.com/office/drawing/2014/main" id="{5948C0A2-6775-7339-2504-F2E224619E4F}"/>
              </a:ext>
            </a:extLst>
          </p:cNvPr>
          <p:cNvSpPr txBox="1"/>
          <p:nvPr/>
        </p:nvSpPr>
        <p:spPr>
          <a:xfrm>
            <a:off x="3900302" y="1808473"/>
            <a:ext cx="791370"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One Stream</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44" name="TextBox 43">
            <a:extLst>
              <a:ext uri="{FF2B5EF4-FFF2-40B4-BE49-F238E27FC236}">
                <a16:creationId xmlns:a16="http://schemas.microsoft.com/office/drawing/2014/main" id="{2EA31927-32F5-C618-F5AF-166176B82E00}"/>
              </a:ext>
            </a:extLst>
          </p:cNvPr>
          <p:cNvSpPr txBox="1"/>
          <p:nvPr/>
        </p:nvSpPr>
        <p:spPr>
          <a:xfrm>
            <a:off x="3905562" y="2628760"/>
            <a:ext cx="55784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Abacum</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46" name="TextBox 45">
            <a:extLst>
              <a:ext uri="{FF2B5EF4-FFF2-40B4-BE49-F238E27FC236}">
                <a16:creationId xmlns:a16="http://schemas.microsoft.com/office/drawing/2014/main" id="{78147109-26B8-A9D8-C2E5-69A8A3E9D0ED}"/>
              </a:ext>
            </a:extLst>
          </p:cNvPr>
          <p:cNvSpPr txBox="1"/>
          <p:nvPr/>
        </p:nvSpPr>
        <p:spPr>
          <a:xfrm>
            <a:off x="8304041" y="2607606"/>
            <a:ext cx="44563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Coupa</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48" name="TextBox 47">
            <a:extLst>
              <a:ext uri="{FF2B5EF4-FFF2-40B4-BE49-F238E27FC236}">
                <a16:creationId xmlns:a16="http://schemas.microsoft.com/office/drawing/2014/main" id="{CA5FFD58-FD9B-A743-9C80-00DF26C3C603}"/>
              </a:ext>
            </a:extLst>
          </p:cNvPr>
          <p:cNvSpPr txBox="1"/>
          <p:nvPr/>
        </p:nvSpPr>
        <p:spPr>
          <a:xfrm>
            <a:off x="9470708" y="2245449"/>
            <a:ext cx="46166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Salient</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Tree>
    <p:extLst>
      <p:ext uri="{BB962C8B-B14F-4D97-AF65-F5344CB8AC3E}">
        <p14:creationId xmlns:p14="http://schemas.microsoft.com/office/powerpoint/2010/main" val="65653120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2E0BB-134F-69C9-A76D-E97453DB159F}"/>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D012BA1-A0EB-1D5F-34E6-B0C7CCE6DF0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 name="think-cell data - do not delete" hidden="1">
                        <a:extLst>
                          <a:ext uri="{FF2B5EF4-FFF2-40B4-BE49-F238E27FC236}">
                            <a16:creationId xmlns:a16="http://schemas.microsoft.com/office/drawing/2014/main" id="{DD012BA1-A0EB-1D5F-34E6-B0C7CCE6DF0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C5E008-AAC1-0B66-1735-D1BA45AD8C35}"/>
              </a:ext>
            </a:extLst>
          </p:cNvPr>
          <p:cNvSpPr>
            <a:spLocks noGrp="1"/>
          </p:cNvSpPr>
          <p:nvPr>
            <p:ph type="title"/>
          </p:nvPr>
        </p:nvSpPr>
        <p:spPr/>
        <p:txBody>
          <a:bodyPr vert="horz" rIns="0"/>
          <a:lstStyle/>
          <a:p>
            <a:r>
              <a:rPr lang="en-US"/>
              <a:t>Zora offers broad model choice and deployment flexibility, also emulated by few PSFs</a:t>
            </a:r>
          </a:p>
        </p:txBody>
      </p:sp>
      <p:sp>
        <p:nvSpPr>
          <p:cNvPr id="8" name="Rectangle: Rounded Corners 7">
            <a:extLst>
              <a:ext uri="{FF2B5EF4-FFF2-40B4-BE49-F238E27FC236}">
                <a16:creationId xmlns:a16="http://schemas.microsoft.com/office/drawing/2014/main" id="{9269DFA9-9015-5AF0-E24B-94D97E09EAF4}"/>
              </a:ext>
            </a:extLst>
          </p:cNvPr>
          <p:cNvSpPr/>
          <p:nvPr/>
        </p:nvSpPr>
        <p:spPr bwMode="gray">
          <a:xfrm>
            <a:off x="457199" y="1197430"/>
            <a:ext cx="11114315" cy="5148942"/>
          </a:xfrm>
          <a:prstGeom prst="roundRect">
            <a:avLst>
              <a:gd name="adj" fmla="val 6243"/>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BF84E050-2618-0FBE-1336-6F7796C004F6}"/>
              </a:ext>
            </a:extLst>
          </p:cNvPr>
          <p:cNvSpPr/>
          <p:nvPr/>
        </p:nvSpPr>
        <p:spPr bwMode="gray">
          <a:xfrm>
            <a:off x="5302169" y="5894360"/>
            <a:ext cx="1920240" cy="342000"/>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Deployment Flexibility</a:t>
            </a:r>
          </a:p>
        </p:txBody>
      </p:sp>
      <p:sp>
        <p:nvSpPr>
          <p:cNvPr id="21" name="Rectangle: Rounded Corners 20">
            <a:extLst>
              <a:ext uri="{FF2B5EF4-FFF2-40B4-BE49-F238E27FC236}">
                <a16:creationId xmlns:a16="http://schemas.microsoft.com/office/drawing/2014/main" id="{A228DA3D-7A53-A6A5-0B28-069E9BEC7BB3}"/>
              </a:ext>
            </a:extLst>
          </p:cNvPr>
          <p:cNvSpPr/>
          <p:nvPr/>
        </p:nvSpPr>
        <p:spPr bwMode="gray">
          <a:xfrm rot="16200000">
            <a:off x="-1102265" y="3372301"/>
            <a:ext cx="2651760" cy="342000"/>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Model Choice</a:t>
            </a:r>
          </a:p>
        </p:txBody>
      </p:sp>
      <p:sp>
        <p:nvSpPr>
          <p:cNvPr id="22" name="Rectangle: Rounded Corners 21">
            <a:extLst>
              <a:ext uri="{FF2B5EF4-FFF2-40B4-BE49-F238E27FC236}">
                <a16:creationId xmlns:a16="http://schemas.microsoft.com/office/drawing/2014/main" id="{95A0141A-16D5-FFDE-D30C-95A7EABEBBC7}"/>
              </a:ext>
            </a:extLst>
          </p:cNvPr>
          <p:cNvSpPr/>
          <p:nvPr/>
        </p:nvSpPr>
        <p:spPr bwMode="gray">
          <a:xfrm>
            <a:off x="1557600" y="5635850"/>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10" name="Rectangle: Rounded Corners 21">
            <a:extLst>
              <a:ext uri="{FF2B5EF4-FFF2-40B4-BE49-F238E27FC236}">
                <a16:creationId xmlns:a16="http://schemas.microsoft.com/office/drawing/2014/main" id="{B2026238-10A0-270E-0613-8F0330CE3B29}"/>
              </a:ext>
            </a:extLst>
          </p:cNvPr>
          <p:cNvSpPr/>
          <p:nvPr/>
        </p:nvSpPr>
        <p:spPr bwMode="gray">
          <a:xfrm>
            <a:off x="7953451" y="5635447"/>
            <a:ext cx="100584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09" name="Rectangle: Rounded Corners 21">
            <a:extLst>
              <a:ext uri="{FF2B5EF4-FFF2-40B4-BE49-F238E27FC236}">
                <a16:creationId xmlns:a16="http://schemas.microsoft.com/office/drawing/2014/main" id="{50E03A7C-AEC3-7017-B3A4-50AAC156D65A}"/>
              </a:ext>
            </a:extLst>
          </p:cNvPr>
          <p:cNvSpPr/>
          <p:nvPr/>
        </p:nvSpPr>
        <p:spPr bwMode="gray">
          <a:xfrm>
            <a:off x="3513124" y="5635447"/>
            <a:ext cx="100584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3" name="Rectangle: Rounded Corners 22">
            <a:extLst>
              <a:ext uri="{FF2B5EF4-FFF2-40B4-BE49-F238E27FC236}">
                <a16:creationId xmlns:a16="http://schemas.microsoft.com/office/drawing/2014/main" id="{854F8B06-9F33-415D-14F5-A792265A3034}"/>
              </a:ext>
            </a:extLst>
          </p:cNvPr>
          <p:cNvSpPr/>
          <p:nvPr/>
        </p:nvSpPr>
        <p:spPr bwMode="gray">
          <a:xfrm>
            <a:off x="10438371" y="5635850"/>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4" name="Rectangle: Rounded Corners 23">
            <a:extLst>
              <a:ext uri="{FF2B5EF4-FFF2-40B4-BE49-F238E27FC236}">
                <a16:creationId xmlns:a16="http://schemas.microsoft.com/office/drawing/2014/main" id="{51F20F59-218D-8CEB-D830-909CA7757FBE}"/>
              </a:ext>
            </a:extLst>
          </p:cNvPr>
          <p:cNvSpPr/>
          <p:nvPr/>
        </p:nvSpPr>
        <p:spPr bwMode="gray">
          <a:xfrm>
            <a:off x="5890295" y="5635850"/>
            <a:ext cx="693317" cy="217918"/>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5" name="Rectangle: Rounded Corners 24">
            <a:extLst>
              <a:ext uri="{FF2B5EF4-FFF2-40B4-BE49-F238E27FC236}">
                <a16:creationId xmlns:a16="http://schemas.microsoft.com/office/drawing/2014/main" id="{63A0C6ED-149E-919E-08B4-36B1404C2FC1}"/>
              </a:ext>
            </a:extLst>
          </p:cNvPr>
          <p:cNvSpPr/>
          <p:nvPr/>
        </p:nvSpPr>
        <p:spPr bwMode="gray">
          <a:xfrm>
            <a:off x="823394" y="5272284"/>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12" name="Rectangle: Rounded Corners 24">
            <a:extLst>
              <a:ext uri="{FF2B5EF4-FFF2-40B4-BE49-F238E27FC236}">
                <a16:creationId xmlns:a16="http://schemas.microsoft.com/office/drawing/2014/main" id="{D6307E71-2E3B-92C3-56CE-757AC35C3992}"/>
              </a:ext>
            </a:extLst>
          </p:cNvPr>
          <p:cNvSpPr/>
          <p:nvPr/>
        </p:nvSpPr>
        <p:spPr bwMode="gray">
          <a:xfrm>
            <a:off x="224344" y="2667304"/>
            <a:ext cx="141732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9011" name="Rectangle: Rounded Corners 24">
            <a:extLst>
              <a:ext uri="{FF2B5EF4-FFF2-40B4-BE49-F238E27FC236}">
                <a16:creationId xmlns:a16="http://schemas.microsoft.com/office/drawing/2014/main" id="{AA45BB72-9DB8-877A-0C01-773455F0BB34}"/>
              </a:ext>
            </a:extLst>
          </p:cNvPr>
          <p:cNvSpPr/>
          <p:nvPr/>
        </p:nvSpPr>
        <p:spPr bwMode="gray">
          <a:xfrm>
            <a:off x="224344" y="4403750"/>
            <a:ext cx="1417320"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Low-Medium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28" name="Rectangle: Rounded Corners 27">
            <a:extLst>
              <a:ext uri="{FF2B5EF4-FFF2-40B4-BE49-F238E27FC236}">
                <a16:creationId xmlns:a16="http://schemas.microsoft.com/office/drawing/2014/main" id="{30D5F0D9-54DF-5351-CA27-3113FB3005DF}"/>
              </a:ext>
            </a:extLst>
          </p:cNvPr>
          <p:cNvSpPr/>
          <p:nvPr/>
        </p:nvSpPr>
        <p:spPr bwMode="gray">
          <a:xfrm>
            <a:off x="823394" y="1800228"/>
            <a:ext cx="477936" cy="217919"/>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High</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sp>
        <p:nvSpPr>
          <p:cNvPr id="31" name="Rectangle: Rounded Corners 30">
            <a:extLst>
              <a:ext uri="{FF2B5EF4-FFF2-40B4-BE49-F238E27FC236}">
                <a16:creationId xmlns:a16="http://schemas.microsoft.com/office/drawing/2014/main" id="{A363FBD9-C414-53EF-8887-464DD8E3052B}"/>
              </a:ext>
            </a:extLst>
          </p:cNvPr>
          <p:cNvSpPr/>
          <p:nvPr/>
        </p:nvSpPr>
        <p:spPr bwMode="gray">
          <a:xfrm>
            <a:off x="715704" y="3536257"/>
            <a:ext cx="693317" cy="217918"/>
          </a:xfrm>
          <a:prstGeom prst="roundRect">
            <a:avLst/>
          </a:prstGeom>
          <a:no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1" u="none" strike="noStrike" kern="1200" cap="none" spc="0" normalizeH="0" baseline="0" noProof="0">
                <a:ln>
                  <a:noFill/>
                </a:ln>
                <a:solidFill>
                  <a:prstClr val="black"/>
                </a:solidFill>
                <a:effectLst/>
                <a:uLnTx/>
                <a:uFillTx/>
                <a:latin typeface="Aptos"/>
                <a:ea typeface="+mn-ea"/>
                <a:cs typeface="+mn-cs"/>
              </a:rPr>
              <a:t>Medium</a:t>
            </a:r>
            <a:endParaRPr kumimoji="0" lang="en-US" sz="1050" b="0" i="1" u="none" strike="noStrike" kern="1200" cap="none" spc="0" normalizeH="0" baseline="0" noProof="0">
              <a:ln>
                <a:noFill/>
              </a:ln>
              <a:solidFill>
                <a:prstClr val="black"/>
              </a:solidFill>
              <a:effectLst/>
              <a:uLnTx/>
              <a:uFillTx/>
              <a:latin typeface="Aptos"/>
              <a:ea typeface="+mn-ea"/>
              <a:cs typeface="+mn-cs"/>
            </a:endParaRPr>
          </a:p>
        </p:txBody>
      </p:sp>
      <p:grpSp>
        <p:nvGrpSpPr>
          <p:cNvPr id="38" name="Group 37">
            <a:extLst>
              <a:ext uri="{FF2B5EF4-FFF2-40B4-BE49-F238E27FC236}">
                <a16:creationId xmlns:a16="http://schemas.microsoft.com/office/drawing/2014/main" id="{76F9ADBE-02DF-C97C-CE56-8E8F198F71BB}"/>
              </a:ext>
            </a:extLst>
          </p:cNvPr>
          <p:cNvGrpSpPr/>
          <p:nvPr/>
        </p:nvGrpSpPr>
        <p:grpSpPr>
          <a:xfrm>
            <a:off x="1323178" y="1524000"/>
            <a:ext cx="9878222" cy="4038600"/>
            <a:chOff x="1323178" y="1717706"/>
            <a:chExt cx="1931349" cy="1931349"/>
          </a:xfrm>
        </p:grpSpPr>
        <p:sp>
          <p:nvSpPr>
            <p:cNvPr id="11" name="Rectangle 10">
              <a:extLst>
                <a:ext uri="{FF2B5EF4-FFF2-40B4-BE49-F238E27FC236}">
                  <a16:creationId xmlns:a16="http://schemas.microsoft.com/office/drawing/2014/main" id="{2705D461-EC8B-94CA-5FB2-A98B195F2296}"/>
                </a:ext>
              </a:extLst>
            </p:cNvPr>
            <p:cNvSpPr/>
            <p:nvPr/>
          </p:nvSpPr>
          <p:spPr bwMode="gray">
            <a:xfrm>
              <a:off x="1333148" y="1800228"/>
              <a:ext cx="1852656" cy="1848827"/>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cxnSp>
          <p:nvCxnSpPr>
            <p:cNvPr id="13" name="Straight Arrow Connector 12">
              <a:extLst>
                <a:ext uri="{FF2B5EF4-FFF2-40B4-BE49-F238E27FC236}">
                  <a16:creationId xmlns:a16="http://schemas.microsoft.com/office/drawing/2014/main" id="{7B34CC31-C422-5CF7-E0EA-28A46820D61B}"/>
                </a:ext>
              </a:extLst>
            </p:cNvPr>
            <p:cNvCxnSpPr/>
            <p:nvPr/>
          </p:nvCxnSpPr>
          <p:spPr>
            <a:xfrm>
              <a:off x="1333148" y="1717706"/>
              <a:ext cx="0" cy="193134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926E174-33EB-5DBE-82AF-3CB89DB2CA27}"/>
                </a:ext>
              </a:extLst>
            </p:cNvPr>
            <p:cNvCxnSpPr>
              <a:cxnSpLocks/>
            </p:cNvCxnSpPr>
            <p:nvPr/>
          </p:nvCxnSpPr>
          <p:spPr>
            <a:xfrm rot="5400000">
              <a:off x="2288853" y="2673412"/>
              <a:ext cx="0" cy="193134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904816D-7C62-0D07-22B0-A6173B338065}"/>
                </a:ext>
              </a:extLst>
            </p:cNvPr>
            <p:cNvCxnSpPr>
              <a:cxnSpLocks/>
            </p:cNvCxnSpPr>
            <p:nvPr/>
          </p:nvCxnSpPr>
          <p:spPr>
            <a:xfrm>
              <a:off x="1960705" y="1800228"/>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A4EBB87-D32F-0787-D1D0-6CE67DA26D32}"/>
                </a:ext>
              </a:extLst>
            </p:cNvPr>
            <p:cNvCxnSpPr>
              <a:cxnSpLocks/>
            </p:cNvCxnSpPr>
            <p:nvPr/>
          </p:nvCxnSpPr>
          <p:spPr>
            <a:xfrm>
              <a:off x="2668583" y="1807347"/>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D276410-00D9-DD34-05C1-A5E7BC49C23D}"/>
                </a:ext>
              </a:extLst>
            </p:cNvPr>
            <p:cNvCxnSpPr>
              <a:cxnSpLocks/>
            </p:cNvCxnSpPr>
            <p:nvPr/>
          </p:nvCxnSpPr>
          <p:spPr>
            <a:xfrm rot="16200000">
              <a:off x="2259479" y="1397152"/>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5512A40-EB25-E196-C9B6-05794828E099}"/>
                </a:ext>
              </a:extLst>
            </p:cNvPr>
            <p:cNvCxnSpPr>
              <a:cxnSpLocks/>
            </p:cNvCxnSpPr>
            <p:nvPr/>
          </p:nvCxnSpPr>
          <p:spPr>
            <a:xfrm rot="16200000">
              <a:off x="2259479" y="2070843"/>
              <a:ext cx="0" cy="1784976"/>
            </a:xfrm>
            <a:prstGeom prst="line">
              <a:avLst/>
            </a:prstGeom>
            <a:ln>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Rectangle: Rounded Corners 17">
            <a:extLst>
              <a:ext uri="{FF2B5EF4-FFF2-40B4-BE49-F238E27FC236}">
                <a16:creationId xmlns:a16="http://schemas.microsoft.com/office/drawing/2014/main" id="{5DF7E4C2-1FCE-B081-C53B-E57112D99722}"/>
              </a:ext>
            </a:extLst>
          </p:cNvPr>
          <p:cNvSpPr/>
          <p:nvPr/>
        </p:nvSpPr>
        <p:spPr bwMode="gray">
          <a:xfrm>
            <a:off x="6573291" y="1280431"/>
            <a:ext cx="2042676" cy="333229"/>
          </a:xfrm>
          <a:prstGeom prst="roundRect">
            <a:avLst/>
          </a:prstGeom>
          <a:solidFill>
            <a:schemeClr val="bg1"/>
          </a:solidFill>
          <a:ln>
            <a:solidFill>
              <a:srgbClr val="007CB0"/>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Functional/ Industry Agents</a:t>
            </a:r>
          </a:p>
        </p:txBody>
      </p:sp>
      <p:sp>
        <p:nvSpPr>
          <p:cNvPr id="19" name="Rectangle: Rounded Corners 18">
            <a:extLst>
              <a:ext uri="{FF2B5EF4-FFF2-40B4-BE49-F238E27FC236}">
                <a16:creationId xmlns:a16="http://schemas.microsoft.com/office/drawing/2014/main" id="{830D7311-4A09-7275-2BB1-870BFCED80E5}"/>
              </a:ext>
            </a:extLst>
          </p:cNvPr>
          <p:cNvSpPr/>
          <p:nvPr/>
        </p:nvSpPr>
        <p:spPr bwMode="gray">
          <a:xfrm>
            <a:off x="4371427" y="1280431"/>
            <a:ext cx="2042677" cy="322035"/>
          </a:xfrm>
          <a:prstGeom prst="roundRect">
            <a:avLst/>
          </a:prstGeom>
          <a:solidFill>
            <a:schemeClr val="bg1"/>
          </a:solidFill>
          <a:ln>
            <a:solidFill>
              <a:srgbClr val="009A44"/>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09A44"/>
                </a:solidFill>
                <a:effectLst/>
                <a:uLnTx/>
                <a:uFillTx/>
                <a:latin typeface="Aptos"/>
                <a:ea typeface="+mn-ea"/>
                <a:cs typeface="+mn-cs"/>
              </a:rPr>
              <a:t>General Productivity Agents</a:t>
            </a:r>
          </a:p>
        </p:txBody>
      </p:sp>
      <p:sp>
        <p:nvSpPr>
          <p:cNvPr id="20" name="Rectangle: Rounded Corners 19">
            <a:extLst>
              <a:ext uri="{FF2B5EF4-FFF2-40B4-BE49-F238E27FC236}">
                <a16:creationId xmlns:a16="http://schemas.microsoft.com/office/drawing/2014/main" id="{B1FBB9B0-E621-7BE5-6828-D596A1B723EB}"/>
              </a:ext>
            </a:extLst>
          </p:cNvPr>
          <p:cNvSpPr/>
          <p:nvPr/>
        </p:nvSpPr>
        <p:spPr bwMode="gray">
          <a:xfrm>
            <a:off x="8775153" y="1280431"/>
            <a:ext cx="2042676" cy="342879"/>
          </a:xfrm>
          <a:prstGeom prst="roundRect">
            <a:avLst/>
          </a:prstGeom>
          <a:solidFill>
            <a:schemeClr val="bg1"/>
          </a:solidFill>
          <a:ln>
            <a:solidFill>
              <a:schemeClr val="tx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black"/>
                </a:solidFill>
                <a:effectLst/>
                <a:uLnTx/>
                <a:uFillTx/>
                <a:latin typeface="Aptos"/>
                <a:ea typeface="+mn-ea"/>
                <a:cs typeface="+mn-cs"/>
              </a:rPr>
              <a:t>Application Native Agents</a:t>
            </a:r>
          </a:p>
        </p:txBody>
      </p:sp>
      <p:sp>
        <p:nvSpPr>
          <p:cNvPr id="33" name="TextBox 32">
            <a:extLst>
              <a:ext uri="{FF2B5EF4-FFF2-40B4-BE49-F238E27FC236}">
                <a16:creationId xmlns:a16="http://schemas.microsoft.com/office/drawing/2014/main" id="{0400681B-A67B-5DBB-32EB-C1655932A4AC}"/>
              </a:ext>
            </a:extLst>
          </p:cNvPr>
          <p:cNvSpPr txBox="1"/>
          <p:nvPr/>
        </p:nvSpPr>
        <p:spPr>
          <a:xfrm>
            <a:off x="1439670" y="6166927"/>
            <a:ext cx="2175462" cy="138499"/>
          </a:xfrm>
          <a:prstGeom prst="rect">
            <a:avLst/>
          </a:prstGeom>
          <a:noFill/>
        </p:spPr>
        <p:txBody>
          <a:bodyPr wrap="square" lIns="0" tIns="0" rIns="0" bIns="0" rtlCol="0">
            <a:spAutoFit/>
          </a:bodyPr>
          <a:lstStyle/>
          <a:p>
            <a:pPr lvl="0">
              <a:spcBef>
                <a:spcPts val="600"/>
              </a:spcBef>
              <a:buSzPct val="100000"/>
              <a:defRPr/>
            </a:pPr>
            <a:r>
              <a:rPr lang="en-US" sz="900">
                <a:solidFill>
                  <a:srgbClr val="313131"/>
                </a:solidFill>
                <a:hlinkClick r:id="rId6" action="ppaction://hlinksldjump"/>
              </a:rPr>
              <a:t>Scoring Matrix</a:t>
            </a:r>
            <a:endParaRPr lang="en-US" sz="900">
              <a:solidFill>
                <a:srgbClr val="313131"/>
              </a:solidFill>
            </a:endParaRPr>
          </a:p>
        </p:txBody>
      </p:sp>
      <p:sp>
        <p:nvSpPr>
          <p:cNvPr id="5" name="TextBox 4">
            <a:extLst>
              <a:ext uri="{FF2B5EF4-FFF2-40B4-BE49-F238E27FC236}">
                <a16:creationId xmlns:a16="http://schemas.microsoft.com/office/drawing/2014/main" id="{8A02608B-F6BD-14C2-F038-2A04B68142C9}"/>
              </a:ext>
            </a:extLst>
          </p:cNvPr>
          <p:cNvSpPr txBox="1"/>
          <p:nvPr/>
        </p:nvSpPr>
        <p:spPr>
          <a:xfrm>
            <a:off x="7398163" y="1898871"/>
            <a:ext cx="1756699"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Accenture Refinery Agents</a:t>
            </a:r>
          </a:p>
        </p:txBody>
      </p:sp>
      <p:sp>
        <p:nvSpPr>
          <p:cNvPr id="7" name="TextBox 6">
            <a:extLst>
              <a:ext uri="{FF2B5EF4-FFF2-40B4-BE49-F238E27FC236}">
                <a16:creationId xmlns:a16="http://schemas.microsoft.com/office/drawing/2014/main" id="{8CA3C9D6-5D5B-7CFA-E3B2-F6435F2D30E7}"/>
              </a:ext>
            </a:extLst>
          </p:cNvPr>
          <p:cNvSpPr txBox="1"/>
          <p:nvPr/>
        </p:nvSpPr>
        <p:spPr>
          <a:xfrm>
            <a:off x="3864742" y="5218744"/>
            <a:ext cx="1188720"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HighRadius</a:t>
            </a:r>
          </a:p>
        </p:txBody>
      </p:sp>
      <p:sp>
        <p:nvSpPr>
          <p:cNvPr id="10" name="TextBox 9">
            <a:extLst>
              <a:ext uri="{FF2B5EF4-FFF2-40B4-BE49-F238E27FC236}">
                <a16:creationId xmlns:a16="http://schemas.microsoft.com/office/drawing/2014/main" id="{B773F699-174A-A0D4-F555-A7760163F87C}"/>
              </a:ext>
            </a:extLst>
          </p:cNvPr>
          <p:cNvSpPr txBox="1"/>
          <p:nvPr/>
        </p:nvSpPr>
        <p:spPr>
          <a:xfrm>
            <a:off x="1557600" y="4545688"/>
            <a:ext cx="1188720"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9A44"/>
                </a:solidFill>
                <a:effectLst/>
                <a:uLnTx/>
                <a:uFillTx/>
                <a:latin typeface="Aptos"/>
                <a:ea typeface="+mn-ea"/>
                <a:cs typeface="+mn-cs"/>
              </a:rPr>
              <a:t>MS Copilot</a:t>
            </a:r>
          </a:p>
        </p:txBody>
      </p:sp>
      <p:sp>
        <p:nvSpPr>
          <p:cNvPr id="16" name="TextBox 15">
            <a:extLst>
              <a:ext uri="{FF2B5EF4-FFF2-40B4-BE49-F238E27FC236}">
                <a16:creationId xmlns:a16="http://schemas.microsoft.com/office/drawing/2014/main" id="{C45E0DE5-BCE7-8D46-089D-CB615B611BEE}"/>
              </a:ext>
            </a:extLst>
          </p:cNvPr>
          <p:cNvSpPr txBox="1"/>
          <p:nvPr/>
        </p:nvSpPr>
        <p:spPr>
          <a:xfrm>
            <a:off x="1547266" y="4351874"/>
            <a:ext cx="1536192"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0000"/>
                </a:solidFill>
                <a:effectLst/>
                <a:uLnTx/>
                <a:uFillTx/>
                <a:latin typeface="Aptos"/>
                <a:ea typeface="+mn-ea"/>
                <a:cs typeface="+mn-cs"/>
              </a:rPr>
              <a:t>MS Dynamics 365</a:t>
            </a:r>
          </a:p>
        </p:txBody>
      </p:sp>
      <p:sp>
        <p:nvSpPr>
          <p:cNvPr id="26" name="TextBox 25">
            <a:extLst>
              <a:ext uri="{FF2B5EF4-FFF2-40B4-BE49-F238E27FC236}">
                <a16:creationId xmlns:a16="http://schemas.microsoft.com/office/drawing/2014/main" id="{D2D9E23A-BEFB-AC17-778F-3C2A625DD96E}"/>
              </a:ext>
            </a:extLst>
          </p:cNvPr>
          <p:cNvSpPr txBox="1"/>
          <p:nvPr/>
        </p:nvSpPr>
        <p:spPr>
          <a:xfrm>
            <a:off x="7679621" y="4329829"/>
            <a:ext cx="1872691"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PWC Industry Agents</a:t>
            </a:r>
          </a:p>
        </p:txBody>
      </p:sp>
      <p:sp>
        <p:nvSpPr>
          <p:cNvPr id="29" name="TextBox 28">
            <a:extLst>
              <a:ext uri="{FF2B5EF4-FFF2-40B4-BE49-F238E27FC236}">
                <a16:creationId xmlns:a16="http://schemas.microsoft.com/office/drawing/2014/main" id="{CE3A566E-4B9A-33E5-CCC7-3FB779FCBEF1}"/>
              </a:ext>
            </a:extLst>
          </p:cNvPr>
          <p:cNvSpPr txBox="1"/>
          <p:nvPr/>
        </p:nvSpPr>
        <p:spPr>
          <a:xfrm>
            <a:off x="7876785" y="3549254"/>
            <a:ext cx="1367942"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EY Tax Agents</a:t>
            </a:r>
          </a:p>
        </p:txBody>
      </p:sp>
      <p:sp>
        <p:nvSpPr>
          <p:cNvPr id="36" name="TextBox 35">
            <a:extLst>
              <a:ext uri="{FF2B5EF4-FFF2-40B4-BE49-F238E27FC236}">
                <a16:creationId xmlns:a16="http://schemas.microsoft.com/office/drawing/2014/main" id="{B02B2E07-C465-EC92-FBF8-B26471DCD4DD}"/>
              </a:ext>
            </a:extLst>
          </p:cNvPr>
          <p:cNvSpPr txBox="1"/>
          <p:nvPr/>
        </p:nvSpPr>
        <p:spPr>
          <a:xfrm>
            <a:off x="7722022" y="2581409"/>
            <a:ext cx="1788566"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IBM </a:t>
            </a:r>
            <a:r>
              <a:rPr kumimoji="0" sz="1200" b="0" i="0" u="none" strike="noStrike" kern="1200" cap="none" spc="0" normalizeH="0" baseline="0" noProof="0" err="1">
                <a:ln>
                  <a:noFill/>
                </a:ln>
                <a:solidFill>
                  <a:srgbClr val="007CB0"/>
                </a:solidFill>
                <a:effectLst/>
                <a:uLnTx/>
                <a:uFillTx/>
                <a:latin typeface="Aptos"/>
                <a:ea typeface="+mn-ea"/>
                <a:cs typeface="+mn-cs"/>
              </a:rPr>
              <a:t>Watsonx</a:t>
            </a:r>
            <a:r>
              <a:rPr kumimoji="0" sz="1200" b="0" i="0" u="none" strike="noStrike" kern="1200" cap="none" spc="0" normalizeH="0" baseline="0" noProof="0">
                <a:ln>
                  <a:noFill/>
                </a:ln>
                <a:solidFill>
                  <a:srgbClr val="007CB0"/>
                </a:solidFill>
                <a:effectLst/>
                <a:uLnTx/>
                <a:uFillTx/>
                <a:latin typeface="Aptos"/>
                <a:ea typeface="+mn-ea"/>
                <a:cs typeface="+mn-cs"/>
              </a:rPr>
              <a:t> Agents</a:t>
            </a:r>
          </a:p>
        </p:txBody>
      </p:sp>
      <p:sp>
        <p:nvSpPr>
          <p:cNvPr id="40" name="TextBox 39">
            <a:extLst>
              <a:ext uri="{FF2B5EF4-FFF2-40B4-BE49-F238E27FC236}">
                <a16:creationId xmlns:a16="http://schemas.microsoft.com/office/drawing/2014/main" id="{870B071F-E429-961A-048D-04DB45296E5A}"/>
              </a:ext>
            </a:extLst>
          </p:cNvPr>
          <p:cNvSpPr txBox="1"/>
          <p:nvPr/>
        </p:nvSpPr>
        <p:spPr>
          <a:xfrm>
            <a:off x="1542071" y="5225996"/>
            <a:ext cx="1367942"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9A44"/>
                </a:solidFill>
                <a:effectLst/>
                <a:uLnTx/>
                <a:uFillTx/>
                <a:latin typeface="Aptos"/>
                <a:ea typeface="+mn-ea"/>
                <a:cs typeface="+mn-cs"/>
              </a:rPr>
              <a:t>Chat GPT Work</a:t>
            </a:r>
          </a:p>
        </p:txBody>
      </p:sp>
      <p:sp>
        <p:nvSpPr>
          <p:cNvPr id="42" name="TextBox 41">
            <a:extLst>
              <a:ext uri="{FF2B5EF4-FFF2-40B4-BE49-F238E27FC236}">
                <a16:creationId xmlns:a16="http://schemas.microsoft.com/office/drawing/2014/main" id="{03454A88-09AB-1666-D87F-5ED202BFFF46}"/>
              </a:ext>
            </a:extLst>
          </p:cNvPr>
          <p:cNvSpPr txBox="1"/>
          <p:nvPr/>
        </p:nvSpPr>
        <p:spPr>
          <a:xfrm>
            <a:off x="3520439" y="3609200"/>
            <a:ext cx="1620316" cy="18288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0000"/>
                </a:solidFill>
                <a:effectLst/>
                <a:uLnTx/>
                <a:uFillTx/>
                <a:latin typeface="Aptos"/>
                <a:ea typeface="+mn-ea"/>
                <a:cs typeface="+mn-cs"/>
              </a:rPr>
              <a:t>SAP Joule Agents</a:t>
            </a:r>
          </a:p>
        </p:txBody>
      </p:sp>
      <p:sp>
        <p:nvSpPr>
          <p:cNvPr id="44" name="Rectangle 43">
            <a:extLst>
              <a:ext uri="{FF2B5EF4-FFF2-40B4-BE49-F238E27FC236}">
                <a16:creationId xmlns:a16="http://schemas.microsoft.com/office/drawing/2014/main" id="{E45EBD6F-A6D1-45A7-7B83-23D33E61415F}"/>
              </a:ext>
            </a:extLst>
          </p:cNvPr>
          <p:cNvSpPr/>
          <p:nvPr/>
        </p:nvSpPr>
        <p:spPr bwMode="gray">
          <a:xfrm>
            <a:off x="1447013" y="3335107"/>
            <a:ext cx="3595286" cy="2155096"/>
          </a:xfrm>
          <a:prstGeom prst="rect">
            <a:avLst/>
          </a:prstGeom>
          <a:noFill/>
          <a:ln w="19050" algn="ctr">
            <a:solidFill>
              <a:schemeClr val="bg1">
                <a:lumMod val="65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46" name="TextBox 45">
            <a:extLst>
              <a:ext uri="{FF2B5EF4-FFF2-40B4-BE49-F238E27FC236}">
                <a16:creationId xmlns:a16="http://schemas.microsoft.com/office/drawing/2014/main" id="{BD325CCD-08D9-961E-7F7D-ADC4D78AFF35}"/>
              </a:ext>
            </a:extLst>
          </p:cNvPr>
          <p:cNvSpPr txBox="1"/>
          <p:nvPr/>
        </p:nvSpPr>
        <p:spPr>
          <a:xfrm>
            <a:off x="5115430" y="5148399"/>
            <a:ext cx="3507076" cy="32316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a:ln>
                  <a:noFill/>
                </a:ln>
                <a:solidFill>
                  <a:prstClr val="white">
                    <a:lumMod val="65000"/>
                  </a:prstClr>
                </a:solidFill>
                <a:effectLst/>
                <a:uLnTx/>
                <a:uFillTx/>
                <a:latin typeface="Aptos"/>
                <a:ea typeface="+mn-ea"/>
                <a:cs typeface="+mn-cs"/>
              </a:rPr>
              <a:t>Limited deployment flexibility and model choice offered by </a:t>
            </a:r>
            <a:r>
              <a:rPr kumimoji="0" lang="en-US" sz="1050" b="0" i="1" u="none" strike="noStrike" kern="1200" cap="none" spc="0" normalizeH="0" baseline="0" noProof="0" err="1">
                <a:ln>
                  <a:noFill/>
                </a:ln>
                <a:solidFill>
                  <a:prstClr val="white">
                    <a:lumMod val="65000"/>
                  </a:prstClr>
                </a:solidFill>
                <a:effectLst/>
                <a:uLnTx/>
                <a:uFillTx/>
                <a:latin typeface="Aptos"/>
                <a:ea typeface="+mn-ea"/>
                <a:cs typeface="+mn-cs"/>
              </a:rPr>
              <a:t>Hyperscalers</a:t>
            </a:r>
            <a:r>
              <a:rPr kumimoji="0" lang="en-US" sz="1050" b="0" i="1" u="none" strike="noStrike" kern="1200" cap="none" spc="0" normalizeH="0" baseline="0" noProof="0">
                <a:ln>
                  <a:noFill/>
                </a:ln>
                <a:solidFill>
                  <a:prstClr val="white">
                    <a:lumMod val="65000"/>
                  </a:prstClr>
                </a:solidFill>
                <a:effectLst/>
                <a:uLnTx/>
                <a:uFillTx/>
                <a:latin typeface="Aptos"/>
                <a:ea typeface="+mn-ea"/>
                <a:cs typeface="+mn-cs"/>
              </a:rPr>
              <a:t>, point solutions and ERP agents</a:t>
            </a:r>
            <a:endParaRPr kumimoji="0" lang="en-US" sz="1800" b="0" i="1" u="none" strike="noStrike" kern="1200" cap="none" spc="0" normalizeH="0" baseline="0" noProof="0">
              <a:ln>
                <a:noFill/>
              </a:ln>
              <a:solidFill>
                <a:prstClr val="white">
                  <a:lumMod val="65000"/>
                </a:prstClr>
              </a:solidFill>
              <a:effectLst/>
              <a:uLnTx/>
              <a:uFillTx/>
              <a:latin typeface="Aptos"/>
              <a:ea typeface="+mn-ea"/>
              <a:cs typeface="+mn-cs"/>
            </a:endParaRPr>
          </a:p>
        </p:txBody>
      </p:sp>
      <p:sp>
        <p:nvSpPr>
          <p:cNvPr id="48" name="Rectangle 47">
            <a:extLst>
              <a:ext uri="{FF2B5EF4-FFF2-40B4-BE49-F238E27FC236}">
                <a16:creationId xmlns:a16="http://schemas.microsoft.com/office/drawing/2014/main" id="{8A801FF6-97E1-46EB-467D-7A6443E7DB58}"/>
              </a:ext>
            </a:extLst>
          </p:cNvPr>
          <p:cNvSpPr/>
          <p:nvPr/>
        </p:nvSpPr>
        <p:spPr bwMode="gray">
          <a:xfrm>
            <a:off x="7149703" y="1786221"/>
            <a:ext cx="3288666" cy="2835448"/>
          </a:xfrm>
          <a:prstGeom prst="rect">
            <a:avLst/>
          </a:prstGeom>
          <a:noFill/>
          <a:ln w="19050" algn="ctr">
            <a:solidFill>
              <a:schemeClr val="bg1">
                <a:lumMod val="65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Aptos"/>
              <a:ea typeface="+mn-ea"/>
              <a:cs typeface="+mn-cs"/>
            </a:endParaRPr>
          </a:p>
        </p:txBody>
      </p:sp>
      <p:sp>
        <p:nvSpPr>
          <p:cNvPr id="50" name="TextBox 49">
            <a:extLst>
              <a:ext uri="{FF2B5EF4-FFF2-40B4-BE49-F238E27FC236}">
                <a16:creationId xmlns:a16="http://schemas.microsoft.com/office/drawing/2014/main" id="{E506C15C-E872-8A22-AD3F-E71EEBB9CA8E}"/>
              </a:ext>
            </a:extLst>
          </p:cNvPr>
          <p:cNvSpPr txBox="1"/>
          <p:nvPr/>
        </p:nvSpPr>
        <p:spPr>
          <a:xfrm>
            <a:off x="7115360" y="4694516"/>
            <a:ext cx="3561479"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a:ln>
                  <a:noFill/>
                </a:ln>
                <a:solidFill>
                  <a:prstClr val="white">
                    <a:lumMod val="50000"/>
                  </a:prstClr>
                </a:solidFill>
                <a:effectLst/>
                <a:uLnTx/>
                <a:uFillTx/>
                <a:latin typeface="Aptos"/>
                <a:ea typeface="+mn-ea"/>
                <a:cs typeface="+mn-cs"/>
              </a:rPr>
              <a:t>High deployment flexibility but varied model choice by PSFs</a:t>
            </a:r>
            <a:endParaRPr kumimoji="0" lang="en-US" sz="1800" b="0" i="1" u="none" strike="noStrike" kern="1200" cap="none" spc="0" normalizeH="0" baseline="0" noProof="0">
              <a:ln>
                <a:noFill/>
              </a:ln>
              <a:solidFill>
                <a:prstClr val="white">
                  <a:lumMod val="50000"/>
                </a:prstClr>
              </a:solidFill>
              <a:effectLst/>
              <a:uLnTx/>
              <a:uFillTx/>
              <a:latin typeface="Aptos"/>
              <a:ea typeface="+mn-ea"/>
              <a:cs typeface="+mn-cs"/>
            </a:endParaRPr>
          </a:p>
        </p:txBody>
      </p:sp>
      <p:sp>
        <p:nvSpPr>
          <p:cNvPr id="52" name="TextBox 51">
            <a:extLst>
              <a:ext uri="{FF2B5EF4-FFF2-40B4-BE49-F238E27FC236}">
                <a16:creationId xmlns:a16="http://schemas.microsoft.com/office/drawing/2014/main" id="{F863D8DF-CCB2-8A3D-6A71-7722A92DA5D1}"/>
              </a:ext>
            </a:extLst>
          </p:cNvPr>
          <p:cNvSpPr txBox="1"/>
          <p:nvPr/>
        </p:nvSpPr>
        <p:spPr>
          <a:xfrm>
            <a:off x="9403322" y="1898871"/>
            <a:ext cx="51629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7CB0"/>
                </a:solidFill>
                <a:effectLst/>
                <a:uLnTx/>
                <a:uFillTx/>
                <a:latin typeface="Aptos"/>
                <a:ea typeface="+mn-ea"/>
                <a:cs typeface="+mn-cs"/>
              </a:rPr>
              <a:t>Zora AI </a:t>
            </a:r>
          </a:p>
        </p:txBody>
      </p:sp>
      <p:sp>
        <p:nvSpPr>
          <p:cNvPr id="54" name="TextBox 53">
            <a:extLst>
              <a:ext uri="{FF2B5EF4-FFF2-40B4-BE49-F238E27FC236}">
                <a16:creationId xmlns:a16="http://schemas.microsoft.com/office/drawing/2014/main" id="{F0E08D4F-43DB-016B-37F2-561D1A20FCD5}"/>
              </a:ext>
            </a:extLst>
          </p:cNvPr>
          <p:cNvSpPr txBox="1"/>
          <p:nvPr/>
        </p:nvSpPr>
        <p:spPr>
          <a:xfrm>
            <a:off x="7720830" y="2793783"/>
            <a:ext cx="1540037"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7CB0"/>
                </a:solidFill>
                <a:effectLst/>
                <a:uLnTx/>
                <a:uFillTx/>
                <a:latin typeface="Aptos"/>
                <a:ea typeface="+mn-ea"/>
                <a:cs typeface="+mn-cs"/>
              </a:rPr>
              <a:t>I</a:t>
            </a:r>
            <a:r>
              <a:rPr kumimoji="0" lang="en-US" sz="1200" b="0" i="0" u="none" strike="noStrike" kern="1200" cap="none" spc="0" normalizeH="0" baseline="0" noProof="0">
                <a:ln>
                  <a:noFill/>
                </a:ln>
                <a:solidFill>
                  <a:srgbClr val="007CB0"/>
                </a:solidFill>
                <a:effectLst/>
                <a:uLnTx/>
                <a:uFillTx/>
                <a:latin typeface="Aptos"/>
                <a:ea typeface="+mn-ea"/>
                <a:cs typeface="+mn-cs"/>
              </a:rPr>
              <a:t>nfosys Industry </a:t>
            </a:r>
            <a:r>
              <a:rPr kumimoji="0" sz="1200" b="0" i="0" u="none" strike="noStrike" kern="1200" cap="none" spc="0" normalizeH="0" baseline="0" noProof="0">
                <a:ln>
                  <a:noFill/>
                </a:ln>
                <a:solidFill>
                  <a:srgbClr val="007CB0"/>
                </a:solidFill>
                <a:effectLst/>
                <a:uLnTx/>
                <a:uFillTx/>
                <a:latin typeface="Aptos"/>
                <a:ea typeface="+mn-ea"/>
                <a:cs typeface="+mn-cs"/>
              </a:rPr>
              <a:t>Agents</a:t>
            </a:r>
          </a:p>
        </p:txBody>
      </p:sp>
      <p:sp>
        <p:nvSpPr>
          <p:cNvPr id="56" name="TextBox 55">
            <a:extLst>
              <a:ext uri="{FF2B5EF4-FFF2-40B4-BE49-F238E27FC236}">
                <a16:creationId xmlns:a16="http://schemas.microsoft.com/office/drawing/2014/main" id="{2E9C1F72-39F0-7080-9CD7-CA459B0C3DE7}"/>
              </a:ext>
            </a:extLst>
          </p:cNvPr>
          <p:cNvSpPr txBox="1"/>
          <p:nvPr/>
        </p:nvSpPr>
        <p:spPr>
          <a:xfrm>
            <a:off x="1536502" y="5058521"/>
            <a:ext cx="1024576"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9A44"/>
                </a:solidFill>
                <a:effectLst/>
                <a:uLnTx/>
                <a:uFillTx/>
                <a:latin typeface="Aptos"/>
                <a:ea typeface="+mn-ea"/>
                <a:cs typeface="+mn-cs"/>
              </a:rPr>
              <a:t>Claude Cow</a:t>
            </a:r>
            <a:r>
              <a:rPr kumimoji="0" sz="1200" b="0" i="0" u="none" strike="noStrike" kern="1200" cap="none" spc="0" normalizeH="0" baseline="0" noProof="0">
                <a:ln>
                  <a:noFill/>
                </a:ln>
                <a:solidFill>
                  <a:srgbClr val="009A44"/>
                </a:solidFill>
                <a:effectLst/>
                <a:uLnTx/>
                <a:uFillTx/>
                <a:latin typeface="Aptos"/>
                <a:ea typeface="+mn-ea"/>
                <a:cs typeface="+mn-cs"/>
              </a:rPr>
              <a:t>ork</a:t>
            </a:r>
          </a:p>
        </p:txBody>
      </p:sp>
      <p:sp>
        <p:nvSpPr>
          <p:cNvPr id="60" name="TextBox 59">
            <a:extLst>
              <a:ext uri="{FF2B5EF4-FFF2-40B4-BE49-F238E27FC236}">
                <a16:creationId xmlns:a16="http://schemas.microsoft.com/office/drawing/2014/main" id="{90119412-E601-0CD4-6B4A-40D05CC927DE}"/>
              </a:ext>
            </a:extLst>
          </p:cNvPr>
          <p:cNvSpPr txBox="1"/>
          <p:nvPr/>
        </p:nvSpPr>
        <p:spPr>
          <a:xfrm>
            <a:off x="3476423" y="3835233"/>
            <a:ext cx="1284454"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ServiceNow Agents</a:t>
            </a:r>
            <a:endParaRPr kumimoji="0" sz="1200" b="0" i="0" u="none" strike="noStrike" kern="1200" cap="none" spc="0" normalizeH="0" baseline="0" noProof="0">
              <a:ln>
                <a:noFill/>
              </a:ln>
              <a:solidFill>
                <a:srgbClr val="000000"/>
              </a:solidFill>
              <a:effectLst/>
              <a:uLnTx/>
              <a:uFillTx/>
              <a:latin typeface="Aptos"/>
              <a:ea typeface="+mn-ea"/>
              <a:cs typeface="+mn-cs"/>
            </a:endParaRPr>
          </a:p>
        </p:txBody>
      </p:sp>
      <p:sp>
        <p:nvSpPr>
          <p:cNvPr id="62" name="TextBox 61">
            <a:extLst>
              <a:ext uri="{FF2B5EF4-FFF2-40B4-BE49-F238E27FC236}">
                <a16:creationId xmlns:a16="http://schemas.microsoft.com/office/drawing/2014/main" id="{1EB875EB-6FE6-B711-A847-D998A7F7CE10}"/>
              </a:ext>
            </a:extLst>
          </p:cNvPr>
          <p:cNvSpPr txBox="1"/>
          <p:nvPr/>
        </p:nvSpPr>
        <p:spPr>
          <a:xfrm>
            <a:off x="1483742" y="2664692"/>
            <a:ext cx="1463670"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Salesforce Agentforce</a:t>
            </a:r>
            <a:endParaRPr kumimoji="0" sz="1200" b="0" i="0" u="none" strike="noStrike" kern="1200" cap="none" spc="0" normalizeH="0" baseline="0" noProof="0">
              <a:ln>
                <a:noFill/>
              </a:ln>
              <a:solidFill>
                <a:srgbClr val="000000"/>
              </a:solidFill>
              <a:effectLst/>
              <a:uLnTx/>
              <a:uFillTx/>
              <a:latin typeface="Aptos"/>
              <a:ea typeface="+mn-ea"/>
              <a:cs typeface="+mn-cs"/>
            </a:endParaRPr>
          </a:p>
        </p:txBody>
      </p:sp>
      <p:sp>
        <p:nvSpPr>
          <p:cNvPr id="6" name="TextBox 5">
            <a:extLst>
              <a:ext uri="{FF2B5EF4-FFF2-40B4-BE49-F238E27FC236}">
                <a16:creationId xmlns:a16="http://schemas.microsoft.com/office/drawing/2014/main" id="{1250803A-8AB2-6301-B328-5B72D65FC3B7}"/>
              </a:ext>
            </a:extLst>
          </p:cNvPr>
          <p:cNvSpPr txBox="1"/>
          <p:nvPr/>
        </p:nvSpPr>
        <p:spPr>
          <a:xfrm>
            <a:off x="1536502" y="4169947"/>
            <a:ext cx="1070806"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Workday Agents</a:t>
            </a:r>
            <a:endParaRPr kumimoji="0" sz="1200" b="0" i="0" u="none" strike="noStrike" kern="1200" cap="none" spc="0" normalizeH="0" baseline="0" noProof="0">
              <a:ln>
                <a:noFill/>
              </a:ln>
              <a:solidFill>
                <a:srgbClr val="000000"/>
              </a:solidFill>
              <a:effectLst/>
              <a:uLnTx/>
              <a:uFillTx/>
              <a:latin typeface="Aptos"/>
              <a:ea typeface="+mn-ea"/>
              <a:cs typeface="+mn-cs"/>
            </a:endParaRPr>
          </a:p>
        </p:txBody>
      </p:sp>
      <p:sp>
        <p:nvSpPr>
          <p:cNvPr id="12" name="TextBox 11">
            <a:extLst>
              <a:ext uri="{FF2B5EF4-FFF2-40B4-BE49-F238E27FC236}">
                <a16:creationId xmlns:a16="http://schemas.microsoft.com/office/drawing/2014/main" id="{BAFAAD7E-64B9-D041-3A90-0D67924C33DA}"/>
              </a:ext>
            </a:extLst>
          </p:cNvPr>
          <p:cNvSpPr txBox="1"/>
          <p:nvPr/>
        </p:nvSpPr>
        <p:spPr>
          <a:xfrm>
            <a:off x="1536502" y="4892305"/>
            <a:ext cx="1196674"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09A44"/>
                </a:solidFill>
                <a:latin typeface="Aptos"/>
              </a:rPr>
              <a:t>Gemini Enterprise</a:t>
            </a:r>
            <a:endParaRPr kumimoji="0" sz="1200" b="0" i="0" u="none" strike="noStrike" kern="1200" cap="none" spc="0" normalizeH="0" baseline="0" noProof="0">
              <a:ln>
                <a:noFill/>
              </a:ln>
              <a:solidFill>
                <a:srgbClr val="009A44"/>
              </a:solidFill>
              <a:effectLst/>
              <a:uLnTx/>
              <a:uFillTx/>
              <a:latin typeface="Aptos"/>
              <a:ea typeface="+mn-ea"/>
              <a:cs typeface="+mn-cs"/>
            </a:endParaRPr>
          </a:p>
        </p:txBody>
      </p:sp>
      <p:sp>
        <p:nvSpPr>
          <p:cNvPr id="27" name="TextBox 26">
            <a:extLst>
              <a:ext uri="{FF2B5EF4-FFF2-40B4-BE49-F238E27FC236}">
                <a16:creationId xmlns:a16="http://schemas.microsoft.com/office/drawing/2014/main" id="{EE88CC30-FEFE-071C-E965-F6186CA090AC}"/>
              </a:ext>
            </a:extLst>
          </p:cNvPr>
          <p:cNvSpPr txBox="1"/>
          <p:nvPr/>
        </p:nvSpPr>
        <p:spPr>
          <a:xfrm>
            <a:off x="1532252" y="4000363"/>
            <a:ext cx="1635576"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Amazon Connect </a:t>
            </a:r>
            <a:r>
              <a:rPr kumimoji="0" sz="1200" b="0" i="0" u="none" strike="noStrike" kern="1200" cap="none" spc="0" normalizeH="0" baseline="0" noProof="0">
                <a:ln>
                  <a:noFill/>
                </a:ln>
                <a:solidFill>
                  <a:srgbClr val="000000"/>
                </a:solidFill>
                <a:effectLst/>
                <a:uLnTx/>
                <a:uFillTx/>
                <a:latin typeface="Aptos"/>
                <a:ea typeface="+mn-ea"/>
                <a:cs typeface="+mn-cs"/>
              </a:rPr>
              <a:t>Agents</a:t>
            </a:r>
          </a:p>
        </p:txBody>
      </p:sp>
      <p:sp>
        <p:nvSpPr>
          <p:cNvPr id="39" name="TextBox 38">
            <a:extLst>
              <a:ext uri="{FF2B5EF4-FFF2-40B4-BE49-F238E27FC236}">
                <a16:creationId xmlns:a16="http://schemas.microsoft.com/office/drawing/2014/main" id="{BD634495-D015-1C5C-7AC1-2760EEAF438D}"/>
              </a:ext>
            </a:extLst>
          </p:cNvPr>
          <p:cNvSpPr txBox="1"/>
          <p:nvPr/>
        </p:nvSpPr>
        <p:spPr>
          <a:xfrm>
            <a:off x="3864353" y="5043468"/>
            <a:ext cx="791370"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One Stream</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43" name="TextBox 42">
            <a:extLst>
              <a:ext uri="{FF2B5EF4-FFF2-40B4-BE49-F238E27FC236}">
                <a16:creationId xmlns:a16="http://schemas.microsoft.com/office/drawing/2014/main" id="{324C0D02-160E-CEF0-3507-5A6DB7F32733}"/>
              </a:ext>
            </a:extLst>
          </p:cNvPr>
          <p:cNvSpPr txBox="1"/>
          <p:nvPr/>
        </p:nvSpPr>
        <p:spPr>
          <a:xfrm>
            <a:off x="3873524" y="4869978"/>
            <a:ext cx="67910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Abacum</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47" name="TextBox 46">
            <a:extLst>
              <a:ext uri="{FF2B5EF4-FFF2-40B4-BE49-F238E27FC236}">
                <a16:creationId xmlns:a16="http://schemas.microsoft.com/office/drawing/2014/main" id="{B9752A6F-55E1-5D84-B26B-61505F101F88}"/>
              </a:ext>
            </a:extLst>
          </p:cNvPr>
          <p:cNvSpPr txBox="1"/>
          <p:nvPr/>
        </p:nvSpPr>
        <p:spPr>
          <a:xfrm>
            <a:off x="3104805" y="5228874"/>
            <a:ext cx="862637"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srgbClr val="007CB0"/>
                </a:solidFill>
                <a:effectLst/>
                <a:uLnTx/>
                <a:uFillTx/>
                <a:latin typeface="Aptos"/>
                <a:ea typeface="+mn-ea"/>
                <a:cs typeface="+mn-cs"/>
              </a:rPr>
              <a:t>DataRails</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51" name="TextBox 50">
            <a:extLst>
              <a:ext uri="{FF2B5EF4-FFF2-40B4-BE49-F238E27FC236}">
                <a16:creationId xmlns:a16="http://schemas.microsoft.com/office/drawing/2014/main" id="{A641326E-0CCB-5157-C9F9-EAF60FF2A212}"/>
              </a:ext>
            </a:extLst>
          </p:cNvPr>
          <p:cNvSpPr txBox="1"/>
          <p:nvPr/>
        </p:nvSpPr>
        <p:spPr>
          <a:xfrm>
            <a:off x="3111530" y="5038763"/>
            <a:ext cx="44563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Coupa</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
        <p:nvSpPr>
          <p:cNvPr id="55" name="TextBox 54">
            <a:extLst>
              <a:ext uri="{FF2B5EF4-FFF2-40B4-BE49-F238E27FC236}">
                <a16:creationId xmlns:a16="http://schemas.microsoft.com/office/drawing/2014/main" id="{8D4653FD-BE66-56C1-297E-ABC9EBB9F17C}"/>
              </a:ext>
            </a:extLst>
          </p:cNvPr>
          <p:cNvSpPr txBox="1"/>
          <p:nvPr/>
        </p:nvSpPr>
        <p:spPr>
          <a:xfrm>
            <a:off x="3115731" y="4854097"/>
            <a:ext cx="461665"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B0"/>
                </a:solidFill>
                <a:effectLst/>
                <a:uLnTx/>
                <a:uFillTx/>
                <a:latin typeface="Aptos"/>
                <a:ea typeface="+mn-ea"/>
                <a:cs typeface="+mn-cs"/>
              </a:rPr>
              <a:t>Salient</a:t>
            </a:r>
            <a:endParaRPr kumimoji="0" sz="1200" b="0" i="0" u="none" strike="noStrike" kern="1200" cap="none" spc="0" normalizeH="0" baseline="0" noProof="0">
              <a:ln>
                <a:noFill/>
              </a:ln>
              <a:solidFill>
                <a:srgbClr val="007CB0"/>
              </a:solidFill>
              <a:effectLst/>
              <a:uLnTx/>
              <a:uFillTx/>
              <a:latin typeface="Aptos"/>
              <a:ea typeface="+mn-ea"/>
              <a:cs typeface="+mn-cs"/>
            </a:endParaRPr>
          </a:p>
        </p:txBody>
      </p:sp>
    </p:spTree>
    <p:extLst>
      <p:ext uri="{BB962C8B-B14F-4D97-AF65-F5344CB8AC3E}">
        <p14:creationId xmlns:p14="http://schemas.microsoft.com/office/powerpoint/2010/main" val="860188680"/>
      </p:ext>
    </p:extLst>
  </p:cSld>
  <p:clrMapOvr>
    <a:masterClrMapping/>
  </p:clrMapOvr>
  <p:transition>
    <p:fade/>
  </p:transition>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0CBD2FE-5EF6-8047-2A9B-47B1E490544D}"/>
              </a:ext>
            </a:extLst>
          </p:cNvPr>
          <p:cNvGraphicFramePr>
            <a:graphicFrameLocks/>
          </p:cNvGraphicFramePr>
          <p:nvPr>
            <p:custDataLst>
              <p:tags r:id="rId1"/>
            </p:custDataLst>
            <p:extLst>
              <p:ext uri="{D42A27DB-BD31-4B8C-83A1-F6EECF244321}">
                <p14:modId xmlns:p14="http://schemas.microsoft.com/office/powerpoint/2010/main" val="1103931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40CBD2FE-5EF6-8047-2A9B-47B1E490544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CE428CD-89A7-62E0-EEF5-6F59A78CFC05}"/>
              </a:ext>
            </a:extLst>
          </p:cNvPr>
          <p:cNvSpPr>
            <a:spLocks noGrp="1"/>
          </p:cNvSpPr>
          <p:nvPr>
            <p:ph type="title"/>
          </p:nvPr>
        </p:nvSpPr>
        <p:spPr/>
        <p:txBody>
          <a:bodyPr vert="horz" rIns="0"/>
          <a:lstStyle/>
          <a:p>
            <a:r>
              <a:rPr lang="en-US"/>
              <a:t>Finance domain: Competitive proximity to Zora</a:t>
            </a:r>
          </a:p>
        </p:txBody>
      </p:sp>
      <p:sp>
        <p:nvSpPr>
          <p:cNvPr id="5" name="TextBox 4">
            <a:extLst>
              <a:ext uri="{FF2B5EF4-FFF2-40B4-BE49-F238E27FC236}">
                <a16:creationId xmlns:a16="http://schemas.microsoft.com/office/drawing/2014/main" id="{513D678C-ECCE-7EE0-3472-507EF9B9933D}"/>
              </a:ext>
            </a:extLst>
          </p:cNvPr>
          <p:cNvSpPr txBox="1"/>
          <p:nvPr/>
        </p:nvSpPr>
        <p:spPr>
          <a:xfrm>
            <a:off x="382772" y="687992"/>
            <a:ext cx="1054430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HighRadius and SAP are Zora’s closest finance-wide competitors; specialists become more relevant within individual workflows</a:t>
            </a:r>
            <a:endParaRPr kumimoji="0" sz="1400" b="1" i="1" u="sng" strike="noStrike" kern="1200" cap="none" spc="0" normalizeH="0" baseline="0" noProof="0">
              <a:ln>
                <a:noFill/>
              </a:ln>
              <a:solidFill>
                <a:prstClr val="black"/>
              </a:solidFill>
              <a:effectLst/>
              <a:uLnTx/>
              <a:uFillTx/>
              <a:latin typeface="Aptos"/>
              <a:ea typeface="+mn-ea"/>
              <a:cs typeface="+mn-cs"/>
            </a:endParaRPr>
          </a:p>
        </p:txBody>
      </p:sp>
      <p:sp>
        <p:nvSpPr>
          <p:cNvPr id="6" name="Rectangle 5">
            <a:extLst>
              <a:ext uri="{FF2B5EF4-FFF2-40B4-BE49-F238E27FC236}">
                <a16:creationId xmlns:a16="http://schemas.microsoft.com/office/drawing/2014/main" id="{28CFB999-23AF-085E-5AF2-3B75E4547325}"/>
              </a:ext>
            </a:extLst>
          </p:cNvPr>
          <p:cNvSpPr/>
          <p:nvPr/>
        </p:nvSpPr>
        <p:spPr bwMode="gray">
          <a:xfrm>
            <a:off x="457200" y="1417320"/>
            <a:ext cx="8174736" cy="5020056"/>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8" name="Rectangle 7">
            <a:extLst>
              <a:ext uri="{FF2B5EF4-FFF2-40B4-BE49-F238E27FC236}">
                <a16:creationId xmlns:a16="http://schemas.microsoft.com/office/drawing/2014/main" id="{82530565-1142-0887-C28C-AA79CF978DB8}"/>
              </a:ext>
            </a:extLst>
          </p:cNvPr>
          <p:cNvSpPr/>
          <p:nvPr/>
        </p:nvSpPr>
        <p:spPr bwMode="gray">
          <a:xfrm>
            <a:off x="466344" y="2862072"/>
            <a:ext cx="8165592" cy="3575304"/>
          </a:xfrm>
          <a:prstGeom prst="rect">
            <a:avLst/>
          </a:prstGeom>
          <a:solidFill>
            <a:schemeClr val="accent6">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0" name="Rectangle 9">
            <a:extLst>
              <a:ext uri="{FF2B5EF4-FFF2-40B4-BE49-F238E27FC236}">
                <a16:creationId xmlns:a16="http://schemas.microsoft.com/office/drawing/2014/main" id="{47BACB26-F633-E142-B1D6-67CBFB8C0E64}"/>
              </a:ext>
            </a:extLst>
          </p:cNvPr>
          <p:cNvSpPr/>
          <p:nvPr/>
        </p:nvSpPr>
        <p:spPr bwMode="gray">
          <a:xfrm>
            <a:off x="466344" y="4251960"/>
            <a:ext cx="6062472" cy="2185416"/>
          </a:xfrm>
          <a:prstGeom prst="rect">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3" name="TextBox 12">
            <a:extLst>
              <a:ext uri="{FF2B5EF4-FFF2-40B4-BE49-F238E27FC236}">
                <a16:creationId xmlns:a16="http://schemas.microsoft.com/office/drawing/2014/main" id="{06DAD04C-C3B2-AF26-F1AE-314F7DF4E27C}"/>
              </a:ext>
            </a:extLst>
          </p:cNvPr>
          <p:cNvSpPr txBox="1"/>
          <p:nvPr/>
        </p:nvSpPr>
        <p:spPr>
          <a:xfrm>
            <a:off x="731520" y="4401533"/>
            <a:ext cx="3410712" cy="215444"/>
          </a:xfrm>
          <a:prstGeom prst="rect">
            <a:avLst/>
          </a:prstGeom>
          <a:noFill/>
        </p:spPr>
        <p:txBody>
          <a:bodyPr wrap="square" lIns="0" tIns="0" rIns="0" bIns="0" rtlCol="0">
            <a:spAutoFit/>
          </a:bodyPr>
          <a:lstStyle/>
          <a:p>
            <a:pPr>
              <a:spcBef>
                <a:spcPts val="600"/>
              </a:spcBef>
              <a:buSzPct val="100000"/>
            </a:pPr>
            <a:r>
              <a:rPr lang="en-US" sz="1400" b="1" u="sng">
                <a:solidFill>
                  <a:schemeClr val="bg1"/>
                </a:solidFill>
              </a:rPr>
              <a:t>Finance Wide Competitors</a:t>
            </a:r>
          </a:p>
        </p:txBody>
      </p:sp>
      <p:sp>
        <p:nvSpPr>
          <p:cNvPr id="15" name="Rectangle 14">
            <a:extLst>
              <a:ext uri="{FF2B5EF4-FFF2-40B4-BE49-F238E27FC236}">
                <a16:creationId xmlns:a16="http://schemas.microsoft.com/office/drawing/2014/main" id="{AF418BB7-4EF1-2492-13A7-7D98639D7662}"/>
              </a:ext>
            </a:extLst>
          </p:cNvPr>
          <p:cNvSpPr/>
          <p:nvPr/>
        </p:nvSpPr>
        <p:spPr bwMode="gray">
          <a:xfrm>
            <a:off x="475488" y="5888736"/>
            <a:ext cx="3986784" cy="548640"/>
          </a:xfrm>
          <a:prstGeom prst="rect">
            <a:avLst/>
          </a:prstGeom>
          <a:solidFill>
            <a:schemeClr val="accent1">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 name="TextBox 10">
            <a:extLst>
              <a:ext uri="{FF2B5EF4-FFF2-40B4-BE49-F238E27FC236}">
                <a16:creationId xmlns:a16="http://schemas.microsoft.com/office/drawing/2014/main" id="{4744ABA8-995F-A7B8-92E3-8DACB2A07D15}"/>
              </a:ext>
            </a:extLst>
          </p:cNvPr>
          <p:cNvSpPr txBox="1"/>
          <p:nvPr/>
        </p:nvSpPr>
        <p:spPr>
          <a:xfrm>
            <a:off x="749808" y="6039612"/>
            <a:ext cx="3410712" cy="215444"/>
          </a:xfrm>
          <a:prstGeom prst="rect">
            <a:avLst/>
          </a:prstGeom>
          <a:noFill/>
        </p:spPr>
        <p:txBody>
          <a:bodyPr wrap="square" lIns="0" tIns="0" rIns="0" bIns="0" rtlCol="0">
            <a:spAutoFit/>
          </a:bodyPr>
          <a:lstStyle/>
          <a:p>
            <a:pPr>
              <a:spcBef>
                <a:spcPts val="600"/>
              </a:spcBef>
              <a:buSzPct val="100000"/>
            </a:pPr>
            <a:r>
              <a:rPr lang="en-US" sz="1400" u="sng">
                <a:solidFill>
                  <a:schemeClr val="bg1"/>
                </a:solidFill>
              </a:rPr>
              <a:t>Zora CI – Broad advise + perform proposition</a:t>
            </a:r>
          </a:p>
        </p:txBody>
      </p:sp>
      <p:sp>
        <p:nvSpPr>
          <p:cNvPr id="16" name="TextBox 15">
            <a:extLst>
              <a:ext uri="{FF2B5EF4-FFF2-40B4-BE49-F238E27FC236}">
                <a16:creationId xmlns:a16="http://schemas.microsoft.com/office/drawing/2014/main" id="{B944B82B-7E87-5AFC-5A8E-878263F1FBB8}"/>
              </a:ext>
            </a:extLst>
          </p:cNvPr>
          <p:cNvSpPr txBox="1"/>
          <p:nvPr/>
        </p:nvSpPr>
        <p:spPr>
          <a:xfrm>
            <a:off x="731520" y="4772888"/>
            <a:ext cx="4233672" cy="923330"/>
          </a:xfrm>
          <a:prstGeom prst="rect">
            <a:avLst/>
          </a:prstGeom>
          <a:noFill/>
        </p:spPr>
        <p:txBody>
          <a:bodyPr wrap="square" lIns="0" tIns="0" rIns="0" bIns="0" rtlCol="0">
            <a:spAutoFit/>
          </a:bodyPr>
          <a:lstStyle/>
          <a:p>
            <a:pPr>
              <a:spcBef>
                <a:spcPts val="600"/>
              </a:spcBef>
              <a:buSzPct val="100000"/>
            </a:pPr>
            <a:r>
              <a:rPr lang="en-US" sz="1100" b="1">
                <a:solidFill>
                  <a:schemeClr val="bg1"/>
                </a:solidFill>
              </a:rPr>
              <a:t>HighRadius | SAP Joule</a:t>
            </a:r>
          </a:p>
          <a:p>
            <a:pPr>
              <a:spcBef>
                <a:spcPts val="600"/>
              </a:spcBef>
              <a:buSzPct val="100000"/>
            </a:pPr>
            <a:r>
              <a:rPr lang="en-US" sz="1100">
                <a:solidFill>
                  <a:schemeClr val="bg1"/>
                </a:solidFill>
              </a:rPr>
              <a:t>Deep operational finance overlap</a:t>
            </a:r>
          </a:p>
          <a:p>
            <a:pPr marL="171450" indent="-171450">
              <a:buSzPct val="100000"/>
              <a:buFont typeface="Arial" panose="020B0604020202020204" pitchFamily="34" charset="0"/>
              <a:buChar char="•"/>
            </a:pPr>
            <a:r>
              <a:rPr lang="en-US" sz="1100" i="1">
                <a:solidFill>
                  <a:schemeClr val="bg1"/>
                </a:solidFill>
              </a:rPr>
              <a:t>Broad coverage across R2R, AR, AP, treasury etc.</a:t>
            </a:r>
          </a:p>
          <a:p>
            <a:pPr marL="171450" indent="-171450">
              <a:buSzPct val="100000"/>
              <a:buFont typeface="Arial" panose="020B0604020202020204" pitchFamily="34" charset="0"/>
              <a:buChar char="•"/>
            </a:pPr>
            <a:r>
              <a:rPr lang="en-US" sz="1100" i="1">
                <a:solidFill>
                  <a:schemeClr val="bg1"/>
                </a:solidFill>
              </a:rPr>
              <a:t>Granular Execute agents by HighRadius</a:t>
            </a:r>
          </a:p>
          <a:p>
            <a:pPr marL="171450" indent="-171450">
              <a:buSzPct val="100000"/>
              <a:buFont typeface="Arial" panose="020B0604020202020204" pitchFamily="34" charset="0"/>
              <a:buChar char="•"/>
            </a:pPr>
            <a:r>
              <a:rPr lang="en-US" sz="1100" i="1">
                <a:solidFill>
                  <a:schemeClr val="bg1"/>
                </a:solidFill>
              </a:rPr>
              <a:t>Strong native execution of SAP Joule in SAP finance applications</a:t>
            </a:r>
          </a:p>
        </p:txBody>
      </p:sp>
      <p:sp>
        <p:nvSpPr>
          <p:cNvPr id="19" name="TextBox 18">
            <a:extLst>
              <a:ext uri="{FF2B5EF4-FFF2-40B4-BE49-F238E27FC236}">
                <a16:creationId xmlns:a16="http://schemas.microsoft.com/office/drawing/2014/main" id="{872B95CF-E5A6-5704-A78C-B6618905C1BC}"/>
              </a:ext>
            </a:extLst>
          </p:cNvPr>
          <p:cNvSpPr txBox="1"/>
          <p:nvPr/>
        </p:nvSpPr>
        <p:spPr>
          <a:xfrm>
            <a:off x="5062089" y="4811360"/>
            <a:ext cx="1185674" cy="846386"/>
          </a:xfrm>
          <a:prstGeom prst="rect">
            <a:avLst/>
          </a:prstGeom>
          <a:noFill/>
        </p:spPr>
        <p:txBody>
          <a:bodyPr wrap="square" lIns="0" tIns="0" rIns="0" bIns="0" rtlCol="0">
            <a:spAutoFit/>
          </a:bodyPr>
          <a:lstStyle/>
          <a:p>
            <a:pPr>
              <a:spcBef>
                <a:spcPts val="600"/>
              </a:spcBef>
              <a:buSzPct val="100000"/>
            </a:pPr>
            <a:r>
              <a:rPr lang="en-US" sz="1100" i="1">
                <a:solidFill>
                  <a:schemeClr val="bg1"/>
                </a:solidFill>
              </a:rPr>
              <a:t>Overlap with Zora in several finance workflows, provide strong execute agents</a:t>
            </a:r>
          </a:p>
        </p:txBody>
      </p:sp>
      <p:sp>
        <p:nvSpPr>
          <p:cNvPr id="21" name="TextBox 20">
            <a:extLst>
              <a:ext uri="{FF2B5EF4-FFF2-40B4-BE49-F238E27FC236}">
                <a16:creationId xmlns:a16="http://schemas.microsoft.com/office/drawing/2014/main" id="{496E5829-B5B2-3EAA-6B55-BEEC4B69244A}"/>
              </a:ext>
            </a:extLst>
          </p:cNvPr>
          <p:cNvSpPr txBox="1"/>
          <p:nvPr/>
        </p:nvSpPr>
        <p:spPr>
          <a:xfrm>
            <a:off x="728472" y="3013912"/>
            <a:ext cx="3410712" cy="215444"/>
          </a:xfrm>
          <a:prstGeom prst="rect">
            <a:avLst/>
          </a:prstGeom>
          <a:noFill/>
        </p:spPr>
        <p:txBody>
          <a:bodyPr wrap="square" lIns="0" tIns="0" rIns="0" bIns="0" rtlCol="0">
            <a:spAutoFit/>
          </a:bodyPr>
          <a:lstStyle/>
          <a:p>
            <a:pPr>
              <a:spcBef>
                <a:spcPts val="600"/>
              </a:spcBef>
              <a:buSzPct val="100000"/>
            </a:pPr>
            <a:r>
              <a:rPr lang="en-US" sz="1400" b="1" u="sng"/>
              <a:t>Workflow Specific Competitors</a:t>
            </a:r>
          </a:p>
        </p:txBody>
      </p:sp>
      <p:sp>
        <p:nvSpPr>
          <p:cNvPr id="23" name="TextBox 22">
            <a:extLst>
              <a:ext uri="{FF2B5EF4-FFF2-40B4-BE49-F238E27FC236}">
                <a16:creationId xmlns:a16="http://schemas.microsoft.com/office/drawing/2014/main" id="{43208CC2-0BF0-E05F-A3B7-CC157F3A4C96}"/>
              </a:ext>
            </a:extLst>
          </p:cNvPr>
          <p:cNvSpPr txBox="1"/>
          <p:nvPr/>
        </p:nvSpPr>
        <p:spPr>
          <a:xfrm>
            <a:off x="728472" y="3400248"/>
            <a:ext cx="2389632" cy="584775"/>
          </a:xfrm>
          <a:prstGeom prst="rect">
            <a:avLst/>
          </a:prstGeom>
          <a:noFill/>
        </p:spPr>
        <p:txBody>
          <a:bodyPr wrap="square" lIns="0" tIns="0" rIns="0" bIns="0" rtlCol="0">
            <a:spAutoFit/>
          </a:bodyPr>
          <a:lstStyle/>
          <a:p>
            <a:pPr>
              <a:spcBef>
                <a:spcPts val="600"/>
              </a:spcBef>
              <a:buSzPct val="100000"/>
            </a:pPr>
            <a:r>
              <a:rPr lang="en-US" sz="1100" b="1"/>
              <a:t>Datarails | OneStream | Abacum</a:t>
            </a:r>
          </a:p>
          <a:p>
            <a:pPr marL="171450" indent="-171450">
              <a:spcBef>
                <a:spcPts val="600"/>
              </a:spcBef>
              <a:buSzPct val="100000"/>
              <a:buFont typeface="Arial" panose="020B0604020202020204" pitchFamily="34" charset="0"/>
              <a:buChar char="•"/>
            </a:pPr>
            <a:r>
              <a:rPr lang="en-US" sz="1100" i="1"/>
              <a:t>FP&amp;A, performance analysis &amp; reporting agents</a:t>
            </a:r>
          </a:p>
        </p:txBody>
      </p:sp>
      <p:sp>
        <p:nvSpPr>
          <p:cNvPr id="27" name="TextBox 26">
            <a:extLst>
              <a:ext uri="{FF2B5EF4-FFF2-40B4-BE49-F238E27FC236}">
                <a16:creationId xmlns:a16="http://schemas.microsoft.com/office/drawing/2014/main" id="{6B209EF1-14AB-8FC9-1BC9-33B08477C4B7}"/>
              </a:ext>
            </a:extLst>
          </p:cNvPr>
          <p:cNvSpPr txBox="1"/>
          <p:nvPr/>
        </p:nvSpPr>
        <p:spPr>
          <a:xfrm>
            <a:off x="3267456" y="3400248"/>
            <a:ext cx="2389632" cy="584775"/>
          </a:xfrm>
          <a:prstGeom prst="rect">
            <a:avLst/>
          </a:prstGeom>
          <a:noFill/>
        </p:spPr>
        <p:txBody>
          <a:bodyPr wrap="square" lIns="0" tIns="0" rIns="0" bIns="0" rtlCol="0">
            <a:spAutoFit/>
          </a:bodyPr>
          <a:lstStyle/>
          <a:p>
            <a:pPr>
              <a:spcBef>
                <a:spcPts val="600"/>
              </a:spcBef>
              <a:buSzPct val="100000"/>
            </a:pPr>
            <a:r>
              <a:rPr lang="en-US" sz="1100" b="1"/>
              <a:t>Coupa</a:t>
            </a:r>
          </a:p>
          <a:p>
            <a:pPr marL="171450" indent="-171450">
              <a:spcBef>
                <a:spcPts val="600"/>
              </a:spcBef>
              <a:buSzPct val="100000"/>
              <a:buFont typeface="Arial" panose="020B0604020202020204" pitchFamily="34" charset="0"/>
              <a:buChar char="•"/>
            </a:pPr>
            <a:r>
              <a:rPr lang="en-US" sz="1100" i="1"/>
              <a:t>Payment Analysis, discount, fraud, expense and supplier agents</a:t>
            </a:r>
          </a:p>
        </p:txBody>
      </p:sp>
      <p:sp>
        <p:nvSpPr>
          <p:cNvPr id="29" name="TextBox 28">
            <a:extLst>
              <a:ext uri="{FF2B5EF4-FFF2-40B4-BE49-F238E27FC236}">
                <a16:creationId xmlns:a16="http://schemas.microsoft.com/office/drawing/2014/main" id="{05338BFF-DAB5-1196-5A63-EA49DBADB9A9}"/>
              </a:ext>
            </a:extLst>
          </p:cNvPr>
          <p:cNvSpPr txBox="1"/>
          <p:nvPr/>
        </p:nvSpPr>
        <p:spPr>
          <a:xfrm>
            <a:off x="6068568" y="3400247"/>
            <a:ext cx="2316480" cy="754053"/>
          </a:xfrm>
          <a:prstGeom prst="rect">
            <a:avLst/>
          </a:prstGeom>
          <a:noFill/>
        </p:spPr>
        <p:txBody>
          <a:bodyPr wrap="square" lIns="0" tIns="0" rIns="0" bIns="0" rtlCol="0">
            <a:spAutoFit/>
          </a:bodyPr>
          <a:lstStyle/>
          <a:p>
            <a:pPr>
              <a:spcBef>
                <a:spcPts val="600"/>
              </a:spcBef>
              <a:buSzPct val="100000"/>
            </a:pPr>
            <a:r>
              <a:rPr lang="en-US" sz="1100" b="1"/>
              <a:t>Workday | Dynamics 365</a:t>
            </a:r>
          </a:p>
          <a:p>
            <a:pPr marL="171450" indent="-171450">
              <a:spcBef>
                <a:spcPts val="600"/>
              </a:spcBef>
              <a:buSzPct val="100000"/>
              <a:buFont typeface="Arial" panose="020B0604020202020204" pitchFamily="34" charset="0"/>
              <a:buChar char="•"/>
            </a:pPr>
            <a:r>
              <a:rPr lang="en-US" sz="1100" i="1"/>
              <a:t>Workday: Planning, close, expense; Dynamics: Reconciliation, order, expense and supplier workflows</a:t>
            </a:r>
          </a:p>
        </p:txBody>
      </p:sp>
      <p:sp>
        <p:nvSpPr>
          <p:cNvPr id="31" name="TextBox 30">
            <a:extLst>
              <a:ext uri="{FF2B5EF4-FFF2-40B4-BE49-F238E27FC236}">
                <a16:creationId xmlns:a16="http://schemas.microsoft.com/office/drawing/2014/main" id="{AC1B86D7-A2A9-EC38-110E-84A707BD858A}"/>
              </a:ext>
            </a:extLst>
          </p:cNvPr>
          <p:cNvSpPr txBox="1"/>
          <p:nvPr/>
        </p:nvSpPr>
        <p:spPr>
          <a:xfrm>
            <a:off x="6918959" y="4575851"/>
            <a:ext cx="1185674" cy="1184940"/>
          </a:xfrm>
          <a:prstGeom prst="rect">
            <a:avLst/>
          </a:prstGeom>
          <a:noFill/>
        </p:spPr>
        <p:txBody>
          <a:bodyPr wrap="square" lIns="0" tIns="0" rIns="0" bIns="0" rtlCol="0">
            <a:spAutoFit/>
          </a:bodyPr>
          <a:lstStyle/>
          <a:p>
            <a:pPr>
              <a:spcBef>
                <a:spcPts val="600"/>
              </a:spcBef>
              <a:buSzPct val="100000"/>
            </a:pPr>
            <a:r>
              <a:rPr lang="en-US" sz="1100" i="1"/>
              <a:t>These peers are the closest competitor for a specific buying need, but do not mirror Zora’s overall finance proposition</a:t>
            </a:r>
          </a:p>
        </p:txBody>
      </p:sp>
      <p:sp>
        <p:nvSpPr>
          <p:cNvPr id="33" name="TextBox 32">
            <a:extLst>
              <a:ext uri="{FF2B5EF4-FFF2-40B4-BE49-F238E27FC236}">
                <a16:creationId xmlns:a16="http://schemas.microsoft.com/office/drawing/2014/main" id="{CE864C0A-0F7D-B444-8D42-62A122BB9C9E}"/>
              </a:ext>
            </a:extLst>
          </p:cNvPr>
          <p:cNvSpPr txBox="1"/>
          <p:nvPr/>
        </p:nvSpPr>
        <p:spPr>
          <a:xfrm>
            <a:off x="707136" y="1539668"/>
            <a:ext cx="3410712" cy="215444"/>
          </a:xfrm>
          <a:prstGeom prst="rect">
            <a:avLst/>
          </a:prstGeom>
          <a:noFill/>
        </p:spPr>
        <p:txBody>
          <a:bodyPr wrap="square" lIns="0" tIns="0" rIns="0" bIns="0" rtlCol="0">
            <a:spAutoFit/>
          </a:bodyPr>
          <a:lstStyle/>
          <a:p>
            <a:pPr>
              <a:spcBef>
                <a:spcPts val="600"/>
              </a:spcBef>
              <a:buSzPct val="100000"/>
            </a:pPr>
            <a:r>
              <a:rPr lang="en-US" sz="1400" b="1" u="sng"/>
              <a:t>Adjacent Agent Platforms</a:t>
            </a:r>
          </a:p>
        </p:txBody>
      </p:sp>
      <p:sp>
        <p:nvSpPr>
          <p:cNvPr id="35" name="TextBox 34">
            <a:extLst>
              <a:ext uri="{FF2B5EF4-FFF2-40B4-BE49-F238E27FC236}">
                <a16:creationId xmlns:a16="http://schemas.microsoft.com/office/drawing/2014/main" id="{D0F3F923-E45B-2CA1-D266-5A0D37A4C967}"/>
              </a:ext>
            </a:extLst>
          </p:cNvPr>
          <p:cNvSpPr txBox="1"/>
          <p:nvPr/>
        </p:nvSpPr>
        <p:spPr>
          <a:xfrm>
            <a:off x="707136" y="1912633"/>
            <a:ext cx="5583936" cy="754053"/>
          </a:xfrm>
          <a:prstGeom prst="rect">
            <a:avLst/>
          </a:prstGeom>
          <a:noFill/>
        </p:spPr>
        <p:txBody>
          <a:bodyPr wrap="square" lIns="0" tIns="0" rIns="0" bIns="0" rtlCol="0">
            <a:spAutoFit/>
          </a:bodyPr>
          <a:lstStyle/>
          <a:p>
            <a:pPr>
              <a:spcBef>
                <a:spcPts val="600"/>
              </a:spcBef>
              <a:buSzPct val="100000"/>
            </a:pPr>
            <a:r>
              <a:rPr lang="en-US" sz="1100" b="1"/>
              <a:t>IBM | PwC | Infosys | Accenture | ServiceNow</a:t>
            </a:r>
          </a:p>
          <a:p>
            <a:pPr marL="171450" indent="-171450">
              <a:spcBef>
                <a:spcPts val="600"/>
              </a:spcBef>
              <a:buSzPct val="100000"/>
              <a:buFont typeface="Arial" panose="020B0604020202020204" pitchFamily="34" charset="0"/>
              <a:buChar char="•"/>
            </a:pPr>
            <a:r>
              <a:rPr lang="en-US" sz="1100" i="1"/>
              <a:t>Selected finance agents or workflow blueprints</a:t>
            </a:r>
          </a:p>
          <a:p>
            <a:pPr marL="171450" indent="-171450">
              <a:buSzPct val="100000"/>
              <a:buFont typeface="Arial" panose="020B0604020202020204" pitchFamily="34" charset="0"/>
              <a:buChar char="•"/>
            </a:pPr>
            <a:r>
              <a:rPr lang="en-US" sz="1100" i="1"/>
              <a:t>Broader enterprise-agent and orchestration proposition</a:t>
            </a:r>
          </a:p>
          <a:p>
            <a:pPr marL="171450" indent="-171450">
              <a:buSzPct val="100000"/>
              <a:buFont typeface="Arial" panose="020B0604020202020204" pitchFamily="34" charset="0"/>
              <a:buChar char="•"/>
            </a:pPr>
            <a:r>
              <a:rPr lang="en-US" sz="1100" i="1"/>
              <a:t>Often compete as a configurable build alternative</a:t>
            </a:r>
          </a:p>
        </p:txBody>
      </p:sp>
      <p:sp>
        <p:nvSpPr>
          <p:cNvPr id="37" name="TextBox 36">
            <a:extLst>
              <a:ext uri="{FF2B5EF4-FFF2-40B4-BE49-F238E27FC236}">
                <a16:creationId xmlns:a16="http://schemas.microsoft.com/office/drawing/2014/main" id="{6A0BADA3-8159-05EC-7913-8A5ED27E3D0A}"/>
              </a:ext>
            </a:extLst>
          </p:cNvPr>
          <p:cNvSpPr txBox="1"/>
          <p:nvPr/>
        </p:nvSpPr>
        <p:spPr>
          <a:xfrm>
            <a:off x="5557266" y="1912633"/>
            <a:ext cx="2125980" cy="507831"/>
          </a:xfrm>
          <a:prstGeom prst="rect">
            <a:avLst/>
          </a:prstGeom>
          <a:noFill/>
        </p:spPr>
        <p:txBody>
          <a:bodyPr wrap="square" lIns="0" tIns="0" rIns="0" bIns="0" rtlCol="0">
            <a:spAutoFit/>
          </a:bodyPr>
          <a:lstStyle/>
          <a:p>
            <a:pPr>
              <a:spcBef>
                <a:spcPts val="600"/>
              </a:spcBef>
              <a:buSzPct val="100000"/>
            </a:pPr>
            <a:r>
              <a:rPr lang="en-US" sz="1100" i="1"/>
              <a:t>Relevant when the client prefers to configure finance agents on an existing enterprise platform</a:t>
            </a:r>
          </a:p>
        </p:txBody>
      </p:sp>
      <p:sp>
        <p:nvSpPr>
          <p:cNvPr id="38" name="TextBox 37">
            <a:extLst>
              <a:ext uri="{FF2B5EF4-FFF2-40B4-BE49-F238E27FC236}">
                <a16:creationId xmlns:a16="http://schemas.microsoft.com/office/drawing/2014/main" id="{1C905572-0A2A-2E55-A2F4-6B1CFAEFBECA}"/>
              </a:ext>
            </a:extLst>
          </p:cNvPr>
          <p:cNvSpPr txBox="1"/>
          <p:nvPr/>
        </p:nvSpPr>
        <p:spPr>
          <a:xfrm>
            <a:off x="8796528" y="1869058"/>
            <a:ext cx="2465832" cy="3816429"/>
          </a:xfrm>
          <a:prstGeom prst="rect">
            <a:avLst/>
          </a:prstGeom>
          <a:noFill/>
        </p:spPr>
        <p:txBody>
          <a:bodyPr wrap="square" lIns="0" tIns="0" rIns="0" bIns="0" rtlCol="0">
            <a:spAutoFit/>
          </a:bodyPr>
          <a:lstStyle/>
          <a:p>
            <a:pPr marL="285750" indent="-285750">
              <a:spcBef>
                <a:spcPts val="1200"/>
              </a:spcBef>
              <a:buSzPct val="100000"/>
              <a:buFont typeface="Arial" panose="020B0604020202020204" pitchFamily="34" charset="0"/>
              <a:buChar char="•"/>
            </a:pPr>
            <a:r>
              <a:rPr lang="en-US" sz="1400">
                <a:solidFill>
                  <a:srgbClr val="313131"/>
                </a:solidFill>
              </a:rPr>
              <a:t>Competitive proximity is opportunity-specific: OneStream is closest in forecast analysis, Coupa in invoice-to-pay, and HighRadius in cash application, even when they sit in different overall tiers.</a:t>
            </a:r>
          </a:p>
          <a:p>
            <a:pPr marL="285750" indent="-285750">
              <a:spcBef>
                <a:spcPts val="1200"/>
              </a:spcBef>
              <a:buSzPct val="100000"/>
              <a:buFont typeface="Arial" panose="020B0604020202020204" pitchFamily="34" charset="0"/>
              <a:buChar char="•"/>
            </a:pPr>
            <a:r>
              <a:rPr lang="en-US" sz="1400">
                <a:solidFill>
                  <a:srgbClr val="313131"/>
                </a:solidFill>
              </a:rPr>
              <a:t>Zora is strongest when finance workflows span applications or functions. Native platforms and specialists are more competitive when the requirement is confined to an established platform or a single workflow.</a:t>
            </a:r>
          </a:p>
        </p:txBody>
      </p:sp>
    </p:spTree>
    <p:extLst>
      <p:ext uri="{BB962C8B-B14F-4D97-AF65-F5344CB8AC3E}">
        <p14:creationId xmlns:p14="http://schemas.microsoft.com/office/powerpoint/2010/main" val="407278116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B7A451A-9036-B127-C712-52E710AEBCA4}"/>
              </a:ext>
            </a:extLst>
          </p:cNvPr>
          <p:cNvGraphicFramePr>
            <a:graphicFrameLocks/>
          </p:cNvGraphicFramePr>
          <p:nvPr>
            <p:custDataLst>
              <p:tags r:id="rId1"/>
            </p:custDataLst>
            <p:extLst>
              <p:ext uri="{D42A27DB-BD31-4B8C-83A1-F6EECF244321}">
                <p14:modId xmlns:p14="http://schemas.microsoft.com/office/powerpoint/2010/main" val="20559962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 name="think-cell data - do not delete" hidden="1">
                        <a:extLst>
                          <a:ext uri="{FF2B5EF4-FFF2-40B4-BE49-F238E27FC236}">
                            <a16:creationId xmlns:a16="http://schemas.microsoft.com/office/drawing/2014/main" id="{AB7A451A-9036-B127-C712-52E710AEBCA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682FA96-5D64-4225-63DA-8C2AA33128DF}"/>
              </a:ext>
            </a:extLst>
          </p:cNvPr>
          <p:cNvSpPr>
            <a:spLocks noGrp="1"/>
          </p:cNvSpPr>
          <p:nvPr>
            <p:ph type="title"/>
          </p:nvPr>
        </p:nvSpPr>
        <p:spPr/>
        <p:txBody>
          <a:bodyPr vert="horz" rIns="0"/>
          <a:lstStyle/>
          <a:p>
            <a:r>
              <a:rPr lang="en-US"/>
              <a:t>Finance domain: Workflow coverage by peers </a:t>
            </a:r>
          </a:p>
        </p:txBody>
      </p:sp>
      <p:sp>
        <p:nvSpPr>
          <p:cNvPr id="5" name="TextBox 4">
            <a:extLst>
              <a:ext uri="{FF2B5EF4-FFF2-40B4-BE49-F238E27FC236}">
                <a16:creationId xmlns:a16="http://schemas.microsoft.com/office/drawing/2014/main" id="{0E5AEABD-5D21-B907-463E-FA9B2ECC4B72}"/>
              </a:ext>
            </a:extLst>
          </p:cNvPr>
          <p:cNvSpPr txBox="1"/>
          <p:nvPr/>
        </p:nvSpPr>
        <p:spPr>
          <a:xfrm>
            <a:off x="382772" y="687992"/>
            <a:ext cx="1054430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Zora spans advice and execution, but finance specialists lead in different parts of the lifecycle</a:t>
            </a:r>
            <a:endParaRPr kumimoji="0" sz="1400" b="1" i="1" u="sng" strike="noStrike" kern="1200" cap="none" spc="0" normalizeH="0" baseline="0" noProof="0">
              <a:ln>
                <a:noFill/>
              </a:ln>
              <a:solidFill>
                <a:prstClr val="black"/>
              </a:solidFill>
              <a:effectLst/>
              <a:uLnTx/>
              <a:uFillTx/>
              <a:latin typeface="Aptos"/>
              <a:ea typeface="+mn-ea"/>
              <a:cs typeface="+mn-cs"/>
            </a:endParaRPr>
          </a:p>
        </p:txBody>
      </p:sp>
      <p:sp>
        <p:nvSpPr>
          <p:cNvPr id="6" name="Rectangle: Rounded Corners 5">
            <a:extLst>
              <a:ext uri="{FF2B5EF4-FFF2-40B4-BE49-F238E27FC236}">
                <a16:creationId xmlns:a16="http://schemas.microsoft.com/office/drawing/2014/main" id="{3626CD24-59DA-1127-E77C-C23597D677BA}"/>
              </a:ext>
            </a:extLst>
          </p:cNvPr>
          <p:cNvSpPr/>
          <p:nvPr/>
        </p:nvSpPr>
        <p:spPr bwMode="gray">
          <a:xfrm>
            <a:off x="438912" y="1380744"/>
            <a:ext cx="2688336" cy="374904"/>
          </a:xfrm>
          <a:prstGeom prst="round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rPr>
              <a:t>UNDERSTAND</a:t>
            </a:r>
          </a:p>
        </p:txBody>
      </p:sp>
      <p:sp>
        <p:nvSpPr>
          <p:cNvPr id="8" name="Rectangle: Rounded Corners 7">
            <a:extLst>
              <a:ext uri="{FF2B5EF4-FFF2-40B4-BE49-F238E27FC236}">
                <a16:creationId xmlns:a16="http://schemas.microsoft.com/office/drawing/2014/main" id="{5F3BDD28-0554-B111-60B0-47D0E36FCCCB}"/>
              </a:ext>
            </a:extLst>
          </p:cNvPr>
          <p:cNvSpPr/>
          <p:nvPr/>
        </p:nvSpPr>
        <p:spPr bwMode="gray">
          <a:xfrm>
            <a:off x="3316224" y="1380744"/>
            <a:ext cx="2688336" cy="374904"/>
          </a:xfrm>
          <a:prstGeom prst="round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rPr>
              <a:t>PLAN &amp; REPORT</a:t>
            </a:r>
          </a:p>
        </p:txBody>
      </p:sp>
      <p:sp>
        <p:nvSpPr>
          <p:cNvPr id="10" name="Rectangle: Rounded Corners 9">
            <a:extLst>
              <a:ext uri="{FF2B5EF4-FFF2-40B4-BE49-F238E27FC236}">
                <a16:creationId xmlns:a16="http://schemas.microsoft.com/office/drawing/2014/main" id="{5EFC9174-C6B5-AF1D-31E0-44F258C291A1}"/>
              </a:ext>
            </a:extLst>
          </p:cNvPr>
          <p:cNvSpPr/>
          <p:nvPr/>
        </p:nvSpPr>
        <p:spPr bwMode="gray">
          <a:xfrm>
            <a:off x="6193536" y="1380744"/>
            <a:ext cx="2688336" cy="374904"/>
          </a:xfrm>
          <a:prstGeom prst="round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rPr>
              <a:t>OPERATE CASH</a:t>
            </a:r>
          </a:p>
        </p:txBody>
      </p:sp>
      <p:sp>
        <p:nvSpPr>
          <p:cNvPr id="12" name="Rectangle: Rounded Corners 11">
            <a:extLst>
              <a:ext uri="{FF2B5EF4-FFF2-40B4-BE49-F238E27FC236}">
                <a16:creationId xmlns:a16="http://schemas.microsoft.com/office/drawing/2014/main" id="{13E3B78F-7C82-8DAD-F2A1-52D9A5D11778}"/>
              </a:ext>
            </a:extLst>
          </p:cNvPr>
          <p:cNvSpPr/>
          <p:nvPr/>
        </p:nvSpPr>
        <p:spPr bwMode="gray">
          <a:xfrm>
            <a:off x="9070848" y="1380744"/>
            <a:ext cx="2688336" cy="374904"/>
          </a:xfrm>
          <a:prstGeom prst="round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rPr>
              <a:t>MANAGE SPEND</a:t>
            </a:r>
          </a:p>
        </p:txBody>
      </p:sp>
      <p:sp>
        <p:nvSpPr>
          <p:cNvPr id="14" name="TextBox 13">
            <a:extLst>
              <a:ext uri="{FF2B5EF4-FFF2-40B4-BE49-F238E27FC236}">
                <a16:creationId xmlns:a16="http://schemas.microsoft.com/office/drawing/2014/main" id="{46BE69B3-DCC2-F16D-FD86-2E5AD98F3E6B}"/>
              </a:ext>
            </a:extLst>
          </p:cNvPr>
          <p:cNvSpPr txBox="1"/>
          <p:nvPr/>
        </p:nvSpPr>
        <p:spPr>
          <a:xfrm>
            <a:off x="438912" y="1846455"/>
            <a:ext cx="2670048" cy="369332"/>
          </a:xfrm>
          <a:prstGeom prst="rect">
            <a:avLst/>
          </a:prstGeom>
          <a:noFill/>
        </p:spPr>
        <p:txBody>
          <a:bodyPr wrap="square" lIns="0" tIns="0" rIns="0" bIns="0" rtlCol="0">
            <a:spAutoFit/>
          </a:bodyPr>
          <a:lstStyle/>
          <a:p>
            <a:pPr algn="ctr">
              <a:spcBef>
                <a:spcPts val="600"/>
              </a:spcBef>
              <a:buSzPct val="100000"/>
            </a:pPr>
            <a:r>
              <a:rPr lang="en-US" sz="1200" b="1" u="sng"/>
              <a:t>Performance analysis and </a:t>
            </a:r>
          </a:p>
          <a:p>
            <a:pPr algn="ctr">
              <a:buSzPct val="100000"/>
            </a:pPr>
            <a:r>
              <a:rPr lang="en-US" sz="1200" b="1" u="sng"/>
              <a:t>decision support</a:t>
            </a:r>
          </a:p>
        </p:txBody>
      </p:sp>
      <p:sp>
        <p:nvSpPr>
          <p:cNvPr id="16" name="TextBox 15">
            <a:extLst>
              <a:ext uri="{FF2B5EF4-FFF2-40B4-BE49-F238E27FC236}">
                <a16:creationId xmlns:a16="http://schemas.microsoft.com/office/drawing/2014/main" id="{0247D1B9-6738-C731-6B97-B9625A0E7E53}"/>
              </a:ext>
            </a:extLst>
          </p:cNvPr>
          <p:cNvSpPr txBox="1"/>
          <p:nvPr/>
        </p:nvSpPr>
        <p:spPr>
          <a:xfrm>
            <a:off x="3316224" y="1846455"/>
            <a:ext cx="2688336" cy="369332"/>
          </a:xfrm>
          <a:prstGeom prst="rect">
            <a:avLst/>
          </a:prstGeom>
          <a:noFill/>
        </p:spPr>
        <p:txBody>
          <a:bodyPr wrap="square" lIns="0" tIns="0" rIns="0" bIns="0" rtlCol="0">
            <a:spAutoFit/>
          </a:bodyPr>
          <a:lstStyle/>
          <a:p>
            <a:pPr algn="ctr">
              <a:spcBef>
                <a:spcPts val="600"/>
              </a:spcBef>
              <a:buSzPct val="100000"/>
            </a:pPr>
            <a:r>
              <a:rPr lang="en-US" sz="1200" b="1" u="sng"/>
              <a:t>Planning, reporting, consolidation, R2R and close</a:t>
            </a:r>
          </a:p>
        </p:txBody>
      </p:sp>
      <p:sp>
        <p:nvSpPr>
          <p:cNvPr id="18" name="TextBox 17">
            <a:extLst>
              <a:ext uri="{FF2B5EF4-FFF2-40B4-BE49-F238E27FC236}">
                <a16:creationId xmlns:a16="http://schemas.microsoft.com/office/drawing/2014/main" id="{439C694B-9055-F8FB-8450-904919880991}"/>
              </a:ext>
            </a:extLst>
          </p:cNvPr>
          <p:cNvSpPr txBox="1"/>
          <p:nvPr/>
        </p:nvSpPr>
        <p:spPr>
          <a:xfrm>
            <a:off x="6187442" y="1846455"/>
            <a:ext cx="2688336" cy="369332"/>
          </a:xfrm>
          <a:prstGeom prst="rect">
            <a:avLst/>
          </a:prstGeom>
          <a:noFill/>
        </p:spPr>
        <p:txBody>
          <a:bodyPr wrap="square" lIns="0" tIns="0" rIns="0" bIns="0" rtlCol="0">
            <a:spAutoFit/>
          </a:bodyPr>
          <a:lstStyle/>
          <a:p>
            <a:pPr algn="ctr">
              <a:spcBef>
                <a:spcPts val="600"/>
              </a:spcBef>
              <a:buSzPct val="100000"/>
            </a:pPr>
            <a:r>
              <a:rPr lang="en-US" sz="1200" b="1" u="sng"/>
              <a:t>AR, revenue cycle, treasury and working capital</a:t>
            </a:r>
          </a:p>
        </p:txBody>
      </p:sp>
      <p:sp>
        <p:nvSpPr>
          <p:cNvPr id="20" name="TextBox 19">
            <a:extLst>
              <a:ext uri="{FF2B5EF4-FFF2-40B4-BE49-F238E27FC236}">
                <a16:creationId xmlns:a16="http://schemas.microsoft.com/office/drawing/2014/main" id="{3BF0131D-2169-E585-EEB7-03E893ED3C26}"/>
              </a:ext>
            </a:extLst>
          </p:cNvPr>
          <p:cNvSpPr txBox="1"/>
          <p:nvPr/>
        </p:nvSpPr>
        <p:spPr>
          <a:xfrm>
            <a:off x="9058660" y="1846455"/>
            <a:ext cx="2688336" cy="369332"/>
          </a:xfrm>
          <a:prstGeom prst="rect">
            <a:avLst/>
          </a:prstGeom>
          <a:noFill/>
        </p:spPr>
        <p:txBody>
          <a:bodyPr wrap="square" lIns="0" tIns="0" rIns="0" bIns="0" rtlCol="0">
            <a:spAutoFit/>
          </a:bodyPr>
          <a:lstStyle/>
          <a:p>
            <a:pPr algn="ctr">
              <a:spcBef>
                <a:spcPts val="600"/>
              </a:spcBef>
              <a:buSzPct val="100000"/>
            </a:pPr>
            <a:r>
              <a:rPr lang="en-US" sz="1200" b="1" u="sng"/>
              <a:t>AP, expenses, invoice-to-pay, </a:t>
            </a:r>
          </a:p>
          <a:p>
            <a:pPr algn="ctr">
              <a:buSzPct val="100000"/>
            </a:pPr>
            <a:r>
              <a:rPr lang="en-US" sz="1200" b="1" u="sng"/>
              <a:t>sourcing and procurement</a:t>
            </a:r>
          </a:p>
        </p:txBody>
      </p:sp>
      <p:sp>
        <p:nvSpPr>
          <p:cNvPr id="21" name="TextBox 20">
            <a:extLst>
              <a:ext uri="{FF2B5EF4-FFF2-40B4-BE49-F238E27FC236}">
                <a16:creationId xmlns:a16="http://schemas.microsoft.com/office/drawing/2014/main" id="{0AA415D3-83DF-CBAF-C679-4FEC4CC01B5A}"/>
              </a:ext>
            </a:extLst>
          </p:cNvPr>
          <p:cNvSpPr txBox="1"/>
          <p:nvPr/>
        </p:nvSpPr>
        <p:spPr>
          <a:xfrm>
            <a:off x="457200" y="2441448"/>
            <a:ext cx="2651760" cy="2416046"/>
          </a:xfrm>
          <a:prstGeom prst="rect">
            <a:avLst/>
          </a:prstGeom>
          <a:solidFill>
            <a:schemeClr val="accent1">
              <a:lumMod val="20000"/>
              <a:lumOff val="80000"/>
            </a:schemeClr>
          </a:solidFill>
        </p:spPr>
        <p:txBody>
          <a:bodyPr wrap="square" lIns="0" tIns="0" rIns="0" bIns="0" rtlCol="0">
            <a:spAutoFit/>
          </a:bodyPr>
          <a:lstStyle/>
          <a:p>
            <a:pPr>
              <a:spcBef>
                <a:spcPts val="600"/>
              </a:spcBef>
              <a:buSzPct val="100000"/>
            </a:pPr>
            <a:r>
              <a:rPr lang="en-US" sz="1200" b="1">
                <a:solidFill>
                  <a:srgbClr val="313131"/>
                </a:solidFill>
              </a:rPr>
              <a:t>Representative Agents</a:t>
            </a:r>
          </a:p>
          <a:p>
            <a:pPr>
              <a:spcBef>
                <a:spcPts val="600"/>
              </a:spcBef>
              <a:buSzPct val="100000"/>
            </a:pPr>
            <a:r>
              <a:rPr lang="en-US" sz="1200" b="1">
                <a:solidFill>
                  <a:srgbClr val="313131"/>
                </a:solidFill>
              </a:rPr>
              <a:t>Zora</a:t>
            </a:r>
            <a:r>
              <a:rPr lang="en-US" sz="1200">
                <a:solidFill>
                  <a:srgbClr val="313131"/>
                </a:solidFill>
              </a:rPr>
              <a:t>: CFO Insights, Profit and Loss, Revenue Performance</a:t>
            </a:r>
          </a:p>
          <a:p>
            <a:pPr>
              <a:spcBef>
                <a:spcPts val="600"/>
              </a:spcBef>
              <a:buSzPct val="100000"/>
            </a:pPr>
            <a:r>
              <a:rPr lang="en-US" sz="1200" b="1">
                <a:solidFill>
                  <a:srgbClr val="313131"/>
                </a:solidFill>
              </a:rPr>
              <a:t>Datarails</a:t>
            </a:r>
            <a:r>
              <a:rPr lang="en-US" sz="1200">
                <a:solidFill>
                  <a:srgbClr val="313131"/>
                </a:solidFill>
              </a:rPr>
              <a:t>: Strategy Agent, Reporting Agent</a:t>
            </a:r>
          </a:p>
          <a:p>
            <a:pPr>
              <a:spcBef>
                <a:spcPts val="600"/>
              </a:spcBef>
              <a:buSzPct val="100000"/>
            </a:pPr>
            <a:r>
              <a:rPr lang="en-US" sz="1200" b="1">
                <a:solidFill>
                  <a:srgbClr val="313131"/>
                </a:solidFill>
              </a:rPr>
              <a:t>OneStream</a:t>
            </a:r>
            <a:r>
              <a:rPr lang="en-US" sz="1200">
                <a:solidFill>
                  <a:srgbClr val="313131"/>
                </a:solidFill>
              </a:rPr>
              <a:t>: Finance Analyst, Deep Analysis, Search Agent</a:t>
            </a:r>
          </a:p>
          <a:p>
            <a:pPr>
              <a:spcBef>
                <a:spcPts val="600"/>
              </a:spcBef>
              <a:buSzPct val="100000"/>
            </a:pPr>
            <a:r>
              <a:rPr lang="en-US" sz="1200" b="1">
                <a:solidFill>
                  <a:srgbClr val="313131"/>
                </a:solidFill>
              </a:rPr>
              <a:t>SAP</a:t>
            </a:r>
            <a:r>
              <a:rPr lang="en-US" sz="1200">
                <a:solidFill>
                  <a:srgbClr val="313131"/>
                </a:solidFill>
              </a:rPr>
              <a:t>: Analytical Business Insights, Variance Analysis, Market Sentiment</a:t>
            </a:r>
          </a:p>
          <a:p>
            <a:pPr>
              <a:spcBef>
                <a:spcPts val="600"/>
              </a:spcBef>
              <a:buSzPct val="100000"/>
            </a:pPr>
            <a:r>
              <a:rPr lang="en-US" sz="1200" b="1">
                <a:solidFill>
                  <a:srgbClr val="313131"/>
                </a:solidFill>
              </a:rPr>
              <a:t>Workday</a:t>
            </a:r>
            <a:r>
              <a:rPr lang="en-US" sz="1200">
                <a:solidFill>
                  <a:srgbClr val="313131"/>
                </a:solidFill>
              </a:rPr>
              <a:t>: Accounting Analyst, Decision Intelligence</a:t>
            </a:r>
          </a:p>
        </p:txBody>
      </p:sp>
      <p:sp>
        <p:nvSpPr>
          <p:cNvPr id="23" name="TextBox 22">
            <a:extLst>
              <a:ext uri="{FF2B5EF4-FFF2-40B4-BE49-F238E27FC236}">
                <a16:creationId xmlns:a16="http://schemas.microsoft.com/office/drawing/2014/main" id="{8CAC744E-0738-8B85-460D-F237EBF6C349}"/>
              </a:ext>
            </a:extLst>
          </p:cNvPr>
          <p:cNvSpPr txBox="1"/>
          <p:nvPr/>
        </p:nvSpPr>
        <p:spPr>
          <a:xfrm>
            <a:off x="438912" y="5083155"/>
            <a:ext cx="2660904" cy="738664"/>
          </a:xfrm>
          <a:prstGeom prst="rect">
            <a:avLst/>
          </a:prstGeom>
          <a:noFill/>
        </p:spPr>
        <p:txBody>
          <a:bodyPr wrap="square" lIns="0" tIns="0" rIns="0" bIns="0" rtlCol="0">
            <a:spAutoFit/>
          </a:bodyPr>
          <a:lstStyle/>
          <a:p>
            <a:pPr>
              <a:spcBef>
                <a:spcPts val="1200"/>
              </a:spcBef>
              <a:buSzPct val="100000"/>
            </a:pPr>
            <a:r>
              <a:rPr lang="en-US" sz="1200" i="1">
                <a:solidFill>
                  <a:srgbClr val="313131"/>
                </a:solidFill>
              </a:rPr>
              <a:t>Zora has credible Advise breadth but must prove that its embedded finance methodology goes beyond the analysis available in finance-native platforms.</a:t>
            </a:r>
          </a:p>
        </p:txBody>
      </p:sp>
      <p:sp>
        <p:nvSpPr>
          <p:cNvPr id="25" name="TextBox 24">
            <a:extLst>
              <a:ext uri="{FF2B5EF4-FFF2-40B4-BE49-F238E27FC236}">
                <a16:creationId xmlns:a16="http://schemas.microsoft.com/office/drawing/2014/main" id="{2D631AE7-870A-F91F-37FA-A56C052D4699}"/>
              </a:ext>
            </a:extLst>
          </p:cNvPr>
          <p:cNvSpPr txBox="1"/>
          <p:nvPr/>
        </p:nvSpPr>
        <p:spPr>
          <a:xfrm>
            <a:off x="3316224" y="2441448"/>
            <a:ext cx="2688336" cy="2416046"/>
          </a:xfrm>
          <a:prstGeom prst="rect">
            <a:avLst/>
          </a:prstGeom>
          <a:solidFill>
            <a:schemeClr val="accent1">
              <a:lumMod val="20000"/>
              <a:lumOff val="80000"/>
            </a:schemeClr>
          </a:solidFill>
        </p:spPr>
        <p:txBody>
          <a:bodyPr wrap="square" lIns="0" tIns="0" rIns="0" bIns="0" rtlCol="0">
            <a:spAutoFit/>
          </a:bodyPr>
          <a:lstStyle/>
          <a:p>
            <a:pPr>
              <a:spcBef>
                <a:spcPts val="600"/>
              </a:spcBef>
              <a:buSzPct val="100000"/>
            </a:pPr>
            <a:r>
              <a:rPr lang="en-US" sz="1200" b="1">
                <a:solidFill>
                  <a:srgbClr val="313131"/>
                </a:solidFill>
              </a:rPr>
              <a:t>Representative Agents</a:t>
            </a:r>
          </a:p>
          <a:p>
            <a:pPr>
              <a:spcBef>
                <a:spcPts val="600"/>
              </a:spcBef>
              <a:buSzPct val="100000"/>
            </a:pPr>
            <a:r>
              <a:rPr lang="en-US" sz="1200" b="1">
                <a:solidFill>
                  <a:srgbClr val="313131"/>
                </a:solidFill>
              </a:rPr>
              <a:t>HighRadius: </a:t>
            </a:r>
            <a:r>
              <a:rPr lang="en-US" sz="1200">
                <a:solidFill>
                  <a:srgbClr val="313131"/>
                </a:solidFill>
              </a:rPr>
              <a:t>Numerous consolidation, statutory-reporting, accrual, journal and reconciliation agents</a:t>
            </a:r>
          </a:p>
          <a:p>
            <a:pPr>
              <a:spcBef>
                <a:spcPts val="600"/>
              </a:spcBef>
              <a:buSzPct val="100000"/>
            </a:pPr>
            <a:r>
              <a:rPr lang="en-US" sz="1200" b="1">
                <a:solidFill>
                  <a:srgbClr val="313131"/>
                </a:solidFill>
              </a:rPr>
              <a:t>Datarails: </a:t>
            </a:r>
            <a:r>
              <a:rPr lang="en-US" sz="1200">
                <a:solidFill>
                  <a:srgbClr val="313131"/>
                </a:solidFill>
              </a:rPr>
              <a:t>Planning and Reporting</a:t>
            </a:r>
          </a:p>
          <a:p>
            <a:pPr>
              <a:spcBef>
                <a:spcPts val="600"/>
              </a:spcBef>
              <a:buSzPct val="100000"/>
            </a:pPr>
            <a:r>
              <a:rPr lang="en-US" sz="1200" b="1">
                <a:solidFill>
                  <a:srgbClr val="313131"/>
                </a:solidFill>
              </a:rPr>
              <a:t>OneStream: </a:t>
            </a:r>
            <a:r>
              <a:rPr lang="en-US" sz="1200">
                <a:solidFill>
                  <a:srgbClr val="313131"/>
                </a:solidFill>
              </a:rPr>
              <a:t>Finance Analyst and Forecast Agent</a:t>
            </a:r>
          </a:p>
          <a:p>
            <a:pPr>
              <a:spcBef>
                <a:spcPts val="600"/>
              </a:spcBef>
              <a:buSzPct val="100000"/>
            </a:pPr>
            <a:r>
              <a:rPr lang="en-US" sz="1200" b="1">
                <a:solidFill>
                  <a:srgbClr val="313131"/>
                </a:solidFill>
              </a:rPr>
              <a:t>SAP: </a:t>
            </a:r>
            <a:r>
              <a:rPr lang="en-US" sz="1200">
                <a:solidFill>
                  <a:srgbClr val="313131"/>
                </a:solidFill>
              </a:rPr>
              <a:t>Journal Entry, Accruals, Matching and Reconciliation</a:t>
            </a:r>
          </a:p>
          <a:p>
            <a:pPr>
              <a:spcBef>
                <a:spcPts val="600"/>
              </a:spcBef>
              <a:buSzPct val="100000"/>
            </a:pPr>
            <a:r>
              <a:rPr lang="en-US" sz="1200" b="1">
                <a:solidFill>
                  <a:srgbClr val="313131"/>
                </a:solidFill>
              </a:rPr>
              <a:t>Workday: </a:t>
            </a:r>
            <a:r>
              <a:rPr lang="en-US" sz="1200">
                <a:solidFill>
                  <a:srgbClr val="313131"/>
                </a:solidFill>
              </a:rPr>
              <a:t>Planning, Accounting and Financial Close agents</a:t>
            </a:r>
          </a:p>
        </p:txBody>
      </p:sp>
      <p:sp>
        <p:nvSpPr>
          <p:cNvPr id="28" name="TextBox 27">
            <a:extLst>
              <a:ext uri="{FF2B5EF4-FFF2-40B4-BE49-F238E27FC236}">
                <a16:creationId xmlns:a16="http://schemas.microsoft.com/office/drawing/2014/main" id="{2E6E2918-E359-319A-E318-D29AF4E220AB}"/>
              </a:ext>
            </a:extLst>
          </p:cNvPr>
          <p:cNvSpPr txBox="1"/>
          <p:nvPr/>
        </p:nvSpPr>
        <p:spPr>
          <a:xfrm>
            <a:off x="3316224" y="5083155"/>
            <a:ext cx="2660904" cy="553998"/>
          </a:xfrm>
          <a:prstGeom prst="rect">
            <a:avLst/>
          </a:prstGeom>
          <a:noFill/>
        </p:spPr>
        <p:txBody>
          <a:bodyPr wrap="square" lIns="0" tIns="0" rIns="0" bIns="0" rtlCol="0">
            <a:spAutoFit/>
          </a:bodyPr>
          <a:lstStyle/>
          <a:p>
            <a:pPr>
              <a:spcBef>
                <a:spcPts val="1200"/>
              </a:spcBef>
              <a:buSzPct val="100000"/>
            </a:pPr>
            <a:r>
              <a:rPr lang="en-US" sz="1200" i="1">
                <a:solidFill>
                  <a:srgbClr val="313131"/>
                </a:solidFill>
              </a:rPr>
              <a:t>This is the visible gap in Zora domain coverage, no named agents in planning, reporting and consolidation</a:t>
            </a:r>
          </a:p>
        </p:txBody>
      </p:sp>
      <p:sp>
        <p:nvSpPr>
          <p:cNvPr id="30" name="TextBox 29">
            <a:extLst>
              <a:ext uri="{FF2B5EF4-FFF2-40B4-BE49-F238E27FC236}">
                <a16:creationId xmlns:a16="http://schemas.microsoft.com/office/drawing/2014/main" id="{7B285933-2796-3F34-A564-ED170AA18A46}"/>
              </a:ext>
            </a:extLst>
          </p:cNvPr>
          <p:cNvSpPr txBox="1"/>
          <p:nvPr/>
        </p:nvSpPr>
        <p:spPr>
          <a:xfrm>
            <a:off x="6187442" y="2441448"/>
            <a:ext cx="2688336" cy="2446824"/>
          </a:xfrm>
          <a:prstGeom prst="rect">
            <a:avLst/>
          </a:prstGeom>
          <a:solidFill>
            <a:schemeClr val="accent1">
              <a:lumMod val="20000"/>
              <a:lumOff val="80000"/>
            </a:schemeClr>
          </a:solidFill>
        </p:spPr>
        <p:txBody>
          <a:bodyPr wrap="square" lIns="0" tIns="0" rIns="0" bIns="0" rtlCol="0">
            <a:spAutoFit/>
          </a:bodyPr>
          <a:lstStyle/>
          <a:p>
            <a:pPr>
              <a:spcBef>
                <a:spcPts val="600"/>
              </a:spcBef>
              <a:buSzPct val="100000"/>
            </a:pPr>
            <a:r>
              <a:rPr lang="en-US" sz="1200" b="1">
                <a:solidFill>
                  <a:srgbClr val="313131"/>
                </a:solidFill>
              </a:rPr>
              <a:t>Representative Agents</a:t>
            </a:r>
          </a:p>
          <a:p>
            <a:pPr>
              <a:spcBef>
                <a:spcPts val="600"/>
              </a:spcBef>
              <a:buSzPct val="100000"/>
            </a:pPr>
            <a:r>
              <a:rPr lang="en-US" sz="1200" b="1">
                <a:solidFill>
                  <a:srgbClr val="313131"/>
                </a:solidFill>
              </a:rPr>
              <a:t>Zora: </a:t>
            </a:r>
            <a:r>
              <a:rPr lang="en-US" sz="1200">
                <a:solidFill>
                  <a:srgbClr val="313131"/>
                </a:solidFill>
              </a:rPr>
              <a:t>Autonomous Cash Application, Autonomous Collections, Autonomous Accruals and Autonomous ABD Processing</a:t>
            </a:r>
          </a:p>
          <a:p>
            <a:pPr>
              <a:spcBef>
                <a:spcPts val="600"/>
              </a:spcBef>
              <a:buSzPct val="100000"/>
            </a:pPr>
            <a:r>
              <a:rPr lang="en-US" sz="1200" b="1">
                <a:solidFill>
                  <a:srgbClr val="313131"/>
                </a:solidFill>
              </a:rPr>
              <a:t>HighRadius: </a:t>
            </a:r>
            <a:r>
              <a:rPr lang="en-US" sz="1200">
                <a:solidFill>
                  <a:srgbClr val="313131"/>
                </a:solidFill>
              </a:rPr>
              <a:t>Cash Application, dispute resolution, remittance, invoice matching, deduction coding and ERP payment posting</a:t>
            </a:r>
          </a:p>
          <a:p>
            <a:pPr>
              <a:spcBef>
                <a:spcPts val="600"/>
              </a:spcBef>
              <a:buSzPct val="100000"/>
            </a:pPr>
            <a:r>
              <a:rPr lang="en-US" sz="1200" b="1">
                <a:solidFill>
                  <a:srgbClr val="313131"/>
                </a:solidFill>
              </a:rPr>
              <a:t>SAP: </a:t>
            </a:r>
            <a:r>
              <a:rPr lang="en-US" sz="1200">
                <a:solidFill>
                  <a:srgbClr val="313131"/>
                </a:solidFill>
              </a:rPr>
              <a:t>Cash Management, Cash Positioning, Receivables and Payables Clearing</a:t>
            </a:r>
          </a:p>
        </p:txBody>
      </p:sp>
      <p:sp>
        <p:nvSpPr>
          <p:cNvPr id="32" name="TextBox 31">
            <a:extLst>
              <a:ext uri="{FF2B5EF4-FFF2-40B4-BE49-F238E27FC236}">
                <a16:creationId xmlns:a16="http://schemas.microsoft.com/office/drawing/2014/main" id="{789E56A7-C1A7-833D-AD76-D0B4E835EDD5}"/>
              </a:ext>
            </a:extLst>
          </p:cNvPr>
          <p:cNvSpPr txBox="1"/>
          <p:nvPr/>
        </p:nvSpPr>
        <p:spPr>
          <a:xfrm>
            <a:off x="6187442" y="5083155"/>
            <a:ext cx="2660904" cy="553998"/>
          </a:xfrm>
          <a:prstGeom prst="rect">
            <a:avLst/>
          </a:prstGeom>
          <a:noFill/>
        </p:spPr>
        <p:txBody>
          <a:bodyPr wrap="square" lIns="0" tIns="0" rIns="0" bIns="0" rtlCol="0">
            <a:spAutoFit/>
          </a:bodyPr>
          <a:lstStyle/>
          <a:p>
            <a:pPr>
              <a:spcBef>
                <a:spcPts val="1200"/>
              </a:spcBef>
              <a:buSzPct val="100000"/>
            </a:pPr>
            <a:r>
              <a:rPr lang="en-US" sz="1200" i="1">
                <a:solidFill>
                  <a:srgbClr val="313131"/>
                </a:solidFill>
              </a:rPr>
              <a:t>HighRadius is the operational-depth benchmark with Zora also providing some coverage in these workflows</a:t>
            </a:r>
          </a:p>
        </p:txBody>
      </p:sp>
      <p:sp>
        <p:nvSpPr>
          <p:cNvPr id="34" name="TextBox 33">
            <a:extLst>
              <a:ext uri="{FF2B5EF4-FFF2-40B4-BE49-F238E27FC236}">
                <a16:creationId xmlns:a16="http://schemas.microsoft.com/office/drawing/2014/main" id="{E3DB2926-4099-2E45-AE47-B670102CEC84}"/>
              </a:ext>
            </a:extLst>
          </p:cNvPr>
          <p:cNvSpPr txBox="1"/>
          <p:nvPr/>
        </p:nvSpPr>
        <p:spPr>
          <a:xfrm>
            <a:off x="9070848" y="2441448"/>
            <a:ext cx="2688336" cy="2446824"/>
          </a:xfrm>
          <a:prstGeom prst="rect">
            <a:avLst/>
          </a:prstGeom>
          <a:solidFill>
            <a:schemeClr val="accent1">
              <a:lumMod val="20000"/>
              <a:lumOff val="80000"/>
            </a:schemeClr>
          </a:solidFill>
        </p:spPr>
        <p:txBody>
          <a:bodyPr wrap="square" lIns="0" tIns="0" rIns="0" bIns="0" rtlCol="0">
            <a:noAutofit/>
          </a:bodyPr>
          <a:lstStyle/>
          <a:p>
            <a:pPr>
              <a:spcBef>
                <a:spcPts val="600"/>
              </a:spcBef>
              <a:buSzPct val="100000"/>
            </a:pPr>
            <a:r>
              <a:rPr lang="en-US" sz="1200" b="1">
                <a:solidFill>
                  <a:srgbClr val="313131"/>
                </a:solidFill>
              </a:rPr>
              <a:t>Representative Agents</a:t>
            </a:r>
          </a:p>
          <a:p>
            <a:pPr>
              <a:spcBef>
                <a:spcPts val="600"/>
              </a:spcBef>
              <a:buSzPct val="100000"/>
            </a:pPr>
            <a:r>
              <a:rPr lang="en-US" sz="1200" b="1">
                <a:solidFill>
                  <a:srgbClr val="313131"/>
                </a:solidFill>
              </a:rPr>
              <a:t>Zora: </a:t>
            </a:r>
            <a:r>
              <a:rPr lang="en-US" sz="1200">
                <a:solidFill>
                  <a:srgbClr val="313131"/>
                </a:solidFill>
              </a:rPr>
              <a:t>Autonomous Invoice Management, Payments, Expense Management and Supply Chain Finance</a:t>
            </a:r>
          </a:p>
          <a:p>
            <a:pPr>
              <a:spcBef>
                <a:spcPts val="600"/>
              </a:spcBef>
              <a:buSzPct val="100000"/>
            </a:pPr>
            <a:r>
              <a:rPr lang="en-US" sz="1200" b="1">
                <a:solidFill>
                  <a:srgbClr val="313131"/>
                </a:solidFill>
              </a:rPr>
              <a:t>HighRadius: </a:t>
            </a:r>
            <a:r>
              <a:rPr lang="en-US" sz="1200">
                <a:solidFill>
                  <a:srgbClr val="313131"/>
                </a:solidFill>
              </a:rPr>
              <a:t>Invoice capture, matching, coding, approval, posting and payments</a:t>
            </a:r>
          </a:p>
          <a:p>
            <a:pPr>
              <a:spcBef>
                <a:spcPts val="600"/>
              </a:spcBef>
              <a:buSzPct val="100000"/>
            </a:pPr>
            <a:r>
              <a:rPr lang="en-US" sz="1200" b="1">
                <a:solidFill>
                  <a:srgbClr val="313131"/>
                </a:solidFill>
              </a:rPr>
              <a:t>Coupa: </a:t>
            </a:r>
            <a:r>
              <a:rPr lang="en-US" sz="1200">
                <a:solidFill>
                  <a:srgbClr val="313131"/>
                </a:solidFill>
              </a:rPr>
              <a:t>Payment Analysis, Discount Capture, Fraud Management, Expenses, Sourcing and Supplier Onboarding</a:t>
            </a:r>
          </a:p>
          <a:p>
            <a:pPr>
              <a:spcBef>
                <a:spcPts val="600"/>
              </a:spcBef>
              <a:buSzPct val="100000"/>
            </a:pPr>
            <a:r>
              <a:rPr lang="en-US" sz="1200" b="1">
                <a:solidFill>
                  <a:srgbClr val="313131"/>
                </a:solidFill>
              </a:rPr>
              <a:t>SAP: </a:t>
            </a:r>
            <a:r>
              <a:rPr lang="en-US" sz="1200">
                <a:solidFill>
                  <a:srgbClr val="313131"/>
                </a:solidFill>
              </a:rPr>
              <a:t>Invoice Management, Supplier Invoice, sourcing and procurement</a:t>
            </a:r>
          </a:p>
        </p:txBody>
      </p:sp>
      <p:sp>
        <p:nvSpPr>
          <p:cNvPr id="36" name="TextBox 35">
            <a:extLst>
              <a:ext uri="{FF2B5EF4-FFF2-40B4-BE49-F238E27FC236}">
                <a16:creationId xmlns:a16="http://schemas.microsoft.com/office/drawing/2014/main" id="{305F54BA-E357-AB15-08E2-5ABAB8E38774}"/>
              </a:ext>
            </a:extLst>
          </p:cNvPr>
          <p:cNvSpPr txBox="1"/>
          <p:nvPr/>
        </p:nvSpPr>
        <p:spPr>
          <a:xfrm>
            <a:off x="9070848" y="5090107"/>
            <a:ext cx="2660904" cy="738664"/>
          </a:xfrm>
          <a:prstGeom prst="rect">
            <a:avLst/>
          </a:prstGeom>
          <a:noFill/>
        </p:spPr>
        <p:txBody>
          <a:bodyPr wrap="square" lIns="0" tIns="0" rIns="0" bIns="0" rtlCol="0">
            <a:spAutoFit/>
          </a:bodyPr>
          <a:lstStyle/>
          <a:p>
            <a:pPr>
              <a:spcBef>
                <a:spcPts val="1200"/>
              </a:spcBef>
              <a:buSzPct val="100000"/>
            </a:pPr>
            <a:r>
              <a:rPr lang="en-US" sz="1200" i="1">
                <a:solidFill>
                  <a:srgbClr val="313131"/>
                </a:solidFill>
              </a:rPr>
              <a:t>Coupa and SAP have native application advantages; Zora can lead where invoice, expense or payment outcomes cross application boundaries</a:t>
            </a:r>
          </a:p>
        </p:txBody>
      </p:sp>
    </p:spTree>
    <p:extLst>
      <p:ext uri="{BB962C8B-B14F-4D97-AF65-F5344CB8AC3E}">
        <p14:creationId xmlns:p14="http://schemas.microsoft.com/office/powerpoint/2010/main" val="313990128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24308-E0FF-5210-2DF8-6F9499D08BEC}"/>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1F9B0F8-2B3A-58C8-4FA8-19382FA00F1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6" progId="TCLayout.ActiveDocument.1">
                  <p:embed/>
                </p:oleObj>
              </mc:Choice>
              <mc:Fallback>
                <p:oleObj name="think-cell Slide" r:id="rId3" imgW="424" imgH="426" progId="TCLayout.ActiveDocument.1">
                  <p:embed/>
                  <p:pic>
                    <p:nvPicPr>
                      <p:cNvPr id="3" name="think-cell data - do not delete" hidden="1">
                        <a:extLst>
                          <a:ext uri="{FF2B5EF4-FFF2-40B4-BE49-F238E27FC236}">
                            <a16:creationId xmlns:a16="http://schemas.microsoft.com/office/drawing/2014/main" id="{F1F9B0F8-2B3A-58C8-4FA8-19382FA00F1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B324F71-19F8-6BC1-9A59-BAFAFC11ACC2}"/>
              </a:ext>
            </a:extLst>
          </p:cNvPr>
          <p:cNvSpPr>
            <a:spLocks noGrp="1"/>
          </p:cNvSpPr>
          <p:nvPr>
            <p:ph type="title"/>
          </p:nvPr>
        </p:nvSpPr>
        <p:spPr>
          <a:xfrm>
            <a:off x="792480" y="4456176"/>
            <a:ext cx="11274552" cy="1592403"/>
          </a:xfrm>
        </p:spPr>
        <p:txBody>
          <a:bodyPr vert="horz" rIns="0"/>
          <a:lstStyle/>
          <a:p>
            <a:r>
              <a:rPr lang="en-US" sz="2800"/>
              <a:t>Competitor Profiles: </a:t>
            </a:r>
            <a:r>
              <a:rPr lang="en-US" sz="2800" i="1">
                <a:solidFill>
                  <a:srgbClr val="007680"/>
                </a:solidFill>
              </a:rPr>
              <a:t>Big 4 and Consulting </a:t>
            </a:r>
          </a:p>
        </p:txBody>
      </p:sp>
    </p:spTree>
    <p:extLst>
      <p:ext uri="{BB962C8B-B14F-4D97-AF65-F5344CB8AC3E}">
        <p14:creationId xmlns:p14="http://schemas.microsoft.com/office/powerpoint/2010/main" val="154569608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A2847D5-CE08-1BA4-4CA2-AB8DC5D084F7}"/>
              </a:ext>
            </a:extLst>
          </p:cNvPr>
          <p:cNvGraphicFramePr>
            <a:graphicFrameLocks/>
          </p:cNvGraphicFramePr>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 imgW="405" imgH="405" progId="TCLayout.ActiveDocument.1">
                  <p:embed/>
                </p:oleObj>
              </mc:Choice>
              <mc:Fallback>
                <p:oleObj name="think-cell Slide" r:id="rId2" imgW="405" imgH="405" progId="TCLayout.ActiveDocument.1">
                  <p:embed/>
                  <p:pic>
                    <p:nvPicPr>
                      <p:cNvPr id="3" name="think-cell data - do not delete" hidden="1">
                        <a:extLst>
                          <a:ext uri="{FF2B5EF4-FFF2-40B4-BE49-F238E27FC236}">
                            <a16:creationId xmlns:a16="http://schemas.microsoft.com/office/drawing/2014/main" id="{AA2847D5-CE08-1BA4-4CA2-AB8DC5D084F7}"/>
                          </a:ext>
                        </a:extLst>
                      </p:cNvPr>
                      <p:cNvPicPr/>
                      <p:nvPr/>
                    </p:nvPicPr>
                    <p:blipFill>
                      <a:blip r:embed="rId3"/>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6DE3281A-5C32-172F-315C-6F1FC9843BE2}"/>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00AF316-8580-1B8E-D70F-E59361888174}"/>
              </a:ext>
            </a:extLst>
          </p:cNvPr>
          <p:cNvSpPr>
            <a:spLocks noGrp="1"/>
          </p:cNvSpPr>
          <p:nvPr>
            <p:ph type="title"/>
          </p:nvPr>
        </p:nvSpPr>
        <p:spPr/>
        <p:txBody>
          <a:bodyPr vert="horz" rIns="0"/>
          <a:lstStyle/>
          <a:p>
            <a:r>
              <a:rPr lang="en-US" sz="2000" b="1">
                <a:solidFill>
                  <a:srgbClr val="282728"/>
                </a:solidFill>
                <a:latin typeface="Aptos"/>
              </a:rPr>
              <a:t>Accenture</a:t>
            </a:r>
            <a:endParaRPr lang="en-US"/>
          </a:p>
        </p:txBody>
      </p:sp>
      <p:sp>
        <p:nvSpPr>
          <p:cNvPr id="4" name="TextBox 3">
            <a:extLst>
              <a:ext uri="{FF2B5EF4-FFF2-40B4-BE49-F238E27FC236}">
                <a16:creationId xmlns:a16="http://schemas.microsoft.com/office/drawing/2014/main" id="{65BE17C4-51E5-6F60-C75A-E994B6F939FA}"/>
              </a:ext>
            </a:extLst>
          </p:cNvPr>
          <p:cNvSpPr txBox="1"/>
          <p:nvPr/>
        </p:nvSpPr>
        <p:spPr>
          <a:xfrm>
            <a:off x="382772" y="687992"/>
            <a:ext cx="1006754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AI Refinery helps clients build agents; Zora brings pre-built agents ready to deploy</a:t>
            </a:r>
            <a:endParaRPr kumimoji="0" sz="1400" b="1" i="1" u="sng" strike="noStrike" kern="1200" cap="none" spc="0" normalizeH="0" baseline="0" noProof="0">
              <a:ln>
                <a:noFill/>
              </a:ln>
              <a:solidFill>
                <a:prstClr val="black"/>
              </a:solidFill>
              <a:effectLst/>
              <a:uLnTx/>
              <a:uFillTx/>
              <a:latin typeface="Aptos"/>
              <a:ea typeface="+mn-ea"/>
              <a:cs typeface="+mn-cs"/>
            </a:endParaRPr>
          </a:p>
        </p:txBody>
      </p:sp>
      <p:pic>
        <p:nvPicPr>
          <p:cNvPr id="5" name="Picture 4" descr="Accenture logo and symbol, meaning, history, PNG, brand">
            <a:extLst>
              <a:ext uri="{FF2B5EF4-FFF2-40B4-BE49-F238E27FC236}">
                <a16:creationId xmlns:a16="http://schemas.microsoft.com/office/drawing/2014/main" id="{B2196FA0-788F-1757-2546-C46A398DEB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4481" y="86996"/>
            <a:ext cx="1077271" cy="59050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C502F34-8799-8A60-A088-B3AFB348ABAD}"/>
              </a:ext>
            </a:extLst>
          </p:cNvPr>
          <p:cNvSpPr txBox="1"/>
          <p:nvPr/>
        </p:nvSpPr>
        <p:spPr>
          <a:xfrm>
            <a:off x="3222171" y="1106424"/>
            <a:ext cx="8509580" cy="335476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Accenture AI Refinery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AI Refinery combines an agent-building platform with Accenture consulting and managed services to build, customize, orchestrate and run multi-agent solutions.</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It also offers pre-built agents across functions and Industries as part of Industry Agent Solutions.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Accenture winning compared to Zora?</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Agent-building breadth</a:t>
            </a:r>
            <a:r>
              <a:rPr kumimoji="0" lang="en-US" sz="1200" b="0" i="0" u="none" strike="noStrike" kern="1200" cap="none" spc="0" normalizeH="0" baseline="0" noProof="0">
                <a:ln>
                  <a:noFill/>
                </a:ln>
                <a:solidFill>
                  <a:srgbClr val="313131"/>
                </a:solidFill>
                <a:effectLst/>
                <a:uLnTx/>
                <a:uFillTx/>
                <a:latin typeface="Aptos"/>
                <a:ea typeface="+mn-ea"/>
                <a:cs typeface="+mn-cs"/>
              </a:rPr>
              <a:t> – Helps clients build a reusable, in-house agent development capability.</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hlinkClick r:id="rId6"/>
              </a:rPr>
              <a:t>Domain breadth </a:t>
            </a:r>
            <a:r>
              <a:rPr kumimoji="0" lang="en-US" sz="1200" b="0" i="0" u="none" strike="noStrike" kern="1200" cap="none" spc="0" normalizeH="0" baseline="0" noProof="0">
                <a:ln>
                  <a:noFill/>
                </a:ln>
                <a:solidFill>
                  <a:srgbClr val="313131"/>
                </a:solidFill>
                <a:effectLst/>
                <a:uLnTx/>
                <a:uFillTx/>
                <a:latin typeface="Aptos"/>
                <a:ea typeface="+mn-ea"/>
                <a:cs typeface="+mn-cs"/>
              </a:rPr>
              <a:t>– Offers 100+ customizable solutions across supply chain, insurance, credit, sales, asset troubleshooting and revenue growth.</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Customer evidence – Public deployments include ESPN, HPE, Noli and the United Nations.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AI Refinery?</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hlinkClick r:id="rId7"/>
              </a:rPr>
              <a:t>Deeper finance workflows</a:t>
            </a:r>
            <a:r>
              <a:rPr kumimoji="0" lang="en-US" sz="1200" b="0" i="0" u="none" strike="noStrike" kern="1200" cap="none" spc="0" normalizeH="0" baseline="0" noProof="0">
                <a:ln>
                  <a:noFill/>
                </a:ln>
                <a:solidFill>
                  <a:srgbClr val="313131"/>
                </a:solidFill>
                <a:effectLst/>
                <a:uLnTx/>
                <a:uFillTx/>
                <a:latin typeface="Aptos"/>
                <a:ea typeface="+mn-ea"/>
                <a:cs typeface="+mn-cs"/>
              </a:rPr>
              <a:t> – Covers expense and invoice management, financial analysis, scenario modelling and reporting; Accenture publicly highlights mainly order-to-cash.</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Lower client build effort – Less customization and configuration may accelerate time to value.</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Clearer native controls – AI Refinery’s built-in governance and monitoring are less evident in public disclosures.</a:t>
            </a:r>
          </a:p>
        </p:txBody>
      </p:sp>
      <p:sp>
        <p:nvSpPr>
          <p:cNvPr id="7" name="Rectangle 6">
            <a:extLst>
              <a:ext uri="{FF2B5EF4-FFF2-40B4-BE49-F238E27FC236}">
                <a16:creationId xmlns:a16="http://schemas.microsoft.com/office/drawing/2014/main" id="{FE2235EB-6D2A-76CA-E0FC-2C3C12593089}"/>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Lead with packaged outcomes: </a:t>
            </a:r>
            <a:r>
              <a:rPr kumimoji="0" lang="en-US" sz="1200" b="0" i="0" u="none" strike="noStrike" kern="1200" cap="none" spc="0" normalizeH="0" baseline="0" noProof="0">
                <a:ln>
                  <a:noFill/>
                </a:ln>
                <a:solidFill>
                  <a:prstClr val="black"/>
                </a:solidFill>
                <a:effectLst/>
                <a:uLnTx/>
                <a:uFillTx/>
                <a:latin typeface="Aptos"/>
                <a:ea typeface="+mn-ea"/>
                <a:cs typeface="+mn-cs"/>
              </a:rPr>
              <a:t>Show specific finance, procurement, tax, audit and HR results with less custom assembly.</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Prove domain depth: </a:t>
            </a:r>
            <a:r>
              <a:rPr kumimoji="0" lang="en-US" sz="1200" b="0" i="0" u="none" strike="noStrike" kern="1200" cap="none" spc="0" normalizeH="0" baseline="0" noProof="0">
                <a:ln>
                  <a:noFill/>
                </a:ln>
                <a:solidFill>
                  <a:prstClr val="black"/>
                </a:solidFill>
                <a:effectLst/>
                <a:uLnTx/>
                <a:uFillTx/>
                <a:latin typeface="Aptos"/>
                <a:ea typeface="+mn-ea"/>
                <a:cs typeface="+mn-cs"/>
              </a:rPr>
              <a:t>Highlight agent workflows, controls, decision logic and measurable outcomes.</a:t>
            </a:r>
          </a:p>
        </p:txBody>
      </p:sp>
      <p:sp>
        <p:nvSpPr>
          <p:cNvPr id="9" name="Rectangle: Rounded Corners 8">
            <a:extLst>
              <a:ext uri="{FF2B5EF4-FFF2-40B4-BE49-F238E27FC236}">
                <a16:creationId xmlns:a16="http://schemas.microsoft.com/office/drawing/2014/main" id="{6F88F399-8BD3-2EC5-5C66-7CC784B47D81}"/>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8DBCDE31-59B8-AB6A-F578-7C92A510CD3B}"/>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Rectangle: Rounded Corners 12">
            <a:extLst>
              <a:ext uri="{FF2B5EF4-FFF2-40B4-BE49-F238E27FC236}">
                <a16:creationId xmlns:a16="http://schemas.microsoft.com/office/drawing/2014/main" id="{ECA8D151-98DA-EABF-E998-FF9114BDD0AB}"/>
              </a:ext>
            </a:extLst>
          </p:cNvPr>
          <p:cNvSpPr/>
          <p:nvPr/>
        </p:nvSpPr>
        <p:spPr bwMode="gray">
          <a:xfrm>
            <a:off x="1259176" y="1971024"/>
            <a:ext cx="731520" cy="1463040"/>
          </a:xfrm>
          <a:prstGeom prst="roundRect">
            <a:avLst/>
          </a:prstGeom>
          <a:solidFill>
            <a:srgbClr val="E8F6CF"/>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a:ea typeface="+mn-ea"/>
                <a:cs typeface="+mn-cs"/>
              </a:rPr>
              <a:t>Industry Agent Solutions</a:t>
            </a:r>
          </a:p>
        </p:txBody>
      </p:sp>
      <p:sp>
        <p:nvSpPr>
          <p:cNvPr id="15" name="Rectangle: Rounded Corners 14">
            <a:extLst>
              <a:ext uri="{FF2B5EF4-FFF2-40B4-BE49-F238E27FC236}">
                <a16:creationId xmlns:a16="http://schemas.microsoft.com/office/drawing/2014/main" id="{E79BF74C-3121-F4F2-8B55-44B416C69C34}"/>
              </a:ext>
            </a:extLst>
          </p:cNvPr>
          <p:cNvSpPr/>
          <p:nvPr/>
        </p:nvSpPr>
        <p:spPr bwMode="gray">
          <a:xfrm>
            <a:off x="2045039" y="1971024"/>
            <a:ext cx="731520" cy="1463040"/>
          </a:xfrm>
          <a:prstGeom prst="roundRect">
            <a:avLst/>
          </a:prstGeom>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p:txBody>
      </p:sp>
      <p:sp>
        <p:nvSpPr>
          <p:cNvPr id="17" name="Rectangle: Rounded Corners 16">
            <a:extLst>
              <a:ext uri="{FF2B5EF4-FFF2-40B4-BE49-F238E27FC236}">
                <a16:creationId xmlns:a16="http://schemas.microsoft.com/office/drawing/2014/main" id="{DFD79168-02D1-D60E-0E8F-C38047913285}"/>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1"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1" u="none" strike="noStrike" kern="1200" cap="none" spc="0" normalizeH="0" baseline="0" noProof="0">
                <a:ln>
                  <a:noFill/>
                </a:ln>
                <a:solidFill>
                  <a:prstClr val="black"/>
                </a:solidFill>
                <a:effectLst/>
                <a:uLnTx/>
                <a:uFillTx/>
                <a:latin typeface="Aptos"/>
                <a:ea typeface="+mn-ea"/>
                <a:cs typeface="+mn-cs"/>
              </a:rPr>
              <a:t>AI Refinery</a:t>
            </a:r>
          </a:p>
        </p:txBody>
      </p:sp>
      <p:sp>
        <p:nvSpPr>
          <p:cNvPr id="22" name="TextBox 21">
            <a:extLst>
              <a:ext uri="{FF2B5EF4-FFF2-40B4-BE49-F238E27FC236}">
                <a16:creationId xmlns:a16="http://schemas.microsoft.com/office/drawing/2014/main" id="{BC7A7766-1102-D869-1CAC-FAA1B2160E52}"/>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9637B59D-28C9-F601-8D00-6C9BFD6741B6}"/>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0FA73730-A282-2D0D-B959-AECC3B439523}"/>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A8BEC6DD-994F-B099-8C14-7ED219A0729D}"/>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D800A5B8-5D39-CA91-8B1A-8583B568A0BF}"/>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D2480296-9768-6026-B05F-60B25AB71753}"/>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A0F6D7BC-C988-9A36-CE4B-D704CA1A370B}"/>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3DFC675-66F6-9DAB-EC3D-78E1F7F3E2A8}"/>
              </a:ext>
            </a:extLst>
          </p:cNvPr>
          <p:cNvGraphicFramePr>
            <a:graphicFrameLocks/>
          </p:cNvGraphicFramePr>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 imgW="405" imgH="405" progId="TCLayout.ActiveDocument.1">
                  <p:embed/>
                </p:oleObj>
              </mc:Choice>
              <mc:Fallback>
                <p:oleObj name="think-cell Slide" r:id="rId2" imgW="405" imgH="405" progId="TCLayout.ActiveDocument.1">
                  <p:embed/>
                  <p:pic>
                    <p:nvPicPr>
                      <p:cNvPr id="3" name="think-cell data - do not delete" hidden="1">
                        <a:extLst>
                          <a:ext uri="{FF2B5EF4-FFF2-40B4-BE49-F238E27FC236}">
                            <a16:creationId xmlns:a16="http://schemas.microsoft.com/office/drawing/2014/main" id="{63DFC675-66F6-9DAB-EC3D-78E1F7F3E2A8}"/>
                          </a:ext>
                        </a:extLst>
                      </p:cNvPr>
                      <p:cNvPicPr/>
                      <p:nvPr/>
                    </p:nvPicPr>
                    <p:blipFill>
                      <a:blip r:embed="rId3"/>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8E272FBD-D58E-9ECD-2729-CD962279DAB1}"/>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643BC66-1880-79EF-F741-BD630918F524}"/>
              </a:ext>
            </a:extLst>
          </p:cNvPr>
          <p:cNvSpPr>
            <a:spLocks noGrp="1"/>
          </p:cNvSpPr>
          <p:nvPr>
            <p:ph type="title"/>
          </p:nvPr>
        </p:nvSpPr>
        <p:spPr/>
        <p:txBody>
          <a:bodyPr vert="horz" rIns="0"/>
          <a:lstStyle/>
          <a:p>
            <a:r>
              <a:rPr lang="en-US" sz="2000" b="1">
                <a:solidFill>
                  <a:srgbClr val="282728"/>
                </a:solidFill>
                <a:latin typeface="Aptos"/>
              </a:rPr>
              <a:t>PwC</a:t>
            </a:r>
            <a:endParaRPr lang="en-US"/>
          </a:p>
        </p:txBody>
      </p:sp>
      <p:sp>
        <p:nvSpPr>
          <p:cNvPr id="4" name="TextBox 3">
            <a:extLst>
              <a:ext uri="{FF2B5EF4-FFF2-40B4-BE49-F238E27FC236}">
                <a16:creationId xmlns:a16="http://schemas.microsoft.com/office/drawing/2014/main" id="{73A5F3AE-5E0F-E689-ECA7-D0502EF5ECD2}"/>
              </a:ext>
            </a:extLst>
          </p:cNvPr>
          <p:cNvSpPr txBox="1"/>
          <p:nvPr/>
        </p:nvSpPr>
        <p:spPr>
          <a:xfrm>
            <a:off x="382772" y="687992"/>
            <a:ext cx="1006754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PwC helps clients build agents using a broad modular catalog; Zora brings pre-built agents ready to deploy</a:t>
            </a:r>
          </a:p>
        </p:txBody>
      </p:sp>
      <p:sp>
        <p:nvSpPr>
          <p:cNvPr id="6" name="TextBox 5">
            <a:extLst>
              <a:ext uri="{FF2B5EF4-FFF2-40B4-BE49-F238E27FC236}">
                <a16:creationId xmlns:a16="http://schemas.microsoft.com/office/drawing/2014/main" id="{EFFC302B-0FF6-3281-0C45-559B4AA01157}"/>
              </a:ext>
            </a:extLst>
          </p:cNvPr>
          <p:cNvSpPr txBox="1"/>
          <p:nvPr/>
        </p:nvSpPr>
        <p:spPr>
          <a:xfrm>
            <a:off x="3222171" y="1106424"/>
            <a:ext cx="8509580" cy="294439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PwC Offering different from Zora?</a:t>
            </a:r>
          </a:p>
          <a:p>
            <a:pPr marL="203200" marR="0" lvl="0" indent="-203200" algn="l" defTabSz="914400" rtl="0" eaLnBrk="1" fontAlgn="auto" latinLnBrk="0" hangingPunct="1">
              <a:lnSpc>
                <a:spcPct val="100000"/>
              </a:lnSpc>
              <a:spcBef>
                <a:spcPts val="2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PwC Agent OS combines a cross-vendor operating layer, modular agents and reusable workflows.</a:t>
            </a:r>
          </a:p>
          <a:p>
            <a:pPr marL="203200" marR="0" lvl="0" indent="-203200" algn="l" defTabSz="914400" rtl="0" eaLnBrk="1" fontAlgn="auto" latinLnBrk="0" hangingPunct="1">
              <a:lnSpc>
                <a:spcPct val="100000"/>
              </a:lnSpc>
              <a:spcBef>
                <a:spcPts val="2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Google Cloud provides the technology foundation; </a:t>
            </a:r>
            <a:r>
              <a:rPr kumimoji="0" lang="en-US" sz="1200" b="0" i="0" u="none" strike="noStrike" kern="1200" cap="none" spc="0" normalizeH="0" baseline="0" noProof="0" err="1">
                <a:ln>
                  <a:noFill/>
                </a:ln>
                <a:solidFill>
                  <a:srgbClr val="313131"/>
                </a:solidFill>
                <a:effectLst/>
                <a:uLnTx/>
                <a:uFillTx/>
                <a:latin typeface="Aptos"/>
                <a:ea typeface="+mn-ea"/>
                <a:cs typeface="+mn-cs"/>
              </a:rPr>
              <a:t>CrewAI</a:t>
            </a:r>
            <a:r>
              <a:rPr kumimoji="0" lang="en-US" sz="1200" b="0" i="0" u="none" strike="noStrike" kern="1200" cap="none" spc="0" normalizeH="0" baseline="0" noProof="0">
                <a:ln>
                  <a:noFill/>
                </a:ln>
                <a:solidFill>
                  <a:srgbClr val="313131"/>
                </a:solidFill>
                <a:effectLst/>
                <a:uLnTx/>
                <a:uFillTx/>
                <a:latin typeface="Aptos"/>
                <a:ea typeface="+mn-ea"/>
                <a:cs typeface="+mn-cs"/>
              </a:rPr>
              <a:t> adds multi-agent orchestration, observability and secure execution.</a:t>
            </a:r>
          </a:p>
          <a:p>
            <a:pPr marL="203200" marR="0" lvl="0" indent="-203200" algn="l" defTabSz="914400" rtl="0" eaLnBrk="1" fontAlgn="auto" latinLnBrk="0" hangingPunct="1">
              <a:lnSpc>
                <a:spcPct val="100000"/>
              </a:lnSpc>
              <a:spcBef>
                <a:spcPts val="2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Zora packages Deloitte domain IP into ready-to-deploy workers for specific business functions.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PwC winning compared to Zora?</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hlinkClick r:id="rId4"/>
              </a:rPr>
              <a:t>Universal orchestration</a:t>
            </a:r>
            <a:r>
              <a:rPr kumimoji="0" lang="en-US" sz="1200" b="0" i="0" u="none" strike="noStrike" kern="1200" cap="none" spc="0" normalizeH="0" baseline="0" noProof="0">
                <a:ln>
                  <a:noFill/>
                </a:ln>
                <a:solidFill>
                  <a:srgbClr val="313131"/>
                </a:solidFill>
                <a:effectLst/>
                <a:uLnTx/>
                <a:uFillTx/>
                <a:latin typeface="Aptos"/>
                <a:ea typeface="+mn-ea"/>
                <a:cs typeface="+mn-cs"/>
              </a:rPr>
              <a:t> – Coordinates agents across platforms with centralized access, monitoring and governance.</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Broader agent catalog</a:t>
            </a:r>
            <a:r>
              <a:rPr kumimoji="0" lang="en-US" sz="1200" b="0" i="0" u="none" strike="noStrike" kern="1200" cap="none" spc="0" normalizeH="0" baseline="0" noProof="0">
                <a:ln>
                  <a:noFill/>
                </a:ln>
                <a:solidFill>
                  <a:srgbClr val="313131"/>
                </a:solidFill>
                <a:effectLst/>
                <a:uLnTx/>
                <a:uFillTx/>
                <a:latin typeface="Aptos"/>
                <a:ea typeface="+mn-ea"/>
                <a:cs typeface="+mn-cs"/>
              </a:rPr>
              <a:t> – PwC reports 100+ available agents and 200 more planned with Google Cloud, designed for modular reuse.</a:t>
            </a:r>
            <a:endParaRPr kumimoji="0" lang="en-US" sz="1200" b="0" i="0" u="none" strike="noStrike" kern="1200" cap="none" spc="0" normalizeH="0" baseline="0" noProof="0">
              <a:ln>
                <a:noFill/>
              </a:ln>
              <a:solidFill>
                <a:srgbClr val="313131"/>
              </a:solidFill>
              <a:effectLst/>
              <a:uLnTx/>
              <a:uFillTx/>
              <a:latin typeface="Aptos"/>
              <a:ea typeface="+mn-ea"/>
              <a:cs typeface="+mn-cs"/>
              <a:hlinkClick r:id="rId5"/>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PwC?</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Deeper finance workflows – Zora details deployment-ready finance </a:t>
            </a:r>
            <a:r>
              <a:rPr lang="en-US" sz="1200">
                <a:solidFill>
                  <a:srgbClr val="313131"/>
                </a:solidFill>
                <a:latin typeface="Aptos"/>
              </a:rPr>
              <a:t>workflows</a:t>
            </a:r>
            <a:r>
              <a:rPr kumimoji="0" lang="en-US" sz="1200" b="0" i="0" u="none" strike="noStrike" kern="1200" cap="none" spc="0" normalizeH="0" baseline="0" noProof="0">
                <a:ln>
                  <a:noFill/>
                </a:ln>
                <a:solidFill>
                  <a:srgbClr val="313131"/>
                </a:solidFill>
                <a:effectLst/>
                <a:uLnTx/>
                <a:uFillTx/>
                <a:latin typeface="Aptos"/>
                <a:ea typeface="+mn-ea"/>
                <a:cs typeface="+mn-cs"/>
              </a:rPr>
              <a:t>; PwC emphasizes platform breadth and catalog scale.</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Greater deployment portability – Zora targets consistent outcomes across infrastructures and enterprise applications; PwC’s agent portfolio relies heavily on Google Cloud technologies.</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Faster time to value – Less client-side assembly and configuration may speed up deployment.</a:t>
            </a:r>
          </a:p>
        </p:txBody>
      </p:sp>
      <p:sp>
        <p:nvSpPr>
          <p:cNvPr id="7" name="Rectangle 6">
            <a:extLst>
              <a:ext uri="{FF2B5EF4-FFF2-40B4-BE49-F238E27FC236}">
                <a16:creationId xmlns:a16="http://schemas.microsoft.com/office/drawing/2014/main" id="{C9124414-766F-5B00-3273-14C277D6EEC9}"/>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Lead with packaged outcomes: </a:t>
            </a:r>
            <a:r>
              <a:rPr kumimoji="0" lang="en-US" sz="1200" b="0" i="0" u="none" strike="noStrike" kern="1200" cap="none" spc="0" normalizeH="0" baseline="0" noProof="0">
                <a:ln>
                  <a:noFill/>
                </a:ln>
                <a:solidFill>
                  <a:prstClr val="black"/>
                </a:solidFill>
                <a:effectLst/>
                <a:uLnTx/>
                <a:uFillTx/>
                <a:latin typeface="Aptos"/>
                <a:ea typeface="+mn-ea"/>
                <a:cs typeface="+mn-cs"/>
              </a:rPr>
              <a:t>Show specific finance, procurement, tax, audit and HR results with less custom assembly.</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Prove domain depth: </a:t>
            </a:r>
            <a:r>
              <a:rPr kumimoji="0" lang="en-US" sz="1200" b="0" i="0" u="none" strike="noStrike" kern="1200" cap="none" spc="0" normalizeH="0" baseline="0" noProof="0">
                <a:ln>
                  <a:noFill/>
                </a:ln>
                <a:solidFill>
                  <a:prstClr val="black"/>
                </a:solidFill>
                <a:effectLst/>
                <a:uLnTx/>
                <a:uFillTx/>
                <a:latin typeface="Aptos"/>
                <a:ea typeface="+mn-ea"/>
                <a:cs typeface="+mn-cs"/>
              </a:rPr>
              <a:t>Highlight agent workflows, controls, decision logic and measurable outcomes.</a:t>
            </a:r>
          </a:p>
        </p:txBody>
      </p:sp>
      <p:sp>
        <p:nvSpPr>
          <p:cNvPr id="9" name="Rectangle: Rounded Corners 8">
            <a:extLst>
              <a:ext uri="{FF2B5EF4-FFF2-40B4-BE49-F238E27FC236}">
                <a16:creationId xmlns:a16="http://schemas.microsoft.com/office/drawing/2014/main" id="{41D3C501-2B09-6B22-9FDC-5EA46F9B076E}"/>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F3D0D4C6-F210-64B7-6590-632E3F73A36D}"/>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Rectangle: Rounded Corners 12">
            <a:extLst>
              <a:ext uri="{FF2B5EF4-FFF2-40B4-BE49-F238E27FC236}">
                <a16:creationId xmlns:a16="http://schemas.microsoft.com/office/drawing/2014/main" id="{8495D1BC-BF3B-5447-F490-BBB863BEC21E}"/>
              </a:ext>
            </a:extLst>
          </p:cNvPr>
          <p:cNvSpPr/>
          <p:nvPr/>
        </p:nvSpPr>
        <p:spPr bwMode="gray">
          <a:xfrm>
            <a:off x="1259176"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a:ea typeface="+mn-ea"/>
                <a:cs typeface="+mn-cs"/>
              </a:rPr>
              <a:t>Modular industry agents for healthcare, life sciences, retail etc.</a:t>
            </a:r>
          </a:p>
        </p:txBody>
      </p:sp>
      <p:sp>
        <p:nvSpPr>
          <p:cNvPr id="15" name="Rectangle: Rounded Corners 14">
            <a:extLst>
              <a:ext uri="{FF2B5EF4-FFF2-40B4-BE49-F238E27FC236}">
                <a16:creationId xmlns:a16="http://schemas.microsoft.com/office/drawing/2014/main" id="{08155CEB-06B1-E53E-D192-E53285F17C2F}"/>
              </a:ext>
            </a:extLst>
          </p:cNvPr>
          <p:cNvSpPr/>
          <p:nvPr/>
        </p:nvSpPr>
        <p:spPr bwMode="gray">
          <a:xfrm>
            <a:off x="2045039"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7" name="Rectangle: Rounded Corners 16">
            <a:extLst>
              <a:ext uri="{FF2B5EF4-FFF2-40B4-BE49-F238E27FC236}">
                <a16:creationId xmlns:a16="http://schemas.microsoft.com/office/drawing/2014/main" id="{06D7DEAA-B470-1693-5410-236EBBA2A6B0}"/>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1"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1" u="none" strike="noStrike" kern="1200" cap="none" spc="0" normalizeH="0" baseline="0" noProof="0">
                <a:ln>
                  <a:noFill/>
                </a:ln>
                <a:solidFill>
                  <a:prstClr val="black"/>
                </a:solidFill>
                <a:effectLst/>
                <a:uLnTx/>
                <a:uFillTx/>
                <a:latin typeface="Aptos"/>
                <a:ea typeface="+mn-ea"/>
                <a:cs typeface="+mn-cs"/>
              </a:rPr>
              <a:t>PwC Agent OS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22" name="TextBox 21">
            <a:extLst>
              <a:ext uri="{FF2B5EF4-FFF2-40B4-BE49-F238E27FC236}">
                <a16:creationId xmlns:a16="http://schemas.microsoft.com/office/drawing/2014/main" id="{B562D157-A640-0A49-67BF-9D75DFA39DB9}"/>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1AC06CCC-B54F-C9D5-24F5-0BC47458808D}"/>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BFEAA84E-BF5C-8699-6C07-8C40BAE52659}"/>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8F658DE3-8D87-96A6-713B-D55A4CB5F324}"/>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AEDE4541-24F8-584F-4A22-41E3CA8B61D7}"/>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856F1F73-5AAF-5053-9FEC-7517B87F073E}"/>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FE119710-F170-C6E3-4BAB-03C485597499}"/>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1026" name="Picture 2" descr="PwC - Wikipedia">
            <a:extLst>
              <a:ext uri="{FF2B5EF4-FFF2-40B4-BE49-F238E27FC236}">
                <a16:creationId xmlns:a16="http://schemas.microsoft.com/office/drawing/2014/main" id="{7AFFCC9F-D522-588B-F8B8-EEDC45BDAC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08792" y="152529"/>
            <a:ext cx="680180" cy="3742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96D6780-48C4-9AEB-EB80-975B3985E3C7}"/>
              </a:ext>
            </a:extLst>
          </p:cNvPr>
          <p:cNvGraphicFramePr>
            <a:graphicFrameLocks/>
          </p:cNvGraphicFramePr>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 imgW="405" imgH="405" progId="TCLayout.ActiveDocument.1">
                  <p:embed/>
                </p:oleObj>
              </mc:Choice>
              <mc:Fallback>
                <p:oleObj name="think-cell Slide" r:id="rId2" imgW="405" imgH="405" progId="TCLayout.ActiveDocument.1">
                  <p:embed/>
                  <p:pic>
                    <p:nvPicPr>
                      <p:cNvPr id="3" name="think-cell data - do not delete" hidden="1">
                        <a:extLst>
                          <a:ext uri="{FF2B5EF4-FFF2-40B4-BE49-F238E27FC236}">
                            <a16:creationId xmlns:a16="http://schemas.microsoft.com/office/drawing/2014/main" id="{396D6780-48C4-9AEB-EB80-975B3985E3C7}"/>
                          </a:ext>
                        </a:extLst>
                      </p:cNvPr>
                      <p:cNvPicPr/>
                      <p:nvPr/>
                    </p:nvPicPr>
                    <p:blipFill>
                      <a:blip r:embed="rId3"/>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E4EE2981-927E-1376-5DF2-0B21EE4E4EB6}"/>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B779A2B-D949-1768-E0DF-B0A473FBE977}"/>
              </a:ext>
            </a:extLst>
          </p:cNvPr>
          <p:cNvSpPr>
            <a:spLocks noGrp="1"/>
          </p:cNvSpPr>
          <p:nvPr>
            <p:ph type="title"/>
          </p:nvPr>
        </p:nvSpPr>
        <p:spPr/>
        <p:txBody>
          <a:bodyPr vert="horz" rIns="0"/>
          <a:lstStyle/>
          <a:p>
            <a:r>
              <a:rPr lang="en-US" sz="2000" b="1">
                <a:solidFill>
                  <a:srgbClr val="282728"/>
                </a:solidFill>
                <a:latin typeface="Aptos"/>
              </a:rPr>
              <a:t>EY</a:t>
            </a:r>
            <a:endParaRPr lang="en-US"/>
          </a:p>
        </p:txBody>
      </p:sp>
      <p:sp>
        <p:nvSpPr>
          <p:cNvPr id="4" name="TextBox 3">
            <a:extLst>
              <a:ext uri="{FF2B5EF4-FFF2-40B4-BE49-F238E27FC236}">
                <a16:creationId xmlns:a16="http://schemas.microsoft.com/office/drawing/2014/main" id="{8DBCB237-B143-56EA-9D57-31BF8C387C61}"/>
              </a:ext>
            </a:extLst>
          </p:cNvPr>
          <p:cNvSpPr txBox="1"/>
          <p:nvPr/>
        </p:nvSpPr>
        <p:spPr>
          <a:xfrm>
            <a:off x="382772" y="687992"/>
            <a:ext cx="11000226"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EY offers broad agent enabling platforms along with a growing portfolio of deployable agents, but lacks uniform packaging like Zora</a:t>
            </a:r>
          </a:p>
        </p:txBody>
      </p:sp>
      <p:sp>
        <p:nvSpPr>
          <p:cNvPr id="6" name="TextBox 5">
            <a:extLst>
              <a:ext uri="{FF2B5EF4-FFF2-40B4-BE49-F238E27FC236}">
                <a16:creationId xmlns:a16="http://schemas.microsoft.com/office/drawing/2014/main" id="{0BEBA2DA-4DE3-3AC0-D3C4-D1C70FA1388B}"/>
              </a:ext>
            </a:extLst>
          </p:cNvPr>
          <p:cNvSpPr txBox="1"/>
          <p:nvPr/>
        </p:nvSpPr>
        <p:spPr>
          <a:xfrm>
            <a:off x="3222171" y="1106424"/>
            <a:ext cx="8509580" cy="32778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EY Offering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EY.ai is an agent enabling platform for consulting-led transformation across tax, audit, risk and finance.</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Publicly evidenced deployable agents are concentrated in tax and telecom.</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EY.ai supports both internal service delivery and commercial client deployment.</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EY winning compared to Zora?</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Tax depth – EY.ai for Tax automates notice intake, classification and workflows; EY India Tax Hub supports research, compliance and litigation.</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Alliance-led delivery – EY combines NVIDIA for its agentic platform, Microsoft for assurance and governance, and IBM </a:t>
            </a:r>
            <a:r>
              <a:rPr kumimoji="0" lang="en-US" sz="1200" b="0" i="0" u="none" strike="noStrike" kern="1200" cap="none" spc="0" normalizeH="0" baseline="0" noProof="0" err="1">
                <a:ln>
                  <a:noFill/>
                </a:ln>
                <a:solidFill>
                  <a:srgbClr val="313131"/>
                </a:solidFill>
                <a:effectLst/>
                <a:uLnTx/>
                <a:uFillTx/>
                <a:latin typeface="Aptos"/>
                <a:ea typeface="+mn-ea"/>
                <a:cs typeface="+mn-cs"/>
              </a:rPr>
              <a:t>watsonx</a:t>
            </a:r>
            <a:r>
              <a:rPr kumimoji="0" lang="en-US" sz="1200" b="0" i="0" u="none" strike="noStrike" kern="1200" cap="none" spc="0" normalizeH="0" baseline="0" noProof="0">
                <a:ln>
                  <a:noFill/>
                </a:ln>
                <a:solidFill>
                  <a:srgbClr val="313131"/>
                </a:solidFill>
                <a:effectLst/>
                <a:uLnTx/>
                <a:uFillTx/>
                <a:latin typeface="Aptos"/>
                <a:ea typeface="+mn-ea"/>
                <a:cs typeface="+mn-cs"/>
              </a:rPr>
              <a:t> for tax.</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EY?</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Clearer packaged proposition – Zora offers one suite of ready-to-deploy digital workers; EY’s portfolio is broader but more distributed across platforms.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Finance depth – Zora details CFO insights, invoice management and cash application; EY has no public evidence of deployable finance agents.</a:t>
            </a:r>
          </a:p>
        </p:txBody>
      </p:sp>
      <p:sp>
        <p:nvSpPr>
          <p:cNvPr id="7" name="Rectangle 6">
            <a:extLst>
              <a:ext uri="{FF2B5EF4-FFF2-40B4-BE49-F238E27FC236}">
                <a16:creationId xmlns:a16="http://schemas.microsoft.com/office/drawing/2014/main" id="{D2C7F2CF-0FAF-1D19-5E3E-37BA995F6F2C}"/>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Lead with simpler packaging: </a:t>
            </a:r>
            <a:r>
              <a:rPr kumimoji="0" lang="en-US" sz="1200" b="0" i="0" u="none" strike="noStrike" kern="1200" cap="none" spc="0" normalizeH="0" baseline="0" noProof="0">
                <a:ln>
                  <a:noFill/>
                </a:ln>
                <a:solidFill>
                  <a:prstClr val="black"/>
                </a:solidFill>
                <a:effectLst/>
                <a:uLnTx/>
                <a:uFillTx/>
                <a:latin typeface="Aptos"/>
                <a:ea typeface="+mn-ea"/>
                <a:cs typeface="+mn-cs"/>
              </a:rPr>
              <a:t>Position Zora as one platform of ready-to-deploy workers versus EY’s distributed portfolio.</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Prove finance depth: </a:t>
            </a:r>
            <a:r>
              <a:rPr kumimoji="0" lang="en-US" sz="1200" b="0" i="0" u="none" strike="noStrike" kern="1200" cap="none" spc="0" normalizeH="0" baseline="0" noProof="0">
                <a:ln>
                  <a:noFill/>
                </a:ln>
                <a:solidFill>
                  <a:prstClr val="black"/>
                </a:solidFill>
                <a:effectLst/>
                <a:uLnTx/>
                <a:uFillTx/>
                <a:latin typeface="Aptos"/>
                <a:ea typeface="+mn-ea"/>
                <a:cs typeface="+mn-cs"/>
              </a:rPr>
              <a:t>Highlight procure-to-pay, CFO analytics and other workflows where EY evidence is limited.</a:t>
            </a:r>
          </a:p>
        </p:txBody>
      </p:sp>
      <p:sp>
        <p:nvSpPr>
          <p:cNvPr id="9" name="Rectangle: Rounded Corners 8">
            <a:extLst>
              <a:ext uri="{FF2B5EF4-FFF2-40B4-BE49-F238E27FC236}">
                <a16:creationId xmlns:a16="http://schemas.microsoft.com/office/drawing/2014/main" id="{D11EE457-A6DD-2128-3FC1-9531103363FC}"/>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8D56D0E5-36D1-28B9-5B0B-508A7AE798CF}"/>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Rectangle: Rounded Corners 12">
            <a:extLst>
              <a:ext uri="{FF2B5EF4-FFF2-40B4-BE49-F238E27FC236}">
                <a16:creationId xmlns:a16="http://schemas.microsoft.com/office/drawing/2014/main" id="{EA1B4D89-3076-A08D-054A-70DAF85A7C77}"/>
              </a:ext>
            </a:extLst>
          </p:cNvPr>
          <p:cNvSpPr/>
          <p:nvPr/>
        </p:nvSpPr>
        <p:spPr bwMode="gray">
          <a:xfrm>
            <a:off x="1259176"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Aptos"/>
                <a:ea typeface="+mn-ea"/>
                <a:cs typeface="+mn-cs"/>
              </a:rPr>
              <a:t>Deployable agents for Tax in EY India Tax Hub, EY.ai for Tax</a:t>
            </a:r>
          </a:p>
        </p:txBody>
      </p:sp>
      <p:sp>
        <p:nvSpPr>
          <p:cNvPr id="15" name="Rectangle: Rounded Corners 14">
            <a:extLst>
              <a:ext uri="{FF2B5EF4-FFF2-40B4-BE49-F238E27FC236}">
                <a16:creationId xmlns:a16="http://schemas.microsoft.com/office/drawing/2014/main" id="{38957428-1C95-8CBF-B094-3907939B0F53}"/>
              </a:ext>
            </a:extLst>
          </p:cNvPr>
          <p:cNvSpPr/>
          <p:nvPr/>
        </p:nvSpPr>
        <p:spPr bwMode="gray">
          <a:xfrm>
            <a:off x="2045039"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7" name="Rectangle: Rounded Corners 16">
            <a:extLst>
              <a:ext uri="{FF2B5EF4-FFF2-40B4-BE49-F238E27FC236}">
                <a16:creationId xmlns:a16="http://schemas.microsoft.com/office/drawing/2014/main" id="{FFF1DF01-EC56-3E5D-EFB0-6A0A40CA2CEC}"/>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0" i="0" u="none" strike="noStrike" kern="1200" cap="none" spc="0" normalizeH="0" baseline="0" noProof="0" err="1">
                <a:ln>
                  <a:noFill/>
                </a:ln>
                <a:solidFill>
                  <a:prstClr val="black"/>
                </a:solidFill>
                <a:effectLst/>
                <a:uLnTx/>
                <a:uFillTx/>
                <a:latin typeface="Aptos"/>
                <a:ea typeface="+mn-ea"/>
                <a:cs typeface="+mn-cs"/>
              </a:rPr>
              <a:t>EY,ai</a:t>
            </a:r>
            <a:r>
              <a:rPr kumimoji="0" lang="en-US" sz="800" b="0" i="0" u="none" strike="noStrike" kern="1200" cap="none" spc="0" normalizeH="0" baseline="0" noProof="0">
                <a:ln>
                  <a:noFill/>
                </a:ln>
                <a:solidFill>
                  <a:prstClr val="black"/>
                </a:solidFill>
                <a:effectLst/>
                <a:uLnTx/>
                <a:uFillTx/>
                <a:latin typeface="Aptos"/>
                <a:ea typeface="+mn-ea"/>
                <a:cs typeface="+mn-cs"/>
              </a:rPr>
              <a:t> Agentic Platform</a:t>
            </a:r>
          </a:p>
        </p:txBody>
      </p:sp>
      <p:sp>
        <p:nvSpPr>
          <p:cNvPr id="22" name="TextBox 21">
            <a:extLst>
              <a:ext uri="{FF2B5EF4-FFF2-40B4-BE49-F238E27FC236}">
                <a16:creationId xmlns:a16="http://schemas.microsoft.com/office/drawing/2014/main" id="{B020C8F8-1DA5-1A9E-C318-9D2CE2C21BEC}"/>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6B3E6A5A-3057-AD14-9FFB-5A0A65B11AE5}"/>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1AD3B050-E212-A45B-AA86-2458A41CE505}"/>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D4AC66EF-134A-2291-AF8A-EAEC6E39476D}"/>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7644E0F0-B44A-6D0F-CC52-FA8925316753}"/>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A3F5F658-CDFE-6F63-5C30-70CBD19A769B}"/>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F17DB005-F740-D36E-6FC2-F7A1379BD553}"/>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2050" name="Picture 2" descr="Ey logo - free Icon PNG, SVG">
            <a:extLst>
              <a:ext uri="{FF2B5EF4-FFF2-40B4-BE49-F238E27FC236}">
                <a16:creationId xmlns:a16="http://schemas.microsoft.com/office/drawing/2014/main" id="{9EC96549-2ED9-0E9F-1EDC-5763638C09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71697" y="114363"/>
            <a:ext cx="1018069" cy="5580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70407A9-9C88-C9E4-F337-593471A960A2}"/>
              </a:ext>
            </a:extLst>
          </p:cNvPr>
          <p:cNvGraphicFramePr>
            <a:graphicFrameLocks/>
          </p:cNvGraphicFramePr>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 imgW="405" imgH="405" progId="TCLayout.ActiveDocument.1">
                  <p:embed/>
                </p:oleObj>
              </mc:Choice>
              <mc:Fallback>
                <p:oleObj name="think-cell Slide" r:id="rId2" imgW="405" imgH="405" progId="TCLayout.ActiveDocument.1">
                  <p:embed/>
                  <p:pic>
                    <p:nvPicPr>
                      <p:cNvPr id="3" name="think-cell data - do not delete" hidden="1">
                        <a:extLst>
                          <a:ext uri="{FF2B5EF4-FFF2-40B4-BE49-F238E27FC236}">
                            <a16:creationId xmlns:a16="http://schemas.microsoft.com/office/drawing/2014/main" id="{470407A9-9C88-C9E4-F337-593471A960A2}"/>
                          </a:ext>
                        </a:extLst>
                      </p:cNvPr>
                      <p:cNvPicPr/>
                      <p:nvPr/>
                    </p:nvPicPr>
                    <p:blipFill>
                      <a:blip r:embed="rId3"/>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97E2A5A9-E427-7330-A1CE-9D32438BF079}"/>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B7D8F9E-65D3-0467-7E98-6CDEEBF6ADE6}"/>
              </a:ext>
            </a:extLst>
          </p:cNvPr>
          <p:cNvSpPr>
            <a:spLocks noGrp="1"/>
          </p:cNvSpPr>
          <p:nvPr>
            <p:ph type="title"/>
          </p:nvPr>
        </p:nvSpPr>
        <p:spPr/>
        <p:txBody>
          <a:bodyPr vert="horz" rIns="0"/>
          <a:lstStyle/>
          <a:p>
            <a:r>
              <a:rPr lang="en-US" sz="2000" b="1">
                <a:solidFill>
                  <a:srgbClr val="282728"/>
                </a:solidFill>
                <a:latin typeface="Aptos"/>
              </a:rPr>
              <a:t>KPMG</a:t>
            </a:r>
            <a:endParaRPr lang="en-US"/>
          </a:p>
        </p:txBody>
      </p:sp>
      <p:sp>
        <p:nvSpPr>
          <p:cNvPr id="4" name="TextBox 3">
            <a:extLst>
              <a:ext uri="{FF2B5EF4-FFF2-40B4-BE49-F238E27FC236}">
                <a16:creationId xmlns:a16="http://schemas.microsoft.com/office/drawing/2014/main" id="{8BFDC923-D804-4322-CF44-06C55DC29802}"/>
              </a:ext>
            </a:extLst>
          </p:cNvPr>
          <p:cNvSpPr txBox="1"/>
          <p:nvPr/>
        </p:nvSpPr>
        <p:spPr>
          <a:xfrm>
            <a:off x="382772" y="687992"/>
            <a:ext cx="1108151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KPMG offers broad agent enablement ecosystem with increasing portfolio of  deployable agents, but lacks uniform packaging like Zora</a:t>
            </a:r>
          </a:p>
        </p:txBody>
      </p:sp>
      <p:sp>
        <p:nvSpPr>
          <p:cNvPr id="6" name="TextBox 5">
            <a:extLst>
              <a:ext uri="{FF2B5EF4-FFF2-40B4-BE49-F238E27FC236}">
                <a16:creationId xmlns:a16="http://schemas.microsoft.com/office/drawing/2014/main" id="{4399BC33-C4A0-FADD-6C2A-3B11FE44AEF8}"/>
              </a:ext>
            </a:extLst>
          </p:cNvPr>
          <p:cNvSpPr txBox="1"/>
          <p:nvPr/>
        </p:nvSpPr>
        <p:spPr>
          <a:xfrm>
            <a:off x="3222171" y="1106424"/>
            <a:ext cx="8509580" cy="29392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KPMG Offering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KPMG Workbench is </a:t>
            </a:r>
            <a:r>
              <a:rPr lang="en-US" sz="1200">
                <a:solidFill>
                  <a:srgbClr val="313131"/>
                </a:solidFill>
                <a:latin typeface="Aptos"/>
              </a:rPr>
              <a:t>an</a:t>
            </a:r>
            <a:r>
              <a:rPr kumimoji="0" lang="en-US" sz="1200" b="0" i="0" u="none" strike="noStrike" kern="1200" cap="none" spc="0" normalizeH="0" baseline="0" noProof="0">
                <a:ln>
                  <a:noFill/>
                </a:ln>
                <a:solidFill>
                  <a:srgbClr val="313131"/>
                </a:solidFill>
                <a:effectLst/>
                <a:uLnTx/>
                <a:uFillTx/>
                <a:latin typeface="Aptos"/>
                <a:ea typeface="+mn-ea"/>
                <a:cs typeface="+mn-cs"/>
              </a:rPr>
              <a:t> agentic service-delivery platform, underpinning Digital Gateway for Tax &amp; Legal, Clara for Audit and Velocity for Advisory.</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Ready-to-use agents are mainly embedded in these platforms, rather than offered as a broad plug-and-play catalog like Zora.</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KPMG stronger compared to Zora?</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Broader agent enablement ecosystem – Workbench uses Azure AI Foundry and integrates with ServiceNow, Salesforce, Workday and Oracle. KPMG then adds domain platforms creating an enterprise-wide agent operating environment across multiple vendor offerings.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KPMG?</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Clearer packaged proposition – Zora offers ready-to-deploy workers for autonomous business execution; KPMG’s broader portfolio remains platform-led.</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Less customization – Zora productizes business processes; KPMG more often co-develops or customizes agents through Workbench and partner platforms.</a:t>
            </a:r>
          </a:p>
        </p:txBody>
      </p:sp>
      <p:sp>
        <p:nvSpPr>
          <p:cNvPr id="7" name="Rectangle 6">
            <a:extLst>
              <a:ext uri="{FF2B5EF4-FFF2-40B4-BE49-F238E27FC236}">
                <a16:creationId xmlns:a16="http://schemas.microsoft.com/office/drawing/2014/main" id="{1AEA072C-BA45-66BD-39CC-B438FDC24842}"/>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Lead with out-of-the-box value: </a:t>
            </a:r>
            <a:r>
              <a:rPr kumimoji="0" lang="en-US" sz="1200" b="0" i="0" u="none" strike="noStrike" kern="1200" cap="none" spc="0" normalizeH="0" baseline="0" noProof="0">
                <a:ln>
                  <a:noFill/>
                </a:ln>
                <a:solidFill>
                  <a:prstClr val="black"/>
                </a:solidFill>
                <a:effectLst/>
                <a:uLnTx/>
                <a:uFillTx/>
                <a:latin typeface="Aptos"/>
                <a:ea typeface="+mn-ea"/>
                <a:cs typeface="+mn-cs"/>
              </a:rPr>
              <a:t>Show faster time to value from prebuilt domain workflows versus KPMG’s build and customization requirements.</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Prove finance depth: </a:t>
            </a:r>
            <a:r>
              <a:rPr kumimoji="0" lang="en-US" sz="1200" b="0" i="0" u="none" strike="noStrike" kern="1200" cap="none" spc="0" normalizeH="0" baseline="0" noProof="0">
                <a:ln>
                  <a:noFill/>
                </a:ln>
                <a:solidFill>
                  <a:prstClr val="black"/>
                </a:solidFill>
                <a:effectLst/>
                <a:uLnTx/>
                <a:uFillTx/>
                <a:latin typeface="Aptos"/>
                <a:ea typeface="+mn-ea"/>
                <a:cs typeface="+mn-cs"/>
              </a:rPr>
              <a:t>Highlight procure-to-pay and CFO analytics beyond KPMG’s disclosed P&amp;L variance, invoice and payment use cases.</a:t>
            </a:r>
          </a:p>
        </p:txBody>
      </p:sp>
      <p:sp>
        <p:nvSpPr>
          <p:cNvPr id="9" name="Rectangle: Rounded Corners 8">
            <a:extLst>
              <a:ext uri="{FF2B5EF4-FFF2-40B4-BE49-F238E27FC236}">
                <a16:creationId xmlns:a16="http://schemas.microsoft.com/office/drawing/2014/main" id="{9EF6084C-796B-57A6-7340-C1AB6591BBD5}"/>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DF69175A-585B-00C9-7DFA-A6613C031BAD}"/>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Rectangle: Rounded Corners 12">
            <a:extLst>
              <a:ext uri="{FF2B5EF4-FFF2-40B4-BE49-F238E27FC236}">
                <a16:creationId xmlns:a16="http://schemas.microsoft.com/office/drawing/2014/main" id="{3F7B7CE6-F38B-8316-3023-EB28D801B825}"/>
              </a:ext>
            </a:extLst>
          </p:cNvPr>
          <p:cNvSpPr/>
          <p:nvPr/>
        </p:nvSpPr>
        <p:spPr bwMode="gray">
          <a:xfrm>
            <a:off x="1259176"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8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Aptos"/>
                <a:ea typeface="+mn-ea"/>
                <a:cs typeface="+mn-cs"/>
              </a:rPr>
              <a:t>Digital Gateway; Clara; data management domain agent</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FEE5C785-114F-1F03-FDFA-2AAB4BD5232B}"/>
              </a:ext>
            </a:extLst>
          </p:cNvPr>
          <p:cNvSpPr/>
          <p:nvPr/>
        </p:nvSpPr>
        <p:spPr bwMode="gray">
          <a:xfrm>
            <a:off x="2045039"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7" name="Rectangle: Rounded Corners 16">
            <a:extLst>
              <a:ext uri="{FF2B5EF4-FFF2-40B4-BE49-F238E27FC236}">
                <a16:creationId xmlns:a16="http://schemas.microsoft.com/office/drawing/2014/main" id="{542D3A81-281D-12C9-818C-9CFCBAF565AA}"/>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0" i="0" u="none" strike="noStrike" kern="1200" cap="none" spc="0" normalizeH="0" baseline="0" noProof="0">
                <a:ln>
                  <a:noFill/>
                </a:ln>
                <a:solidFill>
                  <a:prstClr val="black"/>
                </a:solidFill>
                <a:effectLst/>
                <a:uLnTx/>
                <a:uFillTx/>
                <a:latin typeface="Aptos"/>
                <a:ea typeface="+mn-ea"/>
                <a:cs typeface="+mn-cs"/>
              </a:rPr>
              <a:t>KPMG Workbench</a:t>
            </a:r>
          </a:p>
        </p:txBody>
      </p:sp>
      <p:sp>
        <p:nvSpPr>
          <p:cNvPr id="22" name="TextBox 21">
            <a:extLst>
              <a:ext uri="{FF2B5EF4-FFF2-40B4-BE49-F238E27FC236}">
                <a16:creationId xmlns:a16="http://schemas.microsoft.com/office/drawing/2014/main" id="{99FE6F0B-B863-1582-FF13-107563A675AB}"/>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78EB6722-F542-ADA9-D8EE-8E5223D56AEE}"/>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3298CA03-D89C-20C8-6087-6E243FD36E95}"/>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90ED67ED-DEC1-8DC0-415B-D65D99228D9D}"/>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55D2CAB5-AF21-2D2C-8FB9-97A2089C5509}"/>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A5379B61-DAFC-9D15-C622-B61CEC395335}"/>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14876B3E-B006-7752-7671-E9AFDD9D0FE2}"/>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1026" name="Picture 2" descr="Kpmg Logo Vector – EPS, SVG, PNG Free Download">
            <a:extLst>
              <a:ext uri="{FF2B5EF4-FFF2-40B4-BE49-F238E27FC236}">
                <a16:creationId xmlns:a16="http://schemas.microsoft.com/office/drawing/2014/main" id="{500576EB-BBC9-AFDC-D9EE-0FD1D8BDBA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7110" y="0"/>
            <a:ext cx="700890" cy="7008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6CA5424-0656-BA0D-C3D8-EFA0C3BADC9A}"/>
              </a:ext>
            </a:extLst>
          </p:cNvPr>
          <p:cNvGraphicFramePr>
            <a:graphicFrameLocks/>
          </p:cNvGraphicFramePr>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 imgW="405" imgH="405" progId="TCLayout.ActiveDocument.1">
                  <p:embed/>
                </p:oleObj>
              </mc:Choice>
              <mc:Fallback>
                <p:oleObj name="think-cell Slide" r:id="rId2" imgW="405" imgH="405" progId="TCLayout.ActiveDocument.1">
                  <p:embed/>
                  <p:pic>
                    <p:nvPicPr>
                      <p:cNvPr id="3" name="think-cell data - do not delete" hidden="1">
                        <a:extLst>
                          <a:ext uri="{FF2B5EF4-FFF2-40B4-BE49-F238E27FC236}">
                            <a16:creationId xmlns:a16="http://schemas.microsoft.com/office/drawing/2014/main" id="{F6CA5424-0656-BA0D-C3D8-EFA0C3BADC9A}"/>
                          </a:ext>
                        </a:extLst>
                      </p:cNvPr>
                      <p:cNvPicPr/>
                      <p:nvPr/>
                    </p:nvPicPr>
                    <p:blipFill>
                      <a:blip r:embed="rId3"/>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65C18553-7E95-EFFD-4794-5A3197D43F34}"/>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9814B4E-B966-EA3B-0EA2-EEBA4D201105}"/>
              </a:ext>
            </a:extLst>
          </p:cNvPr>
          <p:cNvSpPr>
            <a:spLocks noGrp="1"/>
          </p:cNvSpPr>
          <p:nvPr>
            <p:ph type="title"/>
          </p:nvPr>
        </p:nvSpPr>
        <p:spPr/>
        <p:txBody>
          <a:bodyPr vert="horz" rIns="0"/>
          <a:lstStyle/>
          <a:p>
            <a:r>
              <a:rPr lang="en-US" sz="2000" b="1">
                <a:solidFill>
                  <a:srgbClr val="282728"/>
                </a:solidFill>
                <a:latin typeface="Aptos"/>
              </a:rPr>
              <a:t>IBM</a:t>
            </a:r>
            <a:endParaRPr lang="en-US"/>
          </a:p>
        </p:txBody>
      </p:sp>
      <p:sp>
        <p:nvSpPr>
          <p:cNvPr id="4" name="TextBox 3">
            <a:extLst>
              <a:ext uri="{FF2B5EF4-FFF2-40B4-BE49-F238E27FC236}">
                <a16:creationId xmlns:a16="http://schemas.microsoft.com/office/drawing/2014/main" id="{A8823255-FA00-5148-D7D6-B82B84E12A31}"/>
              </a:ext>
            </a:extLst>
          </p:cNvPr>
          <p:cNvSpPr txBox="1"/>
          <p:nvPr/>
        </p:nvSpPr>
        <p:spPr>
          <a:xfrm>
            <a:off x="382772" y="687992"/>
            <a:ext cx="1108151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IBM offers a configurable platform as well as an agent catalog; Zora offers prepackaged business outcomes</a:t>
            </a:r>
          </a:p>
        </p:txBody>
      </p:sp>
      <p:sp>
        <p:nvSpPr>
          <p:cNvPr id="6" name="TextBox 5">
            <a:extLst>
              <a:ext uri="{FF2B5EF4-FFF2-40B4-BE49-F238E27FC236}">
                <a16:creationId xmlns:a16="http://schemas.microsoft.com/office/drawing/2014/main" id="{9276B81E-9576-2831-F1C3-D21AC966AD91}"/>
              </a:ext>
            </a:extLst>
          </p:cNvPr>
          <p:cNvSpPr txBox="1"/>
          <p:nvPr/>
        </p:nvSpPr>
        <p:spPr>
          <a:xfrm>
            <a:off x="3222171" y="1106424"/>
            <a:ext cx="8509580" cy="293926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IBM Offering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IBM’s core offering is </a:t>
            </a:r>
            <a:r>
              <a:rPr kumimoji="0" lang="en-US" sz="1200" b="0" i="0" u="none" strike="noStrike" kern="1200" cap="none" spc="0" normalizeH="0" baseline="0" noProof="0" err="1">
                <a:ln>
                  <a:noFill/>
                </a:ln>
                <a:solidFill>
                  <a:srgbClr val="313131"/>
                </a:solidFill>
                <a:effectLst/>
                <a:uLnTx/>
                <a:uFillTx/>
                <a:latin typeface="Aptos"/>
                <a:ea typeface="+mn-ea"/>
                <a:cs typeface="+mn-cs"/>
                <a:hlinkClick r:id="rId4"/>
              </a:rPr>
              <a:t>watsonx</a:t>
            </a:r>
            <a:r>
              <a:rPr kumimoji="0" lang="en-US" sz="1200" b="0" i="0" u="none" strike="noStrike" kern="1200" cap="none" spc="0" normalizeH="0" baseline="0" noProof="0">
                <a:ln>
                  <a:noFill/>
                </a:ln>
                <a:solidFill>
                  <a:srgbClr val="313131"/>
                </a:solidFill>
                <a:effectLst/>
                <a:uLnTx/>
                <a:uFillTx/>
                <a:latin typeface="Aptos"/>
                <a:ea typeface="+mn-ea"/>
                <a:cs typeface="+mn-cs"/>
                <a:hlinkClick r:id="rId4"/>
              </a:rPr>
              <a:t> Orchestrate</a:t>
            </a:r>
            <a:r>
              <a:rPr kumimoji="0" lang="en-US" sz="1200" b="0" i="0" u="none" strike="noStrike" kern="1200" cap="none" spc="0" normalizeH="0" baseline="0" noProof="0">
                <a:ln>
                  <a:noFill/>
                </a:ln>
                <a:solidFill>
                  <a:srgbClr val="313131"/>
                </a:solidFill>
                <a:effectLst/>
                <a:uLnTx/>
                <a:uFillTx/>
                <a:latin typeface="Aptos"/>
                <a:ea typeface="+mn-ea"/>
                <a:cs typeface="+mn-cs"/>
              </a:rPr>
              <a:t>, a platform to build, deploy, coordinate and govern IBM, partner and custom agents.</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It also provides </a:t>
            </a: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prebuilt </a:t>
            </a:r>
            <a:r>
              <a:rPr kumimoji="0" lang="en-US" sz="1200" b="0" i="0" u="none" strike="noStrike" kern="1200" cap="none" spc="0" normalizeH="0" baseline="0" noProof="0" err="1">
                <a:ln>
                  <a:noFill/>
                </a:ln>
                <a:solidFill>
                  <a:srgbClr val="313131"/>
                </a:solidFill>
                <a:effectLst/>
                <a:uLnTx/>
                <a:uFillTx/>
                <a:latin typeface="Aptos"/>
                <a:ea typeface="+mn-ea"/>
                <a:cs typeface="+mn-cs"/>
                <a:hlinkClick r:id="rId5"/>
              </a:rPr>
              <a:t>watsonx</a:t>
            </a: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 Agents </a:t>
            </a:r>
            <a:r>
              <a:rPr kumimoji="0" lang="en-US" sz="1200" b="0" i="0" u="none" strike="noStrike" kern="1200" cap="none" spc="0" normalizeH="0" baseline="0" noProof="0">
                <a:ln>
                  <a:noFill/>
                </a:ln>
                <a:solidFill>
                  <a:srgbClr val="313131"/>
                </a:solidFill>
                <a:effectLst/>
                <a:uLnTx/>
                <a:uFillTx/>
                <a:latin typeface="Aptos"/>
                <a:ea typeface="+mn-ea"/>
                <a:cs typeface="+mn-cs"/>
              </a:rPr>
              <a:t>for HR, sales, procurement and customer care.</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Its </a:t>
            </a:r>
            <a:r>
              <a:rPr kumimoji="0" lang="en-US" sz="1200" b="0" i="0" u="none" strike="noStrike" kern="1200" cap="none" spc="0" normalizeH="0" baseline="0" noProof="0">
                <a:ln>
                  <a:noFill/>
                </a:ln>
                <a:solidFill>
                  <a:srgbClr val="313131"/>
                </a:solidFill>
                <a:effectLst/>
                <a:uLnTx/>
                <a:uFillTx/>
                <a:latin typeface="Aptos"/>
                <a:ea typeface="+mn-ea"/>
                <a:cs typeface="+mn-cs"/>
                <a:hlinkClick r:id="rId6"/>
              </a:rPr>
              <a:t>agent catalog </a:t>
            </a:r>
            <a:r>
              <a:rPr kumimoji="0" lang="en-US" sz="1200" b="0" i="0" u="none" strike="noStrike" kern="1200" cap="none" spc="0" normalizeH="0" baseline="0" noProof="0">
                <a:ln>
                  <a:noFill/>
                </a:ln>
                <a:solidFill>
                  <a:srgbClr val="313131"/>
                </a:solidFill>
                <a:effectLst/>
                <a:uLnTx/>
                <a:uFillTx/>
                <a:latin typeface="Aptos"/>
                <a:ea typeface="+mn-ea"/>
                <a:cs typeface="+mn-cs"/>
              </a:rPr>
              <a:t>offers IBM and partner assets that clients can deploy or adapt.</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IBM winning compared to Zora?</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Unified orchestration – Supports IBM, external and custom agents, including enterprise-app and internally built solutions.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Broader agent catalog – Brings together IBM, partner and customer agents.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Governance, security and hybrid deployment – IBM combines orchestration with </a:t>
            </a:r>
            <a:r>
              <a:rPr kumimoji="0" lang="en-US" sz="1200" b="0" i="0" u="none" strike="noStrike" kern="1200" cap="none" spc="0" normalizeH="0" baseline="0" noProof="0" err="1">
                <a:ln>
                  <a:noFill/>
                </a:ln>
                <a:solidFill>
                  <a:srgbClr val="313131"/>
                </a:solidFill>
                <a:effectLst/>
                <a:uLnTx/>
                <a:uFillTx/>
                <a:latin typeface="Aptos"/>
                <a:ea typeface="+mn-ea"/>
                <a:cs typeface="+mn-cs"/>
                <a:hlinkClick r:id="rId7"/>
              </a:rPr>
              <a:t>watsonx.governance</a:t>
            </a:r>
            <a:r>
              <a:rPr kumimoji="0" lang="en-US" sz="1200" b="0" i="0" u="none" strike="noStrike" kern="1200" cap="none" spc="0" normalizeH="0" baseline="0" noProof="0">
                <a:ln>
                  <a:noFill/>
                </a:ln>
                <a:solidFill>
                  <a:srgbClr val="313131"/>
                </a:solidFill>
                <a:effectLst/>
                <a:uLnTx/>
                <a:uFillTx/>
                <a:latin typeface="Aptos"/>
                <a:ea typeface="+mn-ea"/>
                <a:cs typeface="+mn-cs"/>
              </a:rPr>
              <a:t> for inventory, lifecycle controls, security testing and heterogeneous deployment.</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IBM?</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Packaged business outcomes – Zora targets defined workflows and KPIs for finance, procurement and shared services rather than platform assembly.</a:t>
            </a:r>
          </a:p>
        </p:txBody>
      </p:sp>
      <p:sp>
        <p:nvSpPr>
          <p:cNvPr id="7" name="Rectangle 6">
            <a:extLst>
              <a:ext uri="{FF2B5EF4-FFF2-40B4-BE49-F238E27FC236}">
                <a16:creationId xmlns:a16="http://schemas.microsoft.com/office/drawing/2014/main" id="{7A091A32-0C4D-DB37-87D9-3793986EA21E}"/>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Lead with outcomes, not technology: </a:t>
            </a:r>
            <a:r>
              <a:rPr kumimoji="0" lang="en-US" sz="1200" b="0" i="0" u="none" strike="noStrike" kern="1200" cap="none" spc="0" normalizeH="0" baseline="0" noProof="0">
                <a:ln>
                  <a:noFill/>
                </a:ln>
                <a:solidFill>
                  <a:prstClr val="black"/>
                </a:solidFill>
                <a:effectLst/>
                <a:uLnTx/>
                <a:uFillTx/>
                <a:latin typeface="Aptos"/>
                <a:ea typeface="+mn-ea"/>
                <a:cs typeface="+mn-cs"/>
              </a:rPr>
              <a:t>Show each agent’s workflow, Deloitte methodology, implementation boundary and measurable result versus IBM’s configure-and-assemble model.</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Prove interoperability and governance: </a:t>
            </a:r>
            <a:r>
              <a:rPr kumimoji="0" lang="en-US" sz="1200" b="0" i="0" u="none" strike="noStrike" kern="1200" cap="none" spc="0" normalizeH="0" baseline="0" noProof="0">
                <a:ln>
                  <a:noFill/>
                </a:ln>
                <a:solidFill>
                  <a:prstClr val="black"/>
                </a:solidFill>
                <a:effectLst/>
                <a:uLnTx/>
                <a:uFillTx/>
                <a:latin typeface="Aptos"/>
                <a:ea typeface="+mn-ea"/>
                <a:cs typeface="+mn-cs"/>
              </a:rPr>
              <a:t>Evidence integrations with SAP, Oracle and third-party agents, plus Zora’s controls, observability and governance.</a:t>
            </a:r>
          </a:p>
        </p:txBody>
      </p:sp>
      <p:sp>
        <p:nvSpPr>
          <p:cNvPr id="9" name="Rectangle: Rounded Corners 8">
            <a:extLst>
              <a:ext uri="{FF2B5EF4-FFF2-40B4-BE49-F238E27FC236}">
                <a16:creationId xmlns:a16="http://schemas.microsoft.com/office/drawing/2014/main" id="{7CCFE35B-33F4-2B64-B113-87EA0F2991FF}"/>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A4B80646-03D1-48B3-7FE9-A2A5A62910E2}"/>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Rectangle: Rounded Corners 12">
            <a:extLst>
              <a:ext uri="{FF2B5EF4-FFF2-40B4-BE49-F238E27FC236}">
                <a16:creationId xmlns:a16="http://schemas.microsoft.com/office/drawing/2014/main" id="{82AD2398-0DDD-DB1D-028B-AD46FDA5349C}"/>
              </a:ext>
            </a:extLst>
          </p:cNvPr>
          <p:cNvSpPr/>
          <p:nvPr/>
        </p:nvSpPr>
        <p:spPr bwMode="gray">
          <a:xfrm>
            <a:off x="1259176"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8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err="1">
                <a:ln>
                  <a:noFill/>
                </a:ln>
                <a:solidFill>
                  <a:sysClr val="windowText" lastClr="000000"/>
                </a:solidFill>
                <a:effectLst/>
                <a:uLnTx/>
                <a:uFillTx/>
                <a:latin typeface="Aptos"/>
                <a:ea typeface="+mn-ea"/>
                <a:cs typeface="+mn-cs"/>
              </a:rPr>
              <a:t>Watsonx</a:t>
            </a:r>
            <a:r>
              <a:rPr kumimoji="0" lang="en-US" sz="900" b="0" i="0" u="none" strike="noStrike" kern="1200" cap="none" spc="0" normalizeH="0" baseline="0" noProof="0">
                <a:ln>
                  <a:noFill/>
                </a:ln>
                <a:solidFill>
                  <a:sysClr val="windowText" lastClr="000000"/>
                </a:solidFill>
                <a:effectLst/>
                <a:uLnTx/>
                <a:uFillTx/>
                <a:latin typeface="Aptos"/>
                <a:ea typeface="+mn-ea"/>
                <a:cs typeface="+mn-cs"/>
              </a:rPr>
              <a:t> agents for HR, sales, etc. and agent catalog</a:t>
            </a:r>
          </a:p>
        </p:txBody>
      </p:sp>
      <p:sp>
        <p:nvSpPr>
          <p:cNvPr id="15" name="Rectangle: Rounded Corners 14">
            <a:extLst>
              <a:ext uri="{FF2B5EF4-FFF2-40B4-BE49-F238E27FC236}">
                <a16:creationId xmlns:a16="http://schemas.microsoft.com/office/drawing/2014/main" id="{EA6F1CE7-F521-4F3C-DE3E-D617AA42B9A7}"/>
              </a:ext>
            </a:extLst>
          </p:cNvPr>
          <p:cNvSpPr/>
          <p:nvPr/>
        </p:nvSpPr>
        <p:spPr bwMode="gray">
          <a:xfrm>
            <a:off x="2045039"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7" name="Rectangle: Rounded Corners 16">
            <a:extLst>
              <a:ext uri="{FF2B5EF4-FFF2-40B4-BE49-F238E27FC236}">
                <a16:creationId xmlns:a16="http://schemas.microsoft.com/office/drawing/2014/main" id="{DE7C56EA-E0F3-F2FF-E22D-484882101569}"/>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0" i="0" u="none" strike="noStrike" kern="1200" cap="none" spc="0" normalizeH="0" baseline="0" noProof="0">
                <a:ln>
                  <a:noFill/>
                </a:ln>
                <a:solidFill>
                  <a:prstClr val="black"/>
                </a:solidFill>
                <a:effectLst/>
                <a:uLnTx/>
                <a:uFillTx/>
                <a:latin typeface="Aptos"/>
                <a:ea typeface="+mn-ea"/>
                <a:cs typeface="+mn-cs"/>
              </a:rPr>
              <a:t>Watsonx Orchestrate</a:t>
            </a:r>
          </a:p>
        </p:txBody>
      </p:sp>
      <p:sp>
        <p:nvSpPr>
          <p:cNvPr id="22" name="TextBox 21">
            <a:extLst>
              <a:ext uri="{FF2B5EF4-FFF2-40B4-BE49-F238E27FC236}">
                <a16:creationId xmlns:a16="http://schemas.microsoft.com/office/drawing/2014/main" id="{25D4AA5F-D076-778A-2007-15DDD93D764D}"/>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D53AC361-4888-8F01-1F2C-0E3B554A4200}"/>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72DB6702-3D49-E01D-5A96-19D202383238}"/>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2BAE32B2-F5C8-B170-6291-DCDD5ED6DD58}"/>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0B41FE3B-D270-285A-865C-24F856606996}"/>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BD9C7BC5-3B7A-63A5-D963-8075AB1EADC3}"/>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98C8B1F1-6167-C831-A0B4-BE56D6B20558}"/>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2052" name="Picture 4" descr="IBM Consulting | LinkedIn">
            <a:extLst>
              <a:ext uri="{FF2B5EF4-FFF2-40B4-BE49-F238E27FC236}">
                <a16:creationId xmlns:a16="http://schemas.microsoft.com/office/drawing/2014/main" id="{D149F378-8B86-EC17-36A2-B08A03F77FD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27664" y="-1903"/>
            <a:ext cx="778516" cy="7785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06BA1-81A5-7F56-4CF5-D5FE0B7128A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DC47F96-EECC-3E95-D7B2-BAA07BA8AD4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9DC47F96-EECC-3E95-D7B2-BAA07BA8AD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3615171E-A3BB-5927-FE64-A7B293D3EE6A}"/>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8224BF4-CDFE-F9F2-106F-B08C9A82C2DC}"/>
              </a:ext>
            </a:extLst>
          </p:cNvPr>
          <p:cNvSpPr>
            <a:spLocks noGrp="1"/>
          </p:cNvSpPr>
          <p:nvPr>
            <p:ph type="title"/>
          </p:nvPr>
        </p:nvSpPr>
        <p:spPr/>
        <p:txBody>
          <a:bodyPr vert="horz" rIns="0"/>
          <a:lstStyle/>
          <a:p>
            <a:r>
              <a:rPr lang="en-US" sz="2000" b="1">
                <a:solidFill>
                  <a:srgbClr val="282728"/>
                </a:solidFill>
                <a:latin typeface="Aptos"/>
              </a:rPr>
              <a:t>Capgemini</a:t>
            </a:r>
            <a:endParaRPr lang="en-US"/>
          </a:p>
        </p:txBody>
      </p:sp>
      <p:sp>
        <p:nvSpPr>
          <p:cNvPr id="4" name="TextBox 3">
            <a:extLst>
              <a:ext uri="{FF2B5EF4-FFF2-40B4-BE49-F238E27FC236}">
                <a16:creationId xmlns:a16="http://schemas.microsoft.com/office/drawing/2014/main" id="{C90C5796-03A3-CA3A-4FCD-95F1E88F8C8E}"/>
              </a:ext>
            </a:extLst>
          </p:cNvPr>
          <p:cNvSpPr txBox="1"/>
          <p:nvPr/>
        </p:nvSpPr>
        <p:spPr>
          <a:xfrm>
            <a:off x="382772" y="687992"/>
            <a:ext cx="1108151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Capgemini offers a services-led agent building platform ; Zora brings pre-built agents ready to deploy</a:t>
            </a:r>
          </a:p>
        </p:txBody>
      </p:sp>
      <p:sp>
        <p:nvSpPr>
          <p:cNvPr id="6" name="TextBox 5">
            <a:extLst>
              <a:ext uri="{FF2B5EF4-FFF2-40B4-BE49-F238E27FC236}">
                <a16:creationId xmlns:a16="http://schemas.microsoft.com/office/drawing/2014/main" id="{BB86C364-8678-2EB2-00E1-3700B1D22FEB}"/>
              </a:ext>
            </a:extLst>
          </p:cNvPr>
          <p:cNvSpPr txBox="1"/>
          <p:nvPr/>
        </p:nvSpPr>
        <p:spPr>
          <a:xfrm>
            <a:off x="3222171" y="1106424"/>
            <a:ext cx="8509580" cy="29392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Capgemini Offering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Capgemini primary offering is </a:t>
            </a: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Capgemini RAISE</a:t>
            </a:r>
            <a:r>
              <a:rPr kumimoji="0" lang="en-US" sz="1200" b="0" i="0" u="none" strike="noStrike" kern="1200" cap="none" spc="0" normalizeH="0" baseline="0" noProof="0">
                <a:ln>
                  <a:noFill/>
                </a:ln>
                <a:solidFill>
                  <a:srgbClr val="313131"/>
                </a:solidFill>
                <a:effectLst/>
                <a:uLnTx/>
                <a:uFillTx/>
                <a:latin typeface="Aptos"/>
                <a:ea typeface="+mn-ea"/>
                <a:cs typeface="+mn-cs"/>
              </a:rPr>
              <a:t>, a services-led agent building platform. </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Capgemini has limited evidence of pre-built agents except for </a:t>
            </a:r>
            <a:r>
              <a:rPr kumimoji="0" lang="en-US" sz="1200" b="0" i="0" u="none" strike="noStrike" kern="1200" cap="none" spc="0" normalizeH="0" baseline="0" noProof="0">
                <a:ln>
                  <a:noFill/>
                </a:ln>
                <a:solidFill>
                  <a:srgbClr val="313131"/>
                </a:solidFill>
                <a:effectLst/>
                <a:uLnTx/>
                <a:uFillTx/>
                <a:latin typeface="Aptos"/>
                <a:ea typeface="+mn-ea"/>
                <a:cs typeface="+mn-cs"/>
                <a:hlinkClick r:id="rId6"/>
              </a:rPr>
              <a:t>Raise for Software Product X</a:t>
            </a:r>
            <a:r>
              <a:rPr kumimoji="0" lang="en-US" sz="1200" b="0" i="0" u="none" strike="noStrike" kern="1200" cap="none" spc="0" normalizeH="0" baseline="0" noProof="0">
                <a:ln>
                  <a:noFill/>
                </a:ln>
                <a:solidFill>
                  <a:srgbClr val="313131"/>
                </a:solidFill>
                <a:effectLst/>
                <a:uLnTx/>
                <a:uFillTx/>
                <a:latin typeface="Aptos"/>
                <a:ea typeface="+mn-ea"/>
                <a:cs typeface="+mn-cs"/>
              </a:rPr>
              <a:t>. </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Capgemini winning compared to Zora?</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hlinkClick r:id="rId7"/>
              </a:rPr>
              <a:t>Greater flexibility to build, buy, or embed agents </a:t>
            </a:r>
            <a:r>
              <a:rPr kumimoji="0" lang="en-US" sz="1200" b="0" i="0" u="none" strike="noStrike" kern="1200" cap="none" spc="0" normalizeH="0" baseline="0" noProof="0">
                <a:ln>
                  <a:noFill/>
                </a:ln>
                <a:solidFill>
                  <a:srgbClr val="313131"/>
                </a:solidFill>
                <a:effectLst/>
                <a:uLnTx/>
                <a:uFillTx/>
                <a:latin typeface="Aptos"/>
                <a:ea typeface="+mn-ea"/>
                <a:cs typeface="+mn-cs"/>
              </a:rPr>
              <a:t>– Capgemini offers three implementation routes: off-the-shelf (limited evidence of pre-built agents from Capgemini, appears to be a refence towards ecosystem partners), custom and embedded agents. </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Custom engineering for differentiated processes – Capgemini’s service-led delivery aligns well for customers having highly specialized processes or wanting to retain proprietary process logic.</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Capgemini?</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Clearer packaged digital worker proposition – Zora offers a suite of ready-to-deploy agents that perceive, reason, and act, executing complex business functions autonomously. Capgemini’s offering is platform-led, with a higher build-or-customization effort.</a:t>
            </a:r>
          </a:p>
        </p:txBody>
      </p:sp>
      <p:sp>
        <p:nvSpPr>
          <p:cNvPr id="7" name="Rectangle 6">
            <a:extLst>
              <a:ext uri="{FF2B5EF4-FFF2-40B4-BE49-F238E27FC236}">
                <a16:creationId xmlns:a16="http://schemas.microsoft.com/office/drawing/2014/main" id="{65E9BF91-E71D-9C20-DDF0-4CDFBE2D4EC3}"/>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Lead with packaged outcomes, not platform breadth: </a:t>
            </a:r>
            <a:r>
              <a:rPr kumimoji="0" lang="en-US" sz="1200" b="0" i="0" u="none" strike="noStrike" kern="1200" cap="none" spc="0" normalizeH="0" baseline="0" noProof="0">
                <a:ln>
                  <a:noFill/>
                </a:ln>
                <a:solidFill>
                  <a:prstClr val="black"/>
                </a:solidFill>
                <a:effectLst/>
                <a:uLnTx/>
                <a:uFillTx/>
                <a:latin typeface="Aptos"/>
                <a:ea typeface="+mn-ea"/>
                <a:cs typeface="+mn-cs"/>
              </a:rPr>
              <a:t>Demonstrate how Zora agents deliver specific finance, procurement, tax, audit, and HR outcomes with less custom assembly.</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Target functional buyers: </a:t>
            </a:r>
            <a:r>
              <a:rPr kumimoji="0" lang="en-US" sz="1200" b="0" i="0" u="none" strike="noStrike" kern="1200" cap="none" spc="0" normalizeH="0" baseline="0" noProof="0">
                <a:ln>
                  <a:noFill/>
                </a:ln>
                <a:solidFill>
                  <a:prstClr val="black"/>
                </a:solidFill>
                <a:effectLst/>
                <a:uLnTx/>
                <a:uFillTx/>
                <a:latin typeface="Aptos"/>
                <a:ea typeface="+mn-ea"/>
                <a:cs typeface="+mn-cs"/>
              </a:rPr>
              <a:t>Anchor conversations with CFOs, CPOs and shared-services leaders focused on cycle time, accuracy, capacity, working capital and decision quality. Capgemini is better positioned for a CIO-led enterprise AI factory </a:t>
            </a:r>
          </a:p>
        </p:txBody>
      </p:sp>
      <p:sp>
        <p:nvSpPr>
          <p:cNvPr id="9" name="Rectangle: Rounded Corners 8">
            <a:extLst>
              <a:ext uri="{FF2B5EF4-FFF2-40B4-BE49-F238E27FC236}">
                <a16:creationId xmlns:a16="http://schemas.microsoft.com/office/drawing/2014/main" id="{402B6576-609D-0F7C-BCAB-B04A73CC1432}"/>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65DC3850-564D-CF19-B66E-79D58E9FD616}"/>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Rectangle: Rounded Corners 12">
            <a:extLst>
              <a:ext uri="{FF2B5EF4-FFF2-40B4-BE49-F238E27FC236}">
                <a16:creationId xmlns:a16="http://schemas.microsoft.com/office/drawing/2014/main" id="{63EDEB14-F7FF-54C0-71B9-3745C838A259}"/>
              </a:ext>
            </a:extLst>
          </p:cNvPr>
          <p:cNvSpPr/>
          <p:nvPr/>
        </p:nvSpPr>
        <p:spPr bwMode="gray">
          <a:xfrm>
            <a:off x="1259176"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8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Aptos"/>
                <a:ea typeface="+mn-ea"/>
                <a:cs typeface="+mn-cs"/>
              </a:rPr>
              <a:t>Raise for Software Product</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800" b="0" i="1" u="none" strike="noStrike" kern="1200" cap="none" spc="0" normalizeH="0" baseline="0" noProof="0">
              <a:ln>
                <a:noFill/>
              </a:ln>
              <a:solidFill>
                <a:prstClr val="black"/>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E006C324-824F-4D0D-C8B2-220680A64C30}"/>
              </a:ext>
            </a:extLst>
          </p:cNvPr>
          <p:cNvSpPr/>
          <p:nvPr/>
        </p:nvSpPr>
        <p:spPr bwMode="gray">
          <a:xfrm>
            <a:off x="2045039"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7" name="Rectangle: Rounded Corners 16">
            <a:extLst>
              <a:ext uri="{FF2B5EF4-FFF2-40B4-BE49-F238E27FC236}">
                <a16:creationId xmlns:a16="http://schemas.microsoft.com/office/drawing/2014/main" id="{6A57673A-306F-5655-72FF-A429ADD2DDA1}"/>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0" i="0" u="none" strike="noStrike" kern="1200" cap="none" spc="0" normalizeH="0" baseline="0" noProof="0">
                <a:ln>
                  <a:noFill/>
                </a:ln>
                <a:solidFill>
                  <a:prstClr val="black"/>
                </a:solidFill>
                <a:effectLst/>
                <a:uLnTx/>
                <a:uFillTx/>
                <a:latin typeface="Aptos"/>
                <a:ea typeface="+mn-ea"/>
                <a:cs typeface="+mn-cs"/>
              </a:rPr>
              <a:t>Capgemini RAISE</a:t>
            </a:r>
          </a:p>
        </p:txBody>
      </p:sp>
      <p:sp>
        <p:nvSpPr>
          <p:cNvPr id="22" name="TextBox 21">
            <a:extLst>
              <a:ext uri="{FF2B5EF4-FFF2-40B4-BE49-F238E27FC236}">
                <a16:creationId xmlns:a16="http://schemas.microsoft.com/office/drawing/2014/main" id="{094496C7-AA3D-2462-8D2F-0731E39AFE8F}"/>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98A7F53E-DAA0-0E67-28FE-C5B9DE81B7AC}"/>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7D6F6158-0196-A342-71FD-0F3D92E123D8}"/>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341A71D0-4F27-D364-25A1-C4014C773C8A}"/>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2F123DCD-3740-2D33-2906-577D2F5A8012}"/>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E51E8C2E-E802-DF5B-C884-3B83740E38EF}"/>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4E2F7B27-D4B6-EF17-53E1-42D838B10AE7}"/>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3076" name="Picture 4" descr="Download Capgemini Logo in SVG Vector or PNG File Format ...">
            <a:extLst>
              <a:ext uri="{FF2B5EF4-FFF2-40B4-BE49-F238E27FC236}">
                <a16:creationId xmlns:a16="http://schemas.microsoft.com/office/drawing/2014/main" id="{836470EE-5947-6789-6C0B-AC18F57D9A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18013" y="46628"/>
            <a:ext cx="1618099" cy="1083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94020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B6C62-A639-689F-4430-D210924CB9A5}"/>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79DEE55-63F5-3987-ECA5-BABB5E1E804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D79DEE55-63F5-3987-ECA5-BABB5E1E80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A1C1E937-7793-3AF8-C424-1F30F5DD644F}"/>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5655A8F-E8BC-B401-A0B8-548735F9F7C2}"/>
              </a:ext>
            </a:extLst>
          </p:cNvPr>
          <p:cNvSpPr>
            <a:spLocks noGrp="1"/>
          </p:cNvSpPr>
          <p:nvPr>
            <p:ph type="title"/>
          </p:nvPr>
        </p:nvSpPr>
        <p:spPr/>
        <p:txBody>
          <a:bodyPr vert="horz" rIns="0"/>
          <a:lstStyle/>
          <a:p>
            <a:r>
              <a:rPr lang="en-US"/>
              <a:t>Infosys</a:t>
            </a:r>
          </a:p>
        </p:txBody>
      </p:sp>
      <p:sp>
        <p:nvSpPr>
          <p:cNvPr id="4" name="TextBox 3">
            <a:extLst>
              <a:ext uri="{FF2B5EF4-FFF2-40B4-BE49-F238E27FC236}">
                <a16:creationId xmlns:a16="http://schemas.microsoft.com/office/drawing/2014/main" id="{35AAA693-EC3B-44DE-4068-2E283E9BEDB4}"/>
              </a:ext>
            </a:extLst>
          </p:cNvPr>
          <p:cNvSpPr txBox="1"/>
          <p:nvPr/>
        </p:nvSpPr>
        <p:spPr>
          <a:xfrm>
            <a:off x="382772" y="687992"/>
            <a:ext cx="1108151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Infosys offers platform and broad catalog of agents; Zora packages methodology-rich digital worker agents </a:t>
            </a:r>
          </a:p>
        </p:txBody>
      </p:sp>
      <p:sp>
        <p:nvSpPr>
          <p:cNvPr id="6" name="TextBox 5">
            <a:extLst>
              <a:ext uri="{FF2B5EF4-FFF2-40B4-BE49-F238E27FC236}">
                <a16:creationId xmlns:a16="http://schemas.microsoft.com/office/drawing/2014/main" id="{350B17FB-AD75-9832-F9F8-E0BE93A08DE6}"/>
              </a:ext>
            </a:extLst>
          </p:cNvPr>
          <p:cNvSpPr txBox="1"/>
          <p:nvPr/>
        </p:nvSpPr>
        <p:spPr>
          <a:xfrm>
            <a:off x="3222171" y="1106424"/>
            <a:ext cx="8509580" cy="29392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Infosys Offering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Infosys offers agentic products/solutions under its </a:t>
            </a: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Infosys Topaz </a:t>
            </a:r>
            <a:r>
              <a:rPr kumimoji="0" lang="en-US" sz="1200" b="0" i="0" u="none" strike="noStrike" kern="1200" cap="none" spc="0" normalizeH="0" baseline="0" noProof="0">
                <a:ln>
                  <a:noFill/>
                </a:ln>
                <a:solidFill>
                  <a:srgbClr val="313131"/>
                </a:solidFill>
                <a:effectLst/>
                <a:uLnTx/>
                <a:uFillTx/>
                <a:latin typeface="Aptos"/>
                <a:ea typeface="+mn-ea"/>
                <a:cs typeface="+mn-cs"/>
              </a:rPr>
              <a:t>umbrella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It includes </a:t>
            </a:r>
            <a:r>
              <a:rPr kumimoji="0" lang="en-US" sz="1200" b="0" i="0" u="none" strike="noStrike" kern="1200" cap="none" spc="0" normalizeH="0" baseline="0" noProof="0">
                <a:ln>
                  <a:noFill/>
                </a:ln>
                <a:solidFill>
                  <a:srgbClr val="313131"/>
                </a:solidFill>
                <a:effectLst/>
                <a:uLnTx/>
                <a:uFillTx/>
                <a:latin typeface="Aptos"/>
                <a:ea typeface="+mn-ea"/>
                <a:cs typeface="+mn-cs"/>
                <a:hlinkClick r:id="rId6"/>
              </a:rPr>
              <a:t>Infosys Agentic Foundry</a:t>
            </a:r>
            <a:r>
              <a:rPr kumimoji="0" lang="en-US" sz="1200" b="0" i="0" u="none" strike="noStrike" kern="1200" cap="none" spc="0" normalizeH="0" baseline="0" noProof="0">
                <a:ln>
                  <a:noFill/>
                </a:ln>
                <a:solidFill>
                  <a:srgbClr val="313131"/>
                </a:solidFill>
                <a:effectLst/>
                <a:uLnTx/>
                <a:uFillTx/>
                <a:latin typeface="Aptos"/>
                <a:ea typeface="+mn-ea"/>
                <a:cs typeface="+mn-cs"/>
              </a:rPr>
              <a:t>, a foundational platform for discovering, developing, customizing, deploying, and monitoring enterprise agents. </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The platform has a repository of configurable </a:t>
            </a:r>
            <a:r>
              <a:rPr kumimoji="0" lang="en-US" sz="1200" b="0" i="0" u="none" strike="noStrike" kern="1200" cap="none" spc="0" normalizeH="0" baseline="0" noProof="0">
                <a:ln>
                  <a:noFill/>
                </a:ln>
                <a:solidFill>
                  <a:srgbClr val="313131"/>
                </a:solidFill>
                <a:effectLst/>
                <a:uLnTx/>
                <a:uFillTx/>
                <a:latin typeface="Aptos"/>
                <a:ea typeface="+mn-ea"/>
                <a:cs typeface="+mn-cs"/>
                <a:hlinkClick r:id="rId7"/>
              </a:rPr>
              <a:t>pre-built functional and industry agents </a:t>
            </a:r>
            <a:r>
              <a:rPr kumimoji="0" lang="en-US" sz="1200" b="0" i="0" u="none" strike="noStrike" kern="1200" cap="none" spc="0" normalizeH="0" baseline="0" noProof="0">
                <a:ln>
                  <a:noFill/>
                </a:ln>
                <a:solidFill>
                  <a:srgbClr val="313131"/>
                </a:solidFill>
                <a:effectLst/>
                <a:uLnTx/>
                <a:uFillTx/>
                <a:latin typeface="Aptos"/>
                <a:ea typeface="+mn-ea"/>
                <a:cs typeface="+mn-cs"/>
              </a:rPr>
              <a:t>developed in </a:t>
            </a:r>
            <a:r>
              <a:rPr kumimoji="0" lang="en-US" sz="1200" b="0" i="0" u="none" strike="noStrike" kern="1200" cap="none" spc="0" normalizeH="0" baseline="0" noProof="0">
                <a:ln>
                  <a:noFill/>
                </a:ln>
                <a:solidFill>
                  <a:srgbClr val="313131"/>
                </a:solidFill>
                <a:effectLst/>
                <a:uLnTx/>
                <a:uFillTx/>
                <a:latin typeface="Aptos"/>
                <a:ea typeface="+mn-ea"/>
                <a:cs typeface="+mn-cs"/>
                <a:hlinkClick r:id="rId8"/>
              </a:rPr>
              <a:t>partnership with Google</a:t>
            </a:r>
            <a:r>
              <a:rPr kumimoji="0" lang="en-US" sz="1200" b="0" i="0" u="none" strike="noStrike" kern="1200" cap="none" spc="0" normalizeH="0" baseline="0" noProof="0">
                <a:ln>
                  <a:noFill/>
                </a:ln>
                <a:solidFill>
                  <a:srgbClr val="313131"/>
                </a:solidFill>
                <a:effectLst/>
                <a:uLnTx/>
                <a:uFillTx/>
                <a:latin typeface="Aptos"/>
                <a:ea typeface="+mn-ea"/>
                <a:cs typeface="+mn-cs"/>
              </a:rPr>
              <a:t>.</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Infosys stronger compared to Zora?</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Greater agent breadth – Infosys offers a wider choice of pre-built functional and industry-specific agents both in its Agentic Foundry platform as well as partner-enabled offerings with Google Cloud.</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Infosys?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Less customization effort – Zora offers methodology-rich ready-to-deploy digital workers. Infosys leads with a services-heavy proposition, emphasizing contextualization via forward-deployed engineers, along with customization of pre-built agents and integration into the client’s landscape. This flexibility is valuable but indicates that solution significant assembly and client-specific engineering is involved.</a:t>
            </a:r>
          </a:p>
        </p:txBody>
      </p:sp>
      <p:sp>
        <p:nvSpPr>
          <p:cNvPr id="7" name="Rectangle 6">
            <a:extLst>
              <a:ext uri="{FF2B5EF4-FFF2-40B4-BE49-F238E27FC236}">
                <a16:creationId xmlns:a16="http://schemas.microsoft.com/office/drawing/2014/main" id="{F66C619A-235A-EAE8-C659-ACBA3897C408}"/>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Focus on solution completeness, not catalog breadth: </a:t>
            </a:r>
            <a:r>
              <a:rPr kumimoji="0" lang="en-US" sz="1200" b="0" i="0" u="none" strike="noStrike" kern="1200" cap="none" spc="0" normalizeH="0" baseline="0" noProof="0">
                <a:ln>
                  <a:noFill/>
                </a:ln>
                <a:solidFill>
                  <a:prstClr val="black"/>
                </a:solidFill>
                <a:effectLst/>
                <a:uLnTx/>
                <a:uFillTx/>
                <a:latin typeface="Aptos"/>
                <a:ea typeface="+mn-ea"/>
                <a:cs typeface="+mn-cs"/>
              </a:rPr>
              <a:t>Position Zora as a finished, methodology-rich business worker compared to Infosys configurable or custom-made agents.</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Target functional buyers: </a:t>
            </a:r>
            <a:r>
              <a:rPr kumimoji="0" lang="en-US" sz="1200" b="0" i="0" u="none" strike="noStrike" kern="1200" cap="none" spc="0" normalizeH="0" baseline="0" noProof="0">
                <a:ln>
                  <a:noFill/>
                </a:ln>
                <a:solidFill>
                  <a:prstClr val="black"/>
                </a:solidFill>
                <a:effectLst/>
                <a:uLnTx/>
                <a:uFillTx/>
                <a:latin typeface="Aptos"/>
                <a:ea typeface="+mn-ea"/>
                <a:cs typeface="+mn-cs"/>
              </a:rPr>
              <a:t>Anchor conversations with CFOs, CPOs and shared-services leaders focused on cycle time, accuracy, capacity, working capital and decision quality. Infosys is better positioned for a CIO-led enterprise AI transformation. </a:t>
            </a:r>
          </a:p>
        </p:txBody>
      </p:sp>
      <p:sp>
        <p:nvSpPr>
          <p:cNvPr id="9" name="Rectangle: Rounded Corners 8">
            <a:extLst>
              <a:ext uri="{FF2B5EF4-FFF2-40B4-BE49-F238E27FC236}">
                <a16:creationId xmlns:a16="http://schemas.microsoft.com/office/drawing/2014/main" id="{EDE8F4BB-7DD3-BA17-EBA2-E19E1D1A0049}"/>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D87C4A96-5764-B837-0501-A0F34C3598EB}"/>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Rectangle: Rounded Corners 12">
            <a:extLst>
              <a:ext uri="{FF2B5EF4-FFF2-40B4-BE49-F238E27FC236}">
                <a16:creationId xmlns:a16="http://schemas.microsoft.com/office/drawing/2014/main" id="{061F727C-4B59-AEE9-A4E6-CDD7F9286C44}"/>
              </a:ext>
            </a:extLst>
          </p:cNvPr>
          <p:cNvSpPr/>
          <p:nvPr/>
        </p:nvSpPr>
        <p:spPr bwMode="gray">
          <a:xfrm>
            <a:off x="1259176"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8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0" i="0" u="none" strike="noStrike" kern="1200" cap="none" spc="0" normalizeH="0" baseline="0" noProof="0">
                <a:ln>
                  <a:noFill/>
                </a:ln>
                <a:solidFill>
                  <a:sysClr val="windowText" lastClr="000000"/>
                </a:solidFill>
                <a:effectLst/>
                <a:uLnTx/>
                <a:uFillTx/>
                <a:latin typeface="Aptos"/>
                <a:ea typeface="+mn-ea"/>
                <a:cs typeface="+mn-cs"/>
              </a:rPr>
              <a:t>Agentic foundry agents for healthcare, retail, telecom etc.</a:t>
            </a:r>
          </a:p>
        </p:txBody>
      </p:sp>
      <p:sp>
        <p:nvSpPr>
          <p:cNvPr id="15" name="Rectangle: Rounded Corners 14">
            <a:extLst>
              <a:ext uri="{FF2B5EF4-FFF2-40B4-BE49-F238E27FC236}">
                <a16:creationId xmlns:a16="http://schemas.microsoft.com/office/drawing/2014/main" id="{DA2074D0-4CAB-F235-71E1-3C5BB3F8147C}"/>
              </a:ext>
            </a:extLst>
          </p:cNvPr>
          <p:cNvSpPr/>
          <p:nvPr/>
        </p:nvSpPr>
        <p:spPr bwMode="gray">
          <a:xfrm>
            <a:off x="2045039"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7" name="Rectangle: Rounded Corners 16">
            <a:extLst>
              <a:ext uri="{FF2B5EF4-FFF2-40B4-BE49-F238E27FC236}">
                <a16:creationId xmlns:a16="http://schemas.microsoft.com/office/drawing/2014/main" id="{8C1AE107-D740-678A-6FBF-255BCCCDD319}"/>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0" i="0" u="none" strike="noStrike" kern="1200" cap="none" spc="0" normalizeH="0" baseline="0" noProof="0">
                <a:ln>
                  <a:noFill/>
                </a:ln>
                <a:solidFill>
                  <a:prstClr val="black"/>
                </a:solidFill>
                <a:effectLst/>
                <a:uLnTx/>
                <a:uFillTx/>
                <a:latin typeface="Aptos"/>
                <a:ea typeface="+mn-ea"/>
                <a:cs typeface="+mn-cs"/>
              </a:rPr>
              <a:t>Infosys Agentic Foundry; Topaz Fabric</a:t>
            </a:r>
          </a:p>
        </p:txBody>
      </p:sp>
      <p:sp>
        <p:nvSpPr>
          <p:cNvPr id="22" name="TextBox 21">
            <a:extLst>
              <a:ext uri="{FF2B5EF4-FFF2-40B4-BE49-F238E27FC236}">
                <a16:creationId xmlns:a16="http://schemas.microsoft.com/office/drawing/2014/main" id="{A185EDB2-CCBD-28F4-6DA7-9C6B3C327871}"/>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073E61C0-2F6E-1ED3-F503-A5FFF4EBC67F}"/>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540330FF-E4FB-56BA-00C9-1B4C6593A7E5}"/>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180E7D2A-C880-0558-E586-F1F6686384F2}"/>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75FA8C7D-9863-F1DD-FE43-717282EFE6E6}"/>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0E7CA3C4-618C-667E-ED97-0B55CDF9B5DB}"/>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2368A1E2-3CFE-972C-C310-D271649FC9D4}"/>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4098" name="Picture 2" descr="Infosys logo and symbol, meaning, history, PNG">
            <a:extLst>
              <a:ext uri="{FF2B5EF4-FFF2-40B4-BE49-F238E27FC236}">
                <a16:creationId xmlns:a16="http://schemas.microsoft.com/office/drawing/2014/main" id="{A90F3DBD-0037-9443-D277-6F06B6613FD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886211" y="147251"/>
            <a:ext cx="845540" cy="528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923723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239C4-C5C5-8C68-BAA0-89F0EA8CF521}"/>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4401F5E-4AE7-74AC-6DA8-EB5EEEF0CC5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6" progId="TCLayout.ActiveDocument.1">
                  <p:embed/>
                </p:oleObj>
              </mc:Choice>
              <mc:Fallback>
                <p:oleObj name="think-cell Slide" r:id="rId3" imgW="424" imgH="426" progId="TCLayout.ActiveDocument.1">
                  <p:embed/>
                  <p:pic>
                    <p:nvPicPr>
                      <p:cNvPr id="3" name="think-cell data - do not delete" hidden="1">
                        <a:extLst>
                          <a:ext uri="{FF2B5EF4-FFF2-40B4-BE49-F238E27FC236}">
                            <a16:creationId xmlns:a16="http://schemas.microsoft.com/office/drawing/2014/main" id="{54401F5E-4AE7-74AC-6DA8-EB5EEEF0CC5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F46F9E-540C-D242-739D-1F33E9CAC14A}"/>
              </a:ext>
            </a:extLst>
          </p:cNvPr>
          <p:cNvSpPr>
            <a:spLocks noGrp="1"/>
          </p:cNvSpPr>
          <p:nvPr>
            <p:ph type="title"/>
          </p:nvPr>
        </p:nvSpPr>
        <p:spPr>
          <a:xfrm>
            <a:off x="792480" y="4456176"/>
            <a:ext cx="11274552" cy="1592403"/>
          </a:xfrm>
        </p:spPr>
        <p:txBody>
          <a:bodyPr vert="horz" rIns="0"/>
          <a:lstStyle/>
          <a:p>
            <a:r>
              <a:rPr lang="en-US" sz="2800"/>
              <a:t>Competitor Profiles: </a:t>
            </a:r>
            <a:r>
              <a:rPr lang="en-US" sz="2800" i="1">
                <a:solidFill>
                  <a:srgbClr val="007680"/>
                </a:solidFill>
              </a:rPr>
              <a:t>Hyperscalers and Enterprise Software</a:t>
            </a:r>
          </a:p>
        </p:txBody>
      </p:sp>
    </p:spTree>
    <p:extLst>
      <p:ext uri="{BB962C8B-B14F-4D97-AF65-F5344CB8AC3E}">
        <p14:creationId xmlns:p14="http://schemas.microsoft.com/office/powerpoint/2010/main" val="5661777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A551B-CE2F-1D2F-08F8-CFAEB42B30A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0EBD6FB-05BA-99A4-CF76-A911FFD41A4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50EBD6FB-05BA-99A4-CF76-A911FFD41A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159B853C-CB4D-C83B-32E1-BCB1A2F152F9}"/>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1C65D9E-3EC3-1EC0-F0F4-9DF8BE1B378D}"/>
              </a:ext>
            </a:extLst>
          </p:cNvPr>
          <p:cNvSpPr>
            <a:spLocks noGrp="1"/>
          </p:cNvSpPr>
          <p:nvPr>
            <p:ph type="title"/>
          </p:nvPr>
        </p:nvSpPr>
        <p:spPr/>
        <p:txBody>
          <a:bodyPr vert="horz" rIns="0"/>
          <a:lstStyle/>
          <a:p>
            <a:r>
              <a:rPr lang="en-US" sz="2000" b="1">
                <a:solidFill>
                  <a:srgbClr val="282728"/>
                </a:solidFill>
                <a:latin typeface="Aptos"/>
              </a:rPr>
              <a:t>Microsoft</a:t>
            </a:r>
            <a:endParaRPr lang="en-US"/>
          </a:p>
        </p:txBody>
      </p:sp>
      <p:sp>
        <p:nvSpPr>
          <p:cNvPr id="4" name="TextBox 3">
            <a:extLst>
              <a:ext uri="{FF2B5EF4-FFF2-40B4-BE49-F238E27FC236}">
                <a16:creationId xmlns:a16="http://schemas.microsoft.com/office/drawing/2014/main" id="{CC8D225D-A726-7A69-721A-0861D19B2094}"/>
              </a:ext>
            </a:extLst>
          </p:cNvPr>
          <p:cNvSpPr txBox="1"/>
          <p:nvPr/>
        </p:nvSpPr>
        <p:spPr>
          <a:xfrm>
            <a:off x="382772" y="687992"/>
            <a:ext cx="1006754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Microsoft provides the agent building blocks and application native agents; Zora brings domain agents ready for business</a:t>
            </a:r>
          </a:p>
        </p:txBody>
      </p:sp>
      <p:sp>
        <p:nvSpPr>
          <p:cNvPr id="6" name="TextBox 5">
            <a:extLst>
              <a:ext uri="{FF2B5EF4-FFF2-40B4-BE49-F238E27FC236}">
                <a16:creationId xmlns:a16="http://schemas.microsoft.com/office/drawing/2014/main" id="{850A40D8-36A4-37A6-A4AE-11CBEA1A8433}"/>
              </a:ext>
            </a:extLst>
          </p:cNvPr>
          <p:cNvSpPr txBox="1"/>
          <p:nvPr/>
        </p:nvSpPr>
        <p:spPr>
          <a:xfrm>
            <a:off x="3222171" y="1106424"/>
            <a:ext cx="8509580" cy="30931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Microsoft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Microsoft combines embedded Dynamics 365 agents, low-code creation in Copilot Studio and pro-code development in Azure AI Foundry.</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Zora provides packaged, cross-functional Advise and Perform agents designed to work across client systems.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Microsoft winning compared to Zora?</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Broad build-platform coverage </a:t>
            </a:r>
            <a:r>
              <a:rPr kumimoji="0" lang="en-US" sz="1200" b="0" i="0" u="none" strike="noStrike" kern="1200" cap="none" spc="0" normalizeH="0" baseline="0" noProof="0">
                <a:ln>
                  <a:noFill/>
                </a:ln>
                <a:solidFill>
                  <a:srgbClr val="313131"/>
                </a:solidFill>
                <a:effectLst/>
                <a:uLnTx/>
                <a:uFillTx/>
                <a:latin typeface="Aptos"/>
                <a:ea typeface="+mn-ea"/>
                <a:cs typeface="+mn-cs"/>
              </a:rPr>
              <a:t>– Low-code and pro-code paths to build and own agents.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hlinkClick r:id="rId6"/>
              </a:rPr>
              <a:t>Agent governance and control plane</a:t>
            </a:r>
            <a:r>
              <a:rPr kumimoji="0" lang="en-US" sz="1200" b="0" i="0" u="none" strike="noStrike" kern="1200" cap="none" spc="0" normalizeH="0" baseline="0" noProof="0">
                <a:ln>
                  <a:noFill/>
                </a:ln>
                <a:solidFill>
                  <a:srgbClr val="313131"/>
                </a:solidFill>
                <a:effectLst/>
                <a:uLnTx/>
                <a:uFillTx/>
                <a:latin typeface="Aptos"/>
                <a:ea typeface="+mn-ea"/>
                <a:cs typeface="+mn-cs"/>
              </a:rPr>
              <a:t> – Unified discovery, cataloging, monitoring and policy enforcement.</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hlinkClick r:id="rId7"/>
              </a:rPr>
              <a:t>Native application embedding</a:t>
            </a:r>
            <a:r>
              <a:rPr kumimoji="0" lang="en-US" sz="1200" b="0" i="0" u="none" strike="noStrike" kern="1200" cap="none" spc="0" normalizeH="0" baseline="0" noProof="0">
                <a:ln>
                  <a:noFill/>
                </a:ln>
                <a:solidFill>
                  <a:srgbClr val="313131"/>
                </a:solidFill>
                <a:effectLst/>
                <a:uLnTx/>
                <a:uFillTx/>
                <a:latin typeface="Aptos"/>
                <a:ea typeface="+mn-ea"/>
                <a:cs typeface="+mn-cs"/>
              </a:rPr>
              <a:t> – Finance, Supply Chain and Field Service agents for Dynamics users.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Microsoft?</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Lower build effort – Preconfigured workflows reduce design, integration, testing, governance and operating effort unless a packaged Dynamics agent fits.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Cross-application interoperability – Microsoft’s packaged agents </a:t>
            </a:r>
            <a:r>
              <a:rPr lang="en-US" sz="1200">
                <a:solidFill>
                  <a:srgbClr val="313131"/>
                </a:solidFill>
                <a:latin typeface="Aptos"/>
              </a:rPr>
              <a:t>tied</a:t>
            </a:r>
            <a:r>
              <a:rPr kumimoji="0" lang="en-US" sz="1200" b="0" i="0" u="none" strike="noStrike" kern="1200" cap="none" spc="0" normalizeH="0" baseline="0" noProof="0">
                <a:ln>
                  <a:noFill/>
                </a:ln>
                <a:solidFill>
                  <a:srgbClr val="313131"/>
                </a:solidFill>
                <a:effectLst/>
                <a:uLnTx/>
                <a:uFillTx/>
                <a:latin typeface="Aptos"/>
                <a:ea typeface="+mn-ea"/>
                <a:cs typeface="+mn-cs"/>
              </a:rPr>
              <a:t> on its ecosystem; Zora is better suited </a:t>
            </a:r>
            <a:r>
              <a:rPr lang="en-US" sz="1200">
                <a:solidFill>
                  <a:srgbClr val="313131"/>
                </a:solidFill>
                <a:latin typeface="Aptos"/>
              </a:rPr>
              <a:t>for</a:t>
            </a:r>
            <a:r>
              <a:rPr kumimoji="0" lang="en-US" sz="1200" b="0" i="0" u="none" strike="noStrike" kern="1200" cap="none" spc="0" normalizeH="0" baseline="0" noProof="0">
                <a:ln>
                  <a:noFill/>
                </a:ln>
                <a:solidFill>
                  <a:srgbClr val="313131"/>
                </a:solidFill>
                <a:effectLst/>
                <a:uLnTx/>
                <a:uFillTx/>
                <a:latin typeface="Aptos"/>
                <a:ea typeface="+mn-ea"/>
                <a:cs typeface="+mn-cs"/>
              </a:rPr>
              <a:t> heterogeneous landscapes. </a:t>
            </a:r>
          </a:p>
        </p:txBody>
      </p:sp>
      <p:sp>
        <p:nvSpPr>
          <p:cNvPr id="7" name="Rectangle 6">
            <a:extLst>
              <a:ext uri="{FF2B5EF4-FFF2-40B4-BE49-F238E27FC236}">
                <a16:creationId xmlns:a16="http://schemas.microsoft.com/office/drawing/2014/main" id="{489C15A9-0A49-DBE3-08B0-1173378CD5F1}"/>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Target heterogeneous application ecosystems: </a:t>
            </a:r>
            <a:r>
              <a:rPr kumimoji="0" lang="en-US" sz="1200" b="0" i="0" u="none" strike="noStrike" kern="1200" cap="none" spc="0" normalizeH="0" baseline="0" noProof="0">
                <a:ln>
                  <a:noFill/>
                </a:ln>
                <a:solidFill>
                  <a:prstClr val="black"/>
                </a:solidFill>
                <a:effectLst/>
                <a:uLnTx/>
                <a:uFillTx/>
                <a:latin typeface="Aptos"/>
                <a:ea typeface="+mn-ea"/>
                <a:cs typeface="+mn-cs"/>
              </a:rPr>
              <a:t>Prioritize clients spanning Microsoft, SAP, Oracle and other platforms, not Microsoft-standardized CRM/ERP estates.</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Target Microsoft’s domain gaps: </a:t>
            </a:r>
            <a:r>
              <a:rPr kumimoji="0" lang="en-US" sz="1200" b="0" i="0" u="none" strike="noStrike" kern="1200" cap="none" spc="0" normalizeH="0" baseline="0" noProof="0">
                <a:ln>
                  <a:noFill/>
                </a:ln>
                <a:solidFill>
                  <a:prstClr val="black"/>
                </a:solidFill>
                <a:effectLst/>
                <a:uLnTx/>
                <a:uFillTx/>
                <a:latin typeface="Aptos"/>
                <a:ea typeface="+mn-ea"/>
                <a:cs typeface="+mn-cs"/>
              </a:rPr>
              <a:t>Differentiate in regulated tax, audit, controllership and procurement workflows where Microsoft offers less depth.</a:t>
            </a:r>
          </a:p>
        </p:txBody>
      </p:sp>
      <p:sp>
        <p:nvSpPr>
          <p:cNvPr id="9" name="Rectangle: Rounded Corners 8">
            <a:extLst>
              <a:ext uri="{FF2B5EF4-FFF2-40B4-BE49-F238E27FC236}">
                <a16:creationId xmlns:a16="http://schemas.microsoft.com/office/drawing/2014/main" id="{324B6E6D-98D8-31C9-67D6-96C19D02F393}"/>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1F479118-8927-8500-89BF-30BB2658CDDE}"/>
              </a:ext>
            </a:extLst>
          </p:cNvPr>
          <p:cNvSpPr/>
          <p:nvPr/>
        </p:nvSpPr>
        <p:spPr bwMode="gray">
          <a:xfrm>
            <a:off x="473313" y="1977655"/>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sysClr val="windowText" lastClr="000000"/>
                </a:solidFill>
                <a:effectLst/>
                <a:uLnTx/>
                <a:uFillTx/>
                <a:latin typeface="Aptos"/>
                <a:ea typeface="+mn-ea"/>
                <a:cs typeface="+mn-cs"/>
              </a:rPr>
              <a:t>General productivity agents like Copilot &amp; Cowork</a:t>
            </a:r>
          </a:p>
        </p:txBody>
      </p:sp>
      <p:sp>
        <p:nvSpPr>
          <p:cNvPr id="13" name="Rectangle: Rounded Corners 12">
            <a:extLst>
              <a:ext uri="{FF2B5EF4-FFF2-40B4-BE49-F238E27FC236}">
                <a16:creationId xmlns:a16="http://schemas.microsoft.com/office/drawing/2014/main" id="{80A8B29D-44C1-8148-5AC7-2FFC44A0D09F}"/>
              </a:ext>
            </a:extLst>
          </p:cNvPr>
          <p:cNvSpPr/>
          <p:nvPr/>
        </p:nvSpPr>
        <p:spPr bwMode="gray">
          <a:xfrm>
            <a:off x="1259176"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a:ea typeface="+mn-ea"/>
                <a:cs typeface="+mn-cs"/>
              </a:rPr>
              <a:t>Dragon copilot for healthcare sector</a:t>
            </a:r>
          </a:p>
        </p:txBody>
      </p:sp>
      <p:sp>
        <p:nvSpPr>
          <p:cNvPr id="15" name="Rectangle: Rounded Corners 14">
            <a:extLst>
              <a:ext uri="{FF2B5EF4-FFF2-40B4-BE49-F238E27FC236}">
                <a16:creationId xmlns:a16="http://schemas.microsoft.com/office/drawing/2014/main" id="{02B6FBC3-6887-EA4C-E7A6-1922A7C31C73}"/>
              </a:ext>
            </a:extLst>
          </p:cNvPr>
          <p:cNvSpPr/>
          <p:nvPr/>
        </p:nvSpPr>
        <p:spPr bwMode="gray">
          <a:xfrm>
            <a:off x="2045039"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Aptos"/>
                <a:ea typeface="+mn-ea"/>
                <a:cs typeface="+mn-cs"/>
              </a:rPr>
              <a:t>Dynamics 365 Agents across sales, customer service, finance etc.</a:t>
            </a:r>
          </a:p>
        </p:txBody>
      </p:sp>
      <p:sp>
        <p:nvSpPr>
          <p:cNvPr id="17" name="Rectangle: Rounded Corners 16">
            <a:extLst>
              <a:ext uri="{FF2B5EF4-FFF2-40B4-BE49-F238E27FC236}">
                <a16:creationId xmlns:a16="http://schemas.microsoft.com/office/drawing/2014/main" id="{1CBF844D-ED7A-51DB-3F76-14ADB4D79F9D}"/>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1"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1" u="none" strike="noStrike" kern="1200" cap="none" spc="0" normalizeH="0" baseline="0" noProof="0">
                <a:ln>
                  <a:noFill/>
                </a:ln>
                <a:solidFill>
                  <a:prstClr val="black"/>
                </a:solidFill>
                <a:effectLst/>
                <a:uLnTx/>
                <a:uFillTx/>
                <a:latin typeface="Aptos"/>
                <a:ea typeface="+mn-ea"/>
                <a:cs typeface="+mn-cs"/>
              </a:rPr>
              <a:t>Microsoft Enterprise Agent Platform</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22" name="TextBox 21">
            <a:extLst>
              <a:ext uri="{FF2B5EF4-FFF2-40B4-BE49-F238E27FC236}">
                <a16:creationId xmlns:a16="http://schemas.microsoft.com/office/drawing/2014/main" id="{5B5DBB74-69B6-602C-FC65-F9CEFF674468}"/>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7AEF5ECC-6419-809C-7D2B-807C8329329A}"/>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48E04AB5-5388-CED9-076C-33D580C8C198}"/>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36A455ED-CEC7-8551-1F0A-FC3FCCDAFC47}"/>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8365AAAA-2981-819B-042D-DAFB7689B6B6}"/>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CE0278A0-FE7A-1E7A-D69E-C4F42EC61675}"/>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36737E88-9B54-BC0E-CD6C-6F3942AD22CB}"/>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8" name="Picture 7">
            <a:extLst>
              <a:ext uri="{FF2B5EF4-FFF2-40B4-BE49-F238E27FC236}">
                <a16:creationId xmlns:a16="http://schemas.microsoft.com/office/drawing/2014/main" id="{027FCD1F-F37A-C668-AA30-BCCC536E3D6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27851" y="81651"/>
            <a:ext cx="603901" cy="595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22503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5C71-E5FD-A723-D202-4E61585C67BB}"/>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BC1B80E-CC61-9D69-B026-4EE4777A405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6BC1B80E-CC61-9D69-B026-4EE4777A405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38AA1EB9-35E3-F609-7569-9BA0E40AE011}"/>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525FF9-3E34-38C4-ACC5-32BCFD480C59}"/>
              </a:ext>
            </a:extLst>
          </p:cNvPr>
          <p:cNvSpPr>
            <a:spLocks noGrp="1"/>
          </p:cNvSpPr>
          <p:nvPr>
            <p:ph type="title"/>
          </p:nvPr>
        </p:nvSpPr>
        <p:spPr/>
        <p:txBody>
          <a:bodyPr vert="horz" rIns="0"/>
          <a:lstStyle/>
          <a:p>
            <a:r>
              <a:rPr lang="en-US" sz="2000" b="1">
                <a:solidFill>
                  <a:srgbClr val="282728"/>
                </a:solidFill>
                <a:latin typeface="Aptos"/>
              </a:rPr>
              <a:t>SAP</a:t>
            </a:r>
            <a:endParaRPr lang="en-US"/>
          </a:p>
        </p:txBody>
      </p:sp>
      <p:sp>
        <p:nvSpPr>
          <p:cNvPr id="4" name="TextBox 3">
            <a:extLst>
              <a:ext uri="{FF2B5EF4-FFF2-40B4-BE49-F238E27FC236}">
                <a16:creationId xmlns:a16="http://schemas.microsoft.com/office/drawing/2014/main" id="{71C60387-5B42-2536-39E3-9965CD50DC5A}"/>
              </a:ext>
            </a:extLst>
          </p:cNvPr>
          <p:cNvSpPr txBox="1"/>
          <p:nvPr/>
        </p:nvSpPr>
        <p:spPr>
          <a:xfrm>
            <a:off x="382772" y="687992"/>
            <a:ext cx="1006754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SAP embeds agents directly inside the ERP systems of record; Zora brings a portable, ERP-agnostic digital workforce</a:t>
            </a:r>
          </a:p>
        </p:txBody>
      </p:sp>
      <p:sp>
        <p:nvSpPr>
          <p:cNvPr id="6" name="TextBox 5">
            <a:extLst>
              <a:ext uri="{FF2B5EF4-FFF2-40B4-BE49-F238E27FC236}">
                <a16:creationId xmlns:a16="http://schemas.microsoft.com/office/drawing/2014/main" id="{2D2EB4DB-8385-BD9A-91B4-D59667C86407}"/>
              </a:ext>
            </a:extLst>
          </p:cNvPr>
          <p:cNvSpPr txBox="1"/>
          <p:nvPr/>
        </p:nvSpPr>
        <p:spPr>
          <a:xfrm>
            <a:off x="3222171" y="1106424"/>
            <a:ext cx="8509580" cy="33085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SAP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SAP's "</a:t>
            </a: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Autonomous Enterprise</a:t>
            </a:r>
            <a:r>
              <a:rPr kumimoji="0" lang="en-US" sz="1200" b="0" i="0" u="none" strike="noStrike" kern="1200" cap="none" spc="0" normalizeH="0" baseline="0" noProof="0">
                <a:ln>
                  <a:noFill/>
                </a:ln>
                <a:solidFill>
                  <a:srgbClr val="313131"/>
                </a:solidFill>
                <a:effectLst/>
                <a:uLnTx/>
                <a:uFillTx/>
                <a:latin typeface="Aptos"/>
                <a:ea typeface="+mn-ea"/>
                <a:cs typeface="+mn-cs"/>
              </a:rPr>
              <a:t>" strategy runs agents inside the ERP stack itself rather than as a separate deployable layer.</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The </a:t>
            </a:r>
            <a:r>
              <a:rPr kumimoji="0" lang="en-US" sz="1200" b="0" i="0" u="none" strike="noStrike" kern="1200" cap="none" spc="0" normalizeH="0" baseline="0" noProof="0">
                <a:ln>
                  <a:noFill/>
                </a:ln>
                <a:solidFill>
                  <a:srgbClr val="313131"/>
                </a:solidFill>
                <a:effectLst/>
                <a:uLnTx/>
                <a:uFillTx/>
                <a:latin typeface="Aptos"/>
                <a:ea typeface="+mn-ea"/>
                <a:cs typeface="+mn-cs"/>
                <a:hlinkClick r:id="rId6"/>
              </a:rPr>
              <a:t>SAP Business AI Platform </a:t>
            </a:r>
            <a:r>
              <a:rPr kumimoji="0" lang="en-US" sz="1200" b="0" i="0" u="none" strike="noStrike" kern="1200" cap="none" spc="0" normalizeH="0" baseline="0" noProof="0">
                <a:ln>
                  <a:noFill/>
                </a:ln>
                <a:solidFill>
                  <a:srgbClr val="313131"/>
                </a:solidFill>
                <a:effectLst/>
                <a:uLnTx/>
                <a:uFillTx/>
                <a:latin typeface="Aptos"/>
                <a:ea typeface="+mn-ea"/>
                <a:cs typeface="+mn-cs"/>
              </a:rPr>
              <a:t>(enterprise platform that allows organizations to build, integrate, and run AI agents) now orchestrates over 200 specialized agents organized under roughly 50 role-based "</a:t>
            </a:r>
            <a:r>
              <a:rPr kumimoji="0" lang="en-US" sz="1200" b="0" i="0" u="none" strike="noStrike" kern="1200" cap="none" spc="0" normalizeH="0" baseline="0" noProof="0">
                <a:ln>
                  <a:noFill/>
                </a:ln>
                <a:solidFill>
                  <a:srgbClr val="313131"/>
                </a:solidFill>
                <a:effectLst/>
                <a:uLnTx/>
                <a:uFillTx/>
                <a:latin typeface="Aptos"/>
                <a:ea typeface="+mn-ea"/>
                <a:cs typeface="+mn-cs"/>
                <a:hlinkClick r:id="rId7"/>
              </a:rPr>
              <a:t>Joule Assistants</a:t>
            </a:r>
            <a:r>
              <a:rPr kumimoji="0" lang="en-US" sz="1200" b="0" i="0" u="none" strike="noStrike" kern="1200" cap="none" spc="0" normalizeH="0" baseline="0" noProof="0">
                <a:ln>
                  <a:noFill/>
                </a:ln>
                <a:solidFill>
                  <a:srgbClr val="313131"/>
                </a:solidFill>
                <a:effectLst/>
                <a:uLnTx/>
                <a:uFillTx/>
                <a:latin typeface="Aptos"/>
                <a:ea typeface="+mn-ea"/>
                <a:cs typeface="+mn-cs"/>
              </a:rPr>
              <a:t>“ (context aware generative AI copilots) all embedded directly in SAP platforms S/4HANA, SuccessFactors, and Ariba.</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SAP stronger compared to Zora?</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Deep app native embedding</a:t>
            </a:r>
            <a:r>
              <a:rPr kumimoji="0" lang="en-US" sz="1200" b="0" i="0" u="none" strike="noStrike" kern="1200" cap="none" spc="0" normalizeH="0" baseline="0" noProof="0">
                <a:ln>
                  <a:noFill/>
                </a:ln>
                <a:solidFill>
                  <a:srgbClr val="313131"/>
                </a:solidFill>
                <a:effectLst/>
                <a:uLnTx/>
                <a:uFillTx/>
                <a:latin typeface="Aptos"/>
                <a:ea typeface="+mn-ea"/>
                <a:cs typeface="+mn-cs"/>
                <a:hlinkClick r:id="rId8"/>
              </a:rPr>
              <a:t> </a:t>
            </a:r>
            <a:r>
              <a:rPr kumimoji="0" lang="en-US" sz="1200" b="0" i="0" u="none" strike="noStrike" kern="1200" cap="none" spc="0" normalizeH="0" baseline="0" noProof="0">
                <a:ln>
                  <a:noFill/>
                </a:ln>
                <a:solidFill>
                  <a:srgbClr val="313131"/>
                </a:solidFill>
                <a:effectLst/>
                <a:uLnTx/>
                <a:uFillTx/>
                <a:latin typeface="Aptos"/>
                <a:ea typeface="+mn-ea"/>
                <a:cs typeface="+mn-cs"/>
              </a:rPr>
              <a:t>– Agents act directly on live transactional data inside S/4HANA and other core apps, using SAP's own </a:t>
            </a:r>
            <a:r>
              <a:rPr kumimoji="0" lang="en-US" sz="1200" b="0" i="0" u="none" strike="noStrike" kern="1200" cap="none" spc="0" normalizeH="0" baseline="0" noProof="0">
                <a:ln>
                  <a:noFill/>
                </a:ln>
                <a:solidFill>
                  <a:srgbClr val="313131"/>
                </a:solidFill>
                <a:effectLst/>
                <a:uLnTx/>
                <a:uFillTx/>
                <a:latin typeface="Aptos"/>
                <a:ea typeface="+mn-ea"/>
                <a:cs typeface="+mn-cs"/>
                <a:hlinkClick r:id="rId9"/>
              </a:rPr>
              <a:t>Knowledge Graph </a:t>
            </a:r>
            <a:r>
              <a:rPr kumimoji="0" lang="en-US" sz="1200" b="0" i="0" u="none" strike="noStrike" kern="1200" cap="none" spc="0" normalizeH="0" baseline="0" noProof="0">
                <a:ln>
                  <a:noFill/>
                </a:ln>
                <a:solidFill>
                  <a:srgbClr val="313131"/>
                </a:solidFill>
                <a:effectLst/>
                <a:uLnTx/>
                <a:uFillTx/>
                <a:latin typeface="Aptos"/>
                <a:ea typeface="+mn-ea"/>
                <a:cs typeface="+mn-cs"/>
              </a:rPr>
              <a:t>and Business Data Cloud. A</a:t>
            </a:r>
            <a:r>
              <a:rPr kumimoji="0" lang="en-US" sz="1200" b="0" i="0" u="none" strike="noStrike" kern="1200" cap="none" spc="0" normalizeH="0" baseline="0" noProof="0" err="1">
                <a:ln>
                  <a:noFill/>
                </a:ln>
                <a:solidFill>
                  <a:srgbClr val="313131"/>
                </a:solidFill>
                <a:effectLst/>
                <a:uLnTx/>
                <a:uFillTx/>
                <a:latin typeface="Aptos"/>
                <a:ea typeface="+mn-ea"/>
                <a:cs typeface="+mn-cs"/>
              </a:rPr>
              <a:t>llowing</a:t>
            </a:r>
            <a:r>
              <a:rPr kumimoji="0" lang="en-US" sz="1200" b="0" i="0" u="none" strike="noStrike" kern="1200" cap="none" spc="0" normalizeH="0" baseline="0" noProof="0">
                <a:ln>
                  <a:noFill/>
                </a:ln>
                <a:solidFill>
                  <a:srgbClr val="313131"/>
                </a:solidFill>
                <a:effectLst/>
                <a:uLnTx/>
                <a:uFillTx/>
                <a:latin typeface="Aptos"/>
                <a:ea typeface="+mn-ea"/>
                <a:cs typeface="+mn-cs"/>
              </a:rPr>
              <a:t> them to autonomously reason, plan, and execute multi-step business tasks using live enterprise data without requiring manual application switching.</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SAP?</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Faster value beyond the SAP core – SAP ready customers may activate Joule quickly for SAP-native workflows; Zora’s relative advantage is stronger when business outcomes require functional reasoning and execution across multiple enterprise systems.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Broader, client-directed model flexibility – Zora offers clients greater model flexibility control to match their workflow’s performance, cost, sovereignty and risk requirements. SAP offers multiple models, but selection is curated within its platform.</a:t>
            </a:r>
          </a:p>
        </p:txBody>
      </p:sp>
      <p:sp>
        <p:nvSpPr>
          <p:cNvPr id="7" name="Rectangle 6">
            <a:extLst>
              <a:ext uri="{FF2B5EF4-FFF2-40B4-BE49-F238E27FC236}">
                <a16:creationId xmlns:a16="http://schemas.microsoft.com/office/drawing/2014/main" id="{8A172E4A-D4E6-ED7A-CB3E-135C7D42829D}"/>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Lead with cross-landscape reach: </a:t>
            </a:r>
            <a:r>
              <a:rPr kumimoji="0" lang="en-US" sz="1200" b="0" i="0" u="none" strike="noStrike" kern="1200" cap="none" spc="0" normalizeH="0" baseline="0" noProof="0">
                <a:ln>
                  <a:noFill/>
                </a:ln>
                <a:solidFill>
                  <a:prstClr val="black"/>
                </a:solidFill>
                <a:effectLst/>
                <a:uLnTx/>
                <a:uFillTx/>
                <a:latin typeface="Aptos"/>
                <a:ea typeface="+mn-ea"/>
                <a:cs typeface="+mn-cs"/>
              </a:rPr>
              <a:t>Position Zora as the digital workforce that works the same way whether the client runs SAP, Oracle, or a mixed landscape, a structural advantage SAP's ERP-embedded model can't match for non-SAP or multi-ERP enterprises.</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Position Zora as extension: </a:t>
            </a:r>
            <a:r>
              <a:rPr kumimoji="0" lang="en-US" sz="1200" b="0" i="0" u="none" strike="noStrike" kern="1200" cap="none" spc="0" normalizeH="0" baseline="0" noProof="0">
                <a:ln>
                  <a:noFill/>
                </a:ln>
                <a:solidFill>
                  <a:prstClr val="black"/>
                </a:solidFill>
                <a:effectLst/>
                <a:uLnTx/>
                <a:uFillTx/>
                <a:latin typeface="Aptos"/>
                <a:ea typeface="+mn-ea"/>
                <a:cs typeface="+mn-cs"/>
              </a:rPr>
              <a:t>Zora can orchestrate cross-application workflows, coordinating Joule and other application-native agents through integrations and open interoperability protocols.</a:t>
            </a:r>
          </a:p>
        </p:txBody>
      </p:sp>
      <p:sp>
        <p:nvSpPr>
          <p:cNvPr id="9" name="Rectangle: Rounded Corners 8">
            <a:extLst>
              <a:ext uri="{FF2B5EF4-FFF2-40B4-BE49-F238E27FC236}">
                <a16:creationId xmlns:a16="http://schemas.microsoft.com/office/drawing/2014/main" id="{109BBE61-7026-946A-87BC-8D34E3F5E096}"/>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39E60CF4-D405-D33A-A786-615061658B1B}"/>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Rectangle: Rounded Corners 12">
            <a:extLst>
              <a:ext uri="{FF2B5EF4-FFF2-40B4-BE49-F238E27FC236}">
                <a16:creationId xmlns:a16="http://schemas.microsoft.com/office/drawing/2014/main" id="{BD2A3331-4530-55DB-1A35-B8E750E40412}"/>
              </a:ext>
            </a:extLst>
          </p:cNvPr>
          <p:cNvSpPr/>
          <p:nvPr/>
        </p:nvSpPr>
        <p:spPr bwMode="gray">
          <a:xfrm>
            <a:off x="1259176"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80BB2AA1-A3D9-3775-823D-3942885B8852}"/>
              </a:ext>
            </a:extLst>
          </p:cNvPr>
          <p:cNvSpPr/>
          <p:nvPr/>
        </p:nvSpPr>
        <p:spPr bwMode="gray">
          <a:xfrm>
            <a:off x="2045039" y="1971024"/>
            <a:ext cx="731520" cy="1463040"/>
          </a:xfrm>
          <a:prstGeom prst="roundRect">
            <a:avLst/>
          </a:prstGeom>
          <a:solidFill>
            <a:srgbClr val="E3E48D"/>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a:ea typeface="+mn-ea"/>
                <a:cs typeface="+mn-cs"/>
              </a:rPr>
              <a:t>Joule Agents embedded in S/4HANA, SuccessFactors, Ariba</a:t>
            </a:r>
          </a:p>
        </p:txBody>
      </p:sp>
      <p:sp>
        <p:nvSpPr>
          <p:cNvPr id="17" name="Rectangle: Rounded Corners 16">
            <a:extLst>
              <a:ext uri="{FF2B5EF4-FFF2-40B4-BE49-F238E27FC236}">
                <a16:creationId xmlns:a16="http://schemas.microsoft.com/office/drawing/2014/main" id="{B91DE23C-8752-801E-7D35-4DFBA76F515F}"/>
              </a:ext>
            </a:extLst>
          </p:cNvPr>
          <p:cNvSpPr/>
          <p:nvPr/>
        </p:nvSpPr>
        <p:spPr bwMode="gray">
          <a:xfrm>
            <a:off x="429769" y="3639561"/>
            <a:ext cx="2377440" cy="816923"/>
          </a:xfrm>
          <a:prstGeom prst="roundRect">
            <a:avLst/>
          </a:prstGeom>
          <a:solidFill>
            <a:schemeClr val="accent1">
              <a:lumMod val="20000"/>
              <a:lumOff val="80000"/>
            </a:schemeClr>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1"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1" u="none" strike="noStrike" kern="1200" cap="none" spc="0" normalizeH="0" baseline="0" noProof="0">
                <a:ln>
                  <a:noFill/>
                </a:ln>
                <a:solidFill>
                  <a:prstClr val="black"/>
                </a:solidFill>
                <a:effectLst/>
                <a:uLnTx/>
                <a:uFillTx/>
                <a:latin typeface="Aptos"/>
                <a:ea typeface="+mn-ea"/>
                <a:cs typeface="+mn-cs"/>
              </a:rPr>
              <a:t>SAP Business AI Platform; Joule Studio</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22" name="TextBox 21">
            <a:extLst>
              <a:ext uri="{FF2B5EF4-FFF2-40B4-BE49-F238E27FC236}">
                <a16:creationId xmlns:a16="http://schemas.microsoft.com/office/drawing/2014/main" id="{C8C025A1-73C5-2D54-50DC-68B83B76852F}"/>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45BB7F6B-95F1-DFE8-46A0-BB0569D692D1}"/>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5501BC87-A252-4A4B-C206-4B2EABCA0416}"/>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CECBC313-0AC0-7CB8-1D9E-2F7B441D3BDA}"/>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B9760CED-7226-774B-CE5F-D7FA4E25CE37}"/>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E0BBFB1D-59BD-1DF1-1A7A-2960F5BABD7F}"/>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4F01B1EB-34EE-C7AF-78FA-6C079397EFCA}"/>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1026" name="Picture 2" descr="Sap Logo PNG Vectors Free Download">
            <a:extLst>
              <a:ext uri="{FF2B5EF4-FFF2-40B4-BE49-F238E27FC236}">
                <a16:creationId xmlns:a16="http://schemas.microsoft.com/office/drawing/2014/main" id="{7E151F97-B16E-9E85-5BE7-E95A74447F6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27081" y="45636"/>
            <a:ext cx="950976" cy="587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56735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25FF9-3E34-38C4-ACC5-32BCFD480C59}"/>
              </a:ext>
            </a:extLst>
          </p:cNvPr>
          <p:cNvSpPr>
            <a:spLocks noGrp="1"/>
          </p:cNvSpPr>
          <p:nvPr>
            <p:ph type="title"/>
          </p:nvPr>
        </p:nvSpPr>
        <p:spPr/>
        <p:txBody>
          <a:bodyPr vert="horz" rIns="0"/>
          <a:lstStyle/>
          <a:p>
            <a:r>
              <a:rPr lang="en-US" sz="2000" b="1">
                <a:solidFill>
                  <a:srgbClr val="282728"/>
                </a:solidFill>
                <a:latin typeface="Aptos"/>
              </a:rPr>
              <a:t>ServiceNow</a:t>
            </a:r>
            <a:endParaRPr lang="en-US"/>
          </a:p>
        </p:txBody>
      </p:sp>
      <p:sp>
        <p:nvSpPr>
          <p:cNvPr id="4" name="TextBox 3">
            <a:extLst>
              <a:ext uri="{FF2B5EF4-FFF2-40B4-BE49-F238E27FC236}">
                <a16:creationId xmlns:a16="http://schemas.microsoft.com/office/drawing/2014/main" id="{71C60387-5B42-2536-39E3-9965CD50DC5A}"/>
              </a:ext>
            </a:extLst>
          </p:cNvPr>
          <p:cNvSpPr txBox="1"/>
          <p:nvPr/>
        </p:nvSpPr>
        <p:spPr>
          <a:xfrm>
            <a:off x="382772" y="687992"/>
            <a:ext cx="1006754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ServiceNow embeds agents in its applications; Zora brings a portable, cross-application digital workforce</a:t>
            </a:r>
          </a:p>
        </p:txBody>
      </p:sp>
      <p:sp>
        <p:nvSpPr>
          <p:cNvPr id="6" name="TextBox 5">
            <a:extLst>
              <a:ext uri="{FF2B5EF4-FFF2-40B4-BE49-F238E27FC236}">
                <a16:creationId xmlns:a16="http://schemas.microsoft.com/office/drawing/2014/main" id="{2D2EB4DB-8385-BD9A-91B4-D59667C86407}"/>
              </a:ext>
            </a:extLst>
          </p:cNvPr>
          <p:cNvSpPr txBox="1"/>
          <p:nvPr/>
        </p:nvSpPr>
        <p:spPr>
          <a:xfrm>
            <a:off x="3222171" y="1106424"/>
            <a:ext cx="8509580" cy="293926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ServiceNow different from Zora?</a:t>
            </a:r>
          </a:p>
          <a:p>
            <a:pPr marL="203200" indent="-203200">
              <a:spcBef>
                <a:spcPts val="600"/>
              </a:spcBef>
              <a:buSzPct val="100000"/>
              <a:buFont typeface="Arial"/>
              <a:buChar char="•"/>
              <a:defRPr/>
            </a:pPr>
            <a:r>
              <a:rPr lang="en-US" sz="1200">
                <a:solidFill>
                  <a:srgbClr val="313131"/>
                </a:solidFill>
              </a:rPr>
              <a:t>ServiceNow </a:t>
            </a:r>
            <a:r>
              <a:rPr lang="en-US" sz="1200">
                <a:solidFill>
                  <a:srgbClr val="313131"/>
                </a:solidFill>
                <a:hlinkClick r:id="rId2"/>
              </a:rPr>
              <a:t>Autonomous Workforce </a:t>
            </a:r>
            <a:r>
              <a:rPr lang="en-US" sz="1200">
                <a:solidFill>
                  <a:srgbClr val="313131"/>
                </a:solidFill>
              </a:rPr>
              <a:t>embeds AI specialists in Now Platform apps across IT, CRM, employee services and security, using native records, permissions, context and workflows.</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It also offers </a:t>
            </a:r>
            <a:r>
              <a:rPr kumimoji="0" lang="en-US" sz="1200" b="0" i="0" u="none" strike="noStrike" kern="1200" cap="none" spc="0" normalizeH="0" baseline="0" noProof="0">
                <a:ln>
                  <a:noFill/>
                </a:ln>
                <a:solidFill>
                  <a:srgbClr val="313131"/>
                </a:solidFill>
                <a:effectLst/>
                <a:uLnTx/>
                <a:uFillTx/>
                <a:latin typeface="Aptos"/>
                <a:ea typeface="+mn-ea"/>
                <a:cs typeface="+mn-cs"/>
                <a:hlinkClick r:id="rId3"/>
              </a:rPr>
              <a:t>AI Agent Studio</a:t>
            </a:r>
            <a:r>
              <a:rPr kumimoji="0" lang="en-US" sz="1200" b="0" i="0" u="none" strike="noStrike" kern="1200" cap="none" spc="0" normalizeH="0" baseline="0" noProof="0">
                <a:ln>
                  <a:noFill/>
                </a:ln>
                <a:solidFill>
                  <a:srgbClr val="313131"/>
                </a:solidFill>
                <a:effectLst/>
                <a:uLnTx/>
                <a:uFillTx/>
                <a:latin typeface="Aptos"/>
                <a:ea typeface="+mn-ea"/>
                <a:cs typeface="+mn-cs"/>
              </a:rPr>
              <a:t> to build and customize agents, </a:t>
            </a:r>
            <a:r>
              <a:rPr kumimoji="0" lang="en-US" sz="1200" b="0" i="0" u="none" strike="noStrike" kern="1200" cap="none" spc="0" normalizeH="0" baseline="0" noProof="0">
                <a:ln>
                  <a:noFill/>
                </a:ln>
                <a:solidFill>
                  <a:srgbClr val="313131"/>
                </a:solidFill>
                <a:effectLst/>
                <a:uLnTx/>
                <a:uFillTx/>
                <a:latin typeface="Aptos"/>
                <a:ea typeface="+mn-ea"/>
                <a:cs typeface="+mn-cs"/>
                <a:hlinkClick r:id="rId4"/>
              </a:rPr>
              <a:t>AI Control Tower</a:t>
            </a:r>
            <a:r>
              <a:rPr kumimoji="0" lang="en-US" sz="1200" b="0" i="0" u="none" strike="noStrike" kern="1200" cap="none" spc="0" normalizeH="0" baseline="0" noProof="0">
                <a:ln>
                  <a:noFill/>
                </a:ln>
                <a:solidFill>
                  <a:srgbClr val="313131"/>
                </a:solidFill>
                <a:effectLst/>
                <a:uLnTx/>
                <a:uFillTx/>
                <a:latin typeface="Aptos"/>
                <a:ea typeface="+mn-ea"/>
                <a:cs typeface="+mn-cs"/>
              </a:rPr>
              <a:t> to govern them, and </a:t>
            </a: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Action Fabric</a:t>
            </a:r>
            <a:r>
              <a:rPr kumimoji="0" lang="en-US" sz="1200" b="0" i="0" u="none" strike="noStrike" kern="1200" cap="none" spc="0" normalizeH="0" baseline="0" noProof="0">
                <a:ln>
                  <a:noFill/>
                </a:ln>
                <a:solidFill>
                  <a:srgbClr val="313131"/>
                </a:solidFill>
                <a:effectLst/>
                <a:uLnTx/>
                <a:uFillTx/>
                <a:latin typeface="Aptos"/>
                <a:ea typeface="+mn-ea"/>
                <a:cs typeface="+mn-cs"/>
              </a:rPr>
              <a:t> to connect ServiceNow and third-party agents.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ServiceNow stronger compared to Zora?</a:t>
            </a:r>
          </a:p>
          <a:p>
            <a:pPr marL="203200" lvl="0" indent="-203200">
              <a:spcBef>
                <a:spcPts val="600"/>
              </a:spcBef>
              <a:buSzPct val="100000"/>
              <a:buFont typeface="Arial"/>
              <a:buChar char="•"/>
              <a:defRPr/>
            </a:pPr>
            <a:r>
              <a:rPr lang="en-US" sz="1200">
                <a:solidFill>
                  <a:srgbClr val="313131"/>
                </a:solidFill>
              </a:rPr>
              <a:t>Higher productization/Out of the box value </a:t>
            </a:r>
            <a:r>
              <a:rPr kumimoji="0" lang="en-US" sz="1200" b="0" i="0" u="none" strike="noStrike" kern="1200" cap="none" spc="0" normalizeH="0" baseline="0" noProof="0">
                <a:ln>
                  <a:noFill/>
                </a:ln>
                <a:solidFill>
                  <a:srgbClr val="313131"/>
                </a:solidFill>
                <a:effectLst/>
                <a:uLnTx/>
                <a:uFillTx/>
                <a:latin typeface="Aptos"/>
                <a:ea typeface="+mn-ea"/>
                <a:cs typeface="+mn-cs"/>
              </a:rPr>
              <a:t>– Agents act directly on cases, incidents, requests and workflows using ServiceNow context and controls.</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Unified agent governance – AI Control Tower discovers, secures, monitors and measures ServiceNow and third-party agents.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ServiceNow?</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Cross-landscape reach – Zora executes functional workflows across ERP, CRM and data environments; ServiceNow pre-built agents are strongest within the Now Platform.</a:t>
            </a:r>
          </a:p>
        </p:txBody>
      </p:sp>
      <p:sp>
        <p:nvSpPr>
          <p:cNvPr id="7" name="Rectangle 6">
            <a:extLst>
              <a:ext uri="{FF2B5EF4-FFF2-40B4-BE49-F238E27FC236}">
                <a16:creationId xmlns:a16="http://schemas.microsoft.com/office/drawing/2014/main" id="{8A172E4A-D4E6-ED7A-CB3E-135C7D42829D}"/>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lvl="0" indent="-171450">
              <a:lnSpc>
                <a:spcPct val="106000"/>
              </a:lnSpc>
              <a:spcAft>
                <a:spcPts val="600"/>
              </a:spcAft>
              <a:buFont typeface="Arial" panose="020B0604020202020204" pitchFamily="34" charset="0"/>
              <a:buChar char="•"/>
              <a:defRPr/>
            </a:pPr>
            <a:r>
              <a:rPr lang="en-US" sz="1200" b="1">
                <a:solidFill>
                  <a:prstClr val="black"/>
                </a:solidFill>
              </a:rPr>
              <a:t>Lead with cross-landscape operability: </a:t>
            </a:r>
            <a:r>
              <a:rPr lang="en-US" sz="1200">
                <a:solidFill>
                  <a:prstClr val="black"/>
                </a:solidFill>
              </a:rPr>
              <a:t>Emphasize outcomes that span ServiceNow, ERP, CRM and other systems, not only work managed in the Now Platform.</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Complement ServiceNow: </a:t>
            </a:r>
            <a:r>
              <a:rPr kumimoji="0" lang="en-US" sz="1200" b="0" i="0" u="none" strike="noStrike" kern="1200" cap="none" spc="0" normalizeH="0" baseline="0" noProof="0">
                <a:ln>
                  <a:noFill/>
                </a:ln>
                <a:solidFill>
                  <a:prstClr val="black"/>
                </a:solidFill>
                <a:effectLst/>
                <a:uLnTx/>
                <a:uFillTx/>
                <a:latin typeface="Aptos"/>
                <a:ea typeface="+mn-ea"/>
                <a:cs typeface="+mn-cs"/>
              </a:rPr>
              <a:t>Use </a:t>
            </a:r>
            <a:r>
              <a:rPr lang="en-US" sz="1200">
                <a:solidFill>
                  <a:prstClr val="black"/>
                </a:solidFill>
                <a:latin typeface="Aptos"/>
              </a:rPr>
              <a:t>ServiceNow</a:t>
            </a:r>
            <a:r>
              <a:rPr kumimoji="0" lang="en-US" sz="1200" b="0" i="0" u="none" strike="noStrike" kern="1200" cap="none" spc="0" normalizeH="0" baseline="0" noProof="0">
                <a:ln>
                  <a:noFill/>
                </a:ln>
                <a:solidFill>
                  <a:prstClr val="black"/>
                </a:solidFill>
                <a:effectLst/>
                <a:uLnTx/>
                <a:uFillTx/>
                <a:latin typeface="Aptos"/>
                <a:ea typeface="+mn-ea"/>
                <a:cs typeface="+mn-cs"/>
              </a:rPr>
              <a:t> for self-service and governance; use Zora for methodology-rich domain workers in areas ServiceNow does not address.</a:t>
            </a:r>
          </a:p>
        </p:txBody>
      </p:sp>
      <p:sp>
        <p:nvSpPr>
          <p:cNvPr id="9" name="Rectangle: Rounded Corners 8">
            <a:extLst>
              <a:ext uri="{FF2B5EF4-FFF2-40B4-BE49-F238E27FC236}">
                <a16:creationId xmlns:a16="http://schemas.microsoft.com/office/drawing/2014/main" id="{109BBE61-7026-946A-87BC-8D34E3F5E096}"/>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39E60CF4-D405-D33A-A786-615061658B1B}"/>
              </a:ext>
            </a:extLst>
          </p:cNvPr>
          <p:cNvSpPr/>
          <p:nvPr/>
        </p:nvSpPr>
        <p:spPr bwMode="gray">
          <a:xfrm>
            <a:off x="473313" y="1977655"/>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r>
              <a:rPr sz="900" err="1">
                <a:solidFill>
                  <a:prstClr val="black"/>
                </a:solidFill>
                <a:latin typeface="Aptos"/>
              </a:rPr>
              <a:t>EmployeeWorks</a:t>
            </a:r>
            <a:endParaRPr sz="900">
              <a:solidFill>
                <a:prstClr val="black"/>
              </a:solidFill>
              <a:latin typeface="Aptos"/>
            </a:endParaRPr>
          </a:p>
        </p:txBody>
      </p:sp>
      <p:sp>
        <p:nvSpPr>
          <p:cNvPr id="13" name="Rectangle: Rounded Corners 12">
            <a:extLst>
              <a:ext uri="{FF2B5EF4-FFF2-40B4-BE49-F238E27FC236}">
                <a16:creationId xmlns:a16="http://schemas.microsoft.com/office/drawing/2014/main" id="{BD2A3331-4530-55DB-1A35-B8E750E40412}"/>
              </a:ext>
            </a:extLst>
          </p:cNvPr>
          <p:cNvSpPr/>
          <p:nvPr/>
        </p:nvSpPr>
        <p:spPr bwMode="gray">
          <a:xfrm>
            <a:off x="1259176"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a:p>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80BB2AA1-A3D9-3775-823D-3942885B8852}"/>
              </a:ext>
            </a:extLst>
          </p:cNvPr>
          <p:cNvSpPr/>
          <p:nvPr/>
        </p:nvSpPr>
        <p:spPr bwMode="gray">
          <a:xfrm>
            <a:off x="2045039" y="1971024"/>
            <a:ext cx="731520" cy="1463040"/>
          </a:xfrm>
          <a:prstGeom prst="roundRect">
            <a:avLst/>
          </a:prstGeom>
          <a:solidFill>
            <a:srgbClr val="E3E48D"/>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a:ea typeface="+mn-ea"/>
                <a:cs typeface="+mn-cs"/>
              </a:rPr>
              <a:t>Autonomous Workforce: IT, CRM, HR, Security</a:t>
            </a:r>
          </a:p>
        </p:txBody>
      </p:sp>
      <p:sp>
        <p:nvSpPr>
          <p:cNvPr id="17" name="Rectangle: Rounded Corners 16">
            <a:extLst>
              <a:ext uri="{FF2B5EF4-FFF2-40B4-BE49-F238E27FC236}">
                <a16:creationId xmlns:a16="http://schemas.microsoft.com/office/drawing/2014/main" id="{B91DE23C-8752-801E-7D35-4DFBA76F515F}"/>
              </a:ext>
            </a:extLst>
          </p:cNvPr>
          <p:cNvSpPr/>
          <p:nvPr/>
        </p:nvSpPr>
        <p:spPr bwMode="gray">
          <a:xfrm>
            <a:off x="429769" y="3639561"/>
            <a:ext cx="2377440" cy="816923"/>
          </a:xfrm>
          <a:prstGeom prst="roundRect">
            <a:avLst/>
          </a:prstGeom>
          <a:solidFill>
            <a:schemeClr val="accent1">
              <a:lumMod val="20000"/>
              <a:lumOff val="80000"/>
            </a:schemeClr>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1"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1" u="none" strike="noStrike" kern="1200" cap="none" spc="0" normalizeH="0" baseline="0" noProof="0">
                <a:ln>
                  <a:noFill/>
                </a:ln>
                <a:solidFill>
                  <a:prstClr val="black"/>
                </a:solidFill>
                <a:effectLst/>
                <a:uLnTx/>
                <a:uFillTx/>
                <a:latin typeface="Aptos"/>
                <a:ea typeface="+mn-ea"/>
                <a:cs typeface="+mn-cs"/>
              </a:rPr>
              <a:t>AI Agent Studio; AI Control Tower; Action Fabric</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22" name="TextBox 21">
            <a:extLst>
              <a:ext uri="{FF2B5EF4-FFF2-40B4-BE49-F238E27FC236}">
                <a16:creationId xmlns:a16="http://schemas.microsoft.com/office/drawing/2014/main" id="{C8C025A1-73C5-2D54-50DC-68B83B76852F}"/>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cxnSp>
        <p:nvCxnSpPr>
          <p:cNvPr id="33" name="Straight Connector 32">
            <a:extLst>
              <a:ext uri="{FF2B5EF4-FFF2-40B4-BE49-F238E27FC236}">
                <a16:creationId xmlns:a16="http://schemas.microsoft.com/office/drawing/2014/main" id="{E0BBFB1D-59BD-1DF1-1A7A-2960F5BABD7F}"/>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4F01B1EB-34EE-C7AF-78FA-6C079397EFCA}"/>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sp>
        <p:nvSpPr>
          <p:cNvPr id="5" name="Rectangle: Rounded Corners 4">
            <a:extLst>
              <a:ext uri="{FF2B5EF4-FFF2-40B4-BE49-F238E27FC236}">
                <a16:creationId xmlns:a16="http://schemas.microsoft.com/office/drawing/2014/main" id="{89C180F1-DF4F-8171-117C-03A60C9AF89C}"/>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12" name="Rectangle: Rounded Corners 11">
            <a:extLst>
              <a:ext uri="{FF2B5EF4-FFF2-40B4-BE49-F238E27FC236}">
                <a16:creationId xmlns:a16="http://schemas.microsoft.com/office/drawing/2014/main" id="{0A6D58BE-937E-A24B-83D3-F70B2F4497BD}"/>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16" name="Rectangle: Rounded Corners 15">
            <a:extLst>
              <a:ext uri="{FF2B5EF4-FFF2-40B4-BE49-F238E27FC236}">
                <a16:creationId xmlns:a16="http://schemas.microsoft.com/office/drawing/2014/main" id="{FDCEA43B-21D8-D1DC-9A0F-C2FF4F225EFA}"/>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pic>
        <p:nvPicPr>
          <p:cNvPr id="18" name="Picture 17" descr="ServiceNow Logo and symbol, meaning, history, PNG">
            <a:extLst>
              <a:ext uri="{FF2B5EF4-FFF2-40B4-BE49-F238E27FC236}">
                <a16:creationId xmlns:a16="http://schemas.microsoft.com/office/drawing/2014/main" id="{C36C471A-BD6E-4767-F59E-3A15A1160401}"/>
              </a:ext>
            </a:extLst>
          </p:cNvPr>
          <p:cNvPicPr>
            <a:picLocks noChangeAspect="1"/>
          </p:cNvPicPr>
          <p:nvPr/>
        </p:nvPicPr>
        <p:blipFill>
          <a:blip r:embed="rId6"/>
          <a:stretch>
            <a:fillRect/>
          </a:stretch>
        </p:blipFill>
        <p:spPr>
          <a:xfrm>
            <a:off x="10612877" y="41759"/>
            <a:ext cx="1359642" cy="768042"/>
          </a:xfrm>
          <a:prstGeom prst="rect">
            <a:avLst/>
          </a:prstGeom>
        </p:spPr>
      </p:pic>
      <p:cxnSp>
        <p:nvCxnSpPr>
          <p:cNvPr id="3" name="Straight Connector 2">
            <a:extLst>
              <a:ext uri="{FF2B5EF4-FFF2-40B4-BE49-F238E27FC236}">
                <a16:creationId xmlns:a16="http://schemas.microsoft.com/office/drawing/2014/main" id="{E96278EC-3F1D-D471-89E5-F27CD5220918}"/>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E78FFC6-62E5-1560-C97C-B534C5AF142F}"/>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25FF9-3E34-38C4-ACC5-32BCFD480C59}"/>
              </a:ext>
            </a:extLst>
          </p:cNvPr>
          <p:cNvSpPr>
            <a:spLocks noGrp="1"/>
          </p:cNvSpPr>
          <p:nvPr>
            <p:ph type="title"/>
          </p:nvPr>
        </p:nvSpPr>
        <p:spPr/>
        <p:txBody>
          <a:bodyPr vert="horz" rIns="0"/>
          <a:lstStyle/>
          <a:p>
            <a:r>
              <a:rPr lang="en-US" sz="2000" b="1">
                <a:solidFill>
                  <a:srgbClr val="282728"/>
                </a:solidFill>
                <a:latin typeface="Aptos"/>
              </a:rPr>
              <a:t>Salesforce</a:t>
            </a:r>
            <a:endParaRPr lang="en-US"/>
          </a:p>
        </p:txBody>
      </p:sp>
      <p:sp>
        <p:nvSpPr>
          <p:cNvPr id="4" name="TextBox 3">
            <a:extLst>
              <a:ext uri="{FF2B5EF4-FFF2-40B4-BE49-F238E27FC236}">
                <a16:creationId xmlns:a16="http://schemas.microsoft.com/office/drawing/2014/main" id="{71C60387-5B42-2536-39E3-9965CD50DC5A}"/>
              </a:ext>
            </a:extLst>
          </p:cNvPr>
          <p:cNvSpPr txBox="1"/>
          <p:nvPr/>
        </p:nvSpPr>
        <p:spPr>
          <a:xfrm>
            <a:off x="382772" y="687992"/>
            <a:ext cx="1006754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Salesforce embeds agents across CRM and revenue workflows; Zora brings a portable, cross-application digital workforce</a:t>
            </a:r>
          </a:p>
        </p:txBody>
      </p:sp>
      <p:sp>
        <p:nvSpPr>
          <p:cNvPr id="6" name="TextBox 5">
            <a:extLst>
              <a:ext uri="{FF2B5EF4-FFF2-40B4-BE49-F238E27FC236}">
                <a16:creationId xmlns:a16="http://schemas.microsoft.com/office/drawing/2014/main" id="{2D2EB4DB-8385-BD9A-91B4-D59667C86407}"/>
              </a:ext>
            </a:extLst>
          </p:cNvPr>
          <p:cNvSpPr txBox="1"/>
          <p:nvPr/>
        </p:nvSpPr>
        <p:spPr>
          <a:xfrm>
            <a:off x="3222171" y="1106424"/>
            <a:ext cx="8509580" cy="293926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Salesforce different from Zora?</a:t>
            </a:r>
          </a:p>
          <a:p>
            <a:pPr marL="203200" indent="-203200">
              <a:spcBef>
                <a:spcPts val="600"/>
              </a:spcBef>
              <a:buSzPct val="100000"/>
              <a:buFont typeface="Arial"/>
              <a:buChar char="•"/>
              <a:defRPr/>
            </a:pPr>
            <a:r>
              <a:rPr lang="en-US" sz="1200" b="0">
                <a:solidFill>
                  <a:srgbClr val="313131"/>
                </a:solidFill>
                <a:latin typeface="Aptos"/>
              </a:rPr>
              <a:t>Salesforce </a:t>
            </a:r>
            <a:r>
              <a:rPr lang="en-US" sz="1200" b="0">
                <a:solidFill>
                  <a:srgbClr val="313131"/>
                </a:solidFill>
                <a:latin typeface="Aptos"/>
                <a:hlinkClick r:id="rId2"/>
              </a:rPr>
              <a:t>Agentforce 360 Platform </a:t>
            </a:r>
            <a:r>
              <a:rPr lang="en-US" sz="1200" b="0">
                <a:solidFill>
                  <a:srgbClr val="313131"/>
                </a:solidFill>
                <a:latin typeface="Aptos"/>
              </a:rPr>
              <a:t>builds, deploys and orchestrates agents grounded in Data 360, Salesforce metadata, business logic, permissions and workflows.</a:t>
            </a:r>
          </a:p>
          <a:p>
            <a:pPr marL="203200" indent="-203200">
              <a:spcBef>
                <a:spcPts val="600"/>
              </a:spcBef>
              <a:buSzPct val="100000"/>
              <a:buFont typeface="Arial"/>
              <a:buChar char="•"/>
              <a:defRPr/>
            </a:pPr>
            <a:r>
              <a:rPr kumimoji="0" lang="en-US" sz="1200" b="0" i="0" u="none" strike="noStrike" kern="1200" cap="none" spc="0" normalizeH="0" baseline="0" noProof="0">
                <a:ln>
                  <a:noFill/>
                </a:ln>
                <a:solidFill>
                  <a:srgbClr val="313131"/>
                </a:solidFill>
                <a:effectLst/>
                <a:uLnTx/>
                <a:uFillTx/>
                <a:latin typeface="Aptos"/>
                <a:ea typeface="+mn-ea"/>
                <a:cs typeface="+mn-cs"/>
              </a:rPr>
              <a:t>Prebuilt </a:t>
            </a:r>
            <a:r>
              <a:rPr kumimoji="0" lang="en-US" sz="1200" b="0" i="0" u="none" strike="noStrike" kern="1200" cap="none" spc="0" normalizeH="0" baseline="0" noProof="0">
                <a:ln>
                  <a:noFill/>
                </a:ln>
                <a:solidFill>
                  <a:srgbClr val="313131"/>
                </a:solidFill>
                <a:effectLst/>
                <a:uLnTx/>
                <a:uFillTx/>
                <a:latin typeface="Aptos"/>
                <a:ea typeface="+mn-ea"/>
                <a:cs typeface="+mn-cs"/>
                <a:hlinkClick r:id="rId3"/>
              </a:rPr>
              <a:t>application-native agents </a:t>
            </a:r>
            <a:r>
              <a:rPr kumimoji="0" lang="en-US" sz="1200" b="0" i="0" u="none" strike="noStrike" kern="1200" cap="none" spc="0" normalizeH="0" baseline="0" noProof="0">
                <a:ln>
                  <a:noFill/>
                </a:ln>
                <a:solidFill>
                  <a:srgbClr val="313131"/>
                </a:solidFill>
                <a:effectLst/>
                <a:uLnTx/>
                <a:uFillTx/>
                <a:latin typeface="Aptos"/>
                <a:ea typeface="+mn-ea"/>
                <a:cs typeface="+mn-cs"/>
              </a:rPr>
              <a:t>span Sales, Service, Marketing, Commerce and Revenue, plus industry templates, operating directly in Customer 360 and Slack.</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Salesforce stronger compared to Zora?</a:t>
            </a:r>
          </a:p>
          <a:p>
            <a:pPr marL="203200" indent="-203200">
              <a:spcBef>
                <a:spcPts val="600"/>
              </a:spcBef>
              <a:buSzPct val="100000"/>
              <a:buFont typeface="Arial"/>
              <a:buChar char="•"/>
              <a:defRPr/>
            </a:pPr>
            <a:r>
              <a:rPr lang="en-US" sz="1200">
                <a:solidFill>
                  <a:srgbClr val="313131"/>
                </a:solidFill>
              </a:rPr>
              <a:t>Higher productization/Out of the box value </a:t>
            </a:r>
            <a:r>
              <a:rPr kumimoji="0" lang="en-US" sz="1200" b="0" i="0" u="none" strike="noStrike" kern="1200" cap="none" spc="0" normalizeH="0" baseline="0" noProof="0">
                <a:ln>
                  <a:noFill/>
                </a:ln>
                <a:solidFill>
                  <a:srgbClr val="313131"/>
                </a:solidFill>
                <a:effectLst/>
                <a:uLnTx/>
                <a:uFillTx/>
                <a:latin typeface="Aptos"/>
                <a:ea typeface="+mn-ea"/>
                <a:cs typeface="+mn-cs"/>
              </a:rPr>
              <a:t>– Agents act on live customer, pipeline, case, order and revenue context through Salesforce apps, flows and security.</a:t>
            </a:r>
          </a:p>
          <a:p>
            <a:pPr marL="203200" indent="-203200">
              <a:spcBef>
                <a:spcPts val="600"/>
              </a:spcBef>
              <a:buSzPct val="100000"/>
              <a:buFont typeface="Arial"/>
              <a:buChar char="•"/>
              <a:defRPr/>
            </a:pPr>
            <a:r>
              <a:rPr kumimoji="0" lang="en-US" sz="1200" b="0" i="0" u="none" strike="noStrike" kern="1200" cap="none" spc="0" normalizeH="0" baseline="0" noProof="0">
                <a:ln>
                  <a:noFill/>
                </a:ln>
                <a:solidFill>
                  <a:srgbClr val="313131"/>
                </a:solidFill>
                <a:effectLst/>
                <a:uLnTx/>
                <a:uFillTx/>
                <a:latin typeface="Aptos"/>
                <a:ea typeface="+mn-ea"/>
                <a:cs typeface="+mn-cs"/>
              </a:rPr>
              <a:t>Centralized agent governance – Customers can monitor, secure and govern Salesforce and third-party agents centrally as deployments scale.</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Salesforce?</a:t>
            </a:r>
          </a:p>
          <a:p>
            <a:pPr marL="203200" indent="-203200">
              <a:spcBef>
                <a:spcPts val="600"/>
              </a:spcBef>
              <a:buSzPct val="100000"/>
              <a:buFont typeface="Arial"/>
              <a:buChar char="•"/>
              <a:defRPr/>
            </a:pPr>
            <a:r>
              <a:rPr kumimoji="0" lang="en-US" sz="1200" b="0" i="0" u="none" strike="noStrike" kern="1200" cap="none" spc="0" normalizeH="0" baseline="0" noProof="0">
                <a:ln>
                  <a:noFill/>
                </a:ln>
                <a:solidFill>
                  <a:srgbClr val="313131"/>
                </a:solidFill>
                <a:effectLst/>
                <a:uLnTx/>
                <a:uFillTx/>
                <a:latin typeface="Aptos"/>
                <a:ea typeface="+mn-ea"/>
                <a:cs typeface="+mn-cs"/>
              </a:rPr>
              <a:t>Back-office domain depth – Zora packages Deloitte methodology across finance, procurement, tax, audit and HR; Salesforce centers on customer, revenue and CRM processes.</a:t>
            </a:r>
          </a:p>
          <a:p>
            <a:pPr marL="203200" indent="-203200">
              <a:spcBef>
                <a:spcPts val="600"/>
              </a:spcBef>
              <a:buSzPct val="100000"/>
              <a:buFont typeface="Arial"/>
              <a:buChar char="•"/>
              <a:defRPr/>
            </a:pPr>
            <a:r>
              <a:rPr kumimoji="0" lang="en-US" sz="1200" b="0" i="0" u="none" strike="noStrike" kern="1200" cap="none" spc="0" normalizeH="0" baseline="0" noProof="0">
                <a:ln>
                  <a:noFill/>
                </a:ln>
                <a:solidFill>
                  <a:srgbClr val="313131"/>
                </a:solidFill>
                <a:effectLst/>
                <a:uLnTx/>
                <a:uFillTx/>
                <a:latin typeface="Aptos"/>
                <a:ea typeface="+mn-ea"/>
                <a:cs typeface="+mn-cs"/>
              </a:rPr>
              <a:t>Cross-application execution – Zora works across ERP, CRM and data environments; Salesforce delivers the most native value within its ecosystem.</a:t>
            </a:r>
          </a:p>
        </p:txBody>
      </p:sp>
      <p:sp>
        <p:nvSpPr>
          <p:cNvPr id="7" name="Rectangle 6">
            <a:extLst>
              <a:ext uri="{FF2B5EF4-FFF2-40B4-BE49-F238E27FC236}">
                <a16:creationId xmlns:a16="http://schemas.microsoft.com/office/drawing/2014/main" id="{8A172E4A-D4E6-ED7A-CB3E-135C7D42829D}"/>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Lead beyond the CRM core: </a:t>
            </a:r>
            <a:r>
              <a:rPr kumimoji="0" lang="en-US" sz="1200" b="0" i="0" u="none" strike="noStrike" kern="1200" cap="none" spc="0" normalizeH="0" baseline="0" noProof="0">
                <a:ln>
                  <a:noFill/>
                </a:ln>
                <a:solidFill>
                  <a:prstClr val="black"/>
                </a:solidFill>
                <a:effectLst/>
                <a:uLnTx/>
                <a:uFillTx/>
                <a:latin typeface="Aptos"/>
                <a:ea typeface="+mn-ea"/>
                <a:cs typeface="+mn-cs"/>
              </a:rPr>
              <a:t>Target finance, procurement, tax, audit and HR outcomes requiring functional reasoning across Salesforce, ERP and other systems.</a:t>
            </a:r>
          </a:p>
        </p:txBody>
      </p:sp>
      <p:sp>
        <p:nvSpPr>
          <p:cNvPr id="9" name="Rectangle: Rounded Corners 8">
            <a:extLst>
              <a:ext uri="{FF2B5EF4-FFF2-40B4-BE49-F238E27FC236}">
                <a16:creationId xmlns:a16="http://schemas.microsoft.com/office/drawing/2014/main" id="{109BBE61-7026-946A-87BC-8D34E3F5E096}"/>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39E60CF4-D405-D33A-A786-615061658B1B}"/>
              </a:ext>
            </a:extLst>
          </p:cNvPr>
          <p:cNvSpPr/>
          <p:nvPr/>
        </p:nvSpPr>
        <p:spPr bwMode="gray">
          <a:xfrm>
            <a:off x="473313" y="1977655"/>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r>
              <a:rPr lang="en-US" sz="900">
                <a:solidFill>
                  <a:prstClr val="black"/>
                </a:solidFill>
                <a:latin typeface="Aptos"/>
              </a:rPr>
              <a:t>Agentforce</a:t>
            </a:r>
            <a:r>
              <a:rPr sz="900">
                <a:solidFill>
                  <a:prstClr val="black"/>
                </a:solidFill>
                <a:latin typeface="Aptos"/>
              </a:rPr>
              <a:t> for Employees; Slack</a:t>
            </a:r>
          </a:p>
        </p:txBody>
      </p:sp>
      <p:sp>
        <p:nvSpPr>
          <p:cNvPr id="13" name="Rectangle: Rounded Corners 12">
            <a:extLst>
              <a:ext uri="{FF2B5EF4-FFF2-40B4-BE49-F238E27FC236}">
                <a16:creationId xmlns:a16="http://schemas.microsoft.com/office/drawing/2014/main" id="{BD2A3331-4530-55DB-1A35-B8E750E40412}"/>
              </a:ext>
            </a:extLst>
          </p:cNvPr>
          <p:cNvSpPr/>
          <p:nvPr/>
        </p:nvSpPr>
        <p:spPr bwMode="gray">
          <a:xfrm>
            <a:off x="1259176"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a:p>
            <a:r>
              <a:rPr lang="en-US" sz="900"/>
              <a:t>Agentforce</a:t>
            </a:r>
            <a:r>
              <a:rPr sz="900"/>
              <a:t> for Industries</a:t>
            </a: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80BB2AA1-A3D9-3775-823D-3942885B8852}"/>
              </a:ext>
            </a:extLst>
          </p:cNvPr>
          <p:cNvSpPr/>
          <p:nvPr/>
        </p:nvSpPr>
        <p:spPr bwMode="gray">
          <a:xfrm>
            <a:off x="2045039" y="1971024"/>
            <a:ext cx="731520" cy="1463040"/>
          </a:xfrm>
          <a:prstGeom prst="roundRect">
            <a:avLst/>
          </a:prstGeom>
          <a:solidFill>
            <a:srgbClr val="E3E48D"/>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a:ea typeface="+mn-ea"/>
                <a:cs typeface="+mn-cs"/>
              </a:rPr>
              <a:t>Sales; Service; Marketing; Commerce; Revenue</a:t>
            </a:r>
          </a:p>
        </p:txBody>
      </p:sp>
      <p:sp>
        <p:nvSpPr>
          <p:cNvPr id="17" name="Rectangle: Rounded Corners 16">
            <a:extLst>
              <a:ext uri="{FF2B5EF4-FFF2-40B4-BE49-F238E27FC236}">
                <a16:creationId xmlns:a16="http://schemas.microsoft.com/office/drawing/2014/main" id="{B91DE23C-8752-801E-7D35-4DFBA76F515F}"/>
              </a:ext>
            </a:extLst>
          </p:cNvPr>
          <p:cNvSpPr/>
          <p:nvPr/>
        </p:nvSpPr>
        <p:spPr bwMode="gray">
          <a:xfrm>
            <a:off x="429769" y="3639561"/>
            <a:ext cx="2377440" cy="816923"/>
          </a:xfrm>
          <a:prstGeom prst="roundRect">
            <a:avLst/>
          </a:prstGeom>
          <a:solidFill>
            <a:schemeClr val="accent1">
              <a:lumMod val="20000"/>
              <a:lumOff val="80000"/>
            </a:schemeClr>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1"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1" u="none" strike="noStrike" kern="1200" cap="none" spc="0" normalizeH="0" baseline="0" noProof="0">
                <a:ln>
                  <a:noFill/>
                </a:ln>
                <a:solidFill>
                  <a:prstClr val="black"/>
                </a:solidFill>
                <a:effectLst/>
                <a:uLnTx/>
                <a:uFillTx/>
                <a:latin typeface="Aptos"/>
                <a:ea typeface="+mn-ea"/>
                <a:cs typeface="+mn-cs"/>
              </a:rPr>
              <a:t>Agentforce 360 Platform; MuleSoft Agent Fabric</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22" name="TextBox 21">
            <a:extLst>
              <a:ext uri="{FF2B5EF4-FFF2-40B4-BE49-F238E27FC236}">
                <a16:creationId xmlns:a16="http://schemas.microsoft.com/office/drawing/2014/main" id="{C8C025A1-73C5-2D54-50DC-68B83B76852F}"/>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30" name="TextBox 29">
            <a:extLst>
              <a:ext uri="{FF2B5EF4-FFF2-40B4-BE49-F238E27FC236}">
                <a16:creationId xmlns:a16="http://schemas.microsoft.com/office/drawing/2014/main" id="{B9760CED-7226-774B-CE5F-D7FA4E25CE37}"/>
              </a:ext>
            </a:extLst>
          </p:cNvPr>
          <p:cNvSpPr txBox="1"/>
          <p:nvPr/>
        </p:nvSpPr>
        <p:spPr>
          <a:xfrm>
            <a:off x="4160520" y="5417653"/>
            <a:ext cx="3886200" cy="313419"/>
          </a:xfrm>
          <a:prstGeom prst="rect">
            <a:avLst/>
          </a:prstGeom>
          <a:solidFill>
            <a:schemeClr val="bg1"/>
          </a:solidFill>
        </p:spPr>
        <p:txBody>
          <a:bodyPr wrap="square">
            <a:no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1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E0BBFB1D-59BD-1DF1-1A7A-2960F5BABD7F}"/>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4F01B1EB-34EE-C7AF-78FA-6C079397EFCA}"/>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sp>
        <p:nvSpPr>
          <p:cNvPr id="5" name="Rectangle: Rounded Corners 4">
            <a:extLst>
              <a:ext uri="{FF2B5EF4-FFF2-40B4-BE49-F238E27FC236}">
                <a16:creationId xmlns:a16="http://schemas.microsoft.com/office/drawing/2014/main" id="{89C180F1-DF4F-8171-117C-03A60C9AF89C}"/>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12" name="Rectangle: Rounded Corners 11">
            <a:extLst>
              <a:ext uri="{FF2B5EF4-FFF2-40B4-BE49-F238E27FC236}">
                <a16:creationId xmlns:a16="http://schemas.microsoft.com/office/drawing/2014/main" id="{0A6D58BE-937E-A24B-83D3-F70B2F4497BD}"/>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16" name="Rectangle: Rounded Corners 15">
            <a:extLst>
              <a:ext uri="{FF2B5EF4-FFF2-40B4-BE49-F238E27FC236}">
                <a16:creationId xmlns:a16="http://schemas.microsoft.com/office/drawing/2014/main" id="{FDCEA43B-21D8-D1DC-9A0F-C2FF4F225EFA}"/>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cxnSp>
        <p:nvCxnSpPr>
          <p:cNvPr id="8" name="Straight Connector 7">
            <a:extLst>
              <a:ext uri="{FF2B5EF4-FFF2-40B4-BE49-F238E27FC236}">
                <a16:creationId xmlns:a16="http://schemas.microsoft.com/office/drawing/2014/main" id="{0767E342-EDE5-9FEE-A415-C767A34C2A9A}"/>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102E7D1-2812-7C83-CB7D-3FA032FF4F36}"/>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pic>
        <p:nvPicPr>
          <p:cNvPr id="18" name="Picture 17" descr="Salesforce Logo PNG Vector (AI) Free Download">
            <a:extLst>
              <a:ext uri="{FF2B5EF4-FFF2-40B4-BE49-F238E27FC236}">
                <a16:creationId xmlns:a16="http://schemas.microsoft.com/office/drawing/2014/main" id="{538BFAF6-2C81-F1D3-87C7-5B93AC873529}"/>
              </a:ext>
            </a:extLst>
          </p:cNvPr>
          <p:cNvPicPr>
            <a:picLocks noChangeAspect="1"/>
          </p:cNvPicPr>
          <p:nvPr/>
        </p:nvPicPr>
        <p:blipFill>
          <a:blip r:embed="rId4"/>
          <a:stretch>
            <a:fillRect/>
          </a:stretch>
        </p:blipFill>
        <p:spPr>
          <a:xfrm>
            <a:off x="10909738" y="8792"/>
            <a:ext cx="1085615" cy="99179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25FF9-3E34-38C4-ACC5-32BCFD480C59}"/>
              </a:ext>
            </a:extLst>
          </p:cNvPr>
          <p:cNvSpPr>
            <a:spLocks noGrp="1"/>
          </p:cNvSpPr>
          <p:nvPr>
            <p:ph type="title"/>
          </p:nvPr>
        </p:nvSpPr>
        <p:spPr/>
        <p:txBody>
          <a:bodyPr vert="horz" rIns="0"/>
          <a:lstStyle/>
          <a:p>
            <a:r>
              <a:rPr lang="en-US" sz="2000" b="1">
                <a:solidFill>
                  <a:srgbClr val="282728"/>
                </a:solidFill>
                <a:latin typeface="Aptos"/>
              </a:rPr>
              <a:t>Workday</a:t>
            </a:r>
            <a:endParaRPr lang="en-US"/>
          </a:p>
        </p:txBody>
      </p:sp>
      <p:sp>
        <p:nvSpPr>
          <p:cNvPr id="4" name="TextBox 3">
            <a:extLst>
              <a:ext uri="{FF2B5EF4-FFF2-40B4-BE49-F238E27FC236}">
                <a16:creationId xmlns:a16="http://schemas.microsoft.com/office/drawing/2014/main" id="{71C60387-5B42-2536-39E3-9965CD50DC5A}"/>
              </a:ext>
            </a:extLst>
          </p:cNvPr>
          <p:cNvSpPr txBox="1"/>
          <p:nvPr/>
        </p:nvSpPr>
        <p:spPr>
          <a:xfrm>
            <a:off x="382771" y="687994"/>
            <a:ext cx="996745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Workday embeds agents in its </a:t>
            </a:r>
            <a:r>
              <a:rPr lang="en-US" sz="1400" b="1" i="1" u="sng">
                <a:solidFill>
                  <a:prstClr val="black"/>
                </a:solidFill>
                <a:latin typeface="Aptos"/>
              </a:rPr>
              <a:t>HR</a:t>
            </a:r>
            <a:r>
              <a:rPr kumimoji="0" lang="en-US" sz="1400" b="1" i="1" u="sng" strike="noStrike" kern="1200" cap="none" spc="0" normalizeH="0" baseline="0" noProof="0">
                <a:ln>
                  <a:noFill/>
                </a:ln>
                <a:solidFill>
                  <a:prstClr val="black"/>
                </a:solidFill>
                <a:effectLst/>
                <a:uLnTx/>
                <a:uFillTx/>
                <a:latin typeface="Aptos"/>
                <a:ea typeface="+mn-ea"/>
                <a:cs typeface="+mn-cs"/>
              </a:rPr>
              <a:t> and finance systems; Zora brings a portable, cross-application digital workforce</a:t>
            </a:r>
          </a:p>
        </p:txBody>
      </p:sp>
      <p:sp>
        <p:nvSpPr>
          <p:cNvPr id="6" name="TextBox 5">
            <a:extLst>
              <a:ext uri="{FF2B5EF4-FFF2-40B4-BE49-F238E27FC236}">
                <a16:creationId xmlns:a16="http://schemas.microsoft.com/office/drawing/2014/main" id="{2D2EB4DB-8385-BD9A-91B4-D59667C86407}"/>
              </a:ext>
            </a:extLst>
          </p:cNvPr>
          <p:cNvSpPr txBox="1"/>
          <p:nvPr/>
        </p:nvSpPr>
        <p:spPr>
          <a:xfrm>
            <a:off x="3222171" y="1106423"/>
            <a:ext cx="8509580" cy="32778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Workday different from Zora?</a:t>
            </a:r>
          </a:p>
          <a:p>
            <a:pPr marL="203200" indent="-203200">
              <a:spcBef>
                <a:spcPts val="600"/>
              </a:spcBef>
              <a:buSzPct val="100000"/>
              <a:buFont typeface="Arial"/>
              <a:buChar char="•"/>
              <a:defRPr/>
            </a:pPr>
            <a:r>
              <a:rPr lang="en-US" sz="1200">
                <a:solidFill>
                  <a:srgbClr val="313131"/>
                </a:solidFill>
                <a:hlinkClick r:id="rId2"/>
              </a:rPr>
              <a:t>Application-native agents </a:t>
            </a:r>
            <a:r>
              <a:rPr lang="en-US" sz="1200">
                <a:solidFill>
                  <a:srgbClr val="313131"/>
                </a:solidFill>
              </a:rPr>
              <a:t>— Packaged agents for HR, talent, payroll and finance execute using Workday data, permissions, business rules and workflows.</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Governance and orchestration — </a:t>
            </a:r>
            <a:r>
              <a:rPr kumimoji="0" lang="en-US" sz="1200" b="0" i="0" u="none" strike="noStrike" kern="1200" cap="none" spc="0" normalizeH="0" baseline="0" noProof="0">
                <a:ln>
                  <a:noFill/>
                </a:ln>
                <a:solidFill>
                  <a:srgbClr val="313131"/>
                </a:solidFill>
                <a:effectLst/>
                <a:uLnTx/>
                <a:uFillTx/>
                <a:latin typeface="Aptos"/>
                <a:ea typeface="+mn-ea"/>
                <a:cs typeface="+mn-cs"/>
                <a:hlinkClick r:id="rId3"/>
              </a:rPr>
              <a:t>ASOR </a:t>
            </a:r>
            <a:r>
              <a:rPr kumimoji="0" lang="en-US" sz="1200" b="0" i="0" u="none" strike="noStrike" kern="1200" cap="none" spc="0" normalizeH="0" baseline="0" noProof="0">
                <a:ln>
                  <a:noFill/>
                </a:ln>
                <a:solidFill>
                  <a:srgbClr val="313131"/>
                </a:solidFill>
                <a:effectLst/>
                <a:uLnTx/>
                <a:uFillTx/>
                <a:latin typeface="Aptos"/>
                <a:ea typeface="+mn-ea"/>
                <a:cs typeface="+mn-cs"/>
              </a:rPr>
              <a:t>governs ownership, lifecycle, performance and value of Workday and third-party agents; </a:t>
            </a:r>
            <a:r>
              <a:rPr kumimoji="0" lang="en-US" sz="1200" b="0" i="0" u="none" strike="noStrike" kern="1200" cap="none" spc="0" normalizeH="0" baseline="0" noProof="0">
                <a:ln>
                  <a:noFill/>
                </a:ln>
                <a:solidFill>
                  <a:srgbClr val="313131"/>
                </a:solidFill>
                <a:effectLst/>
                <a:uLnTx/>
                <a:uFillTx/>
                <a:latin typeface="Aptos"/>
                <a:ea typeface="+mn-ea"/>
                <a:cs typeface="+mn-cs"/>
                <a:hlinkClick r:id="rId4"/>
              </a:rPr>
              <a:t>Agent Gateway </a:t>
            </a:r>
            <a:r>
              <a:rPr kumimoji="0" lang="en-US" sz="1200" b="0" i="0" u="none" strike="noStrike" kern="1200" cap="none" spc="0" normalizeH="0" baseline="0" noProof="0">
                <a:ln>
                  <a:noFill/>
                </a:ln>
                <a:solidFill>
                  <a:srgbClr val="313131"/>
                </a:solidFill>
                <a:effectLst/>
                <a:uLnTx/>
                <a:uFillTx/>
                <a:latin typeface="Aptos"/>
                <a:ea typeface="+mn-ea"/>
                <a:cs typeface="+mn-cs"/>
              </a:rPr>
              <a:t>controls Workday data access and agent interactions.</a:t>
            </a:r>
          </a:p>
          <a:p>
            <a:pPr marL="203200" lvl="0" indent="-203200">
              <a:spcBef>
                <a:spcPts val="600"/>
              </a:spcBef>
              <a:buSzPct val="100000"/>
              <a:buFont typeface="Arial"/>
              <a:buChar char="•"/>
              <a:defRPr/>
            </a:pPr>
            <a:r>
              <a:rPr lang="en-US" sz="1200">
                <a:solidFill>
                  <a:srgbClr val="313131"/>
                </a:solidFill>
                <a:latin typeface="Aptos"/>
                <a:hlinkClick r:id="rId5"/>
              </a:rPr>
              <a:t>Sana platform </a:t>
            </a:r>
            <a:r>
              <a:rPr lang="en-US" sz="1200">
                <a:solidFill>
                  <a:srgbClr val="313131"/>
                </a:solidFill>
              </a:rPr>
              <a:t>— Acquired in November 2025, Sana adds enterprise search, conversational support, agent building and automation across connected applications.</a:t>
            </a:r>
            <a:endParaRPr kumimoji="0" lang="en-US" sz="1200" b="0" i="0" u="none" strike="noStrike" kern="1200" cap="none" spc="0" normalizeH="0" baseline="0" noProof="0">
              <a:ln>
                <a:noFill/>
              </a:ln>
              <a:solidFill>
                <a:srgbClr val="313131"/>
              </a:solidFill>
              <a:effectLst/>
              <a:uLnTx/>
              <a:uFillTx/>
              <a:latin typeface="Aptos"/>
              <a:ea typeface="+mn-ea"/>
              <a:cs typeface="+mn-cs"/>
            </a:endParaRPr>
          </a:p>
          <a:p>
            <a:pPr marR="0" lvl="0" algn="l" defTabSz="914400" rtl="0" eaLnBrk="1" fontAlgn="auto" latinLnBrk="0" hangingPunct="1">
              <a:lnSpc>
                <a:spcPct val="100000"/>
              </a:lnSpc>
              <a:spcBef>
                <a:spcPts val="600"/>
              </a:spcBef>
              <a:spcAft>
                <a:spcPts val="0"/>
              </a:spcAft>
              <a:buClrTx/>
              <a:buSzPct val="100000"/>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Workday stronger compared to Zora?</a:t>
            </a:r>
          </a:p>
          <a:p>
            <a:pPr marL="203200" lvl="0" indent="-203200">
              <a:spcBef>
                <a:spcPts val="600"/>
              </a:spcBef>
              <a:buSzPct val="100000"/>
              <a:buFont typeface="Arial"/>
              <a:buChar char="•"/>
              <a:defRPr/>
            </a:pPr>
            <a:r>
              <a:rPr lang="en-US" sz="1200">
                <a:solidFill>
                  <a:srgbClr val="313131"/>
                </a:solidFill>
              </a:rPr>
              <a:t>Higher productization/Out of the box value </a:t>
            </a:r>
            <a:r>
              <a:rPr kumimoji="0" lang="en-US" sz="1200" b="0" i="0" u="none" strike="noStrike" kern="1200" cap="none" spc="0" normalizeH="0" baseline="0" noProof="0">
                <a:ln>
                  <a:noFill/>
                </a:ln>
                <a:solidFill>
                  <a:srgbClr val="313131"/>
                </a:solidFill>
                <a:effectLst/>
                <a:uLnTx/>
                <a:uFillTx/>
                <a:latin typeface="Aptos"/>
                <a:ea typeface="+mn-ea"/>
                <a:cs typeface="+mn-cs"/>
              </a:rPr>
              <a:t>– Agents perform HR, talent, payroll and finance work using live Workday data, rules, permissions and controls.</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Integrated workforce management – ASOR and Agent Gateway govern Workday and third-party agents; Sana adds a unified experience and orchestration layer.</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Workday?</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Broader domain coverage – Zora embeds Deloitte expertise into complex finance, tax, procurement and audit workflows beyond Workday applications.</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Cross-application execution – Zora works across ERP, CRM and data environments; Workday agents deliver the most native value within its ecosystem.</a:t>
            </a:r>
          </a:p>
        </p:txBody>
      </p:sp>
      <p:sp>
        <p:nvSpPr>
          <p:cNvPr id="7" name="Rectangle 6">
            <a:extLst>
              <a:ext uri="{FF2B5EF4-FFF2-40B4-BE49-F238E27FC236}">
                <a16:creationId xmlns:a16="http://schemas.microsoft.com/office/drawing/2014/main" id="{8A172E4A-D4E6-ED7A-CB3E-135C7D42829D}"/>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noAutofit/>
          </a:bodyPr>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Prove differentiation with named workflows: </a:t>
            </a:r>
            <a:r>
              <a:rPr kumimoji="0" lang="en-US" sz="1200" b="0" i="0" u="none" strike="noStrike" kern="1200" cap="none" spc="0" normalizeH="0" baseline="0" noProof="0">
                <a:ln>
                  <a:noFill/>
                </a:ln>
                <a:solidFill>
                  <a:prstClr val="black"/>
                </a:solidFill>
                <a:effectLst/>
                <a:uLnTx/>
                <a:uFillTx/>
                <a:latin typeface="Aptos"/>
                <a:ea typeface="+mn-ea"/>
                <a:cs typeface="+mn-cs"/>
              </a:rPr>
              <a:t>Show where Zora adds decision support, functional controls or cross-system execution beyond Workday’s packaged agents.</a:t>
            </a:r>
          </a:p>
        </p:txBody>
      </p:sp>
      <p:sp>
        <p:nvSpPr>
          <p:cNvPr id="9" name="Rectangle: Rounded Corners 8">
            <a:extLst>
              <a:ext uri="{FF2B5EF4-FFF2-40B4-BE49-F238E27FC236}">
                <a16:creationId xmlns:a16="http://schemas.microsoft.com/office/drawing/2014/main" id="{109BBE61-7026-946A-87BC-8D34E3F5E096}"/>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39E60CF4-D405-D33A-A786-615061658B1B}"/>
              </a:ext>
            </a:extLst>
          </p:cNvPr>
          <p:cNvSpPr/>
          <p:nvPr/>
        </p:nvSpPr>
        <p:spPr bwMode="gray">
          <a:xfrm>
            <a:off x="473313" y="1977655"/>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r>
              <a:rPr sz="750" err="1">
                <a:solidFill>
                  <a:prstClr val="black"/>
                </a:solidFill>
                <a:latin typeface="Aptos"/>
              </a:rPr>
              <a:t>Sana Self-Service Agent</a:t>
            </a:r>
            <a:endParaRPr sz="900">
              <a:solidFill>
                <a:prstClr val="black"/>
              </a:solidFill>
              <a:latin typeface="Aptos"/>
            </a:endParaRPr>
          </a:p>
        </p:txBody>
      </p:sp>
      <p:sp>
        <p:nvSpPr>
          <p:cNvPr id="13" name="Rectangle: Rounded Corners 12">
            <a:extLst>
              <a:ext uri="{FF2B5EF4-FFF2-40B4-BE49-F238E27FC236}">
                <a16:creationId xmlns:a16="http://schemas.microsoft.com/office/drawing/2014/main" id="{BD2A3331-4530-55DB-1A35-B8E750E40412}"/>
              </a:ext>
            </a:extLst>
          </p:cNvPr>
          <p:cNvSpPr/>
          <p:nvPr/>
        </p:nvSpPr>
        <p:spPr bwMode="gray">
          <a:xfrm>
            <a:off x="1259176"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a:p>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80BB2AA1-A3D9-3775-823D-3942885B8852}"/>
              </a:ext>
            </a:extLst>
          </p:cNvPr>
          <p:cNvSpPr/>
          <p:nvPr/>
        </p:nvSpPr>
        <p:spPr bwMode="gray">
          <a:xfrm>
            <a:off x="2045039" y="1971024"/>
            <a:ext cx="731520" cy="1463040"/>
          </a:xfrm>
          <a:prstGeom prst="roundRect">
            <a:avLst/>
          </a:prstGeom>
          <a:solidFill>
            <a:srgbClr val="E3E48D"/>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50" b="0" i="0" u="none" strike="noStrike" kern="1200" cap="none" spc="0" normalizeH="0" baseline="0" noProof="0">
                <a:ln>
                  <a:noFill/>
                </a:ln>
                <a:solidFill>
                  <a:prstClr val="black"/>
                </a:solidFill>
                <a:effectLst/>
                <a:uLnTx/>
                <a:uFillTx/>
                <a:latin typeface="Aptos"/>
                <a:ea typeface="+mn-ea"/>
                <a:cs typeface="+mn-cs"/>
              </a:rPr>
              <a:t>HR, Talent, Payroll, Accounting</a:t>
            </a:r>
          </a:p>
        </p:txBody>
      </p:sp>
      <p:sp>
        <p:nvSpPr>
          <p:cNvPr id="17" name="Rectangle: Rounded Corners 16">
            <a:extLst>
              <a:ext uri="{FF2B5EF4-FFF2-40B4-BE49-F238E27FC236}">
                <a16:creationId xmlns:a16="http://schemas.microsoft.com/office/drawing/2014/main" id="{B91DE23C-8752-801E-7D35-4DFBA76F515F}"/>
              </a:ext>
            </a:extLst>
          </p:cNvPr>
          <p:cNvSpPr/>
          <p:nvPr/>
        </p:nvSpPr>
        <p:spPr bwMode="gray">
          <a:xfrm>
            <a:off x="429769" y="3639561"/>
            <a:ext cx="2377440" cy="816923"/>
          </a:xfrm>
          <a:prstGeom prst="roundRect">
            <a:avLst/>
          </a:prstGeom>
          <a:solidFill>
            <a:schemeClr val="accent1">
              <a:lumMod val="20000"/>
              <a:lumOff val="80000"/>
            </a:schemeClr>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1"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700" b="0" i="1" u="none" strike="noStrike" kern="1200" cap="none" spc="0" normalizeH="0" baseline="0" noProof="0">
                <a:ln>
                  <a:noFill/>
                </a:ln>
                <a:solidFill>
                  <a:prstClr val="black"/>
                </a:solidFill>
                <a:effectLst/>
                <a:uLnTx/>
                <a:uFillTx/>
                <a:latin typeface="Aptos"/>
                <a:ea typeface="+mn-ea"/>
                <a:cs typeface="+mn-cs"/>
              </a:rPr>
              <a:t>Sana; ASOR; Agent Gateway; Workday Build</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22" name="TextBox 21">
            <a:extLst>
              <a:ext uri="{FF2B5EF4-FFF2-40B4-BE49-F238E27FC236}">
                <a16:creationId xmlns:a16="http://schemas.microsoft.com/office/drawing/2014/main" id="{C8C025A1-73C5-2D54-50DC-68B83B76852F}"/>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cxnSp>
        <p:nvCxnSpPr>
          <p:cNvPr id="33" name="Straight Connector 32">
            <a:extLst>
              <a:ext uri="{FF2B5EF4-FFF2-40B4-BE49-F238E27FC236}">
                <a16:creationId xmlns:a16="http://schemas.microsoft.com/office/drawing/2014/main" id="{E0BBFB1D-59BD-1DF1-1A7A-2960F5BABD7F}"/>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4F01B1EB-34EE-C7AF-78FA-6C079397EFCA}"/>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sp>
        <p:nvSpPr>
          <p:cNvPr id="5" name="Rectangle: Rounded Corners 4">
            <a:extLst>
              <a:ext uri="{FF2B5EF4-FFF2-40B4-BE49-F238E27FC236}">
                <a16:creationId xmlns:a16="http://schemas.microsoft.com/office/drawing/2014/main" id="{89C180F1-DF4F-8171-117C-03A60C9AF89C}"/>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12" name="Rectangle: Rounded Corners 11">
            <a:extLst>
              <a:ext uri="{FF2B5EF4-FFF2-40B4-BE49-F238E27FC236}">
                <a16:creationId xmlns:a16="http://schemas.microsoft.com/office/drawing/2014/main" id="{0A6D58BE-937E-A24B-83D3-F70B2F4497BD}"/>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16" name="Rectangle: Rounded Corners 15">
            <a:extLst>
              <a:ext uri="{FF2B5EF4-FFF2-40B4-BE49-F238E27FC236}">
                <a16:creationId xmlns:a16="http://schemas.microsoft.com/office/drawing/2014/main" id="{FDCEA43B-21D8-D1DC-9A0F-C2FF4F225EFA}"/>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cxnSp>
        <p:nvCxnSpPr>
          <p:cNvPr id="3" name="Straight Connector 2">
            <a:extLst>
              <a:ext uri="{FF2B5EF4-FFF2-40B4-BE49-F238E27FC236}">
                <a16:creationId xmlns:a16="http://schemas.microsoft.com/office/drawing/2014/main" id="{3C92580D-E4C7-D23F-0041-600C2365BB4E}"/>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9CB3093-E0C5-AA58-693A-D840920B6832}"/>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pic>
        <p:nvPicPr>
          <p:cNvPr id="18" name="Picture 17" descr="Workday Logo PNG Vector (EPS) Free Download">
            <a:extLst>
              <a:ext uri="{FF2B5EF4-FFF2-40B4-BE49-F238E27FC236}">
                <a16:creationId xmlns:a16="http://schemas.microsoft.com/office/drawing/2014/main" id="{E559F294-A447-3500-F4B4-1BDDE7AE6718}"/>
              </a:ext>
            </a:extLst>
          </p:cNvPr>
          <p:cNvPicPr>
            <a:picLocks noChangeAspect="1"/>
          </p:cNvPicPr>
          <p:nvPr/>
        </p:nvPicPr>
        <p:blipFill>
          <a:blip r:embed="rId6"/>
          <a:stretch>
            <a:fillRect/>
          </a:stretch>
        </p:blipFill>
        <p:spPr>
          <a:xfrm>
            <a:off x="10899228" y="31315"/>
            <a:ext cx="1041838" cy="91780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BD507-8387-2224-3308-CEB8B5116D4D}"/>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8886B30-C0A3-DF09-5F72-6D74AD08AD8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B8886B30-C0A3-DF09-5F72-6D74AD08AD8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4E858838-2D94-89D8-2BD8-51FA63F807CF}"/>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7E9AEB8-7385-41EE-5921-983792439592}"/>
              </a:ext>
            </a:extLst>
          </p:cNvPr>
          <p:cNvSpPr>
            <a:spLocks noGrp="1"/>
          </p:cNvSpPr>
          <p:nvPr>
            <p:ph type="title"/>
          </p:nvPr>
        </p:nvSpPr>
        <p:spPr/>
        <p:txBody>
          <a:bodyPr vert="horz" rIns="0"/>
          <a:lstStyle/>
          <a:p>
            <a:r>
              <a:rPr lang="en-US" sz="2000" b="1">
                <a:solidFill>
                  <a:srgbClr val="282728"/>
                </a:solidFill>
                <a:latin typeface="Aptos"/>
              </a:rPr>
              <a:t>Google</a:t>
            </a:r>
            <a:endParaRPr lang="en-US"/>
          </a:p>
        </p:txBody>
      </p:sp>
      <p:sp>
        <p:nvSpPr>
          <p:cNvPr id="4" name="TextBox 3">
            <a:extLst>
              <a:ext uri="{FF2B5EF4-FFF2-40B4-BE49-F238E27FC236}">
                <a16:creationId xmlns:a16="http://schemas.microsoft.com/office/drawing/2014/main" id="{D02A88D1-DE89-0C14-295C-91CEE455F66A}"/>
              </a:ext>
            </a:extLst>
          </p:cNvPr>
          <p:cNvSpPr txBox="1"/>
          <p:nvPr/>
        </p:nvSpPr>
        <p:spPr>
          <a:xfrm>
            <a:off x="382771" y="687992"/>
            <a:ext cx="11144506"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Google provides an agent building platform and horizontal assistants; Zora brings domain workers ready to execute business outcomes</a:t>
            </a:r>
          </a:p>
        </p:txBody>
      </p:sp>
      <p:sp>
        <p:nvSpPr>
          <p:cNvPr id="6" name="TextBox 5">
            <a:extLst>
              <a:ext uri="{FF2B5EF4-FFF2-40B4-BE49-F238E27FC236}">
                <a16:creationId xmlns:a16="http://schemas.microsoft.com/office/drawing/2014/main" id="{3A79E6FC-BE7B-8803-D15F-1C0C673C6664}"/>
              </a:ext>
            </a:extLst>
          </p:cNvPr>
          <p:cNvSpPr txBox="1"/>
          <p:nvPr/>
        </p:nvSpPr>
        <p:spPr>
          <a:xfrm>
            <a:off x="3222171" y="1106424"/>
            <a:ext cx="8509580" cy="3570208"/>
          </a:xfrm>
          <a:prstGeom prst="rect">
            <a:avLst/>
          </a:prstGeom>
          <a:noFill/>
        </p:spPr>
        <p:txBody>
          <a:bodyPr wrap="square" lIns="0" tIns="0" rIns="0" bIns="0" rtlCol="0">
            <a:spAutoFit/>
          </a:bodyPr>
          <a:lstStyle/>
          <a:p>
            <a:pPr marL="0" marR="0" indent="0" algn="l" defTabSz="914400" rtl="0" eaLnBrk="1" fontAlgn="auto" latinLnBrk="0" hangingPunct="1">
              <a:lnSpc>
                <a:spcPct val="100000"/>
              </a:lnSpc>
              <a:spcBef>
                <a:spcPts val="600"/>
              </a:spcBef>
              <a:spcAft>
                <a:spcPts val="0"/>
              </a:spcAft>
              <a:buClrTx/>
              <a:buSzPct val="100000"/>
              <a:buFontTx/>
              <a:buNone/>
              <a:tabLst/>
              <a:defRPr/>
            </a:pPr>
            <a:r>
              <a:rPr lang="en-US" sz="1200" b="1" i="0" u="none">
                <a:solidFill>
                  <a:srgbClr val="313131"/>
                </a:solidFill>
                <a:latin typeface="Aptos"/>
              </a:rPr>
              <a:t>How is Google different from Zora?</a:t>
            </a:r>
          </a:p>
          <a:p>
            <a:pPr marL="203200" marR="0" indent="-203200" algn="l" defTabSz="914400" rtl="0" eaLnBrk="1" fontAlgn="auto" latinLnBrk="0" hangingPunct="1">
              <a:lnSpc>
                <a:spcPct val="100000"/>
              </a:lnSpc>
              <a:spcBef>
                <a:spcPts val="600"/>
              </a:spcBef>
              <a:spcAft>
                <a:spcPts val="0"/>
              </a:spcAft>
              <a:buClrTx/>
              <a:buSzPct val="100000"/>
              <a:buFont typeface="Arial"/>
              <a:buChar char="•"/>
              <a:tabLst/>
              <a:defRPr/>
            </a:pPr>
            <a:r>
              <a:rPr lang="en-US" sz="1200" b="0" i="0" u="none">
                <a:solidFill>
                  <a:srgbClr val="313131"/>
                </a:solidFill>
                <a:latin typeface="Aptos"/>
              </a:rPr>
              <a:t>Google offers </a:t>
            </a:r>
            <a:r>
              <a:rPr lang="en-US" sz="1200" b="0" i="0" u="none">
                <a:solidFill>
                  <a:srgbClr val="313131"/>
                </a:solidFill>
                <a:latin typeface="Aptos"/>
                <a:hlinkClick r:id="rId5"/>
              </a:rPr>
              <a:t>Gemini Enterprise</a:t>
            </a:r>
            <a:r>
              <a:rPr lang="en-US" sz="1200" b="0" i="0" u="none">
                <a:solidFill>
                  <a:srgbClr val="313131"/>
                </a:solidFill>
                <a:latin typeface="Aptos"/>
              </a:rPr>
              <a:t>, an agent building platform that connects company data and runs multi-step, multi-app workflows; and Gemini Workspace, which embeds general AI assistance and no-code automation in Workspace apps.</a:t>
            </a:r>
          </a:p>
          <a:p>
            <a:pPr marL="203200" marR="0" indent="-203200" algn="l" defTabSz="914400" rtl="0" eaLnBrk="1" fontAlgn="auto" latinLnBrk="0" hangingPunct="1">
              <a:lnSpc>
                <a:spcPct val="100000"/>
              </a:lnSpc>
              <a:spcBef>
                <a:spcPts val="600"/>
              </a:spcBef>
              <a:spcAft>
                <a:spcPts val="0"/>
              </a:spcAft>
              <a:buClrTx/>
              <a:buSzPct val="100000"/>
              <a:buFont typeface="Arial"/>
              <a:buChar char="•"/>
              <a:tabLst/>
              <a:defRPr/>
            </a:pPr>
            <a:r>
              <a:rPr lang="en-US" sz="1200" b="0" i="0" u="none">
                <a:solidFill>
                  <a:srgbClr val="313131"/>
                </a:solidFill>
                <a:latin typeface="Aptos"/>
              </a:rPr>
              <a:t>Google recently (August 2026) started embedding purpose-built agents into Gemini Enterprise</a:t>
            </a:r>
            <a:r>
              <a:rPr lang="en-US" sz="1200">
                <a:solidFill>
                  <a:srgbClr val="313131"/>
                </a:solidFill>
                <a:latin typeface="Aptos"/>
              </a:rPr>
              <a:t>;</a:t>
            </a:r>
            <a:r>
              <a:rPr lang="en-US" sz="1200" b="0" i="0" u="none">
                <a:solidFill>
                  <a:srgbClr val="313131"/>
                </a:solidFill>
                <a:latin typeface="Aptos"/>
              </a:rPr>
              <a:t> these include a Financial Research agent</a:t>
            </a:r>
            <a:r>
              <a:rPr lang="en-US" sz="1200">
                <a:solidFill>
                  <a:srgbClr val="313131"/>
                </a:solidFill>
                <a:latin typeface="Aptos"/>
              </a:rPr>
              <a:t> (e</a:t>
            </a:r>
            <a:r>
              <a:rPr lang="en-US" sz="1200" b="0" i="0" u="none">
                <a:solidFill>
                  <a:srgbClr val="313131"/>
                </a:solidFill>
                <a:latin typeface="Aptos"/>
              </a:rPr>
              <a:t>quity analysis, credit research, advisor insights, etc.) and Legal Agent (contract review, regulatory scanning)</a:t>
            </a:r>
          </a:p>
          <a:p>
            <a:pPr marL="0" marR="0" indent="0" algn="l" defTabSz="914400" rtl="0" eaLnBrk="1" fontAlgn="auto" latinLnBrk="0" hangingPunct="1">
              <a:lnSpc>
                <a:spcPct val="100000"/>
              </a:lnSpc>
              <a:spcBef>
                <a:spcPts val="600"/>
              </a:spcBef>
              <a:spcAft>
                <a:spcPts val="0"/>
              </a:spcAft>
              <a:buClrTx/>
              <a:buSzPct val="100000"/>
              <a:buFontTx/>
              <a:buNone/>
              <a:tabLst/>
              <a:defRPr/>
            </a:pPr>
            <a:r>
              <a:rPr lang="en-US" sz="1200" b="1" i="0" u="none">
                <a:solidFill>
                  <a:srgbClr val="313131"/>
                </a:solidFill>
                <a:latin typeface="Aptos"/>
              </a:rPr>
              <a:t>Where is Google stronger compared to Zora?</a:t>
            </a:r>
          </a:p>
          <a:p>
            <a:pPr marL="171450" marR="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lang="en-US" sz="1200" b="0" i="0" u="none">
                <a:solidFill>
                  <a:srgbClr val="313131"/>
                </a:solidFill>
                <a:latin typeface="Aptos"/>
              </a:rPr>
              <a:t>Broader agent-building platform – Gemini Enterprise gives business users and developers tools to create, connect, govern, and deploy their own agents.</a:t>
            </a:r>
          </a:p>
          <a:p>
            <a:pPr marL="171450" marR="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lang="en-US" sz="1200" b="0" i="0" u="none">
                <a:solidFill>
                  <a:srgbClr val="313131"/>
                </a:solidFill>
                <a:latin typeface="Aptos"/>
              </a:rPr>
              <a:t>Embedded productivity agents – Gemini Workspace brings ready-to-use assistance into Gmail, Docs, Sheets, Meet, and Chat, enabling adoption within tools employees already use.</a:t>
            </a:r>
          </a:p>
          <a:p>
            <a:pPr marL="0" marR="0" indent="0" algn="l" defTabSz="914400" rtl="0" eaLnBrk="1" fontAlgn="auto" latinLnBrk="0" hangingPunct="1">
              <a:lnSpc>
                <a:spcPct val="100000"/>
              </a:lnSpc>
              <a:spcBef>
                <a:spcPts val="600"/>
              </a:spcBef>
              <a:spcAft>
                <a:spcPts val="0"/>
              </a:spcAft>
              <a:buClrTx/>
              <a:buSzPct val="100000"/>
              <a:buFontTx/>
              <a:buNone/>
              <a:tabLst/>
              <a:defRPr/>
            </a:pPr>
            <a:r>
              <a:rPr lang="en-US" sz="1200" b="1" i="0" u="none">
                <a:solidFill>
                  <a:srgbClr val="313131"/>
                </a:solidFill>
                <a:latin typeface="Aptos"/>
              </a:rPr>
              <a:t>Where is Zora stronger than Google?</a:t>
            </a:r>
          </a:p>
          <a:p>
            <a:pPr marL="171450" marR="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lang="en-US" sz="1200" b="0" i="0" u="none">
                <a:solidFill>
                  <a:srgbClr val="313131"/>
                </a:solidFill>
                <a:latin typeface="Aptos"/>
              </a:rPr>
              <a:t>Faster time to value – Google supplies powerful models, infrastructure and agent tooling; Zora delivers preconfigured, domain-specific workers with more process logic, controls and operating methodology already built in.</a:t>
            </a:r>
          </a:p>
          <a:p>
            <a:pPr marL="171450" marR="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lang="en-US" sz="1200" b="0" i="0" u="none">
                <a:solidFill>
                  <a:srgbClr val="313131"/>
                </a:solidFill>
                <a:latin typeface="Aptos"/>
              </a:rPr>
              <a:t>Prevents vendor lock-in – Zora is designed to work across ERP, CRM and data environments. Google platform can connect to heterogeneous systems, but its core proposition remains a platform that customers and partners configure around Gemini and Google Cloud.</a:t>
            </a:r>
          </a:p>
        </p:txBody>
      </p:sp>
      <p:sp>
        <p:nvSpPr>
          <p:cNvPr id="7" name="Rectangle 6">
            <a:extLst>
              <a:ext uri="{FF2B5EF4-FFF2-40B4-BE49-F238E27FC236}">
                <a16:creationId xmlns:a16="http://schemas.microsoft.com/office/drawing/2014/main" id="{39E2D2F0-9C98-7E8B-97C8-F1DD9AFC0BCA}"/>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Compete on domain depth and outcomes: </a:t>
            </a:r>
            <a:r>
              <a:rPr kumimoji="0" lang="en-US" sz="1200" b="0" i="0" u="none" strike="noStrike" kern="1200" cap="none" spc="0" normalizeH="0" baseline="0" noProof="0">
                <a:ln>
                  <a:noFill/>
                </a:ln>
                <a:solidFill>
                  <a:prstClr val="black"/>
                </a:solidFill>
                <a:effectLst/>
                <a:uLnTx/>
                <a:uFillTx/>
                <a:latin typeface="Aptos"/>
                <a:ea typeface="+mn-ea"/>
                <a:cs typeface="+mn-cs"/>
              </a:rPr>
              <a:t>Lead with preconfigured workflows, embedded controls and business KPIs; avoid</a:t>
            </a:r>
            <a:r>
              <a:rPr lang="en-US" sz="1200">
                <a:solidFill>
                  <a:prstClr val="black"/>
                </a:solidFill>
                <a:latin typeface="Aptos"/>
              </a:rPr>
              <a:t> comparing Zora to Google’s broader capabilities as a technology platform for building and managing agents, which is a different value proposition.</a:t>
            </a:r>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sp>
        <p:nvSpPr>
          <p:cNvPr id="9" name="Rectangle: Rounded Corners 8">
            <a:extLst>
              <a:ext uri="{FF2B5EF4-FFF2-40B4-BE49-F238E27FC236}">
                <a16:creationId xmlns:a16="http://schemas.microsoft.com/office/drawing/2014/main" id="{AF9DBB14-9B25-F8CE-86E9-D694C46636B7}"/>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FE5DC872-ECFE-9965-9567-BB814E19D836}"/>
              </a:ext>
            </a:extLst>
          </p:cNvPr>
          <p:cNvSpPr/>
          <p:nvPr/>
        </p:nvSpPr>
        <p:spPr bwMode="gray">
          <a:xfrm>
            <a:off x="473313" y="1977655"/>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a:ea typeface="+mn-ea"/>
                <a:cs typeface="+mn-cs"/>
              </a:rPr>
              <a:t>Gemini Workspace</a:t>
            </a:r>
          </a:p>
        </p:txBody>
      </p:sp>
      <p:sp>
        <p:nvSpPr>
          <p:cNvPr id="13" name="Rectangle: Rounded Corners 12">
            <a:extLst>
              <a:ext uri="{FF2B5EF4-FFF2-40B4-BE49-F238E27FC236}">
                <a16:creationId xmlns:a16="http://schemas.microsoft.com/office/drawing/2014/main" id="{6143101C-29A0-7000-2425-00B172C7225B}"/>
              </a:ext>
            </a:extLst>
          </p:cNvPr>
          <p:cNvSpPr/>
          <p:nvPr/>
        </p:nvSpPr>
        <p:spPr bwMode="gray">
          <a:xfrm>
            <a:off x="1259176"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lang="en-US" sz="900">
                <a:solidFill>
                  <a:prstClr val="black"/>
                </a:solidFill>
                <a:latin typeface="Aptos"/>
              </a:rPr>
              <a:t>Financial Research; Legal</a:t>
            </a:r>
            <a:endParaRPr kumimoji="0" lang="en-US" sz="900" b="0" u="none" strike="noStrike" kern="1200" cap="none" spc="0" normalizeH="0" baseline="0" noProof="0">
              <a:ln>
                <a:noFill/>
              </a:ln>
              <a:solidFill>
                <a:prstClr val="black"/>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F388328B-EC0F-68A6-783E-C308DDA037B0}"/>
              </a:ext>
            </a:extLst>
          </p:cNvPr>
          <p:cNvSpPr/>
          <p:nvPr/>
        </p:nvSpPr>
        <p:spPr bwMode="gray">
          <a:xfrm>
            <a:off x="2045039"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7" name="Rectangle: Rounded Corners 16">
            <a:extLst>
              <a:ext uri="{FF2B5EF4-FFF2-40B4-BE49-F238E27FC236}">
                <a16:creationId xmlns:a16="http://schemas.microsoft.com/office/drawing/2014/main" id="{E4345A3B-5C27-FDE3-DF60-C9EC27265954}"/>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1"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1" u="none" strike="noStrike" kern="1200" cap="none" spc="0" normalizeH="0" baseline="0" noProof="0">
                <a:ln>
                  <a:noFill/>
                </a:ln>
                <a:solidFill>
                  <a:prstClr val="black"/>
                </a:solidFill>
                <a:effectLst/>
                <a:uLnTx/>
                <a:uFillTx/>
                <a:latin typeface="Aptos"/>
                <a:ea typeface="+mn-ea"/>
                <a:cs typeface="+mn-cs"/>
              </a:rPr>
              <a:t>Gemini Enterprise Agent Platform</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22" name="TextBox 21">
            <a:extLst>
              <a:ext uri="{FF2B5EF4-FFF2-40B4-BE49-F238E27FC236}">
                <a16:creationId xmlns:a16="http://schemas.microsoft.com/office/drawing/2014/main" id="{971200A3-D276-803F-8F3C-422F41230916}"/>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B7415C7C-8445-3BB1-E278-7468BC5A366E}"/>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596B7B61-6A6E-9994-A439-60F723764FC9}"/>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49A28840-ECAB-CA3A-8701-2EA26C187542}"/>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379E0C43-5D05-55C6-C230-10994D4DE001}"/>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C1A6874F-58E2-CD3C-6D09-80C2C9621D83}"/>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2124EC24-E59F-5B10-E1AB-ACF2AF5F5503}"/>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8" name="Picture 7" descr="Google Logo, symbol, meaning, history, PNG, brand">
            <a:extLst>
              <a:ext uri="{FF2B5EF4-FFF2-40B4-BE49-F238E27FC236}">
                <a16:creationId xmlns:a16="http://schemas.microsoft.com/office/drawing/2014/main" id="{1A7C8C18-AABE-0A3F-7726-172C8CBBA7D5}"/>
              </a:ext>
            </a:extLst>
          </p:cNvPr>
          <p:cNvPicPr>
            <a:picLocks noChangeAspect="1"/>
          </p:cNvPicPr>
          <p:nvPr/>
        </p:nvPicPr>
        <p:blipFill>
          <a:blip r:embed="rId6"/>
          <a:stretch>
            <a:fillRect/>
          </a:stretch>
        </p:blipFill>
        <p:spPr>
          <a:xfrm>
            <a:off x="10816392" y="77947"/>
            <a:ext cx="989789" cy="554882"/>
          </a:xfrm>
          <a:prstGeom prst="rect">
            <a:avLst/>
          </a:prstGeom>
        </p:spPr>
      </p:pic>
    </p:spTree>
    <p:extLst>
      <p:ext uri="{BB962C8B-B14F-4D97-AF65-F5344CB8AC3E}">
        <p14:creationId xmlns:p14="http://schemas.microsoft.com/office/powerpoint/2010/main" val="2354909540"/>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9AEB8-7385-41EE-5921-983792439592}"/>
              </a:ext>
            </a:extLst>
          </p:cNvPr>
          <p:cNvSpPr>
            <a:spLocks noGrp="1"/>
          </p:cNvSpPr>
          <p:nvPr>
            <p:ph type="title"/>
          </p:nvPr>
        </p:nvSpPr>
        <p:spPr/>
        <p:txBody>
          <a:bodyPr vert="horz" rIns="0"/>
          <a:lstStyle/>
          <a:p>
            <a:r>
              <a:rPr lang="en-US" sz="2000" b="1">
                <a:solidFill>
                  <a:srgbClr val="282728"/>
                </a:solidFill>
                <a:latin typeface="Aptos"/>
              </a:rPr>
              <a:t>AWS</a:t>
            </a:r>
            <a:endParaRPr lang="en-US"/>
          </a:p>
        </p:txBody>
      </p:sp>
      <p:sp>
        <p:nvSpPr>
          <p:cNvPr id="4" name="TextBox 3">
            <a:extLst>
              <a:ext uri="{FF2B5EF4-FFF2-40B4-BE49-F238E27FC236}">
                <a16:creationId xmlns:a16="http://schemas.microsoft.com/office/drawing/2014/main" id="{D02A88D1-DE89-0C14-295C-91CEE455F66A}"/>
              </a:ext>
            </a:extLst>
          </p:cNvPr>
          <p:cNvSpPr txBox="1"/>
          <p:nvPr/>
        </p:nvSpPr>
        <p:spPr>
          <a:xfrm>
            <a:off x="382771" y="687992"/>
            <a:ext cx="1105695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AWS provides the agent building platform and horizontal assistants; Zora brings domain workers ready to execute business outcomes</a:t>
            </a:r>
          </a:p>
        </p:txBody>
      </p:sp>
      <p:sp>
        <p:nvSpPr>
          <p:cNvPr id="6" name="TextBox 5">
            <a:extLst>
              <a:ext uri="{FF2B5EF4-FFF2-40B4-BE49-F238E27FC236}">
                <a16:creationId xmlns:a16="http://schemas.microsoft.com/office/drawing/2014/main" id="{3A79E6FC-BE7B-8803-D15F-1C0C673C6664}"/>
              </a:ext>
            </a:extLst>
          </p:cNvPr>
          <p:cNvSpPr txBox="1"/>
          <p:nvPr/>
        </p:nvSpPr>
        <p:spPr>
          <a:xfrm>
            <a:off x="3222171" y="1106424"/>
            <a:ext cx="8509580" cy="3767328"/>
          </a:xfrm>
          <a:prstGeom prst="rect">
            <a:avLst/>
          </a:prstGeom>
          <a:noFill/>
        </p:spPr>
        <p:txBody>
          <a:bodyPr wrap="square" lIns="0" tIns="0" rIns="0" bIns="0" rtlCol="0">
            <a:noAutofit/>
          </a:bodyPr>
          <a:lstStyle/>
          <a:p>
            <a:pPr marL="0" marR="0" indent="0" algn="l" defTabSz="914400" rtl="0" eaLnBrk="1" fontAlgn="auto" latinLnBrk="0" hangingPunct="1">
              <a:lnSpc>
                <a:spcPct val="100000"/>
              </a:lnSpc>
              <a:spcBef>
                <a:spcPts val="600"/>
              </a:spcBef>
              <a:spcAft>
                <a:spcPts val="0"/>
              </a:spcAft>
              <a:buClrTx/>
              <a:buSzPct val="100000"/>
              <a:buFontTx/>
              <a:buNone/>
              <a:tabLst/>
              <a:defRPr/>
            </a:pPr>
            <a:r>
              <a:rPr lang="en-US" sz="1200" b="1" i="0" u="none">
                <a:solidFill>
                  <a:srgbClr val="313131"/>
                </a:solidFill>
                <a:latin typeface="Aptos"/>
              </a:rPr>
              <a:t>How is AWS different from Zora?</a:t>
            </a:r>
          </a:p>
          <a:p>
            <a:pPr marL="203200" marR="0" indent="-203200" algn="l" defTabSz="914400" rtl="0" eaLnBrk="1" fontAlgn="auto" latinLnBrk="0" hangingPunct="1">
              <a:lnSpc>
                <a:spcPct val="100000"/>
              </a:lnSpc>
              <a:spcBef>
                <a:spcPts val="600"/>
              </a:spcBef>
              <a:spcAft>
                <a:spcPts val="0"/>
              </a:spcAft>
              <a:buClrTx/>
              <a:buSzPct val="100000"/>
              <a:buFont typeface="Arial"/>
              <a:buChar char="•"/>
              <a:tabLst/>
              <a:defRPr/>
            </a:pPr>
            <a:r>
              <a:rPr lang="en-US" sz="1200" b="0" i="0" u="none">
                <a:solidFill>
                  <a:srgbClr val="313131"/>
                </a:solidFill>
                <a:latin typeface="Aptos"/>
              </a:rPr>
              <a:t>AWS offers </a:t>
            </a:r>
            <a:r>
              <a:rPr lang="en-US" sz="1200" b="0" i="0" u="none">
                <a:solidFill>
                  <a:srgbClr val="313131"/>
                </a:solidFill>
                <a:latin typeface="Aptos"/>
                <a:hlinkClick r:id="rId2"/>
              </a:rPr>
              <a:t>Amazon Bedrock </a:t>
            </a:r>
            <a:r>
              <a:rPr lang="en-US" sz="1200" b="0" i="0" u="none" err="1">
                <a:solidFill>
                  <a:srgbClr val="313131"/>
                </a:solidFill>
                <a:latin typeface="Aptos"/>
                <a:hlinkClick r:id="rId2"/>
              </a:rPr>
              <a:t>AgentCore</a:t>
            </a:r>
            <a:r>
              <a:rPr lang="en-US" sz="1200">
                <a:solidFill>
                  <a:srgbClr val="313131"/>
                </a:solidFill>
                <a:latin typeface="Aptos"/>
              </a:rPr>
              <a:t>, </a:t>
            </a:r>
            <a:r>
              <a:rPr lang="en-US" sz="1200" b="0" i="0" u="none">
                <a:solidFill>
                  <a:srgbClr val="313131"/>
                </a:solidFill>
                <a:latin typeface="Aptos"/>
              </a:rPr>
              <a:t>a platform to deploy, secure, observe and scale agents built with any framework or model; and Amazon Quick, a general work assistant that connects enterprise data and automates recurring workflows.</a:t>
            </a:r>
          </a:p>
          <a:p>
            <a:pPr marL="203200" marR="0" indent="-203200" algn="l" defTabSz="914400" rtl="0" eaLnBrk="1" fontAlgn="auto" latinLnBrk="0" hangingPunct="1">
              <a:lnSpc>
                <a:spcPct val="100000"/>
              </a:lnSpc>
              <a:spcBef>
                <a:spcPts val="600"/>
              </a:spcBef>
              <a:spcAft>
                <a:spcPts val="0"/>
              </a:spcAft>
              <a:buClrTx/>
              <a:buSzPct val="100000"/>
              <a:buFont typeface="Arial"/>
              <a:buChar char="•"/>
              <a:tabLst/>
              <a:defRPr/>
            </a:pPr>
            <a:r>
              <a:rPr lang="en-US" sz="1200" b="0" i="0" u="none">
                <a:solidFill>
                  <a:srgbClr val="313131"/>
                </a:solidFill>
                <a:latin typeface="Aptos"/>
              </a:rPr>
              <a:t>Additionally, AWS offers packaged agent portfolio under </a:t>
            </a:r>
            <a:r>
              <a:rPr lang="en-US" sz="1200" b="0" i="0" u="none">
                <a:solidFill>
                  <a:srgbClr val="313131"/>
                </a:solidFill>
                <a:latin typeface="Aptos"/>
                <a:hlinkClick r:id="rId3"/>
              </a:rPr>
              <a:t>Amazon Connect </a:t>
            </a:r>
            <a:r>
              <a:rPr lang="en-US" sz="1200" b="0" i="0" u="none">
                <a:solidFill>
                  <a:srgbClr val="313131"/>
                </a:solidFill>
                <a:latin typeface="Aptos"/>
              </a:rPr>
              <a:t>that includes functional agents for customer </a:t>
            </a:r>
            <a:r>
              <a:rPr lang="en-US" sz="1200">
                <a:solidFill>
                  <a:srgbClr val="313131"/>
                </a:solidFill>
                <a:latin typeface="Aptos"/>
              </a:rPr>
              <a:t>s</a:t>
            </a:r>
            <a:r>
              <a:rPr lang="en-US" sz="1200" b="0" i="0" u="none">
                <a:solidFill>
                  <a:srgbClr val="313131"/>
                </a:solidFill>
                <a:latin typeface="Aptos"/>
              </a:rPr>
              <a:t>ervice, supply </a:t>
            </a:r>
            <a:r>
              <a:rPr lang="en-US" sz="1200">
                <a:solidFill>
                  <a:srgbClr val="313131"/>
                </a:solidFill>
                <a:latin typeface="Aptos"/>
              </a:rPr>
              <a:t>c</a:t>
            </a:r>
            <a:r>
              <a:rPr lang="en-US" sz="1200" b="0" i="0" u="none">
                <a:solidFill>
                  <a:srgbClr val="313131"/>
                </a:solidFill>
                <a:latin typeface="Aptos"/>
              </a:rPr>
              <a:t>hain, and HR (recruitment); and industry agents for healthcare.</a:t>
            </a:r>
          </a:p>
          <a:p>
            <a:pPr marL="0" marR="0" indent="0" algn="l" defTabSz="914400" rtl="0" eaLnBrk="1" fontAlgn="auto" latinLnBrk="0" hangingPunct="1">
              <a:lnSpc>
                <a:spcPct val="100000"/>
              </a:lnSpc>
              <a:spcBef>
                <a:spcPts val="600"/>
              </a:spcBef>
              <a:spcAft>
                <a:spcPts val="0"/>
              </a:spcAft>
              <a:buClrTx/>
              <a:buSzPct val="100000"/>
              <a:buFontTx/>
              <a:buNone/>
              <a:tabLst/>
              <a:defRPr/>
            </a:pPr>
            <a:r>
              <a:rPr lang="en-US" sz="1200" b="1" i="0" u="none">
                <a:solidFill>
                  <a:srgbClr val="313131"/>
                </a:solidFill>
                <a:latin typeface="Aptos"/>
              </a:rPr>
              <a:t>Where is AWS stronger compared to Zora?</a:t>
            </a:r>
          </a:p>
          <a:p>
            <a:pPr marL="203200" marR="0" indent="-203200" algn="l" defTabSz="914400" rtl="0" eaLnBrk="1" fontAlgn="auto" latinLnBrk="0" hangingPunct="1">
              <a:lnSpc>
                <a:spcPct val="100000"/>
              </a:lnSpc>
              <a:spcBef>
                <a:spcPts val="600"/>
              </a:spcBef>
              <a:spcAft>
                <a:spcPts val="0"/>
              </a:spcAft>
              <a:buClrTx/>
              <a:buSzPct val="100000"/>
              <a:buFont typeface="Arial"/>
              <a:buChar char="•"/>
              <a:tabLst/>
              <a:defRPr/>
            </a:pPr>
            <a:r>
              <a:rPr lang="en-US" sz="1200" b="0" i="0" u="none">
                <a:solidFill>
                  <a:srgbClr val="313131"/>
                </a:solidFill>
                <a:latin typeface="Aptos"/>
              </a:rPr>
              <a:t>Enterprise-level agent factory – </a:t>
            </a:r>
            <a:r>
              <a:rPr lang="en-US" sz="1200" b="0" i="0" u="none" err="1">
                <a:solidFill>
                  <a:srgbClr val="313131"/>
                </a:solidFill>
                <a:latin typeface="Aptos"/>
              </a:rPr>
              <a:t>AgentCore</a:t>
            </a:r>
            <a:r>
              <a:rPr lang="en-US" sz="1200" b="0" i="0" u="none">
                <a:solidFill>
                  <a:srgbClr val="313131"/>
                </a:solidFill>
                <a:latin typeface="Aptos"/>
              </a:rPr>
              <a:t> provides runtime, identity, memory, tools, observability, evaluation and policy controls with framework and model choice.</a:t>
            </a:r>
          </a:p>
          <a:p>
            <a:pPr marL="203200" marR="0" indent="-203200" algn="l" defTabSz="914400" rtl="0" eaLnBrk="1" fontAlgn="auto" latinLnBrk="0" hangingPunct="1">
              <a:lnSpc>
                <a:spcPct val="100000"/>
              </a:lnSpc>
              <a:spcBef>
                <a:spcPts val="600"/>
              </a:spcBef>
              <a:spcAft>
                <a:spcPts val="0"/>
              </a:spcAft>
              <a:buClrTx/>
              <a:buSzPct val="100000"/>
              <a:buFont typeface="Arial"/>
              <a:buChar char="•"/>
              <a:tabLst/>
              <a:defRPr/>
            </a:pPr>
            <a:r>
              <a:rPr lang="en-US" sz="1200" b="0" i="0" u="none">
                <a:solidFill>
                  <a:srgbClr val="313131"/>
                </a:solidFill>
                <a:latin typeface="Aptos"/>
              </a:rPr>
              <a:t>Marketplace </a:t>
            </a:r>
            <a:r>
              <a:rPr lang="en-US" sz="1200">
                <a:solidFill>
                  <a:srgbClr val="313131"/>
                </a:solidFill>
                <a:latin typeface="Aptos"/>
              </a:rPr>
              <a:t>e</a:t>
            </a:r>
            <a:r>
              <a:rPr lang="en-US" sz="1200" b="0" i="0" u="none">
                <a:solidFill>
                  <a:srgbClr val="313131"/>
                </a:solidFill>
                <a:latin typeface="Aptos"/>
              </a:rPr>
              <a:t>cosystem – AWS Marketplace offers broader choice of pre-built agents, tools and partner services.</a:t>
            </a:r>
          </a:p>
          <a:p>
            <a:pPr marL="0" marR="0" indent="0" algn="l" defTabSz="914400" rtl="0" eaLnBrk="1" fontAlgn="auto" latinLnBrk="0" hangingPunct="1">
              <a:lnSpc>
                <a:spcPct val="100000"/>
              </a:lnSpc>
              <a:spcBef>
                <a:spcPts val="600"/>
              </a:spcBef>
              <a:spcAft>
                <a:spcPts val="0"/>
              </a:spcAft>
              <a:buClrTx/>
              <a:buSzPct val="100000"/>
              <a:buFontTx/>
              <a:buNone/>
              <a:tabLst/>
              <a:defRPr/>
            </a:pPr>
            <a:r>
              <a:rPr lang="en-US" sz="1200" b="1" i="0" u="none">
                <a:solidFill>
                  <a:srgbClr val="313131"/>
                </a:solidFill>
                <a:latin typeface="Aptos"/>
              </a:rPr>
              <a:t>Where is Zora stronger than AWS?</a:t>
            </a:r>
          </a:p>
          <a:p>
            <a:pPr marL="203200" marR="0" indent="-203200" algn="l" defTabSz="914400" rtl="0" eaLnBrk="1" fontAlgn="auto" latinLnBrk="0" hangingPunct="1">
              <a:lnSpc>
                <a:spcPct val="100000"/>
              </a:lnSpc>
              <a:spcBef>
                <a:spcPts val="600"/>
              </a:spcBef>
              <a:spcAft>
                <a:spcPts val="0"/>
              </a:spcAft>
              <a:buClrTx/>
              <a:buSzPct val="100000"/>
              <a:buFont typeface="Arial"/>
              <a:buChar char="•"/>
              <a:tabLst/>
              <a:defRPr/>
            </a:pPr>
            <a:r>
              <a:rPr lang="en-US" sz="1200" b="0" i="0" u="none">
                <a:solidFill>
                  <a:srgbClr val="313131"/>
                </a:solidFill>
                <a:latin typeface="Aptos"/>
              </a:rPr>
              <a:t>Faster time to value – Zora starts with preconfigured finance, procurement, tax, audit and HR workflows and controls; AWS usually requires workflow design and assembly.</a:t>
            </a:r>
          </a:p>
          <a:p>
            <a:pPr marL="203200" indent="-203200">
              <a:spcBef>
                <a:spcPts val="600"/>
              </a:spcBef>
              <a:buSzPct val="100000"/>
              <a:buFont typeface="Arial"/>
              <a:buChar char="•"/>
              <a:defRPr/>
            </a:pPr>
            <a:r>
              <a:rPr lang="en-US" sz="1200">
                <a:solidFill>
                  <a:srgbClr val="313131"/>
                </a:solidFill>
              </a:rPr>
              <a:t>Prevents vendor lock-in </a:t>
            </a:r>
            <a:r>
              <a:rPr lang="en-US" sz="1200" b="0" i="0" u="none">
                <a:solidFill>
                  <a:srgbClr val="313131"/>
                </a:solidFill>
                <a:latin typeface="Aptos"/>
              </a:rPr>
              <a:t>– Zora provides consistent process logic across ERP, CRM and cloud environments; AWS marketplace, connect agents are designed primarily for AWS.</a:t>
            </a:r>
          </a:p>
          <a:p>
            <a:pPr marL="203200" marR="0" indent="-203200" algn="l" defTabSz="914400" rtl="0" eaLnBrk="1" fontAlgn="auto" latinLnBrk="0" hangingPunct="1">
              <a:lnSpc>
                <a:spcPct val="100000"/>
              </a:lnSpc>
              <a:spcBef>
                <a:spcPts val="600"/>
              </a:spcBef>
              <a:spcAft>
                <a:spcPts val="0"/>
              </a:spcAft>
              <a:buClrTx/>
              <a:buSzPct val="100000"/>
              <a:buFont typeface="Arial"/>
              <a:buChar char="•"/>
              <a:tabLst/>
              <a:defRPr/>
            </a:pPr>
            <a:endParaRPr lang="en-US" sz="1200" b="0" i="0" u="none">
              <a:solidFill>
                <a:srgbClr val="313131"/>
              </a:solidFill>
              <a:latin typeface="Aptos"/>
            </a:endParaRPr>
          </a:p>
        </p:txBody>
      </p:sp>
      <p:sp>
        <p:nvSpPr>
          <p:cNvPr id="7" name="Rectangle 6">
            <a:extLst>
              <a:ext uri="{FF2B5EF4-FFF2-40B4-BE49-F238E27FC236}">
                <a16:creationId xmlns:a16="http://schemas.microsoft.com/office/drawing/2014/main" id="{39E2D2F0-9C98-7E8B-97C8-F1DD9AFC0BCA}"/>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Lead with packaged outcomes, not platform breadth: </a:t>
            </a:r>
            <a:r>
              <a:rPr kumimoji="0" lang="en-US" sz="1200" b="0" i="0" u="none" strike="noStrike" kern="1200" cap="none" spc="0" normalizeH="0" baseline="0" noProof="0">
                <a:ln>
                  <a:noFill/>
                </a:ln>
                <a:solidFill>
                  <a:prstClr val="black"/>
                </a:solidFill>
                <a:effectLst/>
                <a:uLnTx/>
                <a:uFillTx/>
                <a:latin typeface="Aptos"/>
                <a:ea typeface="+mn-ea"/>
                <a:cs typeface="+mn-cs"/>
              </a:rPr>
              <a:t>Contrast Zora’s finished finance, procurement, tax, audit and HR workers with </a:t>
            </a:r>
            <a:r>
              <a:rPr kumimoji="0" lang="en-US" sz="1200" b="0" i="0" u="none" strike="noStrike" kern="1200" cap="none" spc="0" normalizeH="0" baseline="0" noProof="0" err="1">
                <a:ln>
                  <a:noFill/>
                </a:ln>
                <a:solidFill>
                  <a:prstClr val="black"/>
                </a:solidFill>
                <a:effectLst/>
                <a:uLnTx/>
                <a:uFillTx/>
                <a:latin typeface="Aptos"/>
                <a:ea typeface="+mn-ea"/>
                <a:cs typeface="+mn-cs"/>
              </a:rPr>
              <a:t>AgentCore’s</a:t>
            </a:r>
            <a:r>
              <a:rPr kumimoji="0" lang="en-US" sz="1200" b="0" i="0" u="none" strike="noStrike" kern="1200" cap="none" spc="0" normalizeH="0" baseline="0" noProof="0">
                <a:ln>
                  <a:noFill/>
                </a:ln>
                <a:solidFill>
                  <a:prstClr val="black"/>
                </a:solidFill>
                <a:effectLst/>
                <a:uLnTx/>
                <a:uFillTx/>
                <a:latin typeface="Aptos"/>
                <a:ea typeface="+mn-ea"/>
                <a:cs typeface="+mn-cs"/>
              </a:rPr>
              <a:t> build-and-run services and Quick’s horizontal work assistance.</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Position Zora as the domain execution layer on AWS: </a:t>
            </a:r>
            <a:r>
              <a:rPr kumimoji="0" lang="en-US" sz="1200" b="0" i="0" u="none" strike="noStrike" kern="1200" cap="none" spc="0" normalizeH="0" baseline="0" noProof="0">
                <a:ln>
                  <a:noFill/>
                </a:ln>
                <a:solidFill>
                  <a:prstClr val="black"/>
                </a:solidFill>
                <a:effectLst/>
                <a:uLnTx/>
                <a:uFillTx/>
                <a:latin typeface="Aptos"/>
                <a:ea typeface="+mn-ea"/>
                <a:cs typeface="+mn-cs"/>
              </a:rPr>
              <a:t>For AWS-first clients, integrate Zora with </a:t>
            </a:r>
            <a:r>
              <a:rPr kumimoji="0" lang="en-US" sz="1200" b="0" i="0" u="none" strike="noStrike" kern="1200" cap="none" spc="0" normalizeH="0" baseline="0" noProof="0" err="1">
                <a:ln>
                  <a:noFill/>
                </a:ln>
                <a:solidFill>
                  <a:prstClr val="black"/>
                </a:solidFill>
                <a:effectLst/>
                <a:uLnTx/>
                <a:uFillTx/>
                <a:latin typeface="Aptos"/>
                <a:ea typeface="+mn-ea"/>
                <a:cs typeface="+mn-cs"/>
              </a:rPr>
              <a:t>AgentCore</a:t>
            </a:r>
            <a:r>
              <a:rPr kumimoji="0" lang="en-US" sz="1200" b="0" i="0" u="none" strike="noStrike" kern="1200" cap="none" spc="0" normalizeH="0" baseline="0" noProof="0">
                <a:ln>
                  <a:noFill/>
                </a:ln>
                <a:solidFill>
                  <a:prstClr val="black"/>
                </a:solidFill>
                <a:effectLst/>
                <a:uLnTx/>
                <a:uFillTx/>
                <a:latin typeface="Aptos"/>
                <a:ea typeface="+mn-ea"/>
                <a:cs typeface="+mn-cs"/>
              </a:rPr>
              <a:t> and AWS data services while retaining cross-application process logic, controls and measurable business outcomes.</a:t>
            </a:r>
          </a:p>
        </p:txBody>
      </p:sp>
      <p:sp>
        <p:nvSpPr>
          <p:cNvPr id="9" name="Rectangle: Rounded Corners 8">
            <a:extLst>
              <a:ext uri="{FF2B5EF4-FFF2-40B4-BE49-F238E27FC236}">
                <a16:creationId xmlns:a16="http://schemas.microsoft.com/office/drawing/2014/main" id="{AF9DBB14-9B25-F8CE-86E9-D694C46636B7}"/>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FE5DC872-ECFE-9965-9567-BB814E19D836}"/>
              </a:ext>
            </a:extLst>
          </p:cNvPr>
          <p:cNvSpPr/>
          <p:nvPr/>
        </p:nvSpPr>
        <p:spPr bwMode="gray">
          <a:xfrm>
            <a:off x="473313" y="1977655"/>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a:ea typeface="+mn-ea"/>
                <a:cs typeface="+mn-cs"/>
              </a:rPr>
              <a:t>Amazon Quick</a:t>
            </a:r>
          </a:p>
        </p:txBody>
      </p:sp>
      <p:sp>
        <p:nvSpPr>
          <p:cNvPr id="13" name="Rectangle: Rounded Corners 12">
            <a:extLst>
              <a:ext uri="{FF2B5EF4-FFF2-40B4-BE49-F238E27FC236}">
                <a16:creationId xmlns:a16="http://schemas.microsoft.com/office/drawing/2014/main" id="{6143101C-29A0-7000-2425-00B172C7225B}"/>
              </a:ext>
            </a:extLst>
          </p:cNvPr>
          <p:cNvSpPr/>
          <p:nvPr/>
        </p:nvSpPr>
        <p:spPr bwMode="gray">
          <a:xfrm>
            <a:off x="1259176"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lang="en-US" sz="900">
                <a:solidFill>
                  <a:prstClr val="black"/>
                </a:solidFill>
                <a:latin typeface="Aptos"/>
              </a:rPr>
              <a:t>Amazon Connect Health, Customer, Decisions etc.</a:t>
            </a:r>
            <a:endParaRPr kumimoji="0" lang="en-US" sz="900" b="0" u="none" strike="noStrike" kern="1200" cap="none" spc="0" normalizeH="0" baseline="0" noProof="0">
              <a:ln>
                <a:noFill/>
              </a:ln>
              <a:solidFill>
                <a:prstClr val="black"/>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F388328B-EC0F-68A6-783E-C308DDA037B0}"/>
              </a:ext>
            </a:extLst>
          </p:cNvPr>
          <p:cNvSpPr/>
          <p:nvPr/>
        </p:nvSpPr>
        <p:spPr bwMode="gray">
          <a:xfrm>
            <a:off x="2045039"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7" name="Rectangle: Rounded Corners 16">
            <a:extLst>
              <a:ext uri="{FF2B5EF4-FFF2-40B4-BE49-F238E27FC236}">
                <a16:creationId xmlns:a16="http://schemas.microsoft.com/office/drawing/2014/main" id="{E4345A3B-5C27-FDE3-DF60-C9EC27265954}"/>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1"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1" u="none" strike="noStrike" kern="1200" cap="none" spc="0" normalizeH="0" baseline="0" noProof="0">
                <a:ln>
                  <a:noFill/>
                </a:ln>
                <a:solidFill>
                  <a:prstClr val="black"/>
                </a:solidFill>
                <a:effectLst/>
                <a:uLnTx/>
                <a:uFillTx/>
                <a:latin typeface="Aptos"/>
                <a:ea typeface="+mn-ea"/>
                <a:cs typeface="+mn-cs"/>
              </a:rPr>
              <a:t>Amazon Bedrock </a:t>
            </a:r>
            <a:r>
              <a:rPr kumimoji="0" lang="en-US" sz="900" b="0" i="1" u="none" strike="noStrike" kern="1200" cap="none" spc="0" normalizeH="0" baseline="0" noProof="0" err="1">
                <a:ln>
                  <a:noFill/>
                </a:ln>
                <a:solidFill>
                  <a:prstClr val="black"/>
                </a:solidFill>
                <a:effectLst/>
                <a:uLnTx/>
                <a:uFillTx/>
                <a:latin typeface="Aptos"/>
                <a:ea typeface="+mn-ea"/>
                <a:cs typeface="+mn-cs"/>
              </a:rPr>
              <a:t>AgentCore</a:t>
            </a: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22" name="TextBox 21">
            <a:extLst>
              <a:ext uri="{FF2B5EF4-FFF2-40B4-BE49-F238E27FC236}">
                <a16:creationId xmlns:a16="http://schemas.microsoft.com/office/drawing/2014/main" id="{971200A3-D276-803F-8F3C-422F41230916}"/>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cxnSp>
        <p:nvCxnSpPr>
          <p:cNvPr id="33" name="Straight Connector 32">
            <a:extLst>
              <a:ext uri="{FF2B5EF4-FFF2-40B4-BE49-F238E27FC236}">
                <a16:creationId xmlns:a16="http://schemas.microsoft.com/office/drawing/2014/main" id="{C1A6874F-58E2-CD3C-6D09-80C2C9621D83}"/>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2124EC24-E59F-5B10-E1AB-ACF2AF5F5503}"/>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sp>
        <p:nvSpPr>
          <p:cNvPr id="5" name="Rectangle: Rounded Corners 4">
            <a:extLst>
              <a:ext uri="{FF2B5EF4-FFF2-40B4-BE49-F238E27FC236}">
                <a16:creationId xmlns:a16="http://schemas.microsoft.com/office/drawing/2014/main" id="{9871DD0E-C63B-59B9-3FCF-D751891AA00B}"/>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12" name="Rectangle: Rounded Corners 11">
            <a:extLst>
              <a:ext uri="{FF2B5EF4-FFF2-40B4-BE49-F238E27FC236}">
                <a16:creationId xmlns:a16="http://schemas.microsoft.com/office/drawing/2014/main" id="{B81A53C5-0A32-332C-0934-6476BB63D3CC}"/>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16" name="Rectangle: Rounded Corners 15">
            <a:extLst>
              <a:ext uri="{FF2B5EF4-FFF2-40B4-BE49-F238E27FC236}">
                <a16:creationId xmlns:a16="http://schemas.microsoft.com/office/drawing/2014/main" id="{3F651B3B-5E28-3936-171A-509D914BA176}"/>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cxnSp>
        <p:nvCxnSpPr>
          <p:cNvPr id="18" name="Straight Connector 17">
            <a:extLst>
              <a:ext uri="{FF2B5EF4-FFF2-40B4-BE49-F238E27FC236}">
                <a16:creationId xmlns:a16="http://schemas.microsoft.com/office/drawing/2014/main" id="{02692786-745E-6988-4699-2C993BFDBCD0}"/>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6430492-83BC-B83E-0C31-7663D8A4CE4A}"/>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pic>
        <p:nvPicPr>
          <p:cNvPr id="3" name="Picture 2" descr="Amazon Web Services Logo and symbol, meaning, history, PNG ...">
            <a:extLst>
              <a:ext uri="{FF2B5EF4-FFF2-40B4-BE49-F238E27FC236}">
                <a16:creationId xmlns:a16="http://schemas.microsoft.com/office/drawing/2014/main" id="{1B4A27CC-706B-8C46-36A2-AC50C81EBE7E}"/>
              </a:ext>
            </a:extLst>
          </p:cNvPr>
          <p:cNvPicPr>
            <a:picLocks noChangeAspect="1"/>
          </p:cNvPicPr>
          <p:nvPr/>
        </p:nvPicPr>
        <p:blipFill>
          <a:blip r:embed="rId4"/>
          <a:stretch>
            <a:fillRect/>
          </a:stretch>
        </p:blipFill>
        <p:spPr>
          <a:xfrm>
            <a:off x="11024057" y="194925"/>
            <a:ext cx="831341" cy="45569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B906D30-55A9-503B-E291-804D2BA83760}"/>
              </a:ext>
            </a:extLst>
          </p:cNvPr>
          <p:cNvGraphicFramePr>
            <a:graphicFrameLocks/>
          </p:cNvGraphicFramePr>
          <p:nvPr>
            <p:custDataLst>
              <p:tags r:id="rId1"/>
            </p:custDataLst>
            <p:extLst>
              <p:ext uri="{D42A27DB-BD31-4B8C-83A1-F6EECF244321}">
                <p14:modId xmlns:p14="http://schemas.microsoft.com/office/powerpoint/2010/main" val="20901143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0B906D30-55A9-503B-E291-804D2BA837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A273409-69CC-BA3E-CFAD-891E245219E9}"/>
              </a:ext>
            </a:extLst>
          </p:cNvPr>
          <p:cNvSpPr>
            <a:spLocks noGrp="1"/>
          </p:cNvSpPr>
          <p:nvPr>
            <p:ph type="title"/>
          </p:nvPr>
        </p:nvSpPr>
        <p:spPr/>
        <p:txBody>
          <a:bodyPr vert="horz" rIns="0"/>
          <a:lstStyle/>
          <a:p>
            <a:r>
              <a:rPr lang="en-US" b="1"/>
              <a:t>Databricks: The proposition</a:t>
            </a:r>
          </a:p>
        </p:txBody>
      </p:sp>
      <p:sp>
        <p:nvSpPr>
          <p:cNvPr id="5" name="TextBox 4">
            <a:extLst>
              <a:ext uri="{FF2B5EF4-FFF2-40B4-BE49-F238E27FC236}">
                <a16:creationId xmlns:a16="http://schemas.microsoft.com/office/drawing/2014/main" id="{494B4A03-6B85-8478-5239-ED703120076D}"/>
              </a:ext>
            </a:extLst>
          </p:cNvPr>
          <p:cNvSpPr txBox="1"/>
          <p:nvPr/>
        </p:nvSpPr>
        <p:spPr>
          <a:xfrm>
            <a:off x="382771" y="687992"/>
            <a:ext cx="1105695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Databricks provides a governed data and agent platform; Genie One and Genie Agents most closely overlaps with Zora capabilities</a:t>
            </a:r>
          </a:p>
        </p:txBody>
      </p:sp>
      <p:graphicFrame>
        <p:nvGraphicFramePr>
          <p:cNvPr id="6" name="Table 5">
            <a:extLst>
              <a:ext uri="{FF2B5EF4-FFF2-40B4-BE49-F238E27FC236}">
                <a16:creationId xmlns:a16="http://schemas.microsoft.com/office/drawing/2014/main" id="{9D18BBF7-F88B-8A53-5A6C-E1F9F19423D3}"/>
              </a:ext>
            </a:extLst>
          </p:cNvPr>
          <p:cNvGraphicFramePr>
            <a:graphicFrameLocks noGrp="1"/>
          </p:cNvGraphicFramePr>
          <p:nvPr>
            <p:extLst>
              <p:ext uri="{D42A27DB-BD31-4B8C-83A1-F6EECF244321}">
                <p14:modId xmlns:p14="http://schemas.microsoft.com/office/powerpoint/2010/main" val="4076076485"/>
              </p:ext>
            </p:extLst>
          </p:nvPr>
        </p:nvGraphicFramePr>
        <p:xfrm>
          <a:off x="457200" y="1211580"/>
          <a:ext cx="11274552" cy="2521236"/>
        </p:xfrm>
        <a:graphic>
          <a:graphicData uri="http://schemas.openxmlformats.org/drawingml/2006/table">
            <a:tbl>
              <a:tblPr/>
              <a:tblGrid>
                <a:gridCol w="1244009">
                  <a:extLst>
                    <a:ext uri="{9D8B030D-6E8A-4147-A177-3AD203B41FA5}">
                      <a16:colId xmlns:a16="http://schemas.microsoft.com/office/drawing/2014/main" val="829390611"/>
                    </a:ext>
                  </a:extLst>
                </a:gridCol>
                <a:gridCol w="1339703">
                  <a:extLst>
                    <a:ext uri="{9D8B030D-6E8A-4147-A177-3AD203B41FA5}">
                      <a16:colId xmlns:a16="http://schemas.microsoft.com/office/drawing/2014/main" val="526925904"/>
                    </a:ext>
                  </a:extLst>
                </a:gridCol>
                <a:gridCol w="4236506">
                  <a:extLst>
                    <a:ext uri="{9D8B030D-6E8A-4147-A177-3AD203B41FA5}">
                      <a16:colId xmlns:a16="http://schemas.microsoft.com/office/drawing/2014/main" val="3552243639"/>
                    </a:ext>
                  </a:extLst>
                </a:gridCol>
                <a:gridCol w="1579824">
                  <a:extLst>
                    <a:ext uri="{9D8B030D-6E8A-4147-A177-3AD203B41FA5}">
                      <a16:colId xmlns:a16="http://schemas.microsoft.com/office/drawing/2014/main" val="31322158"/>
                    </a:ext>
                  </a:extLst>
                </a:gridCol>
                <a:gridCol w="2874510">
                  <a:extLst>
                    <a:ext uri="{9D8B030D-6E8A-4147-A177-3AD203B41FA5}">
                      <a16:colId xmlns:a16="http://schemas.microsoft.com/office/drawing/2014/main" val="846698495"/>
                    </a:ext>
                  </a:extLst>
                </a:gridCol>
              </a:tblGrid>
              <a:tr h="24862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1">
                          <a:solidFill>
                            <a:srgbClr val="FFFFFF"/>
                          </a:solidFill>
                          <a:effectLst/>
                          <a:latin typeface="+mn-lt"/>
                        </a:rPr>
                        <a:t>Databricks layer</a:t>
                      </a:r>
                    </a:p>
                  </a:txBody>
                  <a:tcPr marL="82296" marR="82296" marT="41148" marB="41148" anchor="ctr">
                    <a:lnL w="7000" cap="flat">
                      <a:solidFill>
                        <a:srgbClr val="FFFFFF"/>
                      </a:solidFill>
                      <a:prstDash val="solid"/>
                    </a:lnL>
                    <a:lnR w="7000" cap="flat" cmpd="sng" algn="ctr">
                      <a:solidFill>
                        <a:srgbClr val="FFFFFF"/>
                      </a:solidFill>
                      <a:prstDash val="solid"/>
                      <a:round/>
                      <a:headEnd type="none" w="med" len="med"/>
                      <a:tailEnd type="none" w="med" len="med"/>
                    </a:lnR>
                    <a:lnT w="7000" cap="flat">
                      <a:solidFill>
                        <a:srgbClr val="FFFFFF"/>
                      </a:solidFill>
                      <a:prstDash val="solid"/>
                    </a:lnT>
                    <a:lnB w="7000" cap="flat" cmpd="sng" algn="ctr">
                      <a:solidFill>
                        <a:srgbClr val="FFFFFF"/>
                      </a:solidFill>
                      <a:prstDash val="solid"/>
                      <a:round/>
                      <a:headEnd type="none" w="med" len="med"/>
                      <a:tailEnd type="none" w="med" len="med"/>
                    </a:lnB>
                    <a:solidFill>
                      <a:srgbClr val="046A38"/>
                    </a:solidFill>
                  </a:tcPr>
                </a:tc>
                <a:tc>
                  <a:txBody>
                    <a:bodyPr/>
                    <a:lstStyle/>
                    <a:p>
                      <a:pPr algn="l">
                        <a:lnSpc>
                          <a:spcPct val="100000"/>
                        </a:lnSpc>
                        <a:spcBef>
                          <a:spcPts val="0"/>
                        </a:spcBef>
                        <a:spcAft>
                          <a:spcPts val="0"/>
                        </a:spcAft>
                        <a:buNone/>
                      </a:pPr>
                      <a:r>
                        <a:rPr lang="en-US" sz="1100" b="1">
                          <a:solidFill>
                            <a:srgbClr val="FFFFFF"/>
                          </a:solidFill>
                          <a:effectLst/>
                          <a:latin typeface="Aptos"/>
                        </a:rPr>
                        <a:t>Product</a:t>
                      </a:r>
                    </a:p>
                  </a:txBody>
                  <a:tcPr marL="82296" marR="82296" marT="41148" marB="41148" anchor="ctr">
                    <a:lnL w="7000" cap="flat" cmpd="sng" algn="ctr">
                      <a:solidFill>
                        <a:srgbClr val="FFFFFF"/>
                      </a:solidFill>
                      <a:prstDash val="solid"/>
                      <a:round/>
                      <a:headEnd type="none" w="med" len="med"/>
                      <a:tailEnd type="none" w="med" len="med"/>
                    </a:lnL>
                    <a:lnR w="7000" cap="flat" cmpd="sng" algn="ctr">
                      <a:solidFill>
                        <a:srgbClr val="FFFFFF"/>
                      </a:solidFill>
                      <a:prstDash val="solid"/>
                      <a:round/>
                      <a:headEnd type="none" w="med" len="med"/>
                      <a:tailEnd type="none" w="med" len="med"/>
                    </a:lnR>
                    <a:lnT w="7000" cap="flat">
                      <a:solidFill>
                        <a:srgbClr val="FFFFFF"/>
                      </a:solidFill>
                      <a:prstDash val="solid"/>
                    </a:lnT>
                    <a:lnB w="7000" cap="flat" cmpd="sng" algn="ctr">
                      <a:solidFill>
                        <a:srgbClr val="FFFFFF"/>
                      </a:solidFill>
                      <a:prstDash val="solid"/>
                      <a:round/>
                      <a:headEnd type="none" w="med" len="med"/>
                      <a:tailEnd type="none" w="med" len="med"/>
                    </a:lnB>
                    <a:solidFill>
                      <a:srgbClr val="046A38"/>
                    </a:solidFill>
                  </a:tcPr>
                </a:tc>
                <a:tc>
                  <a:txBody>
                    <a:bodyPr/>
                    <a:lstStyle/>
                    <a:p>
                      <a:pPr algn="l">
                        <a:lnSpc>
                          <a:spcPct val="100000"/>
                        </a:lnSpc>
                        <a:spcBef>
                          <a:spcPts val="0"/>
                        </a:spcBef>
                        <a:spcAft>
                          <a:spcPts val="0"/>
                        </a:spcAft>
                        <a:buNone/>
                      </a:pPr>
                      <a:r>
                        <a:rPr lang="en-US" sz="1100" b="1">
                          <a:solidFill>
                            <a:srgbClr val="FFFFFF"/>
                          </a:solidFill>
                          <a:effectLst/>
                          <a:latin typeface="Aptos"/>
                        </a:rPr>
                        <a:t>What it does</a:t>
                      </a:r>
                    </a:p>
                  </a:txBody>
                  <a:tcPr marL="82296" marR="82296" marT="41148" marB="41148" anchor="ctr">
                    <a:lnL w="7000" cap="flat" cmpd="sng" algn="ctr">
                      <a:solidFill>
                        <a:srgbClr val="FFFFFF"/>
                      </a:solidFill>
                      <a:prstDash val="solid"/>
                      <a:round/>
                      <a:headEnd type="none" w="med" len="med"/>
                      <a:tailEnd type="none" w="med" len="med"/>
                    </a:lnL>
                    <a:lnR w="7000" cap="flat" cmpd="sng" algn="ctr">
                      <a:solidFill>
                        <a:srgbClr val="FFFFFF"/>
                      </a:solidFill>
                      <a:prstDash val="solid"/>
                      <a:round/>
                      <a:headEnd type="none" w="med" len="med"/>
                      <a:tailEnd type="none" w="med" len="med"/>
                    </a:lnR>
                    <a:lnT w="7000" cap="flat">
                      <a:solidFill>
                        <a:srgbClr val="FFFFFF"/>
                      </a:solidFill>
                      <a:prstDash val="solid"/>
                    </a:lnT>
                    <a:lnB w="7000" cap="flat" cmpd="sng" algn="ctr">
                      <a:solidFill>
                        <a:srgbClr val="FFFFFF"/>
                      </a:solidFill>
                      <a:prstDash val="solid"/>
                      <a:round/>
                      <a:headEnd type="none" w="med" len="med"/>
                      <a:tailEnd type="none" w="med" len="med"/>
                    </a:lnB>
                    <a:solidFill>
                      <a:srgbClr val="046A38"/>
                    </a:solidFill>
                  </a:tcPr>
                </a:tc>
                <a:tc>
                  <a:txBody>
                    <a:bodyPr/>
                    <a:lstStyle/>
                    <a:p>
                      <a:pPr algn="l">
                        <a:lnSpc>
                          <a:spcPct val="100000"/>
                        </a:lnSpc>
                        <a:spcBef>
                          <a:spcPts val="0"/>
                        </a:spcBef>
                        <a:spcAft>
                          <a:spcPts val="0"/>
                        </a:spcAft>
                        <a:buNone/>
                      </a:pPr>
                      <a:r>
                        <a:rPr lang="en-US" sz="1100" b="1">
                          <a:solidFill>
                            <a:srgbClr val="FFFFFF"/>
                          </a:solidFill>
                          <a:effectLst/>
                          <a:latin typeface="Aptos"/>
                        </a:rPr>
                        <a:t>Primary user</a:t>
                      </a:r>
                    </a:p>
                  </a:txBody>
                  <a:tcPr marL="82296" marR="82296" marT="41148" marB="41148" anchor="ctr">
                    <a:lnL w="7000" cap="flat" cmpd="sng" algn="ctr">
                      <a:solidFill>
                        <a:srgbClr val="FFFFFF"/>
                      </a:solidFill>
                      <a:prstDash val="solid"/>
                      <a:round/>
                      <a:headEnd type="none" w="med" len="med"/>
                      <a:tailEnd type="none" w="med" len="med"/>
                    </a:lnL>
                    <a:lnR w="7000" cap="flat" cmpd="sng" algn="ctr">
                      <a:solidFill>
                        <a:srgbClr val="FFFFFF"/>
                      </a:solidFill>
                      <a:prstDash val="solid"/>
                      <a:round/>
                      <a:headEnd type="none" w="med" len="med"/>
                      <a:tailEnd type="none" w="med" len="med"/>
                    </a:lnR>
                    <a:lnT w="7000" cap="flat">
                      <a:solidFill>
                        <a:srgbClr val="FFFFFF"/>
                      </a:solidFill>
                      <a:prstDash val="solid"/>
                    </a:lnT>
                    <a:lnB w="7000" cap="flat" cmpd="sng" algn="ctr">
                      <a:solidFill>
                        <a:srgbClr val="FFFFFF"/>
                      </a:solidFill>
                      <a:prstDash val="solid"/>
                      <a:round/>
                      <a:headEnd type="none" w="med" len="med"/>
                      <a:tailEnd type="none" w="med" len="med"/>
                    </a:lnB>
                    <a:solidFill>
                      <a:srgbClr val="046A38"/>
                    </a:solidFill>
                  </a:tcPr>
                </a:tc>
                <a:tc>
                  <a:txBody>
                    <a:bodyPr/>
                    <a:lstStyle/>
                    <a:p>
                      <a:pPr algn="l">
                        <a:lnSpc>
                          <a:spcPct val="100000"/>
                        </a:lnSpc>
                        <a:spcBef>
                          <a:spcPts val="0"/>
                        </a:spcBef>
                        <a:spcAft>
                          <a:spcPts val="0"/>
                        </a:spcAft>
                        <a:buNone/>
                      </a:pPr>
                      <a:r>
                        <a:rPr lang="en-US" sz="1100" b="1">
                          <a:solidFill>
                            <a:srgbClr val="FFFFFF"/>
                          </a:solidFill>
                          <a:effectLst/>
                          <a:latin typeface="Aptos"/>
                        </a:rPr>
                        <a:t>Relevance to Zora</a:t>
                      </a:r>
                    </a:p>
                  </a:txBody>
                  <a:tcPr marL="82296" marR="82296" marT="41148" marB="41148" anchor="ctr">
                    <a:lnL w="7000" cap="flat" cmpd="sng" algn="ctr">
                      <a:solidFill>
                        <a:srgbClr val="FFFFFF"/>
                      </a:solidFill>
                      <a:prstDash val="solid"/>
                      <a:round/>
                      <a:headEnd type="none" w="med" len="med"/>
                      <a:tailEnd type="none" w="med" len="med"/>
                    </a:lnL>
                    <a:lnR w="7000" cap="flat">
                      <a:solidFill>
                        <a:srgbClr val="FFFFFF"/>
                      </a:solidFill>
                      <a:prstDash val="solid"/>
                    </a:lnR>
                    <a:lnT w="7000" cap="flat">
                      <a:solidFill>
                        <a:srgbClr val="FFFFFF"/>
                      </a:solidFill>
                      <a:prstDash val="solid"/>
                    </a:lnT>
                    <a:lnB w="7000" cap="flat" cmpd="sng" algn="ctr">
                      <a:solidFill>
                        <a:srgbClr val="FFFFFF"/>
                      </a:solidFill>
                      <a:prstDash val="solid"/>
                      <a:round/>
                      <a:headEnd type="none" w="med" len="med"/>
                      <a:tailEnd type="none" w="med" len="med"/>
                    </a:lnB>
                    <a:solidFill>
                      <a:srgbClr val="046A38"/>
                    </a:solidFill>
                  </a:tcPr>
                </a:tc>
                <a:extLst>
                  <a:ext uri="{0D108BD9-81ED-4DB2-BD59-A6C34878D82A}">
                    <a16:rowId xmlns:a16="http://schemas.microsoft.com/office/drawing/2014/main" val="443241865"/>
                  </a:ext>
                </a:extLst>
              </a:tr>
              <a:tr h="429913">
                <a:tc>
                  <a:txBody>
                    <a:bodyPr/>
                    <a:lstStyle/>
                    <a:p>
                      <a:pPr algn="l">
                        <a:lnSpc>
                          <a:spcPct val="100000"/>
                        </a:lnSpc>
                        <a:spcBef>
                          <a:spcPts val="0"/>
                        </a:spcBef>
                        <a:spcAft>
                          <a:spcPts val="0"/>
                        </a:spcAft>
                        <a:buNone/>
                      </a:pPr>
                      <a:r>
                        <a:rPr lang="en-US" sz="1200">
                          <a:effectLst/>
                        </a:rPr>
                        <a:t>Experience Layer</a:t>
                      </a:r>
                    </a:p>
                  </a:txBody>
                  <a:tcPr marL="82296" marR="82296" marT="41148" marB="41148" anchor="ctr">
                    <a:lnL w="6000" cap="flat">
                      <a:solidFill>
                        <a:srgbClr val="C7DCCF"/>
                      </a:solidFill>
                      <a:prstDash val="solid"/>
                    </a:lnL>
                    <a:lnR w="6000" cap="flat">
                      <a:solidFill>
                        <a:srgbClr val="C7DCCF"/>
                      </a:solidFill>
                      <a:prstDash val="solid"/>
                    </a:lnR>
                    <a:lnT w="7000" cap="flat" cmpd="sng" algn="ctr">
                      <a:solidFill>
                        <a:srgbClr val="FFFFFF"/>
                      </a:solidFill>
                      <a:prstDash val="solid"/>
                      <a:round/>
                      <a:headEnd type="none" w="med" len="med"/>
                      <a:tailEnd type="none" w="med" len="med"/>
                    </a:lnT>
                    <a:lnB w="6000" cap="flat" cmpd="sng" algn="ctr">
                      <a:solidFill>
                        <a:srgbClr val="C7DCCF"/>
                      </a:solidFill>
                      <a:prstDash val="solid"/>
                      <a:round/>
                      <a:headEnd type="none" w="med" len="med"/>
                      <a:tailEnd type="none" w="med" len="med"/>
                    </a:lnB>
                    <a:solidFill>
                      <a:schemeClr val="bg1"/>
                    </a:solidFill>
                  </a:tcPr>
                </a:tc>
                <a:tc>
                  <a:txBody>
                    <a:bodyPr/>
                    <a:lstStyle/>
                    <a:p>
                      <a:pPr algn="l">
                        <a:lnSpc>
                          <a:spcPct val="100000"/>
                        </a:lnSpc>
                        <a:spcBef>
                          <a:spcPts val="0"/>
                        </a:spcBef>
                        <a:spcAft>
                          <a:spcPts val="0"/>
                        </a:spcAft>
                        <a:buNone/>
                      </a:pPr>
                      <a:r>
                        <a:rPr lang="en-US" sz="1100" b="1">
                          <a:solidFill>
                            <a:srgbClr val="282728"/>
                          </a:solidFill>
                          <a:effectLst/>
                          <a:latin typeface="Aptos"/>
                        </a:rPr>
                        <a:t>Genie One</a:t>
                      </a:r>
                      <a:endParaRPr lang="en-US" sz="1200">
                        <a:effectLst/>
                      </a:endParaRPr>
                    </a:p>
                  </a:txBody>
                  <a:tcPr marL="82296" marR="82296" marT="41148" marB="41148" anchor="ctr">
                    <a:lnL w="6000" cap="flat" cmpd="sng" algn="ctr">
                      <a:solidFill>
                        <a:srgbClr val="C7DCCF"/>
                      </a:solidFill>
                      <a:prstDash val="solid"/>
                      <a:round/>
                      <a:headEnd type="none" w="med" len="med"/>
                      <a:tailEnd type="none" w="med" len="med"/>
                    </a:lnL>
                    <a:lnR w="6000" cap="flat">
                      <a:solidFill>
                        <a:srgbClr val="C7DCCF"/>
                      </a:solidFill>
                      <a:prstDash val="solid"/>
                    </a:lnR>
                    <a:lnT w="7000" cap="flat" cmpd="sng" algn="ctr">
                      <a:solidFill>
                        <a:srgbClr val="FFFFFF"/>
                      </a:solidFill>
                      <a:prstDash val="solid"/>
                      <a:round/>
                      <a:headEnd type="none" w="med" len="med"/>
                      <a:tailEnd type="none" w="med" len="med"/>
                    </a:lnT>
                    <a:lnB w="6000" cap="flat">
                      <a:solidFill>
                        <a:srgbClr val="C7DCCF"/>
                      </a:solidFill>
                      <a:prstDash val="solid"/>
                    </a:lnB>
                    <a:solidFill>
                      <a:schemeClr val="bg1"/>
                    </a:solidFill>
                  </a:tcPr>
                </a:tc>
                <a:tc>
                  <a:txBody>
                    <a:bodyPr/>
                    <a:lstStyle/>
                    <a:p>
                      <a:pPr algn="l">
                        <a:lnSpc>
                          <a:spcPct val="100000"/>
                        </a:lnSpc>
                        <a:spcBef>
                          <a:spcPts val="0"/>
                        </a:spcBef>
                        <a:spcAft>
                          <a:spcPts val="0"/>
                        </a:spcAft>
                        <a:buNone/>
                      </a:pPr>
                      <a:r>
                        <a:rPr lang="en-US" sz="1100" b="0">
                          <a:solidFill>
                            <a:srgbClr val="282728"/>
                          </a:solidFill>
                          <a:effectLst/>
                          <a:latin typeface="Aptos"/>
                        </a:rPr>
                        <a:t>Allows business users ask questions of governed data, receive answers and visualizations, and access dashboards or apps</a:t>
                      </a:r>
                    </a:p>
                  </a:txBody>
                  <a:tcPr marL="82296" marR="82296" marT="41148" marB="41148" anchor="ctr">
                    <a:lnL w="6000" cap="flat">
                      <a:solidFill>
                        <a:srgbClr val="C7DCCF"/>
                      </a:solidFill>
                      <a:prstDash val="solid"/>
                    </a:lnL>
                    <a:lnR w="6000" cap="flat">
                      <a:solidFill>
                        <a:srgbClr val="C7DCCF"/>
                      </a:solidFill>
                      <a:prstDash val="solid"/>
                    </a:lnR>
                    <a:lnT w="7000" cap="flat" cmpd="sng" algn="ctr">
                      <a:solidFill>
                        <a:srgbClr val="FFFFFF"/>
                      </a:solidFill>
                      <a:prstDash val="solid"/>
                      <a:round/>
                      <a:headEnd type="none" w="med" len="med"/>
                      <a:tailEnd type="none" w="med" len="med"/>
                    </a:lnT>
                    <a:lnB w="6000" cap="flat">
                      <a:solidFill>
                        <a:srgbClr val="C7DCCF"/>
                      </a:solidFill>
                      <a:prstDash val="solid"/>
                    </a:lnB>
                    <a:solidFill>
                      <a:schemeClr val="bg1"/>
                    </a:solidFill>
                  </a:tcPr>
                </a:tc>
                <a:tc rowSpan="2">
                  <a:txBody>
                    <a:bodyPr/>
                    <a:lstStyle/>
                    <a:p>
                      <a:pPr algn="l">
                        <a:lnSpc>
                          <a:spcPct val="100000"/>
                        </a:lnSpc>
                        <a:spcBef>
                          <a:spcPts val="0"/>
                        </a:spcBef>
                        <a:spcAft>
                          <a:spcPts val="0"/>
                        </a:spcAft>
                        <a:buNone/>
                      </a:pPr>
                      <a:r>
                        <a:rPr lang="en-US" sz="1100" b="0">
                          <a:solidFill>
                            <a:srgbClr val="282728"/>
                          </a:solidFill>
                          <a:effectLst/>
                          <a:latin typeface="Aptos"/>
                        </a:rPr>
                        <a:t>Business users and analysts</a:t>
                      </a:r>
                    </a:p>
                  </a:txBody>
                  <a:tcPr marL="82296" marR="82296" marT="41148" marB="41148" anchor="ctr">
                    <a:lnL w="6000" cap="flat">
                      <a:solidFill>
                        <a:srgbClr val="C7DCCF"/>
                      </a:solidFill>
                      <a:prstDash val="solid"/>
                    </a:lnL>
                    <a:lnR w="6000" cap="flat">
                      <a:solidFill>
                        <a:srgbClr val="C7DCCF"/>
                      </a:solidFill>
                      <a:prstDash val="solid"/>
                    </a:lnR>
                    <a:lnT w="7000" cap="flat" cmpd="sng" algn="ctr">
                      <a:solidFill>
                        <a:srgbClr val="FFFFFF"/>
                      </a:solidFill>
                      <a:prstDash val="solid"/>
                      <a:round/>
                      <a:headEnd type="none" w="med" len="med"/>
                      <a:tailEnd type="none" w="med" len="med"/>
                    </a:lnT>
                    <a:lnB w="6000" cap="flat">
                      <a:solidFill>
                        <a:srgbClr val="C7DCCF"/>
                      </a:solidFill>
                      <a:prstDash val="solid"/>
                    </a:lnB>
                    <a:solidFill>
                      <a:schemeClr val="bg1"/>
                    </a:solidFill>
                  </a:tcPr>
                </a:tc>
                <a:tc rowSpan="2">
                  <a:txBody>
                    <a:bodyPr/>
                    <a:lstStyle/>
                    <a:p>
                      <a:pPr algn="l">
                        <a:lnSpc>
                          <a:spcPct val="100000"/>
                        </a:lnSpc>
                        <a:spcBef>
                          <a:spcPts val="0"/>
                        </a:spcBef>
                        <a:spcAft>
                          <a:spcPts val="0"/>
                        </a:spcAft>
                        <a:buNone/>
                      </a:pPr>
                      <a:r>
                        <a:rPr lang="en-US" sz="1100" b="0">
                          <a:solidFill>
                            <a:srgbClr val="282728"/>
                          </a:solidFill>
                          <a:effectLst/>
                          <a:latin typeface="Aptos"/>
                        </a:rPr>
                        <a:t>Closest overlap with Zora’s insight and advisory capabilities (e.g., CFO Insights)</a:t>
                      </a:r>
                    </a:p>
                  </a:txBody>
                  <a:tcPr marL="82296" marR="82296" marT="41148" marB="41148" anchor="ctr">
                    <a:lnL w="6000" cap="flat">
                      <a:solidFill>
                        <a:srgbClr val="C7DCCF"/>
                      </a:solidFill>
                      <a:prstDash val="solid"/>
                    </a:lnL>
                    <a:lnR w="6000" cap="flat">
                      <a:solidFill>
                        <a:srgbClr val="C7DCCF"/>
                      </a:solidFill>
                      <a:prstDash val="solid"/>
                    </a:lnR>
                    <a:lnT w="7000" cap="flat" cmpd="sng" algn="ctr">
                      <a:solidFill>
                        <a:srgbClr val="FFFFFF"/>
                      </a:solidFill>
                      <a:prstDash val="solid"/>
                      <a:round/>
                      <a:headEnd type="none" w="med" len="med"/>
                      <a:tailEnd type="none" w="med" len="med"/>
                    </a:lnT>
                    <a:lnB w="6000" cap="flat">
                      <a:solidFill>
                        <a:srgbClr val="C7DCCF"/>
                      </a:solidFill>
                      <a:prstDash val="solid"/>
                    </a:lnB>
                    <a:solidFill>
                      <a:schemeClr val="bg1"/>
                    </a:solidFill>
                  </a:tcPr>
                </a:tc>
                <a:extLst>
                  <a:ext uri="{0D108BD9-81ED-4DB2-BD59-A6C34878D82A}">
                    <a16:rowId xmlns:a16="http://schemas.microsoft.com/office/drawing/2014/main" val="540262160"/>
                  </a:ext>
                </a:extLst>
              </a:tr>
              <a:tr h="455811">
                <a:tc rowSpan="2">
                  <a:txBody>
                    <a:bodyPr/>
                    <a:lstStyle/>
                    <a:p>
                      <a:pPr algn="l">
                        <a:lnSpc>
                          <a:spcPct val="100000"/>
                        </a:lnSpc>
                        <a:spcBef>
                          <a:spcPts val="0"/>
                        </a:spcBef>
                        <a:spcAft>
                          <a:spcPts val="0"/>
                        </a:spcAft>
                        <a:buNone/>
                      </a:pPr>
                      <a:r>
                        <a:rPr lang="en-US" sz="1200">
                          <a:effectLst/>
                        </a:rPr>
                        <a:t>Specialized Agent Layer</a:t>
                      </a: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cmpd="sng" algn="ctr">
                      <a:solidFill>
                        <a:srgbClr val="C7DCCF"/>
                      </a:solidFill>
                      <a:prstDash val="solid"/>
                      <a:round/>
                      <a:headEnd type="none" w="med" len="med"/>
                      <a:tailEnd type="none" w="med" len="med"/>
                    </a:lnB>
                    <a:solidFill>
                      <a:schemeClr val="bg1"/>
                    </a:solidFill>
                  </a:tcPr>
                </a:tc>
                <a:tc>
                  <a:txBody>
                    <a:bodyPr/>
                    <a:lstStyle/>
                    <a:p>
                      <a:pPr algn="l">
                        <a:lnSpc>
                          <a:spcPct val="100000"/>
                        </a:lnSpc>
                        <a:spcBef>
                          <a:spcPts val="0"/>
                        </a:spcBef>
                        <a:spcAft>
                          <a:spcPts val="0"/>
                        </a:spcAft>
                        <a:buNone/>
                      </a:pPr>
                      <a:r>
                        <a:rPr lang="en-US" sz="1100" b="1">
                          <a:solidFill>
                            <a:srgbClr val="282728"/>
                          </a:solidFill>
                          <a:effectLst/>
                          <a:latin typeface="Aptos"/>
                        </a:rPr>
                        <a:t>Genie Agents</a:t>
                      </a:r>
                      <a:endParaRPr lang="en-US" sz="1200">
                        <a:effectLst/>
                      </a:endParaRPr>
                    </a:p>
                  </a:txBody>
                  <a:tcPr marL="82296" marR="82296" marT="41148" marB="41148" anchor="ctr">
                    <a:lnL w="6000" cap="flat" cmpd="sng" algn="ctr">
                      <a:solidFill>
                        <a:srgbClr val="C7DCCF"/>
                      </a:solidFill>
                      <a:prstDash val="solid"/>
                      <a:round/>
                      <a:headEnd type="none" w="med" len="med"/>
                      <a:tailEnd type="none" w="med" len="me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chemeClr val="bg1"/>
                    </a:solidFill>
                  </a:tcPr>
                </a:tc>
                <a:tc>
                  <a:txBody>
                    <a:bodyPr/>
                    <a:lstStyle/>
                    <a:p>
                      <a:pPr algn="l">
                        <a:lnSpc>
                          <a:spcPct val="100000"/>
                        </a:lnSpc>
                        <a:spcBef>
                          <a:spcPts val="0"/>
                        </a:spcBef>
                        <a:spcAft>
                          <a:spcPts val="0"/>
                        </a:spcAft>
                        <a:buNone/>
                      </a:pPr>
                      <a:r>
                        <a:rPr lang="en-US" sz="1100" b="0">
                          <a:solidFill>
                            <a:srgbClr val="282728"/>
                          </a:solidFill>
                          <a:effectLst/>
                          <a:latin typeface="Aptos"/>
                        </a:rPr>
                        <a:t>Provides curated, domain specific intelligence and actions (recurring analysis, documentation, visualization etc.)</a:t>
                      </a: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chemeClr val="bg1"/>
                    </a:solidFill>
                  </a:tcPr>
                </a:tc>
                <a:tc vMerge="1">
                  <a:txBody>
                    <a:bodyPr/>
                    <a:lstStyle/>
                    <a:p>
                      <a:pPr algn="l">
                        <a:lnSpc>
                          <a:spcPct val="100000"/>
                        </a:lnSpc>
                        <a:spcBef>
                          <a:spcPts val="0"/>
                        </a:spcBef>
                        <a:spcAft>
                          <a:spcPts val="0"/>
                        </a:spcAft>
                        <a:buNone/>
                      </a:pPr>
                      <a:endParaRPr lang="en-US" sz="1100" b="0">
                        <a:solidFill>
                          <a:srgbClr val="282728"/>
                        </a:solidFill>
                        <a:effectLst/>
                        <a:latin typeface="Aptos"/>
                      </a:endParaRP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rgbClr val="F8FAF8"/>
                    </a:solidFill>
                  </a:tcPr>
                </a:tc>
                <a:tc vMerge="1">
                  <a:txBody>
                    <a:bodyPr/>
                    <a:lstStyle/>
                    <a:p>
                      <a:pPr algn="l">
                        <a:lnSpc>
                          <a:spcPct val="100000"/>
                        </a:lnSpc>
                        <a:spcBef>
                          <a:spcPts val="0"/>
                        </a:spcBef>
                        <a:spcAft>
                          <a:spcPts val="0"/>
                        </a:spcAft>
                        <a:buNone/>
                      </a:pPr>
                      <a:endParaRPr lang="en-US" sz="1100" b="0">
                        <a:solidFill>
                          <a:srgbClr val="282728"/>
                        </a:solidFill>
                        <a:effectLst/>
                        <a:latin typeface="Aptos"/>
                      </a:endParaRP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rgbClr val="F8FAF8"/>
                    </a:solidFill>
                  </a:tcPr>
                </a:tc>
                <a:extLst>
                  <a:ext uri="{0D108BD9-81ED-4DB2-BD59-A6C34878D82A}">
                    <a16:rowId xmlns:a16="http://schemas.microsoft.com/office/drawing/2014/main" val="1975382868"/>
                  </a:ext>
                </a:extLst>
              </a:tr>
              <a:tr h="455811">
                <a:tc vMerge="1">
                  <a:txBody>
                    <a:bodyPr/>
                    <a:lstStyle/>
                    <a:p>
                      <a:pPr algn="l">
                        <a:lnSpc>
                          <a:spcPct val="100000"/>
                        </a:lnSpc>
                        <a:spcBef>
                          <a:spcPts val="0"/>
                        </a:spcBef>
                        <a:spcAft>
                          <a:spcPts val="0"/>
                        </a:spcAft>
                        <a:buNone/>
                      </a:pPr>
                      <a:endParaRPr lang="en-US" sz="1200">
                        <a:effectLst/>
                      </a:endParaRP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cmpd="sng" algn="ctr">
                      <a:solidFill>
                        <a:srgbClr val="C7DCCF"/>
                      </a:solidFill>
                      <a:prstDash val="solid"/>
                      <a:round/>
                      <a:headEnd type="none" w="med" len="med"/>
                      <a:tailEnd type="none" w="med" len="med"/>
                    </a:lnB>
                    <a:solidFill>
                      <a:srgbClr val="F0F1F0"/>
                    </a:solidFill>
                  </a:tcPr>
                </a:tc>
                <a:tc>
                  <a:txBody>
                    <a:bodyPr/>
                    <a:lstStyle/>
                    <a:p>
                      <a:pPr algn="l">
                        <a:lnSpc>
                          <a:spcPct val="100000"/>
                        </a:lnSpc>
                        <a:spcBef>
                          <a:spcPts val="0"/>
                        </a:spcBef>
                        <a:spcAft>
                          <a:spcPts val="0"/>
                        </a:spcAft>
                        <a:buNone/>
                      </a:pPr>
                      <a:r>
                        <a:rPr lang="en-US" sz="1100" b="1">
                          <a:solidFill>
                            <a:srgbClr val="282728"/>
                          </a:solidFill>
                          <a:effectLst/>
                          <a:latin typeface="Aptos"/>
                        </a:rPr>
                        <a:t>Genie Code</a:t>
                      </a:r>
                      <a:endParaRPr lang="en-US" sz="1200">
                        <a:effectLst/>
                      </a:endParaRPr>
                    </a:p>
                  </a:txBody>
                  <a:tcPr marL="82296" marR="82296" marT="41148" marB="41148" anchor="ctr">
                    <a:lnL w="6000" cap="flat" cmpd="sng" algn="ctr">
                      <a:solidFill>
                        <a:srgbClr val="C7DCCF"/>
                      </a:solidFill>
                      <a:prstDash val="solid"/>
                      <a:round/>
                      <a:headEnd type="none" w="med" len="med"/>
                      <a:tailEnd type="none" w="med" len="med"/>
                    </a:lnL>
                    <a:lnR w="6000" cap="flat">
                      <a:solidFill>
                        <a:srgbClr val="C7DCCF"/>
                      </a:solidFill>
                      <a:prstDash val="solid"/>
                    </a:lnR>
                    <a:lnT w="6000" cap="flat">
                      <a:solidFill>
                        <a:srgbClr val="C7DCCF"/>
                      </a:solidFill>
                      <a:prstDash val="solid"/>
                    </a:lnT>
                    <a:lnB w="6000" cap="flat">
                      <a:solidFill>
                        <a:srgbClr val="C7DCCF"/>
                      </a:solidFill>
                      <a:prstDash val="solid"/>
                    </a:lnB>
                    <a:solidFill>
                      <a:schemeClr val="bg1"/>
                    </a:solidFill>
                  </a:tcPr>
                </a:tc>
                <a:tc>
                  <a:txBody>
                    <a:bodyPr/>
                    <a:lstStyle/>
                    <a:p>
                      <a:pPr algn="l">
                        <a:lnSpc>
                          <a:spcPct val="100000"/>
                        </a:lnSpc>
                        <a:spcBef>
                          <a:spcPts val="0"/>
                        </a:spcBef>
                        <a:spcAft>
                          <a:spcPts val="0"/>
                        </a:spcAft>
                        <a:buNone/>
                      </a:pPr>
                      <a:r>
                        <a:rPr lang="en-US" sz="1100" b="0">
                          <a:solidFill>
                            <a:srgbClr val="282728"/>
                          </a:solidFill>
                          <a:effectLst/>
                          <a:latin typeface="Aptos"/>
                        </a:rPr>
                        <a:t>Helps technical teams analyze data, write and run code, build pipelines and dashboards, and maintain data workloads</a:t>
                      </a: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chemeClr val="bg1"/>
                    </a:solidFill>
                  </a:tcPr>
                </a:tc>
                <a:tc>
                  <a:txBody>
                    <a:bodyPr/>
                    <a:lstStyle/>
                    <a:p>
                      <a:pPr algn="l">
                        <a:lnSpc>
                          <a:spcPct val="100000"/>
                        </a:lnSpc>
                        <a:spcBef>
                          <a:spcPts val="0"/>
                        </a:spcBef>
                        <a:spcAft>
                          <a:spcPts val="0"/>
                        </a:spcAft>
                        <a:buNone/>
                      </a:pPr>
                      <a:r>
                        <a:rPr lang="en-US" sz="1100" b="0">
                          <a:solidFill>
                            <a:srgbClr val="282728"/>
                          </a:solidFill>
                          <a:effectLst/>
                          <a:latin typeface="Aptos"/>
                        </a:rPr>
                        <a:t>Data engineers, data scientists, analysts</a:t>
                      </a: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chemeClr val="bg1"/>
                    </a:solidFill>
                  </a:tcPr>
                </a:tc>
                <a:tc>
                  <a:txBody>
                    <a:bodyPr/>
                    <a:lstStyle/>
                    <a:p>
                      <a:pPr algn="l">
                        <a:lnSpc>
                          <a:spcPct val="100000"/>
                        </a:lnSpc>
                        <a:spcBef>
                          <a:spcPts val="0"/>
                        </a:spcBef>
                        <a:spcAft>
                          <a:spcPts val="0"/>
                        </a:spcAft>
                        <a:buNone/>
                      </a:pPr>
                      <a:r>
                        <a:rPr lang="en-US" sz="1100" b="0">
                          <a:solidFill>
                            <a:srgbClr val="282728"/>
                          </a:solidFill>
                          <a:effectLst/>
                          <a:latin typeface="Aptos"/>
                        </a:rPr>
                        <a:t>Assistant for technical data specialists, not for business users/executive-level audience </a:t>
                      </a: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chemeClr val="bg1"/>
                    </a:solidFill>
                  </a:tcPr>
                </a:tc>
                <a:extLst>
                  <a:ext uri="{0D108BD9-81ED-4DB2-BD59-A6C34878D82A}">
                    <a16:rowId xmlns:a16="http://schemas.microsoft.com/office/drawing/2014/main" val="2353480753"/>
                  </a:ext>
                </a:extLst>
              </a:tr>
              <a:tr h="455811">
                <a:tc rowSpan="2">
                  <a:txBody>
                    <a:bodyPr/>
                    <a:lstStyle/>
                    <a:p>
                      <a:pPr algn="l">
                        <a:lnSpc>
                          <a:spcPct val="100000"/>
                        </a:lnSpc>
                        <a:spcBef>
                          <a:spcPts val="0"/>
                        </a:spcBef>
                        <a:spcAft>
                          <a:spcPts val="0"/>
                        </a:spcAft>
                        <a:buNone/>
                      </a:pPr>
                      <a:r>
                        <a:rPr lang="en-US" sz="1200">
                          <a:effectLst/>
                        </a:rPr>
                        <a:t>Platform and Agent Build Layer</a:t>
                      </a: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chemeClr val="bg1"/>
                    </a:solidFill>
                  </a:tcPr>
                </a:tc>
                <a:tc>
                  <a:txBody>
                    <a:bodyPr/>
                    <a:lstStyle/>
                    <a:p>
                      <a:pPr algn="l">
                        <a:lnSpc>
                          <a:spcPct val="100000"/>
                        </a:lnSpc>
                        <a:spcBef>
                          <a:spcPts val="0"/>
                        </a:spcBef>
                        <a:spcAft>
                          <a:spcPts val="0"/>
                        </a:spcAft>
                        <a:buNone/>
                      </a:pPr>
                      <a:r>
                        <a:rPr lang="en-US" sz="1100" b="1">
                          <a:solidFill>
                            <a:srgbClr val="282728"/>
                          </a:solidFill>
                          <a:effectLst/>
                          <a:latin typeface="Aptos"/>
                        </a:rPr>
                        <a:t>Agent Bricks</a:t>
                      </a:r>
                      <a:endParaRPr lang="en-US" sz="1200">
                        <a:effectLst/>
                      </a:endParaRPr>
                    </a:p>
                  </a:txBody>
                  <a:tcPr marL="82296" marR="82296" marT="41148" marB="41148" anchor="ctr">
                    <a:lnL w="6000" cap="flat" cmpd="sng" algn="ctr">
                      <a:solidFill>
                        <a:srgbClr val="C7DCCF"/>
                      </a:solidFill>
                      <a:prstDash val="solid"/>
                      <a:round/>
                      <a:headEnd type="none" w="med" len="med"/>
                      <a:tailEnd type="none" w="med" len="med"/>
                    </a:lnL>
                    <a:lnR w="6000" cap="flat">
                      <a:solidFill>
                        <a:srgbClr val="C7DCCF"/>
                      </a:solidFill>
                      <a:prstDash val="solid"/>
                    </a:lnR>
                    <a:lnT w="6000" cap="flat">
                      <a:solidFill>
                        <a:srgbClr val="C7DCCF"/>
                      </a:solidFill>
                      <a:prstDash val="solid"/>
                    </a:lnT>
                    <a:lnB w="6000" cap="flat" cmpd="sng" algn="ctr">
                      <a:solidFill>
                        <a:srgbClr val="C7DCCF"/>
                      </a:solidFill>
                      <a:prstDash val="solid"/>
                      <a:round/>
                      <a:headEnd type="none" w="med" len="med"/>
                      <a:tailEnd type="none" w="med" len="med"/>
                    </a:lnB>
                    <a:solidFill>
                      <a:schemeClr val="bg1"/>
                    </a:solidFill>
                  </a:tcPr>
                </a:tc>
                <a:tc>
                  <a:txBody>
                    <a:bodyPr/>
                    <a:lstStyle/>
                    <a:p>
                      <a:pPr algn="l">
                        <a:lnSpc>
                          <a:spcPct val="100000"/>
                        </a:lnSpc>
                        <a:spcBef>
                          <a:spcPts val="0"/>
                        </a:spcBef>
                        <a:spcAft>
                          <a:spcPts val="0"/>
                        </a:spcAft>
                        <a:buNone/>
                      </a:pPr>
                      <a:r>
                        <a:rPr lang="en-US" sz="1100" b="0">
                          <a:solidFill>
                            <a:srgbClr val="282728"/>
                          </a:solidFill>
                          <a:effectLst/>
                          <a:latin typeface="Aptos"/>
                        </a:rPr>
                        <a:t>Provides the tools, models, runtime, evaluation, deployment, and governance needed to build and operate custom agents</a:t>
                      </a: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cmpd="sng" algn="ctr">
                      <a:solidFill>
                        <a:srgbClr val="C7DCCF"/>
                      </a:solidFill>
                      <a:prstDash val="solid"/>
                      <a:round/>
                      <a:headEnd type="none" w="med" len="med"/>
                      <a:tailEnd type="none" w="med" len="med"/>
                    </a:lnB>
                    <a:solidFill>
                      <a:schemeClr val="bg1"/>
                    </a:solidFill>
                  </a:tcPr>
                </a:tc>
                <a:tc>
                  <a:txBody>
                    <a:bodyPr/>
                    <a:lstStyle/>
                    <a:p>
                      <a:pPr algn="l">
                        <a:lnSpc>
                          <a:spcPct val="100000"/>
                        </a:lnSpc>
                        <a:spcBef>
                          <a:spcPts val="0"/>
                        </a:spcBef>
                        <a:spcAft>
                          <a:spcPts val="0"/>
                        </a:spcAft>
                        <a:buNone/>
                      </a:pPr>
                      <a:r>
                        <a:rPr lang="en-US" sz="1100" b="0">
                          <a:solidFill>
                            <a:srgbClr val="282728"/>
                          </a:solidFill>
                          <a:effectLst/>
                          <a:latin typeface="Aptos"/>
                        </a:rPr>
                        <a:t>Technology and AI teams</a:t>
                      </a: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cmpd="sng" algn="ctr">
                      <a:solidFill>
                        <a:srgbClr val="C7DCCF"/>
                      </a:solidFill>
                      <a:prstDash val="solid"/>
                      <a:round/>
                      <a:headEnd type="none" w="med" len="med"/>
                      <a:tailEnd type="none" w="med" len="med"/>
                    </a:lnB>
                    <a:solidFill>
                      <a:schemeClr val="bg1"/>
                    </a:solidFill>
                  </a:tcPr>
                </a:tc>
                <a:tc>
                  <a:txBody>
                    <a:bodyPr/>
                    <a:lstStyle/>
                    <a:p>
                      <a:pPr algn="l" fontAlgn="t">
                        <a:lnSpc>
                          <a:spcPct val="100000"/>
                        </a:lnSpc>
                        <a:spcBef>
                          <a:spcPts val="0"/>
                        </a:spcBef>
                        <a:spcAft>
                          <a:spcPts val="0"/>
                        </a:spcAft>
                        <a:buNone/>
                      </a:pPr>
                      <a:r>
                        <a:rPr lang="en-US" sz="1100" b="0">
                          <a:solidFill>
                            <a:srgbClr val="282728"/>
                          </a:solidFill>
                          <a:effectLst/>
                          <a:latin typeface="Aptos"/>
                        </a:rPr>
                        <a:t>Competes indirectly when clients consider building their own functional agents</a:t>
                      </a:r>
                      <a:endParaRPr lang="en-US" sz="1100" b="0" i="0">
                        <a:effectLst/>
                        <a:latin typeface="Segoe UI" panose="020B0502040204020203" pitchFamily="34" charset="0"/>
                      </a:endParaRP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cmpd="sng" algn="ctr">
                      <a:solidFill>
                        <a:srgbClr val="C7DCCF"/>
                      </a:solidFill>
                      <a:prstDash val="solid"/>
                      <a:round/>
                      <a:headEnd type="none" w="med" len="med"/>
                      <a:tailEnd type="none" w="med" len="med"/>
                    </a:lnB>
                    <a:solidFill>
                      <a:schemeClr val="bg1"/>
                    </a:solidFill>
                  </a:tcPr>
                </a:tc>
                <a:extLst>
                  <a:ext uri="{0D108BD9-81ED-4DB2-BD59-A6C34878D82A}">
                    <a16:rowId xmlns:a16="http://schemas.microsoft.com/office/drawing/2014/main" val="3792346070"/>
                  </a:ext>
                </a:extLst>
              </a:tr>
              <a:tr h="455811">
                <a:tc vMerge="1">
                  <a:txBody>
                    <a:bodyPr/>
                    <a:lstStyle/>
                    <a:p>
                      <a:pPr algn="l">
                        <a:lnSpc>
                          <a:spcPct val="100000"/>
                        </a:lnSpc>
                        <a:spcBef>
                          <a:spcPts val="0"/>
                        </a:spcBef>
                        <a:spcAft>
                          <a:spcPts val="0"/>
                        </a:spcAft>
                        <a:buNone/>
                      </a:pPr>
                      <a:endParaRPr lang="en-US" sz="1200">
                        <a:effectLst/>
                      </a:endParaRPr>
                    </a:p>
                  </a:txBody>
                  <a:tcPr marL="82296" marR="82296" marT="41148" marB="41148" anchor="ctr">
                    <a:lnL w="6000" cap="flat">
                      <a:solidFill>
                        <a:srgbClr val="C7DCCF"/>
                      </a:solidFill>
                      <a:prstDash val="solid"/>
                    </a:lnL>
                    <a:lnR w="6000" cap="flat" cmpd="sng" algn="ctr">
                      <a:solidFill>
                        <a:srgbClr val="C7DCCF"/>
                      </a:solidFill>
                      <a:prstDash val="solid"/>
                      <a:round/>
                      <a:headEnd type="none" w="med" len="med"/>
                      <a:tailEnd type="none" w="med" len="med"/>
                    </a:lnR>
                    <a:lnT w="6000" cap="flat" cmpd="sng" algn="ctr">
                      <a:solidFill>
                        <a:srgbClr val="C7DCCF"/>
                      </a:solidFill>
                      <a:prstDash val="solid"/>
                      <a:round/>
                      <a:headEnd type="none" w="med" len="med"/>
                      <a:tailEnd type="none" w="med" len="med"/>
                    </a:lnT>
                    <a:lnB w="6000" cap="flat">
                      <a:solidFill>
                        <a:srgbClr val="C7DCCF"/>
                      </a:solidFill>
                      <a:prstDash val="solid"/>
                    </a:lnB>
                    <a:solidFill>
                      <a:srgbClr val="F0F1F0"/>
                    </a:solidFill>
                  </a:tcPr>
                </a:tc>
                <a:tc>
                  <a:txBody>
                    <a:bodyPr/>
                    <a:lstStyle/>
                    <a:p>
                      <a:pPr algn="l">
                        <a:lnSpc>
                          <a:spcPct val="100000"/>
                        </a:lnSpc>
                        <a:spcBef>
                          <a:spcPts val="0"/>
                        </a:spcBef>
                        <a:spcAft>
                          <a:spcPts val="0"/>
                        </a:spcAft>
                        <a:buNone/>
                      </a:pPr>
                      <a:r>
                        <a:rPr lang="en-US" sz="1100" b="1">
                          <a:solidFill>
                            <a:srgbClr val="282728"/>
                          </a:solidFill>
                          <a:effectLst/>
                          <a:latin typeface="Aptos"/>
                        </a:rPr>
                        <a:t>Data Intelligence Platform</a:t>
                      </a:r>
                      <a:endParaRPr lang="en-US" sz="1200">
                        <a:effectLst/>
                      </a:endParaRPr>
                    </a:p>
                  </a:txBody>
                  <a:tcPr marL="82296" marR="82296" marT="41148" marB="41148" anchor="ctr">
                    <a:lnL w="6000" cap="flat" cmpd="sng" algn="ctr">
                      <a:solidFill>
                        <a:srgbClr val="C7DCCF"/>
                      </a:solidFill>
                      <a:prstDash val="solid"/>
                      <a:round/>
                      <a:headEnd type="none" w="med" len="med"/>
                      <a:tailEnd type="none" w="med" len="med"/>
                    </a:lnL>
                    <a:lnR w="6000" cap="flat" cmpd="sng" algn="ctr">
                      <a:solidFill>
                        <a:srgbClr val="C7DCCF"/>
                      </a:solidFill>
                      <a:prstDash val="solid"/>
                      <a:round/>
                      <a:headEnd type="none" w="med" len="med"/>
                      <a:tailEnd type="none" w="med" len="med"/>
                    </a:lnR>
                    <a:lnT w="6000" cap="flat">
                      <a:solidFill>
                        <a:srgbClr val="C7DCCF"/>
                      </a:solidFill>
                      <a:prstDash val="solid"/>
                    </a:lnT>
                    <a:lnB w="6000" cap="flat">
                      <a:solidFill>
                        <a:srgbClr val="C7DCCF"/>
                      </a:solidFill>
                      <a:prstDash val="solid"/>
                    </a:lnB>
                    <a:solidFill>
                      <a:schemeClr val="bg1"/>
                    </a:solidFill>
                  </a:tcPr>
                </a:tc>
                <a:tc>
                  <a:txBody>
                    <a:bodyPr/>
                    <a:lstStyle/>
                    <a:p>
                      <a:pPr algn="l">
                        <a:lnSpc>
                          <a:spcPct val="100000"/>
                        </a:lnSpc>
                        <a:spcBef>
                          <a:spcPts val="0"/>
                        </a:spcBef>
                        <a:spcAft>
                          <a:spcPts val="0"/>
                        </a:spcAft>
                        <a:buNone/>
                      </a:pPr>
                      <a:r>
                        <a:rPr lang="en-US" sz="1100" b="0">
                          <a:solidFill>
                            <a:srgbClr val="282728"/>
                          </a:solidFill>
                          <a:effectLst/>
                          <a:latin typeface="+mn-lt"/>
                        </a:rPr>
                        <a:t>Organizes and governs the enterprise’s data, then provides tools to analyze that data or build AI applications on top of it.</a:t>
                      </a:r>
                      <a:endParaRPr lang="en-US" sz="1100" b="0">
                        <a:solidFill>
                          <a:srgbClr val="282728"/>
                        </a:solidFill>
                        <a:effectLst/>
                        <a:highlight>
                          <a:srgbClr val="FFFF00"/>
                        </a:highlight>
                        <a:latin typeface="Aptos"/>
                      </a:endParaRPr>
                    </a:p>
                  </a:txBody>
                  <a:tcPr marL="82296" marR="82296" marT="41148" marB="41148" anchor="ctr">
                    <a:lnL w="6000" cap="flat" cmpd="sng" algn="ctr">
                      <a:solidFill>
                        <a:srgbClr val="C7DCCF"/>
                      </a:solidFill>
                      <a:prstDash val="solid"/>
                      <a:round/>
                      <a:headEnd type="none" w="med" len="med"/>
                      <a:tailEnd type="none" w="med" len="med"/>
                    </a:lnL>
                    <a:lnR w="6000" cap="flat" cmpd="sng" algn="ctr">
                      <a:solidFill>
                        <a:srgbClr val="C7DCCF"/>
                      </a:solidFill>
                      <a:prstDash val="solid"/>
                      <a:round/>
                      <a:headEnd type="none" w="med" len="med"/>
                      <a:tailEnd type="none" w="med" len="med"/>
                    </a:lnR>
                    <a:lnT w="6000" cap="flat">
                      <a:solidFill>
                        <a:srgbClr val="C7DCCF"/>
                      </a:solidFill>
                      <a:prstDash val="solid"/>
                    </a:lnT>
                    <a:lnB w="6000" cap="flat">
                      <a:solidFill>
                        <a:srgbClr val="C7DCCF"/>
                      </a:solidFill>
                      <a:prstDash val="solid"/>
                    </a:lnB>
                    <a:solidFill>
                      <a:schemeClr val="bg1"/>
                    </a:solidFill>
                  </a:tcPr>
                </a:tc>
                <a:tc>
                  <a:txBody>
                    <a:bodyPr/>
                    <a:lstStyle/>
                    <a:p>
                      <a:pPr algn="l">
                        <a:lnSpc>
                          <a:spcPct val="100000"/>
                        </a:lnSpc>
                        <a:spcBef>
                          <a:spcPts val="0"/>
                        </a:spcBef>
                        <a:spcAft>
                          <a:spcPts val="0"/>
                        </a:spcAft>
                        <a:buNone/>
                      </a:pPr>
                      <a:r>
                        <a:rPr lang="en-US" sz="1100" b="0">
                          <a:solidFill>
                            <a:srgbClr val="282728"/>
                          </a:solidFill>
                          <a:effectLst/>
                          <a:latin typeface="Aptos"/>
                        </a:rPr>
                        <a:t>CIO, CDO, data platform teams</a:t>
                      </a:r>
                    </a:p>
                  </a:txBody>
                  <a:tcPr marL="82296" marR="82296" marT="41148" marB="41148" anchor="ctr">
                    <a:lnL w="6000" cap="flat" cmpd="sng" algn="ctr">
                      <a:solidFill>
                        <a:srgbClr val="C7DCCF"/>
                      </a:solidFill>
                      <a:prstDash val="solid"/>
                      <a:round/>
                      <a:headEnd type="none" w="med" len="med"/>
                      <a:tailEnd type="none" w="med" len="med"/>
                    </a:lnL>
                    <a:lnR w="6000" cap="flat" cmpd="sng" algn="ctr">
                      <a:solidFill>
                        <a:srgbClr val="C7DCCF"/>
                      </a:solidFill>
                      <a:prstDash val="solid"/>
                      <a:round/>
                      <a:headEnd type="none" w="med" len="med"/>
                      <a:tailEnd type="none" w="med" len="med"/>
                    </a:lnR>
                    <a:lnT w="6000" cap="flat">
                      <a:solidFill>
                        <a:srgbClr val="C7DCCF"/>
                      </a:solidFill>
                      <a:prstDash val="solid"/>
                    </a:lnT>
                    <a:lnB w="6000" cap="flat">
                      <a:solidFill>
                        <a:srgbClr val="C7DCCF"/>
                      </a:solidFill>
                      <a:prstDash val="solid"/>
                    </a:lnB>
                    <a:solidFill>
                      <a:schemeClr val="bg1"/>
                    </a:solidFill>
                  </a:tcPr>
                </a:tc>
                <a:tc>
                  <a:txBody>
                    <a:bodyPr/>
                    <a:lstStyle/>
                    <a:p>
                      <a:pPr algn="l">
                        <a:lnSpc>
                          <a:spcPct val="100000"/>
                        </a:lnSpc>
                        <a:spcBef>
                          <a:spcPts val="0"/>
                        </a:spcBef>
                        <a:spcAft>
                          <a:spcPts val="0"/>
                        </a:spcAft>
                        <a:buNone/>
                      </a:pPr>
                      <a:r>
                        <a:rPr lang="en-US" sz="1100" b="0">
                          <a:solidFill>
                            <a:srgbClr val="282728"/>
                          </a:solidFill>
                          <a:effectLst/>
                          <a:latin typeface="Aptos"/>
                        </a:rPr>
                        <a:t>Foundation on which analytics and agents can be built</a:t>
                      </a:r>
                    </a:p>
                  </a:txBody>
                  <a:tcPr marL="82296" marR="82296" marT="41148" marB="41148" anchor="ctr">
                    <a:lnL w="6000" cap="flat" cmpd="sng" algn="ctr">
                      <a:solidFill>
                        <a:srgbClr val="C7DCCF"/>
                      </a:solidFill>
                      <a:prstDash val="solid"/>
                      <a:round/>
                      <a:headEnd type="none" w="med" len="med"/>
                      <a:tailEnd type="none" w="med" len="med"/>
                    </a:lnL>
                    <a:lnR w="6000" cap="flat">
                      <a:solidFill>
                        <a:srgbClr val="C7DCCF"/>
                      </a:solidFill>
                      <a:prstDash val="solid"/>
                    </a:lnR>
                    <a:lnT w="6000" cap="flat">
                      <a:solidFill>
                        <a:srgbClr val="C7DCCF"/>
                      </a:solidFill>
                      <a:prstDash val="solid"/>
                    </a:lnT>
                    <a:lnB w="6000" cap="flat">
                      <a:solidFill>
                        <a:srgbClr val="C7DCCF"/>
                      </a:solidFill>
                      <a:prstDash val="solid"/>
                    </a:lnB>
                    <a:solidFill>
                      <a:schemeClr val="bg1"/>
                    </a:solidFill>
                  </a:tcPr>
                </a:tc>
                <a:extLst>
                  <a:ext uri="{0D108BD9-81ED-4DB2-BD59-A6C34878D82A}">
                    <a16:rowId xmlns:a16="http://schemas.microsoft.com/office/drawing/2014/main" val="849593423"/>
                  </a:ext>
                </a:extLst>
              </a:tr>
            </a:tbl>
          </a:graphicData>
        </a:graphic>
      </p:graphicFrame>
      <p:sp>
        <p:nvSpPr>
          <p:cNvPr id="8" name="Rectangle 7">
            <a:extLst>
              <a:ext uri="{FF2B5EF4-FFF2-40B4-BE49-F238E27FC236}">
                <a16:creationId xmlns:a16="http://schemas.microsoft.com/office/drawing/2014/main" id="{A7488DE4-A902-F05D-6D1F-A9F2868DAAD7}"/>
              </a:ext>
            </a:extLst>
          </p:cNvPr>
          <p:cNvSpPr/>
          <p:nvPr/>
        </p:nvSpPr>
        <p:spPr>
          <a:xfrm>
            <a:off x="457200" y="3831176"/>
            <a:ext cx="5520690" cy="2834640"/>
          </a:xfrm>
          <a:prstGeom prst="rect">
            <a:avLst/>
          </a:prstGeom>
          <a:solidFill>
            <a:schemeClr val="accent1">
              <a:lumMod val="20000"/>
              <a:lumOff val="80000"/>
            </a:schemeClr>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Box 9">
            <a:extLst>
              <a:ext uri="{FF2B5EF4-FFF2-40B4-BE49-F238E27FC236}">
                <a16:creationId xmlns:a16="http://schemas.microsoft.com/office/drawing/2014/main" id="{4D60D673-06C0-06EA-3CA5-C3F869619AFA}"/>
              </a:ext>
            </a:extLst>
          </p:cNvPr>
          <p:cNvSpPr txBox="1"/>
          <p:nvPr/>
        </p:nvSpPr>
        <p:spPr>
          <a:xfrm>
            <a:off x="585216" y="3996035"/>
            <a:ext cx="5244084" cy="26792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WHAT GENIE ONE AND GENIE AGENTS DOES </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1" i="0" u="none">
                <a:latin typeface="Aptos"/>
              </a:rPr>
              <a:t>Makes data easier to consume</a:t>
            </a:r>
            <a:r>
              <a:rPr lang="en-US" sz="1100" b="0" i="0" u="none">
                <a:latin typeface="Aptos"/>
              </a:rPr>
              <a:t>: Business users can ask questions in natural language instead of writing SQL or waiting for a technical analyst.</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1" i="0" u="none">
                <a:latin typeface="Aptos"/>
              </a:rPr>
              <a:t>Uses </a:t>
            </a:r>
            <a:r>
              <a:rPr lang="en-US" sz="1100" b="1">
                <a:latin typeface="Aptos"/>
              </a:rPr>
              <a:t>D</a:t>
            </a:r>
            <a:r>
              <a:rPr lang="en-US" sz="1100" b="1" i="0" u="none">
                <a:latin typeface="Aptos"/>
              </a:rPr>
              <a:t>atabricks platform’s governance layer</a:t>
            </a:r>
            <a:r>
              <a:rPr lang="en-US" sz="1100" b="0" i="0" u="none">
                <a:latin typeface="Aptos"/>
              </a:rPr>
              <a:t>: Unity Catalog applies the underlying data permissions and governance policies.</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1" i="0" u="none">
                <a:latin typeface="Aptos"/>
              </a:rPr>
              <a:t>Adds business context through curation</a:t>
            </a:r>
            <a:r>
              <a:rPr lang="en-US" sz="1100" b="0" i="0" u="none">
                <a:latin typeface="Aptos"/>
              </a:rPr>
              <a:t>: Domain experts can configure datasets, definitions, sample SQL, trusted assets, instructions, join relationships, and benchmarks.</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1" i="0" u="none">
                <a:latin typeface="Aptos"/>
              </a:rPr>
              <a:t>Extends beyond basic chat</a:t>
            </a:r>
            <a:r>
              <a:rPr lang="en-US" sz="1100" b="0" i="0" u="none">
                <a:latin typeface="Aptos"/>
              </a:rPr>
              <a:t>: Genie One gives business users one place to ask questions, explore company data and dashboards, and initiate follow-up actions via custom agents for functional workflow.</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1" i="0" u="none">
                <a:latin typeface="Aptos"/>
              </a:rPr>
              <a:t>Supports agentic execution</a:t>
            </a:r>
            <a:r>
              <a:rPr lang="en-US" sz="1100" b="0" i="0" u="none">
                <a:latin typeface="Aptos"/>
              </a:rPr>
              <a:t>: Genie is expanding from conversational analytics into agentic work, but the business rules, tools, and workflow still need to be configured for the client’s use case.</a:t>
            </a:r>
          </a:p>
        </p:txBody>
      </p:sp>
      <p:sp>
        <p:nvSpPr>
          <p:cNvPr id="12" name="Rectangle 11">
            <a:extLst>
              <a:ext uri="{FF2B5EF4-FFF2-40B4-BE49-F238E27FC236}">
                <a16:creationId xmlns:a16="http://schemas.microsoft.com/office/drawing/2014/main" id="{4BAAD774-23AB-9AE2-1967-83D8464DC564}"/>
              </a:ext>
            </a:extLst>
          </p:cNvPr>
          <p:cNvSpPr/>
          <p:nvPr/>
        </p:nvSpPr>
        <p:spPr>
          <a:xfrm>
            <a:off x="6212583" y="3831176"/>
            <a:ext cx="5520691" cy="2834640"/>
          </a:xfrm>
          <a:prstGeom prst="rect">
            <a:avLst/>
          </a:prstGeom>
          <a:solidFill>
            <a:schemeClr val="accent1">
              <a:lumMod val="20000"/>
              <a:lumOff val="80000"/>
            </a:schemeClr>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Box 13">
            <a:extLst>
              <a:ext uri="{FF2B5EF4-FFF2-40B4-BE49-F238E27FC236}">
                <a16:creationId xmlns:a16="http://schemas.microsoft.com/office/drawing/2014/main" id="{239FDEE9-E6BC-0F4C-EE83-0AB49EDF4EA4}"/>
              </a:ext>
            </a:extLst>
          </p:cNvPr>
          <p:cNvSpPr txBox="1"/>
          <p:nvPr/>
        </p:nvSpPr>
        <p:spPr>
          <a:xfrm>
            <a:off x="6350507" y="3995204"/>
            <a:ext cx="5244084" cy="14705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WHAT CLIENT NEEDS TO PROVIDE</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Well-documented metadata</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Definitions of business terminology and metrics</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Example SQL and verified logic for important questions</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Configuration and ongoing refinement by data or domain experts</a:t>
            </a:r>
          </a:p>
          <a:p>
            <a:pPr marL="171450" marR="0" lvl="0" indent="-171450" algn="l" defTabSz="914400" rtl="0" eaLnBrk="1" fontAlgn="auto" latinLnBrk="0" hangingPunct="1">
              <a:lnSpc>
                <a:spcPct val="102000"/>
              </a:lnSpc>
              <a:spcBef>
                <a:spcPts val="0"/>
              </a:spcBef>
              <a:spcAft>
                <a:spcPts val="400"/>
              </a:spcAft>
              <a:buClrTx/>
              <a:buSzTx/>
              <a:buFont typeface="Arial" panose="020B0604020202020204" pitchFamily="34" charset="0"/>
              <a:buChar char="•"/>
              <a:tabLst/>
              <a:defRPr/>
            </a:pPr>
            <a:r>
              <a:rPr lang="en-US" sz="1100" b="0" i="0" u="none">
                <a:latin typeface="Aptos"/>
              </a:rPr>
              <a:t>Custom development when moving from </a:t>
            </a:r>
            <a:r>
              <a:rPr lang="en-US" sz="1100">
                <a:latin typeface="Aptos"/>
              </a:rPr>
              <a:t>generating</a:t>
            </a:r>
            <a:r>
              <a:rPr lang="en-US" sz="1100" b="0" i="0" u="none">
                <a:latin typeface="Aptos"/>
              </a:rPr>
              <a:t> insights to executing business processes</a:t>
            </a:r>
          </a:p>
        </p:txBody>
      </p:sp>
      <p:sp>
        <p:nvSpPr>
          <p:cNvPr id="16" name="TextBox 15">
            <a:extLst>
              <a:ext uri="{FF2B5EF4-FFF2-40B4-BE49-F238E27FC236}">
                <a16:creationId xmlns:a16="http://schemas.microsoft.com/office/drawing/2014/main" id="{E22A5CF9-2033-65F2-1CBF-952B401C7873}"/>
              </a:ext>
            </a:extLst>
          </p:cNvPr>
          <p:cNvSpPr txBox="1"/>
          <p:nvPr/>
        </p:nvSpPr>
        <p:spPr>
          <a:xfrm>
            <a:off x="6350507" y="5582038"/>
            <a:ext cx="5244084" cy="1692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endParaRPr lang="en-US" sz="1100" b="0" i="0" u="none">
              <a:latin typeface="Aptos"/>
            </a:endParaRPr>
          </a:p>
        </p:txBody>
      </p:sp>
      <p:sp>
        <p:nvSpPr>
          <p:cNvPr id="19" name="TextBox 18">
            <a:extLst>
              <a:ext uri="{FF2B5EF4-FFF2-40B4-BE49-F238E27FC236}">
                <a16:creationId xmlns:a16="http://schemas.microsoft.com/office/drawing/2014/main" id="{E007A549-1C4F-4C07-1B5A-3399A0D938F4}"/>
              </a:ext>
            </a:extLst>
          </p:cNvPr>
          <p:cNvSpPr txBox="1"/>
          <p:nvPr/>
        </p:nvSpPr>
        <p:spPr>
          <a:xfrm>
            <a:off x="6350507" y="5751315"/>
            <a:ext cx="5244084" cy="507831"/>
          </a:xfrm>
          <a:prstGeom prst="rect">
            <a:avLst/>
          </a:prstGeom>
          <a:noFill/>
        </p:spPr>
        <p:txBody>
          <a:bodyPr wrap="square" lIns="0" tIns="0" rIns="0" bIns="0" rtlCol="0">
            <a:spAutoFit/>
          </a:bodyPr>
          <a:lstStyle/>
          <a:p>
            <a:pPr algn="ctr">
              <a:spcBef>
                <a:spcPts val="600"/>
              </a:spcBef>
              <a:buSzPct val="100000"/>
            </a:pPr>
            <a:r>
              <a:rPr lang="en-US" sz="1100" b="1" i="1">
                <a:solidFill>
                  <a:srgbClr val="313131"/>
                </a:solidFill>
              </a:rPr>
              <a:t>Databricks provides insight generation and the ability to build custom workflows but requires more configuration on the client’s part compared to Zora, as it does not provide out-of-the-box domain logic and functional workflows like Zora.</a:t>
            </a:r>
          </a:p>
        </p:txBody>
      </p:sp>
    </p:spTree>
    <p:extLst>
      <p:ext uri="{BB962C8B-B14F-4D97-AF65-F5344CB8AC3E}">
        <p14:creationId xmlns:p14="http://schemas.microsoft.com/office/powerpoint/2010/main" val="924059576"/>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E124CC1-E424-B56D-5413-CFA57FD1DF63}"/>
              </a:ext>
            </a:extLst>
          </p:cNvPr>
          <p:cNvGraphicFramePr>
            <a:graphicFrameLocks/>
          </p:cNvGraphicFramePr>
          <p:nvPr>
            <p:custDataLst>
              <p:tags r:id="rId1"/>
            </p:custDataLst>
            <p:extLst>
              <p:ext uri="{D42A27DB-BD31-4B8C-83A1-F6EECF244321}">
                <p14:modId xmlns:p14="http://schemas.microsoft.com/office/powerpoint/2010/main" val="19790991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5E124CC1-E424-B56D-5413-CFA57FD1DF6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A040D5F-5EC8-619A-A567-77EE2E4AE782}"/>
              </a:ext>
            </a:extLst>
          </p:cNvPr>
          <p:cNvSpPr>
            <a:spLocks noGrp="1"/>
          </p:cNvSpPr>
          <p:nvPr>
            <p:ph type="title"/>
          </p:nvPr>
        </p:nvSpPr>
        <p:spPr/>
        <p:txBody>
          <a:bodyPr vert="horz" rIns="0"/>
          <a:lstStyle/>
          <a:p>
            <a:r>
              <a:rPr lang="en-US" b="1"/>
              <a:t>Databricks: Comparability with Zora</a:t>
            </a:r>
            <a:endParaRPr lang="en-US"/>
          </a:p>
        </p:txBody>
      </p:sp>
      <p:sp>
        <p:nvSpPr>
          <p:cNvPr id="5" name="TextBox 4">
            <a:extLst>
              <a:ext uri="{FF2B5EF4-FFF2-40B4-BE49-F238E27FC236}">
                <a16:creationId xmlns:a16="http://schemas.microsoft.com/office/drawing/2014/main" id="{5911BF44-868D-A13B-8EC5-60732ACB3EBF}"/>
              </a:ext>
            </a:extLst>
          </p:cNvPr>
          <p:cNvSpPr txBox="1"/>
          <p:nvPr/>
        </p:nvSpPr>
        <p:spPr>
          <a:xfrm>
            <a:off x="382771" y="687992"/>
            <a:ext cx="1105695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Databricks provides more self-service insights for users of its data platform; Zora provides more packaged workflow execution, insights</a:t>
            </a:r>
          </a:p>
        </p:txBody>
      </p:sp>
      <p:graphicFrame>
        <p:nvGraphicFramePr>
          <p:cNvPr id="6" name="Table 5">
            <a:extLst>
              <a:ext uri="{FF2B5EF4-FFF2-40B4-BE49-F238E27FC236}">
                <a16:creationId xmlns:a16="http://schemas.microsoft.com/office/drawing/2014/main" id="{1BC2E5AE-6C4C-8550-DE7F-79ACB52EE6E8}"/>
              </a:ext>
            </a:extLst>
          </p:cNvPr>
          <p:cNvGraphicFramePr>
            <a:graphicFrameLocks noGrp="1"/>
          </p:cNvGraphicFramePr>
          <p:nvPr>
            <p:extLst>
              <p:ext uri="{D42A27DB-BD31-4B8C-83A1-F6EECF244321}">
                <p14:modId xmlns:p14="http://schemas.microsoft.com/office/powerpoint/2010/main" val="1220255878"/>
              </p:ext>
            </p:extLst>
          </p:nvPr>
        </p:nvGraphicFramePr>
        <p:xfrm>
          <a:off x="457200" y="1216152"/>
          <a:ext cx="11274552" cy="4264152"/>
        </p:xfrm>
        <a:graphic>
          <a:graphicData uri="http://schemas.openxmlformats.org/drawingml/2006/table">
            <a:tbl>
              <a:tblPr/>
              <a:tblGrid>
                <a:gridCol w="2240280">
                  <a:extLst>
                    <a:ext uri="{9D8B030D-6E8A-4147-A177-3AD203B41FA5}">
                      <a16:colId xmlns:a16="http://schemas.microsoft.com/office/drawing/2014/main" val="1791932055"/>
                    </a:ext>
                  </a:extLst>
                </a:gridCol>
                <a:gridCol w="2148840">
                  <a:extLst>
                    <a:ext uri="{9D8B030D-6E8A-4147-A177-3AD203B41FA5}">
                      <a16:colId xmlns:a16="http://schemas.microsoft.com/office/drawing/2014/main" val="1915695334"/>
                    </a:ext>
                  </a:extLst>
                </a:gridCol>
                <a:gridCol w="2788920">
                  <a:extLst>
                    <a:ext uri="{9D8B030D-6E8A-4147-A177-3AD203B41FA5}">
                      <a16:colId xmlns:a16="http://schemas.microsoft.com/office/drawing/2014/main" val="2007071622"/>
                    </a:ext>
                  </a:extLst>
                </a:gridCol>
                <a:gridCol w="4096512">
                  <a:extLst>
                    <a:ext uri="{9D8B030D-6E8A-4147-A177-3AD203B41FA5}">
                      <a16:colId xmlns:a16="http://schemas.microsoft.com/office/drawing/2014/main" val="2824008979"/>
                    </a:ext>
                  </a:extLst>
                </a:gridCol>
              </a:tblGrid>
              <a:tr h="198941">
                <a:tc>
                  <a:txBody>
                    <a:bodyPr/>
                    <a:lstStyle/>
                    <a:p>
                      <a:pPr algn="l">
                        <a:lnSpc>
                          <a:spcPct val="100000"/>
                        </a:lnSpc>
                        <a:spcBef>
                          <a:spcPts val="0"/>
                        </a:spcBef>
                        <a:spcAft>
                          <a:spcPts val="0"/>
                        </a:spcAft>
                        <a:buNone/>
                      </a:pPr>
                      <a:r>
                        <a:rPr lang="en-US" sz="1100" b="1">
                          <a:solidFill>
                            <a:srgbClr val="FFFFFF"/>
                          </a:solidFill>
                          <a:effectLst/>
                          <a:latin typeface="Aptos"/>
                        </a:rPr>
                        <a:t>Customer Requirements</a:t>
                      </a:r>
                    </a:p>
                  </a:txBody>
                  <a:tcPr marL="82296" marR="82296" marT="41148" marB="41148" anchor="ctr">
                    <a:lnL w="7000" cap="flat">
                      <a:solidFill>
                        <a:srgbClr val="FFFFFF"/>
                      </a:solidFill>
                      <a:prstDash val="solid"/>
                    </a:lnL>
                    <a:lnR w="7000" cap="flat" cmpd="sng" algn="ctr">
                      <a:solidFill>
                        <a:srgbClr val="FFFFFF"/>
                      </a:solidFill>
                      <a:prstDash val="solid"/>
                      <a:round/>
                      <a:headEnd type="none" w="med" len="med"/>
                      <a:tailEnd type="none" w="med" len="med"/>
                    </a:lnR>
                    <a:lnT w="7000" cap="flat">
                      <a:solidFill>
                        <a:srgbClr val="FFFFFF"/>
                      </a:solidFill>
                      <a:prstDash val="solid"/>
                    </a:lnT>
                    <a:lnB w="7000" cap="flat">
                      <a:solidFill>
                        <a:srgbClr val="FFFFFF"/>
                      </a:solidFill>
                      <a:prstDash val="solid"/>
                    </a:lnB>
                    <a:solidFill>
                      <a:srgbClr val="046A38"/>
                    </a:solidFill>
                  </a:tcPr>
                </a:tc>
                <a:tc>
                  <a:txBody>
                    <a:bodyPr/>
                    <a:lstStyle/>
                    <a:p>
                      <a:pPr algn="l">
                        <a:lnSpc>
                          <a:spcPct val="100000"/>
                        </a:lnSpc>
                        <a:spcBef>
                          <a:spcPts val="0"/>
                        </a:spcBef>
                        <a:spcAft>
                          <a:spcPts val="0"/>
                        </a:spcAft>
                        <a:buNone/>
                      </a:pPr>
                      <a:r>
                        <a:rPr lang="en-US" sz="1100" b="1">
                          <a:solidFill>
                            <a:srgbClr val="FFFFFF"/>
                          </a:solidFill>
                          <a:effectLst/>
                          <a:latin typeface="Aptos"/>
                        </a:rPr>
                        <a:t>Best-fit proposition</a:t>
                      </a:r>
                    </a:p>
                  </a:txBody>
                  <a:tcPr marL="82296" marR="82296" marT="41148" marB="41148" anchor="ctr">
                    <a:lnL w="7000" cap="flat" cmpd="sng" algn="ctr">
                      <a:solidFill>
                        <a:srgbClr val="FFFFFF"/>
                      </a:solidFill>
                      <a:prstDash val="solid"/>
                      <a:round/>
                      <a:headEnd type="none" w="med" len="med"/>
                      <a:tailEnd type="none" w="med" len="med"/>
                    </a:lnL>
                    <a:lnR w="7000" cap="flat" cmpd="sng" algn="ctr">
                      <a:solidFill>
                        <a:srgbClr val="FFFFFF"/>
                      </a:solidFill>
                      <a:prstDash val="solid"/>
                      <a:round/>
                      <a:headEnd type="none" w="med" len="med"/>
                      <a:tailEnd type="none" w="med" len="med"/>
                    </a:lnR>
                    <a:lnT w="7000" cap="flat">
                      <a:solidFill>
                        <a:srgbClr val="FFFFFF"/>
                      </a:solidFill>
                      <a:prstDash val="solid"/>
                    </a:lnT>
                    <a:lnB w="7000" cap="flat">
                      <a:solidFill>
                        <a:srgbClr val="FFFFFF"/>
                      </a:solidFill>
                      <a:prstDash val="solid"/>
                    </a:lnB>
                    <a:solidFill>
                      <a:srgbClr val="046A38"/>
                    </a:solidFill>
                  </a:tcPr>
                </a:tc>
                <a:tc>
                  <a:txBody>
                    <a:bodyPr/>
                    <a:lstStyle/>
                    <a:p>
                      <a:pPr algn="l">
                        <a:lnSpc>
                          <a:spcPct val="100000"/>
                        </a:lnSpc>
                        <a:spcBef>
                          <a:spcPts val="0"/>
                        </a:spcBef>
                        <a:spcAft>
                          <a:spcPts val="0"/>
                        </a:spcAft>
                        <a:buNone/>
                      </a:pPr>
                      <a:r>
                        <a:rPr lang="en-US" sz="1100" b="1">
                          <a:solidFill>
                            <a:srgbClr val="FFFFFF"/>
                          </a:solidFill>
                          <a:effectLst/>
                          <a:latin typeface="Aptos"/>
                        </a:rPr>
                        <a:t>Why</a:t>
                      </a:r>
                    </a:p>
                  </a:txBody>
                  <a:tcPr marL="82296" marR="82296" marT="41148" marB="41148" anchor="ctr">
                    <a:lnL w="7000" cap="flat" cmpd="sng" algn="ctr">
                      <a:solidFill>
                        <a:srgbClr val="FFFFFF"/>
                      </a:solidFill>
                      <a:prstDash val="solid"/>
                      <a:round/>
                      <a:headEnd type="none" w="med" len="med"/>
                      <a:tailEnd type="none" w="med" len="med"/>
                    </a:lnL>
                    <a:lnR w="7000" cap="flat" cmpd="sng" algn="ctr">
                      <a:solidFill>
                        <a:srgbClr val="FFFFFF"/>
                      </a:solidFill>
                      <a:prstDash val="solid"/>
                      <a:round/>
                      <a:headEnd type="none" w="med" len="med"/>
                      <a:tailEnd type="none" w="med" len="med"/>
                    </a:lnR>
                    <a:lnT w="7000" cap="flat">
                      <a:solidFill>
                        <a:srgbClr val="FFFFFF"/>
                      </a:solidFill>
                      <a:prstDash val="solid"/>
                    </a:lnT>
                    <a:lnB w="7000" cap="flat">
                      <a:solidFill>
                        <a:srgbClr val="FFFFFF"/>
                      </a:solidFill>
                      <a:prstDash val="solid"/>
                    </a:lnB>
                    <a:solidFill>
                      <a:srgbClr val="046A38"/>
                    </a:solidFill>
                  </a:tcPr>
                </a:tc>
                <a:tc>
                  <a:txBody>
                    <a:bodyPr/>
                    <a:lstStyle/>
                    <a:p>
                      <a:pPr algn="l">
                        <a:lnSpc>
                          <a:spcPct val="100000"/>
                        </a:lnSpc>
                        <a:spcBef>
                          <a:spcPts val="0"/>
                        </a:spcBef>
                        <a:spcAft>
                          <a:spcPts val="0"/>
                        </a:spcAft>
                        <a:buNone/>
                      </a:pPr>
                      <a:r>
                        <a:rPr lang="en-US" sz="1100" b="1">
                          <a:solidFill>
                            <a:srgbClr val="FFFFFF"/>
                          </a:solidFill>
                          <a:effectLst/>
                          <a:latin typeface="Aptos"/>
                        </a:rPr>
                        <a:t>Zora sales posture</a:t>
                      </a:r>
                    </a:p>
                  </a:txBody>
                  <a:tcPr marL="82296" marR="82296" marT="41148" marB="41148" anchor="ctr">
                    <a:lnL w="7000" cap="flat" cmpd="sng" algn="ctr">
                      <a:solidFill>
                        <a:srgbClr val="FFFFFF"/>
                      </a:solidFill>
                      <a:prstDash val="solid"/>
                      <a:round/>
                      <a:headEnd type="none" w="med" len="med"/>
                      <a:tailEnd type="none" w="med" len="med"/>
                    </a:lnL>
                    <a:lnR w="7000" cap="flat">
                      <a:solidFill>
                        <a:srgbClr val="FFFFFF"/>
                      </a:solidFill>
                      <a:prstDash val="solid"/>
                    </a:lnR>
                    <a:lnT w="7000" cap="flat">
                      <a:solidFill>
                        <a:srgbClr val="FFFFFF"/>
                      </a:solidFill>
                      <a:prstDash val="solid"/>
                    </a:lnT>
                    <a:lnB w="7000" cap="flat">
                      <a:solidFill>
                        <a:srgbClr val="FFFFFF"/>
                      </a:solidFill>
                      <a:prstDash val="solid"/>
                    </a:lnB>
                    <a:solidFill>
                      <a:srgbClr val="046A38"/>
                    </a:solidFill>
                  </a:tcPr>
                </a:tc>
                <a:extLst>
                  <a:ext uri="{0D108BD9-81ED-4DB2-BD59-A6C34878D82A}">
                    <a16:rowId xmlns:a16="http://schemas.microsoft.com/office/drawing/2014/main" val="224000083"/>
                  </a:ext>
                </a:extLst>
              </a:tr>
              <a:tr h="465812">
                <a:tc>
                  <a:txBody>
                    <a:bodyPr/>
                    <a:lstStyle/>
                    <a:p>
                      <a:pPr algn="l">
                        <a:lnSpc>
                          <a:spcPct val="100000"/>
                        </a:lnSpc>
                        <a:spcBef>
                          <a:spcPts val="0"/>
                        </a:spcBef>
                        <a:spcAft>
                          <a:spcPts val="0"/>
                        </a:spcAft>
                        <a:buNone/>
                      </a:pPr>
                      <a:r>
                        <a:rPr lang="en-US" sz="1100" b="1">
                          <a:solidFill>
                            <a:srgbClr val="282728"/>
                          </a:solidFill>
                          <a:effectLst/>
                          <a:latin typeface="Aptos"/>
                        </a:rPr>
                        <a:t>Ask questions and explore governed enterprise data</a:t>
                      </a:r>
                      <a:endParaRPr lang="en-US" sz="1000">
                        <a:effectLst/>
                      </a:endParaRPr>
                    </a:p>
                  </a:txBody>
                  <a:tcPr marL="82296" marR="82296" marT="41148" marB="41148" anchor="ctr">
                    <a:lnL w="6000" cap="flat">
                      <a:solidFill>
                        <a:srgbClr val="C7DCCF"/>
                      </a:solidFill>
                      <a:prstDash val="solid"/>
                    </a:lnL>
                    <a:lnR w="6000" cap="flat">
                      <a:solidFill>
                        <a:srgbClr val="C7DCCF"/>
                      </a:solidFill>
                      <a:prstDash val="solid"/>
                    </a:lnR>
                    <a:lnT w="7000" cap="flat" cmpd="sng" algn="ctr">
                      <a:solidFill>
                        <a:srgbClr val="FFFFFF"/>
                      </a:solidFill>
                      <a:prstDash val="solid"/>
                      <a:round/>
                      <a:headEnd type="none" w="med" len="med"/>
                      <a:tailEnd type="none" w="med" len="med"/>
                    </a:lnT>
                    <a:lnB w="6000" cap="flat">
                      <a:solidFill>
                        <a:srgbClr val="C7DCCF"/>
                      </a:solidFill>
                      <a:prstDash val="solid"/>
                    </a:lnB>
                    <a:solidFill>
                      <a:srgbClr val="F0F1F0"/>
                    </a:solidFill>
                  </a:tcPr>
                </a:tc>
                <a:tc>
                  <a:txBody>
                    <a:bodyPr/>
                    <a:lstStyle/>
                    <a:p>
                      <a:pPr algn="l">
                        <a:lnSpc>
                          <a:spcPct val="100000"/>
                        </a:lnSpc>
                        <a:spcBef>
                          <a:spcPts val="0"/>
                        </a:spcBef>
                        <a:spcAft>
                          <a:spcPts val="0"/>
                        </a:spcAft>
                        <a:buNone/>
                      </a:pPr>
                      <a:r>
                        <a:rPr lang="en-US" sz="1100" b="1">
                          <a:solidFill>
                            <a:srgbClr val="282728"/>
                          </a:solidFill>
                          <a:effectLst/>
                          <a:latin typeface="Aptos"/>
                        </a:rPr>
                        <a:t>Genie </a:t>
                      </a:r>
                      <a:r>
                        <a:rPr lang="en-US" sz="1100" b="0" i="1">
                          <a:solidFill>
                            <a:srgbClr val="282728"/>
                          </a:solidFill>
                          <a:effectLst/>
                          <a:latin typeface="Aptos"/>
                        </a:rPr>
                        <a:t>(if clients already use Databricks’ platform)</a:t>
                      </a:r>
                      <a:endParaRPr lang="en-US" sz="1000" b="0" i="1">
                        <a:effectLst/>
                      </a:endParaRPr>
                    </a:p>
                  </a:txBody>
                  <a:tcPr marL="82296" marR="82296" marT="41148" marB="41148" anchor="ctr">
                    <a:lnL w="6000" cap="flat">
                      <a:solidFill>
                        <a:srgbClr val="C7DCCF"/>
                      </a:solidFill>
                      <a:prstDash val="solid"/>
                    </a:lnL>
                    <a:lnR w="6000" cap="flat">
                      <a:solidFill>
                        <a:srgbClr val="C7DCCF"/>
                      </a:solidFill>
                      <a:prstDash val="solid"/>
                    </a:lnR>
                    <a:lnT w="7000" cap="flat" cmpd="sng" algn="ctr">
                      <a:solidFill>
                        <a:srgbClr val="FFFFFF"/>
                      </a:solidFill>
                      <a:prstDash val="solid"/>
                      <a:round/>
                      <a:headEnd type="none" w="med" len="med"/>
                      <a:tailEnd type="none" w="med" len="med"/>
                    </a:lnT>
                    <a:lnB w="6000" cap="flat">
                      <a:solidFill>
                        <a:srgbClr val="C7DCCF"/>
                      </a:solidFill>
                      <a:prstDash val="solid"/>
                    </a:lnB>
                    <a:solidFill>
                      <a:srgbClr val="FFFFFF"/>
                    </a:solidFill>
                  </a:tcPr>
                </a:tc>
                <a:tc>
                  <a:txBody>
                    <a:bodyPr/>
                    <a:lstStyle/>
                    <a:p>
                      <a:pPr algn="l">
                        <a:lnSpc>
                          <a:spcPct val="100000"/>
                        </a:lnSpc>
                        <a:spcBef>
                          <a:spcPts val="0"/>
                        </a:spcBef>
                        <a:spcAft>
                          <a:spcPts val="0"/>
                        </a:spcAft>
                        <a:buNone/>
                      </a:pPr>
                      <a:r>
                        <a:rPr lang="en-US" sz="1100">
                          <a:solidFill>
                            <a:srgbClr val="282728"/>
                          </a:solidFill>
                          <a:effectLst/>
                          <a:latin typeface="Aptos"/>
                        </a:rPr>
                        <a:t>Natural-language analytics, visualizations, trusted answers, governance, and self-service exploration</a:t>
                      </a:r>
                    </a:p>
                  </a:txBody>
                  <a:tcPr marL="82296" marR="82296" marT="41148" marB="41148" anchor="ctr">
                    <a:lnL w="6000" cap="flat">
                      <a:solidFill>
                        <a:srgbClr val="C7DCCF"/>
                      </a:solidFill>
                      <a:prstDash val="solid"/>
                    </a:lnL>
                    <a:lnR w="6000" cap="flat">
                      <a:solidFill>
                        <a:srgbClr val="C7DCCF"/>
                      </a:solidFill>
                      <a:prstDash val="solid"/>
                    </a:lnR>
                    <a:lnT w="7000" cap="flat" cmpd="sng" algn="ctr">
                      <a:solidFill>
                        <a:srgbClr val="FFFFFF"/>
                      </a:solidFill>
                      <a:prstDash val="solid"/>
                      <a:round/>
                      <a:headEnd type="none" w="med" len="med"/>
                      <a:tailEnd type="none" w="med" len="med"/>
                    </a:lnT>
                    <a:lnB w="6000" cap="flat">
                      <a:solidFill>
                        <a:srgbClr val="C7DCCF"/>
                      </a:solidFill>
                      <a:prstDash val="solid"/>
                    </a:lnB>
                    <a:solidFill>
                      <a:srgbClr val="FFFFFF"/>
                    </a:solidFill>
                  </a:tcPr>
                </a:tc>
                <a:tc>
                  <a:txBody>
                    <a:bodyPr/>
                    <a:lstStyle/>
                    <a:p>
                      <a:pPr algn="l">
                        <a:lnSpc>
                          <a:spcPct val="100000"/>
                        </a:lnSpc>
                        <a:spcBef>
                          <a:spcPts val="0"/>
                        </a:spcBef>
                        <a:spcAft>
                          <a:spcPts val="0"/>
                        </a:spcAft>
                        <a:buNone/>
                      </a:pPr>
                      <a:r>
                        <a:rPr lang="en-US" sz="1100" b="1">
                          <a:solidFill>
                            <a:srgbClr val="282728"/>
                          </a:solidFill>
                          <a:effectLst/>
                          <a:latin typeface="Aptos"/>
                        </a:rPr>
                        <a:t>Complement:</a:t>
                      </a:r>
                      <a:r>
                        <a:rPr lang="en-US" sz="1100">
                          <a:solidFill>
                            <a:srgbClr val="282728"/>
                          </a:solidFill>
                          <a:effectLst/>
                          <a:latin typeface="Aptos"/>
                        </a:rPr>
                        <a:t> Do not position Zora as a replacement for conversational analytics on enterprise data. Zora’s insight and advisory agents can provide preconfigured process decisions for specific domains while Genie helps with self-service exploration across enterprise functions and data estate.</a:t>
                      </a:r>
                    </a:p>
                  </a:txBody>
                  <a:tcPr marL="82296" marR="82296" marT="41148" marB="41148" anchor="ctr">
                    <a:lnL w="6000" cap="flat">
                      <a:solidFill>
                        <a:srgbClr val="C7DCCF"/>
                      </a:solidFill>
                      <a:prstDash val="solid"/>
                    </a:lnL>
                    <a:lnR w="6000" cap="flat">
                      <a:solidFill>
                        <a:srgbClr val="C7DCCF"/>
                      </a:solidFill>
                      <a:prstDash val="solid"/>
                    </a:lnR>
                    <a:lnT w="7000" cap="flat" cmpd="sng" algn="ctr">
                      <a:solidFill>
                        <a:srgbClr val="FFFFFF"/>
                      </a:solidFill>
                      <a:prstDash val="solid"/>
                      <a:round/>
                      <a:headEnd type="none" w="med" len="med"/>
                      <a:tailEnd type="none" w="med" len="med"/>
                    </a:lnT>
                    <a:lnB w="6000" cap="flat">
                      <a:solidFill>
                        <a:srgbClr val="C7DCCF"/>
                      </a:solidFill>
                      <a:prstDash val="solid"/>
                    </a:lnB>
                    <a:solidFill>
                      <a:srgbClr val="FFFFFF"/>
                    </a:solidFill>
                  </a:tcPr>
                </a:tc>
                <a:extLst>
                  <a:ext uri="{0D108BD9-81ED-4DB2-BD59-A6C34878D82A}">
                    <a16:rowId xmlns:a16="http://schemas.microsoft.com/office/drawing/2014/main" val="1646670333"/>
                  </a:ext>
                </a:extLst>
              </a:tr>
              <a:tr h="465812">
                <a:tc>
                  <a:txBody>
                    <a:bodyPr/>
                    <a:lstStyle/>
                    <a:p>
                      <a:pPr algn="l">
                        <a:lnSpc>
                          <a:spcPct val="100000"/>
                        </a:lnSpc>
                        <a:spcBef>
                          <a:spcPts val="0"/>
                        </a:spcBef>
                        <a:spcAft>
                          <a:spcPts val="0"/>
                        </a:spcAft>
                        <a:buNone/>
                      </a:pPr>
                      <a:r>
                        <a:rPr lang="en-US" sz="1100" b="1">
                          <a:solidFill>
                            <a:srgbClr val="282728"/>
                          </a:solidFill>
                          <a:effectLst/>
                          <a:latin typeface="Aptos"/>
                        </a:rPr>
                        <a:t>Increase data-team productivity</a:t>
                      </a:r>
                      <a:endParaRPr lang="en-US" sz="1000">
                        <a:effectLst/>
                      </a:endParaRP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rgbClr val="F0F1F0"/>
                    </a:solidFill>
                  </a:tcPr>
                </a:tc>
                <a:tc>
                  <a:txBody>
                    <a:bodyPr/>
                    <a:lstStyle/>
                    <a:p>
                      <a:pPr algn="l">
                        <a:lnSpc>
                          <a:spcPct val="100000"/>
                        </a:lnSpc>
                        <a:spcBef>
                          <a:spcPts val="0"/>
                        </a:spcBef>
                        <a:spcAft>
                          <a:spcPts val="0"/>
                        </a:spcAft>
                        <a:buNone/>
                      </a:pPr>
                      <a:r>
                        <a:rPr lang="en-US" sz="1100" b="1">
                          <a:solidFill>
                            <a:srgbClr val="282728"/>
                          </a:solidFill>
                          <a:effectLst/>
                          <a:latin typeface="Aptos"/>
                        </a:rPr>
                        <a:t>Genie Code</a:t>
                      </a:r>
                      <a:endParaRPr lang="en-US" sz="1000">
                        <a:effectLst/>
                      </a:endParaRP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rgbClr val="F8FAF8"/>
                    </a:solidFill>
                  </a:tcPr>
                </a:tc>
                <a:tc>
                  <a:txBody>
                    <a:bodyPr/>
                    <a:lstStyle/>
                    <a:p>
                      <a:pPr algn="l">
                        <a:lnSpc>
                          <a:spcPct val="100000"/>
                        </a:lnSpc>
                        <a:spcBef>
                          <a:spcPts val="0"/>
                        </a:spcBef>
                        <a:spcAft>
                          <a:spcPts val="0"/>
                        </a:spcAft>
                        <a:buNone/>
                      </a:pPr>
                      <a:r>
                        <a:rPr lang="en-US" sz="1100">
                          <a:solidFill>
                            <a:srgbClr val="282728"/>
                          </a:solidFill>
                          <a:effectLst/>
                          <a:latin typeface="Aptos"/>
                        </a:rPr>
                        <a:t>Specialized for data engineering, SQL, pipelines, dashboards, machine learning, and technical workflows</a:t>
                      </a: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rgbClr val="F8FAF8"/>
                    </a:solidFill>
                  </a:tcPr>
                </a:tc>
                <a:tc>
                  <a:txBody>
                    <a:bodyPr/>
                    <a:lstStyle/>
                    <a:p>
                      <a:pPr algn="l">
                        <a:lnSpc>
                          <a:spcPct val="100000"/>
                        </a:lnSpc>
                        <a:spcBef>
                          <a:spcPts val="0"/>
                        </a:spcBef>
                        <a:spcAft>
                          <a:spcPts val="0"/>
                        </a:spcAft>
                        <a:buNone/>
                      </a:pPr>
                      <a:r>
                        <a:rPr lang="en-US" sz="1100" b="1">
                          <a:solidFill>
                            <a:srgbClr val="282728"/>
                          </a:solidFill>
                          <a:effectLst/>
                          <a:latin typeface="Aptos"/>
                        </a:rPr>
                        <a:t>Differentiate:</a:t>
                      </a:r>
                      <a:r>
                        <a:rPr lang="en-US" sz="1100">
                          <a:solidFill>
                            <a:srgbClr val="282728"/>
                          </a:solidFill>
                          <a:effectLst/>
                          <a:latin typeface="Aptos"/>
                        </a:rPr>
                        <a:t> Zora addresses business-function work rather than data engineering productivity</a:t>
                      </a: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rgbClr val="F8FAF8"/>
                    </a:solidFill>
                  </a:tcPr>
                </a:tc>
                <a:extLst>
                  <a:ext uri="{0D108BD9-81ED-4DB2-BD59-A6C34878D82A}">
                    <a16:rowId xmlns:a16="http://schemas.microsoft.com/office/drawing/2014/main" val="1121421018"/>
                  </a:ext>
                </a:extLst>
              </a:tr>
              <a:tr h="465812">
                <a:tc>
                  <a:txBody>
                    <a:bodyPr/>
                    <a:lstStyle/>
                    <a:p>
                      <a:pPr algn="l">
                        <a:lnSpc>
                          <a:spcPct val="100000"/>
                        </a:lnSpc>
                        <a:spcBef>
                          <a:spcPts val="0"/>
                        </a:spcBef>
                        <a:spcAft>
                          <a:spcPts val="0"/>
                        </a:spcAft>
                        <a:buNone/>
                      </a:pPr>
                      <a:r>
                        <a:rPr lang="en-US" sz="1100" b="1">
                          <a:solidFill>
                            <a:srgbClr val="282728"/>
                          </a:solidFill>
                          <a:effectLst/>
                          <a:latin typeface="Aptos"/>
                        </a:rPr>
                        <a:t>Build and govern differentiated custom agents</a:t>
                      </a:r>
                      <a:endParaRPr lang="en-US" sz="1000">
                        <a:effectLst/>
                      </a:endParaRP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rgbClr val="F0F1F0"/>
                    </a:solidFill>
                  </a:tcPr>
                </a:tc>
                <a:tc>
                  <a:txBody>
                    <a:bodyPr/>
                    <a:lstStyle/>
                    <a:p>
                      <a:pPr algn="l">
                        <a:lnSpc>
                          <a:spcPct val="100000"/>
                        </a:lnSpc>
                        <a:spcBef>
                          <a:spcPts val="0"/>
                        </a:spcBef>
                        <a:spcAft>
                          <a:spcPts val="0"/>
                        </a:spcAft>
                        <a:buNone/>
                      </a:pPr>
                      <a:r>
                        <a:rPr lang="en-US" sz="1100" b="1">
                          <a:solidFill>
                            <a:srgbClr val="282728"/>
                          </a:solidFill>
                          <a:effectLst/>
                          <a:latin typeface="Aptos"/>
                        </a:rPr>
                        <a:t>Agent Bricks</a:t>
                      </a:r>
                      <a:endParaRPr lang="en-US" sz="1000">
                        <a:effectLst/>
                      </a:endParaRP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rgbClr val="FFFFFF"/>
                    </a:solidFill>
                  </a:tcPr>
                </a:tc>
                <a:tc>
                  <a:txBody>
                    <a:bodyPr/>
                    <a:lstStyle/>
                    <a:p>
                      <a:pPr algn="l">
                        <a:lnSpc>
                          <a:spcPct val="100000"/>
                        </a:lnSpc>
                        <a:spcBef>
                          <a:spcPts val="0"/>
                        </a:spcBef>
                        <a:spcAft>
                          <a:spcPts val="0"/>
                        </a:spcAft>
                        <a:buNone/>
                      </a:pPr>
                      <a:r>
                        <a:rPr lang="en-US" sz="1100">
                          <a:solidFill>
                            <a:srgbClr val="282728"/>
                          </a:solidFill>
                          <a:effectLst/>
                          <a:latin typeface="Aptos"/>
                        </a:rPr>
                        <a:t>Broad agent-development environment with model access, deployment, evaluation, and governance capabilities</a:t>
                      </a: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rgbClr val="FFFFFF"/>
                    </a:solidFill>
                  </a:tcPr>
                </a:tc>
                <a:tc>
                  <a:txBody>
                    <a:bodyPr/>
                    <a:lstStyle/>
                    <a:p>
                      <a:pPr algn="l">
                        <a:lnSpc>
                          <a:spcPct val="100000"/>
                        </a:lnSpc>
                        <a:spcBef>
                          <a:spcPts val="0"/>
                        </a:spcBef>
                        <a:spcAft>
                          <a:spcPts val="0"/>
                        </a:spcAft>
                        <a:buNone/>
                      </a:pPr>
                      <a:r>
                        <a:rPr lang="en-US" sz="1100" b="1">
                          <a:solidFill>
                            <a:srgbClr val="282728"/>
                          </a:solidFill>
                          <a:effectLst/>
                          <a:latin typeface="Aptos"/>
                        </a:rPr>
                        <a:t>Concede platform breadth:</a:t>
                      </a:r>
                      <a:r>
                        <a:rPr lang="en-US" sz="1100">
                          <a:solidFill>
                            <a:srgbClr val="282728"/>
                          </a:solidFill>
                          <a:effectLst/>
                          <a:latin typeface="Aptos"/>
                        </a:rPr>
                        <a:t> Zora is not an agent factory for clients to build their own custom agents</a:t>
                      </a: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rgbClr val="FFFFFF"/>
                    </a:solidFill>
                  </a:tcPr>
                </a:tc>
                <a:extLst>
                  <a:ext uri="{0D108BD9-81ED-4DB2-BD59-A6C34878D82A}">
                    <a16:rowId xmlns:a16="http://schemas.microsoft.com/office/drawing/2014/main" val="182809472"/>
                  </a:ext>
                </a:extLst>
              </a:tr>
              <a:tr h="465812">
                <a:tc>
                  <a:txBody>
                    <a:bodyPr/>
                    <a:lstStyle/>
                    <a:p>
                      <a:pPr algn="l">
                        <a:lnSpc>
                          <a:spcPct val="100000"/>
                        </a:lnSpc>
                        <a:spcBef>
                          <a:spcPts val="0"/>
                        </a:spcBef>
                        <a:spcAft>
                          <a:spcPts val="0"/>
                        </a:spcAft>
                        <a:buNone/>
                      </a:pPr>
                      <a:r>
                        <a:rPr lang="en-US" sz="1100" b="1">
                          <a:solidFill>
                            <a:srgbClr val="282728"/>
                          </a:solidFill>
                          <a:effectLst/>
                          <a:latin typeface="Aptos"/>
                        </a:rPr>
                        <a:t>Deploy predefined functional workers</a:t>
                      </a:r>
                      <a:endParaRPr lang="en-US" sz="1000">
                        <a:effectLst/>
                      </a:endParaRP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rgbClr val="F0F1F0"/>
                    </a:solidFill>
                  </a:tcPr>
                </a:tc>
                <a:tc>
                  <a:txBody>
                    <a:bodyPr/>
                    <a:lstStyle/>
                    <a:p>
                      <a:pPr algn="l">
                        <a:lnSpc>
                          <a:spcPct val="100000"/>
                        </a:lnSpc>
                        <a:spcBef>
                          <a:spcPts val="0"/>
                        </a:spcBef>
                        <a:spcAft>
                          <a:spcPts val="0"/>
                        </a:spcAft>
                        <a:buNone/>
                      </a:pPr>
                      <a:r>
                        <a:rPr lang="en-US" sz="1100" b="1">
                          <a:solidFill>
                            <a:srgbClr val="282728"/>
                          </a:solidFill>
                          <a:effectLst/>
                          <a:latin typeface="Aptos"/>
                        </a:rPr>
                        <a:t>Zora</a:t>
                      </a:r>
                      <a:endParaRPr lang="en-US" sz="1000">
                        <a:effectLst/>
                      </a:endParaRP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rgbClr val="F8FAF8"/>
                    </a:solidFill>
                  </a:tcPr>
                </a:tc>
                <a:tc>
                  <a:txBody>
                    <a:bodyPr/>
                    <a:lstStyle/>
                    <a:p>
                      <a:pPr algn="l">
                        <a:lnSpc>
                          <a:spcPct val="100000"/>
                        </a:lnSpc>
                        <a:spcBef>
                          <a:spcPts val="0"/>
                        </a:spcBef>
                        <a:spcAft>
                          <a:spcPts val="0"/>
                        </a:spcAft>
                        <a:buNone/>
                      </a:pPr>
                      <a:r>
                        <a:rPr lang="en-US" sz="1100">
                          <a:solidFill>
                            <a:srgbClr val="282728"/>
                          </a:solidFill>
                          <a:effectLst/>
                          <a:latin typeface="Aptos"/>
                        </a:rPr>
                        <a:t>Starts with named use cases, Deloitte functional IP, process logic, and reusable workflow components</a:t>
                      </a: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rgbClr val="F8FAF8"/>
                    </a:solidFill>
                  </a:tcPr>
                </a:tc>
                <a:tc>
                  <a:txBody>
                    <a:bodyPr/>
                    <a:lstStyle/>
                    <a:p>
                      <a:pPr algn="l">
                        <a:lnSpc>
                          <a:spcPct val="100000"/>
                        </a:lnSpc>
                        <a:spcBef>
                          <a:spcPts val="0"/>
                        </a:spcBef>
                        <a:spcAft>
                          <a:spcPts val="0"/>
                        </a:spcAft>
                        <a:buNone/>
                      </a:pPr>
                      <a:r>
                        <a:rPr lang="en-US" sz="1100" b="1">
                          <a:solidFill>
                            <a:srgbClr val="282728"/>
                          </a:solidFill>
                          <a:effectLst/>
                          <a:latin typeface="Aptos"/>
                        </a:rPr>
                        <a:t>Lead:</a:t>
                      </a:r>
                      <a:r>
                        <a:rPr lang="en-US" sz="1100">
                          <a:solidFill>
                            <a:srgbClr val="282728"/>
                          </a:solidFill>
                          <a:effectLst/>
                          <a:latin typeface="Aptos"/>
                        </a:rPr>
                        <a:t> Compare the matching Zora workflow against the actual custom-build alternative</a:t>
                      </a: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rgbClr val="F8FAF8"/>
                    </a:solidFill>
                  </a:tcPr>
                </a:tc>
                <a:extLst>
                  <a:ext uri="{0D108BD9-81ED-4DB2-BD59-A6C34878D82A}">
                    <a16:rowId xmlns:a16="http://schemas.microsoft.com/office/drawing/2014/main" val="218368609"/>
                  </a:ext>
                </a:extLst>
              </a:tr>
              <a:tr h="599248">
                <a:tc>
                  <a:txBody>
                    <a:bodyPr/>
                    <a:lstStyle/>
                    <a:p>
                      <a:pPr algn="l">
                        <a:lnSpc>
                          <a:spcPct val="100000"/>
                        </a:lnSpc>
                        <a:spcBef>
                          <a:spcPts val="0"/>
                        </a:spcBef>
                        <a:spcAft>
                          <a:spcPts val="0"/>
                        </a:spcAft>
                        <a:buNone/>
                      </a:pPr>
                      <a:r>
                        <a:rPr lang="en-US" sz="1100" b="1">
                          <a:solidFill>
                            <a:srgbClr val="282728"/>
                          </a:solidFill>
                          <a:effectLst/>
                          <a:latin typeface="Aptos"/>
                        </a:rPr>
                        <a:t>Execute a process across systems</a:t>
                      </a:r>
                      <a:endParaRPr lang="en-US" sz="1000">
                        <a:effectLst/>
                      </a:endParaRP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rgbClr val="F0F1F0"/>
                    </a:solidFill>
                  </a:tcPr>
                </a:tc>
                <a:tc>
                  <a:txBody>
                    <a:bodyPr/>
                    <a:lstStyle/>
                    <a:p>
                      <a:pPr algn="l">
                        <a:lnSpc>
                          <a:spcPct val="100000"/>
                        </a:lnSpc>
                        <a:spcBef>
                          <a:spcPts val="0"/>
                        </a:spcBef>
                        <a:spcAft>
                          <a:spcPts val="0"/>
                        </a:spcAft>
                        <a:buNone/>
                      </a:pPr>
                      <a:r>
                        <a:rPr lang="en-US" sz="1100" b="1">
                          <a:solidFill>
                            <a:srgbClr val="282728"/>
                          </a:solidFill>
                          <a:effectLst/>
                          <a:latin typeface="Aptos"/>
                        </a:rPr>
                        <a:t>Zora  </a:t>
                      </a:r>
                      <a:r>
                        <a:rPr lang="en-US" sz="1100" b="0" i="1">
                          <a:solidFill>
                            <a:srgbClr val="282728"/>
                          </a:solidFill>
                          <a:effectLst/>
                          <a:latin typeface="Aptos"/>
                        </a:rPr>
                        <a:t>(potentially using the client’s existing platform and data foundation)</a:t>
                      </a:r>
                      <a:endParaRPr lang="en-US" sz="1000" b="0" i="1">
                        <a:effectLst/>
                      </a:endParaRP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rgbClr val="FFFFFF"/>
                    </a:solidFill>
                  </a:tcPr>
                </a:tc>
                <a:tc>
                  <a:txBody>
                    <a:bodyPr/>
                    <a:lstStyle/>
                    <a:p>
                      <a:pPr algn="l">
                        <a:lnSpc>
                          <a:spcPct val="100000"/>
                        </a:lnSpc>
                        <a:spcBef>
                          <a:spcPts val="0"/>
                        </a:spcBef>
                        <a:spcAft>
                          <a:spcPts val="0"/>
                        </a:spcAft>
                        <a:buNone/>
                      </a:pPr>
                      <a:r>
                        <a:rPr lang="en-US" sz="1100">
                          <a:solidFill>
                            <a:srgbClr val="282728"/>
                          </a:solidFill>
                          <a:effectLst/>
                          <a:latin typeface="Aptos"/>
                        </a:rPr>
                        <a:t>Zora is positioned around bounded business workflows, transactional actions, workflow state, exceptions, and auditable handoffs</a:t>
                      </a: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rgbClr val="FFFFFF"/>
                    </a:solidFill>
                  </a:tcPr>
                </a:tc>
                <a:tc>
                  <a:txBody>
                    <a:bodyPr/>
                    <a:lstStyle/>
                    <a:p>
                      <a:pPr algn="l">
                        <a:lnSpc>
                          <a:spcPct val="100000"/>
                        </a:lnSpc>
                        <a:spcBef>
                          <a:spcPts val="0"/>
                        </a:spcBef>
                        <a:spcAft>
                          <a:spcPts val="0"/>
                        </a:spcAft>
                        <a:buNone/>
                      </a:pPr>
                      <a:r>
                        <a:rPr lang="en-US" sz="1100" b="1">
                          <a:solidFill>
                            <a:srgbClr val="282728"/>
                          </a:solidFill>
                          <a:effectLst/>
                          <a:latin typeface="Aptos"/>
                        </a:rPr>
                        <a:t>Complement:</a:t>
                      </a:r>
                      <a:r>
                        <a:rPr lang="en-US" sz="1100">
                          <a:solidFill>
                            <a:srgbClr val="282728"/>
                          </a:solidFill>
                          <a:effectLst/>
                          <a:latin typeface="Aptos"/>
                        </a:rPr>
                        <a:t> Keep Databricks as the data platform and intelligence layer while positioning Zora as the packaged process execution layer</a:t>
                      </a:r>
                    </a:p>
                  </a:txBody>
                  <a:tcPr marL="82296" marR="82296" marT="41148" marB="41148" anchor="ctr">
                    <a:lnL w="6000" cap="flat">
                      <a:solidFill>
                        <a:srgbClr val="C7DCCF"/>
                      </a:solidFill>
                      <a:prstDash val="solid"/>
                    </a:lnL>
                    <a:lnR w="6000" cap="flat">
                      <a:solidFill>
                        <a:srgbClr val="C7DCCF"/>
                      </a:solidFill>
                      <a:prstDash val="solid"/>
                    </a:lnR>
                    <a:lnT w="6000" cap="flat" cmpd="sng" algn="ctr">
                      <a:solidFill>
                        <a:srgbClr val="C7DCCF"/>
                      </a:solidFill>
                      <a:prstDash val="solid"/>
                      <a:round/>
                      <a:headEnd type="none" w="med" len="med"/>
                      <a:tailEnd type="none" w="med" len="med"/>
                    </a:lnT>
                    <a:lnB w="6000" cap="flat">
                      <a:solidFill>
                        <a:srgbClr val="C7DCCF"/>
                      </a:solidFill>
                      <a:prstDash val="solid"/>
                    </a:lnB>
                    <a:solidFill>
                      <a:srgbClr val="FFFFFF"/>
                    </a:solidFill>
                  </a:tcPr>
                </a:tc>
                <a:extLst>
                  <a:ext uri="{0D108BD9-81ED-4DB2-BD59-A6C34878D82A}">
                    <a16:rowId xmlns:a16="http://schemas.microsoft.com/office/drawing/2014/main" val="1810644557"/>
                  </a:ext>
                </a:extLst>
              </a:tr>
              <a:tr h="465812">
                <a:tc>
                  <a:txBody>
                    <a:bodyPr/>
                    <a:lstStyle/>
                    <a:p>
                      <a:pPr algn="l">
                        <a:lnSpc>
                          <a:spcPct val="100000"/>
                        </a:lnSpc>
                        <a:spcBef>
                          <a:spcPts val="0"/>
                        </a:spcBef>
                        <a:spcAft>
                          <a:spcPts val="0"/>
                        </a:spcAft>
                        <a:buNone/>
                      </a:pPr>
                      <a:r>
                        <a:rPr lang="en-US" sz="1100" b="1">
                          <a:solidFill>
                            <a:srgbClr val="282728"/>
                          </a:solidFill>
                          <a:effectLst/>
                          <a:latin typeface="Aptos"/>
                        </a:rPr>
                        <a:t>Create a highly client-specific or differentiated process</a:t>
                      </a:r>
                      <a:endParaRPr lang="en-US" sz="1000">
                        <a:effectLst/>
                      </a:endParaRP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rgbClr val="F0F1F0"/>
                    </a:solidFill>
                  </a:tcPr>
                </a:tc>
                <a:tc>
                  <a:txBody>
                    <a:bodyPr/>
                    <a:lstStyle/>
                    <a:p>
                      <a:pPr algn="l">
                        <a:lnSpc>
                          <a:spcPct val="100000"/>
                        </a:lnSpc>
                        <a:spcBef>
                          <a:spcPts val="0"/>
                        </a:spcBef>
                        <a:spcAft>
                          <a:spcPts val="0"/>
                        </a:spcAft>
                        <a:buNone/>
                      </a:pPr>
                      <a:r>
                        <a:rPr lang="en-US" sz="1100" b="1">
                          <a:solidFill>
                            <a:srgbClr val="282728"/>
                          </a:solidFill>
                          <a:effectLst/>
                          <a:latin typeface="Aptos"/>
                        </a:rPr>
                        <a:t>Agent Bricks or a combined solution</a:t>
                      </a:r>
                      <a:endParaRPr lang="en-US" sz="1000">
                        <a:effectLst/>
                      </a:endParaRP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rgbClr val="F8FAF8"/>
                    </a:solidFill>
                  </a:tcPr>
                </a:tc>
                <a:tc>
                  <a:txBody>
                    <a:bodyPr/>
                    <a:lstStyle/>
                    <a:p>
                      <a:pPr algn="l">
                        <a:lnSpc>
                          <a:spcPct val="100000"/>
                        </a:lnSpc>
                        <a:spcBef>
                          <a:spcPts val="0"/>
                        </a:spcBef>
                        <a:spcAft>
                          <a:spcPts val="0"/>
                        </a:spcAft>
                        <a:buNone/>
                      </a:pPr>
                      <a:r>
                        <a:rPr lang="en-US" sz="1100">
                          <a:solidFill>
                            <a:srgbClr val="282728"/>
                          </a:solidFill>
                          <a:effectLst/>
                          <a:latin typeface="Aptos"/>
                        </a:rPr>
                        <a:t>A custom-build approach provides greater design freedom where no packaged Zora workflow fits</a:t>
                      </a: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rgbClr val="F8FAF8"/>
                    </a:solidFill>
                  </a:tcPr>
                </a:tc>
                <a:tc>
                  <a:txBody>
                    <a:bodyPr/>
                    <a:lstStyle/>
                    <a:p>
                      <a:pPr algn="l" fontAlgn="t">
                        <a:lnSpc>
                          <a:spcPct val="100000"/>
                        </a:lnSpc>
                        <a:spcBef>
                          <a:spcPts val="0"/>
                        </a:spcBef>
                        <a:spcAft>
                          <a:spcPts val="0"/>
                        </a:spcAft>
                        <a:buNone/>
                      </a:pPr>
                      <a:r>
                        <a:rPr lang="en-US" sz="1100" b="1">
                          <a:solidFill>
                            <a:srgbClr val="282728"/>
                          </a:solidFill>
                          <a:effectLst/>
                          <a:latin typeface="Aptos"/>
                        </a:rPr>
                        <a:t>Qualify carefully:</a:t>
                      </a:r>
                      <a:r>
                        <a:rPr lang="en-US" sz="1100">
                          <a:solidFill>
                            <a:srgbClr val="282728"/>
                          </a:solidFill>
                          <a:effectLst/>
                          <a:latin typeface="Aptos"/>
                        </a:rPr>
                        <a:t> Do not claim Zora is best when the requirement is genuinely unique and engineering-led</a:t>
                      </a:r>
                      <a:endParaRPr lang="en-US" sz="800" b="0" i="0">
                        <a:effectLst/>
                        <a:latin typeface="Segoe UI" panose="020B0502040204020203" pitchFamily="34" charset="0"/>
                      </a:endParaRPr>
                    </a:p>
                  </a:txBody>
                  <a:tcPr marL="82296" marR="82296" marT="41148" marB="41148" anchor="ctr">
                    <a:lnL w="6000" cap="flat">
                      <a:solidFill>
                        <a:srgbClr val="C7DCCF"/>
                      </a:solidFill>
                      <a:prstDash val="solid"/>
                    </a:lnL>
                    <a:lnR w="6000" cap="flat">
                      <a:solidFill>
                        <a:srgbClr val="C7DCCF"/>
                      </a:solidFill>
                      <a:prstDash val="solid"/>
                    </a:lnR>
                    <a:lnT w="6000" cap="flat">
                      <a:solidFill>
                        <a:srgbClr val="C7DCCF"/>
                      </a:solidFill>
                      <a:prstDash val="solid"/>
                    </a:lnT>
                    <a:lnB w="6000" cap="flat">
                      <a:solidFill>
                        <a:srgbClr val="C7DCCF"/>
                      </a:solidFill>
                      <a:prstDash val="solid"/>
                    </a:lnB>
                    <a:solidFill>
                      <a:srgbClr val="F8FAF8"/>
                    </a:solidFill>
                  </a:tcPr>
                </a:tc>
                <a:extLst>
                  <a:ext uri="{0D108BD9-81ED-4DB2-BD59-A6C34878D82A}">
                    <a16:rowId xmlns:a16="http://schemas.microsoft.com/office/drawing/2014/main" val="1961030943"/>
                  </a:ext>
                </a:extLst>
              </a:tr>
            </a:tbl>
          </a:graphicData>
        </a:graphic>
      </p:graphicFrame>
      <p:sp>
        <p:nvSpPr>
          <p:cNvPr id="7" name="TextBox 6">
            <a:extLst>
              <a:ext uri="{FF2B5EF4-FFF2-40B4-BE49-F238E27FC236}">
                <a16:creationId xmlns:a16="http://schemas.microsoft.com/office/drawing/2014/main" id="{3AA236FF-5CF1-F7FF-0584-90931A16F369}"/>
              </a:ext>
            </a:extLst>
          </p:cNvPr>
          <p:cNvSpPr txBox="1"/>
          <p:nvPr/>
        </p:nvSpPr>
        <p:spPr>
          <a:xfrm>
            <a:off x="457200" y="5634462"/>
            <a:ext cx="11274552" cy="646331"/>
          </a:xfrm>
          <a:prstGeom prst="rect">
            <a:avLst/>
          </a:prstGeom>
          <a:noFill/>
        </p:spPr>
        <p:txBody>
          <a:bodyPr wrap="square" lIns="0" tIns="0" rIns="0" bIns="0" rtlCol="0">
            <a:spAutoFit/>
          </a:bodyPr>
          <a:lstStyle/>
          <a:p>
            <a:pPr algn="ctr">
              <a:spcBef>
                <a:spcPts val="600"/>
              </a:spcBef>
              <a:buSzPct val="100000"/>
            </a:pPr>
            <a:r>
              <a:rPr lang="en-US" sz="1400" b="1" i="1">
                <a:solidFill>
                  <a:schemeClr val="accent3"/>
                </a:solidFill>
              </a:rPr>
              <a:t>Databricks platform offers a strong governed data and AI foundation. Genie provides conversational analytics on top of that data, and Agent Bricks provides the tools to build custom workflow agents. Zora complements Databricks’ capabilities by providing pre-packaged insights, dashboards, and functional workflows with embedded domain logic and less customization required by the client.</a:t>
            </a:r>
          </a:p>
        </p:txBody>
      </p:sp>
    </p:spTree>
    <p:extLst>
      <p:ext uri="{BB962C8B-B14F-4D97-AF65-F5344CB8AC3E}">
        <p14:creationId xmlns:p14="http://schemas.microsoft.com/office/powerpoint/2010/main" val="271180161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AD02B-3288-C5B9-B292-89EB6635D1B3}"/>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E3A3811-A4BA-6160-FD8A-8122C626F34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6" progId="TCLayout.ActiveDocument.1">
                  <p:embed/>
                </p:oleObj>
              </mc:Choice>
              <mc:Fallback>
                <p:oleObj name="think-cell Slide" r:id="rId3" imgW="424" imgH="426" progId="TCLayout.ActiveDocument.1">
                  <p:embed/>
                  <p:pic>
                    <p:nvPicPr>
                      <p:cNvPr id="3" name="think-cell data - do not delete" hidden="1">
                        <a:extLst>
                          <a:ext uri="{FF2B5EF4-FFF2-40B4-BE49-F238E27FC236}">
                            <a16:creationId xmlns:a16="http://schemas.microsoft.com/office/drawing/2014/main" id="{DE3A3811-A4BA-6160-FD8A-8122C626F34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49D6FAF-D8BF-FBF6-29A2-0C793B49F384}"/>
              </a:ext>
            </a:extLst>
          </p:cNvPr>
          <p:cNvSpPr>
            <a:spLocks noGrp="1"/>
          </p:cNvSpPr>
          <p:nvPr>
            <p:ph type="title"/>
          </p:nvPr>
        </p:nvSpPr>
        <p:spPr>
          <a:xfrm>
            <a:off x="792480" y="4456176"/>
            <a:ext cx="11274552" cy="1592403"/>
          </a:xfrm>
        </p:spPr>
        <p:txBody>
          <a:bodyPr vert="horz" rIns="0"/>
          <a:lstStyle/>
          <a:p>
            <a:r>
              <a:rPr lang="en-US" sz="2800"/>
              <a:t>Competitor Profiles: </a:t>
            </a:r>
            <a:r>
              <a:rPr lang="en-US" sz="2800" i="1">
                <a:solidFill>
                  <a:srgbClr val="007680"/>
                </a:solidFill>
              </a:rPr>
              <a:t>Frontier AI Labs/Model Providers</a:t>
            </a:r>
          </a:p>
        </p:txBody>
      </p:sp>
    </p:spTree>
    <p:extLst>
      <p:ext uri="{BB962C8B-B14F-4D97-AF65-F5344CB8AC3E}">
        <p14:creationId xmlns:p14="http://schemas.microsoft.com/office/powerpoint/2010/main" val="32495042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44AC1-70F7-4D87-4112-7024D7B2DD66}"/>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F90BBF0-F6BA-0ECC-CAC3-066D11F8EBF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0F90BBF0-F6BA-0ECC-CAC3-066D11F8EBF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7D7936E1-292D-E885-6F7A-F1047E08B6A0}"/>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6918631-538D-49D9-CF82-BE1E7DB980C2}"/>
              </a:ext>
            </a:extLst>
          </p:cNvPr>
          <p:cNvSpPr>
            <a:spLocks noGrp="1"/>
          </p:cNvSpPr>
          <p:nvPr>
            <p:ph type="title"/>
          </p:nvPr>
        </p:nvSpPr>
        <p:spPr/>
        <p:txBody>
          <a:bodyPr vert="horz" rIns="0"/>
          <a:lstStyle/>
          <a:p>
            <a:r>
              <a:rPr lang="en-US"/>
              <a:t>Open AI</a:t>
            </a:r>
          </a:p>
        </p:txBody>
      </p:sp>
      <p:sp>
        <p:nvSpPr>
          <p:cNvPr id="4" name="TextBox 3">
            <a:extLst>
              <a:ext uri="{FF2B5EF4-FFF2-40B4-BE49-F238E27FC236}">
                <a16:creationId xmlns:a16="http://schemas.microsoft.com/office/drawing/2014/main" id="{C0DFFAE0-AF7A-3F3D-2F86-00D1ACF086EC}"/>
              </a:ext>
            </a:extLst>
          </p:cNvPr>
          <p:cNvSpPr txBox="1"/>
          <p:nvPr/>
        </p:nvSpPr>
        <p:spPr>
          <a:xfrm>
            <a:off x="382772" y="687992"/>
            <a:ext cx="1108151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Open AI offers frontier models and agent building stack with enabling infrastructure; Zora brings pre-built agents ready to deploy</a:t>
            </a:r>
          </a:p>
        </p:txBody>
      </p:sp>
      <p:sp>
        <p:nvSpPr>
          <p:cNvPr id="6" name="TextBox 5">
            <a:extLst>
              <a:ext uri="{FF2B5EF4-FFF2-40B4-BE49-F238E27FC236}">
                <a16:creationId xmlns:a16="http://schemas.microsoft.com/office/drawing/2014/main" id="{75380ECF-6C5F-1C70-CB23-E8DB1AFC1D90}"/>
              </a:ext>
            </a:extLst>
          </p:cNvPr>
          <p:cNvSpPr txBox="1"/>
          <p:nvPr/>
        </p:nvSpPr>
        <p:spPr>
          <a:xfrm>
            <a:off x="3222171" y="1106424"/>
            <a:ext cx="8509580" cy="346248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Open AI Offering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Open AI supplies the frontier model, an enterprise work surface (</a:t>
            </a: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ChatGPT Work</a:t>
            </a:r>
            <a:r>
              <a:rPr kumimoji="0" lang="en-US" sz="1200" b="0" i="0" u="none" strike="noStrike" kern="1200" cap="none" spc="0" normalizeH="0" baseline="0" noProof="0">
                <a:ln>
                  <a:noFill/>
                </a:ln>
                <a:solidFill>
                  <a:srgbClr val="313131"/>
                </a:solidFill>
                <a:effectLst/>
                <a:uLnTx/>
                <a:uFillTx/>
                <a:latin typeface="Aptos"/>
                <a:ea typeface="+mn-ea"/>
                <a:cs typeface="+mn-cs"/>
              </a:rPr>
              <a:t>, </a:t>
            </a:r>
            <a:r>
              <a:rPr kumimoji="0" lang="en-US" sz="1200" b="0" i="0" u="none" strike="noStrike" kern="1200" cap="none" spc="0" normalizeH="0" baseline="0" noProof="0">
                <a:ln>
                  <a:noFill/>
                </a:ln>
                <a:solidFill>
                  <a:srgbClr val="313131"/>
                </a:solidFill>
                <a:effectLst/>
                <a:uLnTx/>
                <a:uFillTx/>
                <a:latin typeface="Aptos"/>
                <a:ea typeface="+mn-ea"/>
                <a:cs typeface="+mn-cs"/>
                <a:hlinkClick r:id="rId6"/>
              </a:rPr>
              <a:t>Codex</a:t>
            </a:r>
            <a:r>
              <a:rPr kumimoji="0" lang="en-US" sz="1200" b="0" i="0" u="none" strike="noStrike" kern="1200" cap="none" spc="0" normalizeH="0" baseline="0" noProof="0">
                <a:ln>
                  <a:noFill/>
                </a:ln>
                <a:solidFill>
                  <a:srgbClr val="313131"/>
                </a:solidFill>
                <a:effectLst/>
                <a:uLnTx/>
                <a:uFillTx/>
                <a:latin typeface="Aptos"/>
                <a:ea typeface="+mn-ea"/>
                <a:cs typeface="+mn-cs"/>
              </a:rPr>
              <a:t>), and an agent-building stack (</a:t>
            </a:r>
            <a:r>
              <a:rPr kumimoji="0" lang="en-US" sz="1200" b="0" i="0" u="none" strike="noStrike" kern="1200" cap="none" spc="0" normalizeH="0" baseline="0" noProof="0">
                <a:ln>
                  <a:noFill/>
                </a:ln>
                <a:solidFill>
                  <a:srgbClr val="313131"/>
                </a:solidFill>
                <a:effectLst/>
                <a:uLnTx/>
                <a:uFillTx/>
                <a:latin typeface="Aptos"/>
                <a:ea typeface="+mn-ea"/>
                <a:cs typeface="+mn-cs"/>
                <a:hlinkClick r:id="rId7"/>
              </a:rPr>
              <a:t>Agents SDK</a:t>
            </a:r>
            <a:r>
              <a:rPr kumimoji="0" lang="en-US" sz="1200" b="0" i="0" u="none" strike="noStrike" kern="1200" cap="none" spc="0" normalizeH="0" baseline="0" noProof="0">
                <a:ln>
                  <a:noFill/>
                </a:ln>
                <a:solidFill>
                  <a:srgbClr val="313131"/>
                </a:solidFill>
                <a:effectLst/>
                <a:uLnTx/>
                <a:uFillTx/>
                <a:latin typeface="Aptos"/>
                <a:ea typeface="+mn-ea"/>
                <a:cs typeface="+mn-cs"/>
              </a:rPr>
              <a:t>, </a:t>
            </a:r>
            <a:r>
              <a:rPr kumimoji="0" lang="en-US" sz="1200" b="0" i="0" u="none" strike="noStrike" kern="1200" cap="none" spc="0" normalizeH="0" baseline="0" noProof="0">
                <a:ln>
                  <a:noFill/>
                </a:ln>
                <a:solidFill>
                  <a:srgbClr val="313131"/>
                </a:solidFill>
                <a:effectLst/>
                <a:uLnTx/>
                <a:uFillTx/>
                <a:latin typeface="Aptos"/>
                <a:ea typeface="+mn-ea"/>
                <a:cs typeface="+mn-cs"/>
                <a:hlinkClick r:id="rId8"/>
              </a:rPr>
              <a:t>Responses API</a:t>
            </a:r>
            <a:r>
              <a:rPr kumimoji="0" lang="en-US" sz="1200" b="0" i="0" u="none" strike="noStrike" kern="1200" cap="none" spc="0" normalizeH="0" baseline="0" noProof="0">
                <a:ln>
                  <a:noFill/>
                </a:ln>
                <a:solidFill>
                  <a:srgbClr val="313131"/>
                </a:solidFill>
                <a:effectLst/>
                <a:uLnTx/>
                <a:uFillTx/>
                <a:latin typeface="Aptos"/>
                <a:ea typeface="+mn-ea"/>
                <a:cs typeface="+mn-cs"/>
              </a:rPr>
              <a:t>, </a:t>
            </a:r>
            <a:r>
              <a:rPr kumimoji="0" lang="en-US" sz="1200" b="0" i="0" u="none" strike="noStrike" kern="1200" cap="none" spc="0" normalizeH="0" baseline="0" noProof="0">
                <a:ln>
                  <a:noFill/>
                </a:ln>
                <a:solidFill>
                  <a:srgbClr val="313131"/>
                </a:solidFill>
                <a:effectLst/>
                <a:uLnTx/>
                <a:uFillTx/>
                <a:latin typeface="Aptos"/>
                <a:ea typeface="+mn-ea"/>
                <a:cs typeface="+mn-cs"/>
                <a:hlinkClick r:id="rId9"/>
              </a:rPr>
              <a:t>Workspace Agents</a:t>
            </a:r>
            <a:r>
              <a:rPr kumimoji="0" lang="en-US" sz="1200" b="0" i="0" u="none" strike="noStrike" kern="1200" cap="none" spc="0" normalizeH="0" baseline="0" noProof="0">
                <a:ln>
                  <a:noFill/>
                </a:ln>
                <a:solidFill>
                  <a:srgbClr val="313131"/>
                </a:solidFill>
                <a:effectLst/>
                <a:uLnTx/>
                <a:uFillTx/>
                <a:latin typeface="Aptos"/>
                <a:ea typeface="+mn-ea"/>
                <a:cs typeface="+mn-cs"/>
              </a:rPr>
              <a:t>, </a:t>
            </a:r>
            <a:r>
              <a:rPr kumimoji="0" lang="en-US" sz="1200" b="0" i="0" u="none" strike="noStrike" kern="1200" cap="none" spc="0" normalizeH="0" baseline="0" noProof="0">
                <a:ln>
                  <a:noFill/>
                </a:ln>
                <a:solidFill>
                  <a:srgbClr val="313131"/>
                </a:solidFill>
                <a:effectLst/>
                <a:uLnTx/>
                <a:uFillTx/>
                <a:latin typeface="Aptos"/>
                <a:ea typeface="+mn-ea"/>
                <a:cs typeface="+mn-cs"/>
                <a:hlinkClick r:id="rId10"/>
              </a:rPr>
              <a:t>Frontier</a:t>
            </a:r>
            <a:r>
              <a:rPr kumimoji="0" lang="en-US" sz="1200" b="0" i="0" u="none" strike="noStrike" kern="1200" cap="none" spc="0" normalizeH="0" baseline="0" noProof="0">
                <a:ln>
                  <a:noFill/>
                </a:ln>
                <a:solidFill>
                  <a:srgbClr val="313131"/>
                </a:solidFill>
                <a:effectLst/>
                <a:uLnTx/>
                <a:uFillTx/>
                <a:latin typeface="Aptos"/>
                <a:ea typeface="+mn-ea"/>
                <a:cs typeface="+mn-cs"/>
              </a:rPr>
              <a:t>, </a:t>
            </a:r>
            <a:r>
              <a:rPr kumimoji="0" lang="en-US" sz="1200" b="0" i="0" u="none" strike="noStrike" kern="1200" cap="none" spc="0" normalizeH="0" baseline="0" noProof="0">
                <a:ln>
                  <a:noFill/>
                </a:ln>
                <a:solidFill>
                  <a:srgbClr val="313131"/>
                </a:solidFill>
                <a:effectLst/>
                <a:uLnTx/>
                <a:uFillTx/>
                <a:latin typeface="Aptos"/>
                <a:ea typeface="+mn-ea"/>
                <a:cs typeface="+mn-cs"/>
                <a:hlinkClick r:id="rId11"/>
              </a:rPr>
              <a:t>Presence</a:t>
            </a:r>
            <a:r>
              <a:rPr kumimoji="0" lang="en-US" sz="1200" b="0" i="0" u="none" strike="noStrike" kern="1200" cap="none" spc="0" normalizeH="0" baseline="0" noProof="0">
                <a:ln>
                  <a:noFill/>
                </a:ln>
                <a:solidFill>
                  <a:srgbClr val="313131"/>
                </a:solidFill>
                <a:effectLst/>
                <a:uLnTx/>
                <a:uFillTx/>
                <a:latin typeface="Aptos"/>
                <a:ea typeface="+mn-ea"/>
                <a:cs typeface="+mn-cs"/>
              </a:rPr>
              <a:t>). </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It allows customers to configure the workflow, connect enterprise systems, and set policies. </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Zora, on the other hand, is positioned as a ready-to-deploy digital workforce of Deloitte domain agents across finance, procurement, tax, audit, and HR.</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Open AI stronger compared to Zora?</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Full build and deploy spectrum – Agents SDK and Responses API for developers, Workspace Agents for business users building no-code agents inside ChatGPT, and now Frontier and Presence for governed, FDE-led production deployment of agents.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Open AI?</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Faster time to value – Zora offers a suite of ready-to-deploy agents that perceive, reason, and act, executing complex business functions autonomously. Open AI proposition is building your own agents.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Prevents vendor lock-in – Zora is designed to run independent of a single model provider; OpenAI's agent stack is optimized around, and creates dependency on, its own models and runtime.</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200" b="0" i="0" u="none" strike="noStrike" kern="1200" cap="none" spc="0" normalizeH="0" baseline="0" noProof="0">
              <a:ln>
                <a:noFill/>
              </a:ln>
              <a:solidFill>
                <a:srgbClr val="313131"/>
              </a:solidFill>
              <a:effectLst/>
              <a:highlight>
                <a:srgbClr val="FFFF00"/>
              </a:highlight>
              <a:uLnTx/>
              <a:uFillTx/>
              <a:latin typeface="Aptos"/>
              <a:ea typeface="+mn-ea"/>
              <a:cs typeface="+mn-cs"/>
            </a:endParaRPr>
          </a:p>
        </p:txBody>
      </p:sp>
      <p:sp>
        <p:nvSpPr>
          <p:cNvPr id="7" name="Rectangle 6">
            <a:extLst>
              <a:ext uri="{FF2B5EF4-FFF2-40B4-BE49-F238E27FC236}">
                <a16:creationId xmlns:a16="http://schemas.microsoft.com/office/drawing/2014/main" id="{15BB48BE-D9E4-36A1-319C-44B59149C9A0}"/>
              </a:ext>
            </a:extLst>
          </p:cNvPr>
          <p:cNvSpPr/>
          <p:nvPr/>
        </p:nvSpPr>
        <p:spPr bwMode="gray">
          <a:xfrm>
            <a:off x="382772" y="5725430"/>
            <a:ext cx="11348980" cy="636397"/>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Lead with packaged, model-agnostic outcomes:</a:t>
            </a:r>
            <a:r>
              <a:rPr kumimoji="0" lang="en-US" sz="1200" b="0" i="0" u="none" strike="noStrike" kern="1200" cap="none" spc="0" normalizeH="0" baseline="0" noProof="0">
                <a:ln>
                  <a:noFill/>
                </a:ln>
                <a:solidFill>
                  <a:prstClr val="black"/>
                </a:solidFill>
                <a:effectLst/>
                <a:uLnTx/>
                <a:uFillTx/>
                <a:latin typeface="Aptos"/>
                <a:ea typeface="+mn-ea"/>
                <a:cs typeface="+mn-cs"/>
              </a:rPr>
              <a:t> Contrast Zora's ready-to-deploy, cross-model finance, procurement, tax, audit, and HR agents against OpenAI's build-it-yourself stack and its dependency on Open AI's own models and runtime.</a:t>
            </a:r>
            <a:endParaRPr kumimoji="0" lang="en-US" sz="1200" b="0" i="0" u="none" strike="noStrike" kern="1200" cap="none" spc="0" normalizeH="0" baseline="0" noProof="0">
              <a:ln>
                <a:noFill/>
              </a:ln>
              <a:solidFill>
                <a:prstClr val="black"/>
              </a:solidFill>
              <a:effectLst/>
              <a:highlight>
                <a:srgbClr val="FFFF00"/>
              </a:highlight>
              <a:uLnTx/>
              <a:uFillTx/>
              <a:latin typeface="Aptos"/>
              <a:ea typeface="+mn-ea"/>
              <a:cs typeface="+mn-cs"/>
            </a:endParaRPr>
          </a:p>
        </p:txBody>
      </p:sp>
      <p:sp>
        <p:nvSpPr>
          <p:cNvPr id="9" name="Rectangle: Rounded Corners 8">
            <a:extLst>
              <a:ext uri="{FF2B5EF4-FFF2-40B4-BE49-F238E27FC236}">
                <a16:creationId xmlns:a16="http://schemas.microsoft.com/office/drawing/2014/main" id="{20CE7092-DFAB-490E-4B4B-B61AD8876BCB}"/>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DD5F5F90-BB38-31A2-0BF9-70272BCC3010}"/>
              </a:ext>
            </a:extLst>
          </p:cNvPr>
          <p:cNvSpPr/>
          <p:nvPr/>
        </p:nvSpPr>
        <p:spPr bwMode="gray">
          <a:xfrm>
            <a:off x="473313" y="1977655"/>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sysClr val="windowText" lastClr="000000"/>
                </a:solidFill>
                <a:effectLst/>
                <a:uLnTx/>
                <a:uFillTx/>
                <a:latin typeface="Aptos"/>
                <a:ea typeface="+mn-ea"/>
                <a:cs typeface="+mn-cs"/>
              </a:rPr>
              <a:t>Chat GPT Work; Codex</a:t>
            </a:r>
          </a:p>
        </p:txBody>
      </p:sp>
      <p:sp>
        <p:nvSpPr>
          <p:cNvPr id="13" name="Rectangle: Rounded Corners 12">
            <a:extLst>
              <a:ext uri="{FF2B5EF4-FFF2-40B4-BE49-F238E27FC236}">
                <a16:creationId xmlns:a16="http://schemas.microsoft.com/office/drawing/2014/main" id="{E1A94ADB-DF79-9178-A885-5F1B442899AB}"/>
              </a:ext>
            </a:extLst>
          </p:cNvPr>
          <p:cNvSpPr/>
          <p:nvPr/>
        </p:nvSpPr>
        <p:spPr bwMode="gray">
          <a:xfrm>
            <a:off x="1259176"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8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lang="en-US" sz="900">
                <a:solidFill>
                  <a:prstClr val="black"/>
                </a:solidFill>
                <a:latin typeface="Aptos"/>
              </a:rPr>
              <a:t>Open AI for healthcare</a:t>
            </a:r>
            <a:endParaRPr kumimoji="0" lang="en-US" sz="900" b="0" u="none" strike="noStrike" kern="1200" cap="none" spc="0" normalizeH="0" baseline="0" noProof="0">
              <a:ln>
                <a:noFill/>
              </a:ln>
              <a:solidFill>
                <a:prstClr val="black"/>
              </a:solidFill>
              <a:effectLst/>
              <a:uLnTx/>
              <a:uFillTx/>
              <a:latin typeface="Aptos"/>
              <a:ea typeface="+mn-ea"/>
              <a:cs typeface="+mn-cs"/>
            </a:endParaRPr>
          </a:p>
        </p:txBody>
      </p:sp>
      <p:sp>
        <p:nvSpPr>
          <p:cNvPr id="15" name="Rectangle: Rounded Corners 14">
            <a:extLst>
              <a:ext uri="{FF2B5EF4-FFF2-40B4-BE49-F238E27FC236}">
                <a16:creationId xmlns:a16="http://schemas.microsoft.com/office/drawing/2014/main" id="{DE822BF3-5B82-7208-3E5A-1E8AA30F92E1}"/>
              </a:ext>
            </a:extLst>
          </p:cNvPr>
          <p:cNvSpPr/>
          <p:nvPr/>
        </p:nvSpPr>
        <p:spPr bwMode="gray">
          <a:xfrm>
            <a:off x="2045039"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7" name="Rectangle: Rounded Corners 16">
            <a:extLst>
              <a:ext uri="{FF2B5EF4-FFF2-40B4-BE49-F238E27FC236}">
                <a16:creationId xmlns:a16="http://schemas.microsoft.com/office/drawing/2014/main" id="{0621CD16-56F2-30D4-7D3F-82432CEDD22E}"/>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0" i="0" u="none" strike="noStrike" kern="1200" cap="none" spc="0" normalizeH="0" baseline="0" noProof="0">
                <a:ln>
                  <a:noFill/>
                </a:ln>
                <a:solidFill>
                  <a:prstClr val="black"/>
                </a:solidFill>
                <a:effectLst/>
                <a:uLnTx/>
                <a:uFillTx/>
                <a:latin typeface="Aptos"/>
                <a:ea typeface="+mn-ea"/>
                <a:cs typeface="+mn-cs"/>
              </a:rPr>
              <a:t>Agents SDK, Responses API, Workspace Agents, Frontier, Presence</a:t>
            </a:r>
          </a:p>
        </p:txBody>
      </p:sp>
      <p:sp>
        <p:nvSpPr>
          <p:cNvPr id="22" name="TextBox 21">
            <a:extLst>
              <a:ext uri="{FF2B5EF4-FFF2-40B4-BE49-F238E27FC236}">
                <a16:creationId xmlns:a16="http://schemas.microsoft.com/office/drawing/2014/main" id="{C592350B-14C8-F9A6-04E4-B820A76C55AB}"/>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0E5344AF-9C5A-AD9E-113E-C3B09C6FC416}"/>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999203E4-239E-21B9-3A9F-CC01BE2198DA}"/>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870239D1-F9F7-09B3-0B2D-E23A4A2B0973}"/>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79794628-C155-E3A6-5398-863FE58F3D37}"/>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D10A634A-DD95-A014-67AA-59AB7C2BCEEB}"/>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19E9DAD4-C20A-244C-264A-ED69E60C9C19}"/>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5124" name="Picture 4" descr="Free OpenAI Logo Icon - Download or Copy SVG, PNG | IconScout">
            <a:extLst>
              <a:ext uri="{FF2B5EF4-FFF2-40B4-BE49-F238E27FC236}">
                <a16:creationId xmlns:a16="http://schemas.microsoft.com/office/drawing/2014/main" id="{4D9D5720-2318-EAAD-3A3E-1D03379EB43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8571" y="-473"/>
            <a:ext cx="931438" cy="931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63221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A7F7A-2899-DDE7-0B3C-A6A78DAB454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F42B748-005B-7F9D-AAED-8FD778D9BE0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6F42B748-005B-7F9D-AAED-8FD778D9BE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7AE28A1A-730D-D940-A6CB-4AFE6579A65C}"/>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130558D-9909-D19F-9F63-D293985CE984}"/>
              </a:ext>
            </a:extLst>
          </p:cNvPr>
          <p:cNvSpPr>
            <a:spLocks noGrp="1"/>
          </p:cNvSpPr>
          <p:nvPr>
            <p:ph type="title"/>
          </p:nvPr>
        </p:nvSpPr>
        <p:spPr/>
        <p:txBody>
          <a:bodyPr vert="horz" rIns="0"/>
          <a:lstStyle/>
          <a:p>
            <a:r>
              <a:rPr lang="en-US"/>
              <a:t>Anthropic</a:t>
            </a:r>
          </a:p>
        </p:txBody>
      </p:sp>
      <p:sp>
        <p:nvSpPr>
          <p:cNvPr id="4" name="TextBox 3">
            <a:extLst>
              <a:ext uri="{FF2B5EF4-FFF2-40B4-BE49-F238E27FC236}">
                <a16:creationId xmlns:a16="http://schemas.microsoft.com/office/drawing/2014/main" id="{81DAADC9-41B7-6003-31FD-F27F45E9B9B5}"/>
              </a:ext>
            </a:extLst>
          </p:cNvPr>
          <p:cNvSpPr txBox="1"/>
          <p:nvPr/>
        </p:nvSpPr>
        <p:spPr>
          <a:xfrm>
            <a:off x="382771" y="687992"/>
            <a:ext cx="1134897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Anthropic combines Claude models, developer tools and a growing set of packaged workflows; Zora packages domain workflows as configurable digital workers in domains that don’t compete with Claude</a:t>
            </a:r>
          </a:p>
        </p:txBody>
      </p:sp>
      <p:sp>
        <p:nvSpPr>
          <p:cNvPr id="6" name="TextBox 5">
            <a:extLst>
              <a:ext uri="{FF2B5EF4-FFF2-40B4-BE49-F238E27FC236}">
                <a16:creationId xmlns:a16="http://schemas.microsoft.com/office/drawing/2014/main" id="{4646FAD5-B726-DA56-2E9F-E97E29F1BF76}"/>
              </a:ext>
            </a:extLst>
          </p:cNvPr>
          <p:cNvSpPr txBox="1"/>
          <p:nvPr/>
        </p:nvSpPr>
        <p:spPr>
          <a:xfrm>
            <a:off x="3222171" y="1284552"/>
            <a:ext cx="8509580" cy="375487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is </a:t>
            </a:r>
            <a:r>
              <a:rPr kumimoji="0" lang="en-US" sz="1200" b="1" i="0" u="none" strike="noStrike" kern="1200" cap="none" spc="0" normalizeH="0" baseline="0" noProof="0" err="1">
                <a:ln>
                  <a:noFill/>
                </a:ln>
                <a:solidFill>
                  <a:srgbClr val="313131"/>
                </a:solidFill>
                <a:effectLst/>
                <a:uLnTx/>
                <a:uFillTx/>
                <a:latin typeface="Aptos"/>
                <a:ea typeface="+mn-ea"/>
                <a:cs typeface="+mn-cs"/>
              </a:rPr>
              <a:t>Anthropic’s</a:t>
            </a:r>
            <a:r>
              <a:rPr kumimoji="0" lang="en-US" sz="1200" b="1" i="0" u="none" strike="noStrike" kern="1200" cap="none" spc="0" normalizeH="0" baseline="0" noProof="0">
                <a:ln>
                  <a:noFill/>
                </a:ln>
                <a:solidFill>
                  <a:srgbClr val="313131"/>
                </a:solidFill>
                <a:effectLst/>
                <a:uLnTx/>
                <a:uFillTx/>
                <a:latin typeface="Aptos"/>
                <a:ea typeface="+mn-ea"/>
                <a:cs typeface="+mn-cs"/>
              </a:rPr>
              <a:t> offering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Anthropic spans Claude models, coding and knowledge-work products (</a:t>
            </a: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Claude Code</a:t>
            </a:r>
            <a:r>
              <a:rPr kumimoji="0" lang="en-US" sz="1200" b="0" i="0" u="none" strike="noStrike" kern="1200" cap="none" spc="0" normalizeH="0" baseline="0" noProof="0">
                <a:ln>
                  <a:noFill/>
                </a:ln>
                <a:solidFill>
                  <a:srgbClr val="313131"/>
                </a:solidFill>
                <a:effectLst/>
                <a:uLnTx/>
                <a:uFillTx/>
                <a:latin typeface="Aptos"/>
                <a:ea typeface="+mn-ea"/>
                <a:cs typeface="+mn-cs"/>
              </a:rPr>
              <a:t> and </a:t>
            </a:r>
            <a:r>
              <a:rPr kumimoji="0" lang="en-US" sz="1200" b="0" i="0" u="none" strike="noStrike" kern="1200" cap="none" spc="0" normalizeH="0" baseline="0" noProof="0">
                <a:ln>
                  <a:noFill/>
                </a:ln>
                <a:solidFill>
                  <a:srgbClr val="313131"/>
                </a:solidFill>
                <a:effectLst/>
                <a:uLnTx/>
                <a:uFillTx/>
                <a:latin typeface="Aptos"/>
                <a:ea typeface="+mn-ea"/>
                <a:cs typeface="+mn-cs"/>
                <a:hlinkClick r:id="rId6"/>
              </a:rPr>
              <a:t>Claude Cowork</a:t>
            </a:r>
            <a:r>
              <a:rPr kumimoji="0" lang="en-US" sz="1200" b="0" i="0" u="none" strike="noStrike" kern="1200" cap="none" spc="0" normalizeH="0" baseline="0" noProof="0">
                <a:ln>
                  <a:noFill/>
                </a:ln>
                <a:solidFill>
                  <a:srgbClr val="313131"/>
                </a:solidFill>
                <a:effectLst/>
                <a:uLnTx/>
                <a:uFillTx/>
                <a:latin typeface="Aptos"/>
                <a:ea typeface="+mn-ea"/>
                <a:cs typeface="+mn-cs"/>
              </a:rPr>
              <a:t>), plus tools for building, connecting and hosting custom agents (</a:t>
            </a:r>
            <a:r>
              <a:rPr kumimoji="0" lang="en-US" sz="1200" b="0" i="0" u="none" strike="noStrike" kern="1200" cap="none" spc="0" normalizeH="0" baseline="0" noProof="0">
                <a:ln>
                  <a:noFill/>
                </a:ln>
                <a:solidFill>
                  <a:srgbClr val="313131"/>
                </a:solidFill>
                <a:effectLst/>
                <a:uLnTx/>
                <a:uFillTx/>
                <a:latin typeface="Aptos"/>
                <a:ea typeface="+mn-ea"/>
                <a:cs typeface="+mn-cs"/>
                <a:hlinkClick r:id="rId7"/>
              </a:rPr>
              <a:t>Claude Agent SDK</a:t>
            </a:r>
            <a:r>
              <a:rPr kumimoji="0" lang="en-US" sz="1200" b="0" i="0" u="none" strike="noStrike" kern="1200" cap="none" spc="0" normalizeH="0" baseline="0" noProof="0">
                <a:ln>
                  <a:noFill/>
                </a:ln>
                <a:solidFill>
                  <a:srgbClr val="313131"/>
                </a:solidFill>
                <a:effectLst/>
                <a:uLnTx/>
                <a:uFillTx/>
                <a:latin typeface="Aptos"/>
                <a:ea typeface="+mn-ea"/>
                <a:cs typeface="+mn-cs"/>
              </a:rPr>
              <a:t>, </a:t>
            </a:r>
            <a:r>
              <a:rPr kumimoji="0" lang="en-US" sz="1200" b="0" i="0" u="none" strike="noStrike" kern="1200" cap="none" spc="0" normalizeH="0" baseline="0" noProof="0">
                <a:ln>
                  <a:noFill/>
                </a:ln>
                <a:solidFill>
                  <a:srgbClr val="313131"/>
                </a:solidFill>
                <a:effectLst/>
                <a:uLnTx/>
                <a:uFillTx/>
                <a:latin typeface="Aptos"/>
                <a:ea typeface="+mn-ea"/>
                <a:cs typeface="+mn-cs"/>
                <a:hlinkClick r:id="rId8"/>
              </a:rPr>
              <a:t>Claude Managed Agents</a:t>
            </a:r>
            <a:r>
              <a:rPr kumimoji="0" lang="en-US" sz="1200" b="0" i="0" u="none" strike="noStrike" kern="1200" cap="none" spc="0" normalizeH="0" baseline="0" noProof="0">
                <a:ln>
                  <a:noFill/>
                </a:ln>
                <a:solidFill>
                  <a:srgbClr val="313131"/>
                </a:solidFill>
                <a:effectLst/>
                <a:uLnTx/>
                <a:uFillTx/>
                <a:latin typeface="Aptos"/>
                <a:ea typeface="+mn-ea"/>
                <a:cs typeface="+mn-cs"/>
              </a:rPr>
              <a:t>, </a:t>
            </a:r>
            <a:r>
              <a:rPr kumimoji="0" lang="en-US" sz="1200" b="0" i="0" u="none" strike="noStrike" kern="1200" cap="none" spc="0" normalizeH="0" baseline="0" noProof="0">
                <a:ln>
                  <a:noFill/>
                </a:ln>
                <a:solidFill>
                  <a:srgbClr val="313131"/>
                </a:solidFill>
                <a:effectLst/>
                <a:uLnTx/>
                <a:uFillTx/>
                <a:latin typeface="Aptos"/>
                <a:ea typeface="+mn-ea"/>
                <a:cs typeface="+mn-cs"/>
                <a:hlinkClick r:id="rId9"/>
              </a:rPr>
              <a:t>Computer Use</a:t>
            </a:r>
            <a:r>
              <a:rPr kumimoji="0" lang="en-US" sz="1200" b="0" i="0" u="none" strike="noStrike" kern="1200" cap="none" spc="0" normalizeH="0" baseline="0" noProof="0">
                <a:ln>
                  <a:noFill/>
                </a:ln>
                <a:solidFill>
                  <a:srgbClr val="313131"/>
                </a:solidFill>
                <a:effectLst/>
                <a:uLnTx/>
                <a:uFillTx/>
                <a:latin typeface="Aptos"/>
                <a:ea typeface="+mn-ea"/>
                <a:cs typeface="+mn-cs"/>
              </a:rPr>
              <a:t> and </a:t>
            </a:r>
            <a:r>
              <a:rPr kumimoji="0" lang="en-US" sz="1200" b="0" i="0" u="none" strike="noStrike" kern="1200" cap="none" spc="0" normalizeH="0" baseline="0" noProof="0">
                <a:ln>
                  <a:noFill/>
                </a:ln>
                <a:solidFill>
                  <a:srgbClr val="313131"/>
                </a:solidFill>
                <a:effectLst/>
                <a:uLnTx/>
                <a:uFillTx/>
                <a:latin typeface="Aptos"/>
                <a:ea typeface="+mn-ea"/>
                <a:cs typeface="+mn-cs"/>
                <a:hlinkClick r:id="rId10"/>
              </a:rPr>
              <a:t>Connectors</a:t>
            </a:r>
            <a:r>
              <a:rPr kumimoji="0" lang="en-US" sz="1200" b="0" i="0" u="none" strike="noStrike" kern="1200" cap="none" spc="0" normalizeH="0" baseline="0" noProof="0">
                <a:ln>
                  <a:noFill/>
                </a:ln>
                <a:solidFill>
                  <a:srgbClr val="313131"/>
                </a:solidFill>
                <a:effectLst/>
                <a:uLnTx/>
                <a:uFillTx/>
                <a:latin typeface="Aptos"/>
                <a:ea typeface="+mn-ea"/>
                <a:cs typeface="+mn-cs"/>
              </a:rPr>
              <a:t>).</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Anthropic also provides configurable financial-services workflows and Microsoft 365 add-ins. These accelerate specific tasks, but deployment still requires customer data access, controls, integration and process ownership. Financial services Industry focus is not a direct competition for Zora.</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does Anthropic appear stronger?</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Developer platform breadth – A first-party stack for building custom agents and moving them into a managed production environment.</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Claude-native work experiences – Coding, knowledge-work products, financial-services, healthcare workflows and Office add-ins provide entry points for individual tasks and team workflows.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does Zora appear stronger?</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Packaged domain workflows – Functional agents start closer to defined business processes than a general-purpose build stack, reducing from scratch development; configuration, integration and controls are still required.</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Greater services support and model flexibility – Zora combines packaged workflows with process redesign and implementation support. </a:t>
            </a:r>
            <a:r>
              <a:rPr kumimoji="0" lang="en-US" sz="1200" b="0" i="0" u="none" strike="noStrike" kern="1200" cap="none" spc="0" normalizeH="0" baseline="0" noProof="0" err="1">
                <a:ln>
                  <a:noFill/>
                </a:ln>
                <a:solidFill>
                  <a:srgbClr val="313131"/>
                </a:solidFill>
                <a:effectLst/>
                <a:uLnTx/>
                <a:uFillTx/>
                <a:latin typeface="Aptos"/>
                <a:ea typeface="+mn-ea"/>
                <a:cs typeface="+mn-cs"/>
              </a:rPr>
              <a:t>Anthropic’s</a:t>
            </a:r>
            <a:r>
              <a:rPr kumimoji="0" lang="en-US" sz="1200" b="0" i="0" u="none" strike="noStrike" kern="1200" cap="none" spc="0" normalizeH="0" baseline="0" noProof="0">
                <a:ln>
                  <a:noFill/>
                </a:ln>
                <a:solidFill>
                  <a:srgbClr val="313131"/>
                </a:solidFill>
                <a:effectLst/>
                <a:uLnTx/>
                <a:uFillTx/>
                <a:latin typeface="Aptos"/>
                <a:ea typeface="+mn-ea"/>
                <a:cs typeface="+mn-cs"/>
              </a:rPr>
              <a:t> first-party stack is optimized for Claude, resulting in vendor lock-in.</a:t>
            </a:r>
          </a:p>
        </p:txBody>
      </p:sp>
      <p:sp>
        <p:nvSpPr>
          <p:cNvPr id="7" name="Rectangle 6">
            <a:extLst>
              <a:ext uri="{FF2B5EF4-FFF2-40B4-BE49-F238E27FC236}">
                <a16:creationId xmlns:a16="http://schemas.microsoft.com/office/drawing/2014/main" id="{31E18F28-4F27-27C6-BA69-158CA123D5EE}"/>
              </a:ext>
            </a:extLst>
          </p:cNvPr>
          <p:cNvSpPr/>
          <p:nvPr/>
        </p:nvSpPr>
        <p:spPr bwMode="gray">
          <a:xfrm>
            <a:off x="382772" y="5725430"/>
            <a:ext cx="11348980" cy="636397"/>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Position Zora as the business-outcome layer:</a:t>
            </a:r>
            <a:r>
              <a:rPr kumimoji="0" lang="en-US" sz="1200" b="0" i="0" u="none" strike="noStrike" kern="1200" cap="none" spc="0" normalizeH="0" baseline="0" noProof="0">
                <a:ln>
                  <a:noFill/>
                </a:ln>
                <a:solidFill>
                  <a:prstClr val="black"/>
                </a:solidFill>
                <a:effectLst/>
                <a:uLnTx/>
                <a:uFillTx/>
                <a:latin typeface="Aptos"/>
                <a:ea typeface="+mn-ea"/>
                <a:cs typeface="+mn-cs"/>
              </a:rPr>
              <a:t> Emphasize Zora’s ready to deploy packaged functional workflows without starting from scratch. The preferred platform can continue to provide model, build and governance capabilities.</a:t>
            </a:r>
            <a:endParaRPr kumimoji="0" lang="en-US" sz="1200" b="0" i="0" u="none" strike="noStrike" kern="1200" cap="none" spc="0" normalizeH="0" baseline="0" noProof="0">
              <a:ln>
                <a:noFill/>
              </a:ln>
              <a:solidFill>
                <a:prstClr val="black"/>
              </a:solidFill>
              <a:effectLst/>
              <a:highlight>
                <a:srgbClr val="FFFF00"/>
              </a:highlight>
              <a:uLnTx/>
              <a:uFillTx/>
              <a:latin typeface="Aptos"/>
              <a:ea typeface="+mn-ea"/>
              <a:cs typeface="+mn-cs"/>
            </a:endParaRPr>
          </a:p>
        </p:txBody>
      </p:sp>
      <p:sp>
        <p:nvSpPr>
          <p:cNvPr id="9" name="Rectangle: Rounded Corners 8">
            <a:extLst>
              <a:ext uri="{FF2B5EF4-FFF2-40B4-BE49-F238E27FC236}">
                <a16:creationId xmlns:a16="http://schemas.microsoft.com/office/drawing/2014/main" id="{AD5C42F8-DF40-3E62-77FF-18552D95A462}"/>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11" name="Rectangle: Rounded Corners 10">
            <a:extLst>
              <a:ext uri="{FF2B5EF4-FFF2-40B4-BE49-F238E27FC236}">
                <a16:creationId xmlns:a16="http://schemas.microsoft.com/office/drawing/2014/main" id="{213FAF24-6B5C-325A-7F9C-ECD8CD84D1C3}"/>
              </a:ext>
            </a:extLst>
          </p:cNvPr>
          <p:cNvSpPr/>
          <p:nvPr/>
        </p:nvSpPr>
        <p:spPr bwMode="gray">
          <a:xfrm>
            <a:off x="473313" y="1977655"/>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sysClr val="windowText" lastClr="000000"/>
                </a:solidFill>
                <a:effectLst/>
                <a:uLnTx/>
                <a:uFillTx/>
                <a:latin typeface="Aptos"/>
                <a:ea typeface="+mn-ea"/>
                <a:cs typeface="+mn-cs"/>
              </a:rPr>
              <a:t>Claude Cowork; Claude Code (developer workflow)</a:t>
            </a:r>
          </a:p>
        </p:txBody>
      </p:sp>
      <p:sp>
        <p:nvSpPr>
          <p:cNvPr id="13" name="Rectangle: Rounded Corners 12">
            <a:extLst>
              <a:ext uri="{FF2B5EF4-FFF2-40B4-BE49-F238E27FC236}">
                <a16:creationId xmlns:a16="http://schemas.microsoft.com/office/drawing/2014/main" id="{664DC8A6-A02C-45F5-99BB-BDF483464B66}"/>
              </a:ext>
            </a:extLst>
          </p:cNvPr>
          <p:cNvSpPr/>
          <p:nvPr/>
        </p:nvSpPr>
        <p:spPr bwMode="gray">
          <a:xfrm>
            <a:off x="1259176" y="1971024"/>
            <a:ext cx="731520" cy="1463040"/>
          </a:xfrm>
          <a:prstGeom prst="roundRect">
            <a:avLst/>
          </a:prstGeom>
          <a:solidFill>
            <a:schemeClr val="accent1">
              <a:lumMod val="20000"/>
              <a:lumOff val="80000"/>
            </a:schemeClr>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8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a:ea typeface="+mn-ea"/>
                <a:cs typeface="+mn-cs"/>
              </a:rPr>
              <a:t>Claude for financial services, healthcare, life sciences</a:t>
            </a:r>
          </a:p>
        </p:txBody>
      </p:sp>
      <p:sp>
        <p:nvSpPr>
          <p:cNvPr id="15" name="Rectangle: Rounded Corners 14">
            <a:extLst>
              <a:ext uri="{FF2B5EF4-FFF2-40B4-BE49-F238E27FC236}">
                <a16:creationId xmlns:a16="http://schemas.microsoft.com/office/drawing/2014/main" id="{13472C6E-6984-1BC3-F137-949A74F9ABB0}"/>
              </a:ext>
            </a:extLst>
          </p:cNvPr>
          <p:cNvSpPr/>
          <p:nvPr/>
        </p:nvSpPr>
        <p:spPr bwMode="gray">
          <a:xfrm>
            <a:off x="2045039"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7" name="Rectangle: Rounded Corners 16">
            <a:extLst>
              <a:ext uri="{FF2B5EF4-FFF2-40B4-BE49-F238E27FC236}">
                <a16:creationId xmlns:a16="http://schemas.microsoft.com/office/drawing/2014/main" id="{33ABB9CE-5D69-80D5-7573-60854FE12C52}"/>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0" i="0" u="none" strike="noStrike" kern="1200" cap="none" spc="0" normalizeH="0" baseline="0" noProof="0">
                <a:ln>
                  <a:noFill/>
                </a:ln>
                <a:solidFill>
                  <a:prstClr val="black"/>
                </a:solidFill>
                <a:effectLst/>
                <a:uLnTx/>
                <a:uFillTx/>
                <a:latin typeface="Aptos"/>
                <a:ea typeface="+mn-ea"/>
                <a:cs typeface="+mn-cs"/>
              </a:rPr>
              <a:t>Claude Agent SDK, Claude Managed Agents, Computer Use, Claude Connectors</a:t>
            </a:r>
          </a:p>
        </p:txBody>
      </p:sp>
      <p:sp>
        <p:nvSpPr>
          <p:cNvPr id="22" name="TextBox 21">
            <a:extLst>
              <a:ext uri="{FF2B5EF4-FFF2-40B4-BE49-F238E27FC236}">
                <a16:creationId xmlns:a16="http://schemas.microsoft.com/office/drawing/2014/main" id="{68A1E327-017C-9C87-56EB-0011A6F02F66}"/>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DC1DEC33-5EF6-8DE1-04E2-2D775806BF90}"/>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E09210FE-95EA-66D2-0EA3-673FAA55BA20}"/>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175485BD-4015-4A2A-D8F3-6261A22FF39D}"/>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9EC99A22-EA2B-449B-D7AD-E2765DB9627B}"/>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CA09D745-2C72-9BDF-DB2D-6B0CF8122805}"/>
              </a:ext>
            </a:extLst>
          </p:cNvPr>
          <p:cNvCxnSpPr>
            <a:cxnSpLocks/>
          </p:cNvCxnSpPr>
          <p:nvPr/>
        </p:nvCxnSpPr>
        <p:spPr>
          <a:xfrm>
            <a:off x="3007177" y="1283637"/>
            <a:ext cx="0" cy="3980762"/>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077F6A4E-EEA8-BB02-0FEE-2473AA74A31F}"/>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6146" name="Picture 2" descr="Download Anthropic Logo in SVG Vector or PNG File Format ...">
            <a:extLst>
              <a:ext uri="{FF2B5EF4-FFF2-40B4-BE49-F238E27FC236}">
                <a16:creationId xmlns:a16="http://schemas.microsoft.com/office/drawing/2014/main" id="{35962535-FBB1-EEB1-045D-9807D71DF1F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74008" y="0"/>
            <a:ext cx="1080332" cy="750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4449099"/>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98C19-95F9-4C88-081F-085DCF8E938F}"/>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5315ACE-9EA7-38AF-B12D-7AE91F27D15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6" progId="TCLayout.ActiveDocument.1">
                  <p:embed/>
                </p:oleObj>
              </mc:Choice>
              <mc:Fallback>
                <p:oleObj name="think-cell Slide" r:id="rId3" imgW="424" imgH="426" progId="TCLayout.ActiveDocument.1">
                  <p:embed/>
                  <p:pic>
                    <p:nvPicPr>
                      <p:cNvPr id="3" name="think-cell data - do not delete" hidden="1">
                        <a:extLst>
                          <a:ext uri="{FF2B5EF4-FFF2-40B4-BE49-F238E27FC236}">
                            <a16:creationId xmlns:a16="http://schemas.microsoft.com/office/drawing/2014/main" id="{85315ACE-9EA7-38AF-B12D-7AE91F27D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DDDD597-BE31-5038-BE98-59020CBD9D4B}"/>
              </a:ext>
            </a:extLst>
          </p:cNvPr>
          <p:cNvSpPr>
            <a:spLocks noGrp="1"/>
          </p:cNvSpPr>
          <p:nvPr>
            <p:ph type="title"/>
          </p:nvPr>
        </p:nvSpPr>
        <p:spPr>
          <a:xfrm>
            <a:off x="792480" y="4456176"/>
            <a:ext cx="11274552" cy="1592403"/>
          </a:xfrm>
        </p:spPr>
        <p:txBody>
          <a:bodyPr vert="horz" rIns="0"/>
          <a:lstStyle/>
          <a:p>
            <a:r>
              <a:rPr lang="en-US" sz="2800"/>
              <a:t>Competitor Profiles: </a:t>
            </a:r>
            <a:r>
              <a:rPr lang="en-US" sz="2800" i="1">
                <a:solidFill>
                  <a:srgbClr val="007680"/>
                </a:solidFill>
              </a:rPr>
              <a:t>Point Solutions</a:t>
            </a:r>
          </a:p>
        </p:txBody>
      </p:sp>
    </p:spTree>
    <p:extLst>
      <p:ext uri="{BB962C8B-B14F-4D97-AF65-F5344CB8AC3E}">
        <p14:creationId xmlns:p14="http://schemas.microsoft.com/office/powerpoint/2010/main" val="356036186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76080-8023-D2ED-4FE1-3FA9F71C08C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9F8F652-F1F8-940B-041D-6CBCF39F259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D9F8F652-F1F8-940B-041D-6CBCF39F259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95B7C0C7-1B6C-36DF-90B2-9B33B70F481E}"/>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FCFFBD2-85E3-5F89-16D9-244BC659FE5B}"/>
              </a:ext>
            </a:extLst>
          </p:cNvPr>
          <p:cNvSpPr>
            <a:spLocks noGrp="1"/>
          </p:cNvSpPr>
          <p:nvPr>
            <p:ph type="title"/>
          </p:nvPr>
        </p:nvSpPr>
        <p:spPr/>
        <p:txBody>
          <a:bodyPr vert="horz" rIns="0"/>
          <a:lstStyle/>
          <a:p>
            <a:r>
              <a:rPr lang="en-US" sz="2000" b="1">
                <a:solidFill>
                  <a:srgbClr val="282728"/>
                </a:solidFill>
                <a:latin typeface="Aptos"/>
              </a:rPr>
              <a:t>HighRadius</a:t>
            </a:r>
            <a:endParaRPr lang="en-US"/>
          </a:p>
        </p:txBody>
      </p:sp>
      <p:sp>
        <p:nvSpPr>
          <p:cNvPr id="4" name="TextBox 3">
            <a:extLst>
              <a:ext uri="{FF2B5EF4-FFF2-40B4-BE49-F238E27FC236}">
                <a16:creationId xmlns:a16="http://schemas.microsoft.com/office/drawing/2014/main" id="{3FE279F5-AC4F-48B4-990B-B308850385BB}"/>
              </a:ext>
            </a:extLst>
          </p:cNvPr>
          <p:cNvSpPr txBox="1"/>
          <p:nvPr/>
        </p:nvSpPr>
        <p:spPr>
          <a:xfrm>
            <a:off x="382772" y="687992"/>
            <a:ext cx="1006754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HighRadius claims deeper finance-specific automation with outcome-based pricing, but is limited to SaaS deployment</a:t>
            </a:r>
          </a:p>
        </p:txBody>
      </p:sp>
      <p:sp>
        <p:nvSpPr>
          <p:cNvPr id="6" name="TextBox 5">
            <a:extLst>
              <a:ext uri="{FF2B5EF4-FFF2-40B4-BE49-F238E27FC236}">
                <a16:creationId xmlns:a16="http://schemas.microsoft.com/office/drawing/2014/main" id="{483BC7B7-03A9-0F7A-1AA6-15A58A4D3698}"/>
              </a:ext>
            </a:extLst>
          </p:cNvPr>
          <p:cNvSpPr txBox="1"/>
          <p:nvPr/>
        </p:nvSpPr>
        <p:spPr>
          <a:xfrm>
            <a:off x="3222171" y="1106424"/>
            <a:ext cx="8509580" cy="44319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are HighRadius’ offerings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HighRadius has a narrower but deeper focus within the Finance domain.</a:t>
            </a:r>
            <a:endParaRPr kumimoji="0" lang="en-US" sz="1200" b="0" i="0" u="none" strike="noStrike" kern="1200" cap="none" spc="0" normalizeH="0" baseline="0" noProof="0">
              <a:ln>
                <a:noFill/>
              </a:ln>
              <a:solidFill>
                <a:srgbClr val="313131"/>
              </a:solidFill>
              <a:effectLst/>
              <a:highlight>
                <a:srgbClr val="FFFF00"/>
              </a:highlight>
              <a:uLnTx/>
              <a:uFillTx/>
              <a:latin typeface="Aptos"/>
              <a:ea typeface="+mn-ea"/>
              <a:cs typeface="+mn-cs"/>
            </a:endParaRP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It is built around receivables, payables, close, consolidation, cash forecasting, and treasury workflows, with explicit workflow modules and KPI claims tied to those processes. </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Zora is presented as a cross-functional agent workforce capable of running complex business functions across multiple enterprise domains beyond finance (i.e., supply chain, procurement).</a:t>
            </a:r>
            <a:endParaRPr kumimoji="0" lang="en-US" sz="1200" b="0" i="0" u="none" strike="noStrike" kern="1200" cap="none" spc="0" normalizeH="0" baseline="0" noProof="0">
              <a:ln>
                <a:noFill/>
              </a:ln>
              <a:solidFill>
                <a:srgbClr val="313131"/>
              </a:solidFill>
              <a:effectLst/>
              <a:highlight>
                <a:srgbClr val="FFFF00"/>
              </a:highligh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HighRadius winning compared to Zora?</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Domain Depth in Finance – Claims</a:t>
            </a:r>
            <a:r>
              <a:rPr kumimoji="0" lang="en-US" sz="1200" b="1" i="0" u="none" strike="noStrike" kern="1200" cap="none" spc="0" normalizeH="0" baseline="0" noProof="0">
                <a:ln>
                  <a:noFill/>
                </a:ln>
                <a:solidFill>
                  <a:srgbClr val="313131"/>
                </a:solidFill>
                <a:effectLst/>
                <a:uLnTx/>
                <a:uFillTx/>
                <a:latin typeface="Aptos"/>
                <a:ea typeface="+mn-ea"/>
                <a:cs typeface="+mn-cs"/>
              </a:rPr>
              <a:t> </a:t>
            </a:r>
            <a:r>
              <a:rPr kumimoji="0" lang="en-US" sz="1200" b="0" i="0" u="none" strike="noStrike" kern="1200" cap="none" spc="0" normalizeH="0" baseline="0" noProof="0">
                <a:ln>
                  <a:noFill/>
                </a:ln>
                <a:solidFill>
                  <a:srgbClr val="313131"/>
                </a:solidFill>
                <a:effectLst/>
                <a:uLnTx/>
                <a:uFillTx/>
                <a:latin typeface="Aptos"/>
                <a:ea typeface="+mn-ea"/>
                <a:cs typeface="+mn-cs"/>
              </a:rPr>
              <a:t>to address more </a:t>
            </a: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workflows</a:t>
            </a:r>
            <a:r>
              <a:rPr kumimoji="0" lang="en-US" sz="1200" b="0" i="0" u="none" strike="noStrike" kern="1200" cap="none" spc="0" normalizeH="0" baseline="0" noProof="0">
                <a:ln>
                  <a:noFill/>
                </a:ln>
                <a:solidFill>
                  <a:srgbClr val="313131"/>
                </a:solidFill>
                <a:effectLst/>
                <a:uLnTx/>
                <a:uFillTx/>
                <a:latin typeface="Aptos"/>
                <a:ea typeface="+mn-ea"/>
                <a:cs typeface="+mn-cs"/>
              </a:rPr>
              <a:t>, operational KPIs, and customer </a:t>
            </a:r>
            <a:r>
              <a:rPr kumimoji="0" lang="en-US" sz="1200" b="0" i="0" u="none" strike="noStrike" kern="1200" cap="none" spc="0" normalizeH="0" baseline="0" noProof="0">
                <a:ln>
                  <a:noFill/>
                </a:ln>
                <a:solidFill>
                  <a:srgbClr val="313131"/>
                </a:solidFill>
                <a:effectLst/>
                <a:uLnTx/>
                <a:uFillTx/>
                <a:latin typeface="Aptos"/>
                <a:ea typeface="+mn-ea"/>
                <a:cs typeface="+mn-cs"/>
                <a:hlinkClick r:id="rId6"/>
              </a:rPr>
              <a:t>outcomes</a:t>
            </a:r>
            <a:r>
              <a:rPr kumimoji="0" lang="en-US" sz="1200" b="0" i="0" u="none" strike="noStrike" kern="1200" cap="none" spc="0" normalizeH="0" baseline="0" noProof="0">
                <a:ln>
                  <a:noFill/>
                </a:ln>
                <a:solidFill>
                  <a:srgbClr val="313131"/>
                </a:solidFill>
                <a:effectLst/>
                <a:uLnTx/>
                <a:uFillTx/>
                <a:latin typeface="Aptos"/>
                <a:ea typeface="+mn-ea"/>
                <a:cs typeface="+mn-cs"/>
              </a:rPr>
              <a:t> in finance</a:t>
            </a:r>
            <a:endParaRPr kumimoji="0" lang="en-US" sz="1200" b="1" i="0" u="none" strike="noStrike" kern="1200" cap="none" spc="0" normalizeH="0" baseline="0" noProof="0">
              <a:ln>
                <a:noFill/>
              </a:ln>
              <a:solidFill>
                <a:srgbClr val="313131"/>
              </a:solidFill>
              <a:effectLst/>
              <a:uLnTx/>
              <a:uFillTx/>
              <a:latin typeface="Aptos"/>
              <a:ea typeface="+mn-ea"/>
              <a:cs typeface="+mn-cs"/>
            </a:endParaRP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Low upfront costs to deploy and value based pricing – </a:t>
            </a:r>
            <a:r>
              <a:rPr kumimoji="0" lang="en-US" sz="1200" b="0" i="0" u="none" strike="noStrike" kern="1200" cap="none" spc="0" normalizeH="0" baseline="0" noProof="0">
                <a:ln>
                  <a:noFill/>
                </a:ln>
                <a:solidFill>
                  <a:srgbClr val="313131"/>
                </a:solidFill>
                <a:effectLst/>
                <a:uLnTx/>
                <a:uFillTx/>
                <a:latin typeface="Aptos"/>
                <a:ea typeface="+mn-ea"/>
                <a:cs typeface="+mn-cs"/>
                <a:hlinkClick r:id="rId7"/>
              </a:rPr>
              <a:t>Markets</a:t>
            </a:r>
            <a:r>
              <a:rPr kumimoji="0" lang="en-US" sz="1200" b="0" i="0" u="none" strike="noStrike" kern="1200" cap="none" spc="0" normalizeH="0" baseline="0" noProof="0">
                <a:ln>
                  <a:noFill/>
                </a:ln>
                <a:solidFill>
                  <a:srgbClr val="313131"/>
                </a:solidFill>
                <a:effectLst/>
                <a:uLnTx/>
                <a:uFillTx/>
                <a:latin typeface="Aptos"/>
                <a:ea typeface="+mn-ea"/>
                <a:cs typeface="+mn-cs"/>
              </a:rPr>
              <a:t> outcome-based pricing, zero implementation and subscription fees until go-live, then gain-share / value-based economics afterward</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Integration and Time to Value – Provides a broad array of </a:t>
            </a:r>
            <a:r>
              <a:rPr kumimoji="0" lang="en-US" sz="1200" b="0" i="0" u="none" strike="noStrike" kern="1200" cap="none" spc="0" normalizeH="0" baseline="0" noProof="0">
                <a:ln>
                  <a:noFill/>
                </a:ln>
                <a:solidFill>
                  <a:srgbClr val="313131"/>
                </a:solidFill>
                <a:effectLst/>
                <a:uLnTx/>
                <a:uFillTx/>
                <a:latin typeface="Aptos"/>
                <a:ea typeface="+mn-ea"/>
                <a:cs typeface="+mn-cs"/>
                <a:hlinkClick r:id="rId8"/>
              </a:rPr>
              <a:t>integration</a:t>
            </a:r>
            <a:r>
              <a:rPr kumimoji="0" lang="en-US" sz="1200" b="0" i="0" u="none" strike="noStrike" kern="1200" cap="none" spc="0" normalizeH="0" baseline="0" noProof="0">
                <a:ln>
                  <a:noFill/>
                </a:ln>
                <a:solidFill>
                  <a:srgbClr val="313131"/>
                </a:solidFill>
                <a:effectLst/>
                <a:uLnTx/>
                <a:uFillTx/>
                <a:latin typeface="Aptos"/>
                <a:ea typeface="+mn-ea"/>
                <a:cs typeface="+mn-cs"/>
              </a:rPr>
              <a:t> capabilities across the Finance ecosystem, including 50+ ERP connectors, support for SAP/Oracle/ Dynamics/NetSuite, and </a:t>
            </a:r>
            <a:r>
              <a:rPr kumimoji="0" lang="en-US" sz="1200" b="0" i="0" u="none" strike="noStrike" kern="1200" cap="none" spc="0" normalizeH="0" baseline="0" noProof="0">
                <a:ln>
                  <a:noFill/>
                </a:ln>
                <a:solidFill>
                  <a:srgbClr val="313131"/>
                </a:solidFill>
                <a:effectLst/>
                <a:uLnTx/>
                <a:uFillTx/>
                <a:latin typeface="Aptos"/>
                <a:ea typeface="+mn-ea"/>
                <a:cs typeface="+mn-cs"/>
                <a:hlinkClick r:id="rId9"/>
              </a:rPr>
              <a:t>published</a:t>
            </a:r>
            <a:r>
              <a:rPr kumimoji="0" lang="en-US" sz="1200" b="0" i="0" u="none" strike="noStrike" kern="1200" cap="none" spc="0" normalizeH="0" baseline="0" noProof="0">
                <a:ln>
                  <a:noFill/>
                </a:ln>
                <a:solidFill>
                  <a:srgbClr val="313131"/>
                </a:solidFill>
                <a:effectLst/>
                <a:uLnTx/>
                <a:uFillTx/>
                <a:latin typeface="Aptos"/>
                <a:ea typeface="+mn-ea"/>
                <a:cs typeface="+mn-cs"/>
              </a:rPr>
              <a:t> implementation targets of 3–6 months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High level of Autonomy – </a:t>
            </a:r>
            <a:r>
              <a:rPr kumimoji="0" lang="en-US" sz="1200" b="0" i="0" u="none" strike="noStrike" kern="1200" cap="none" spc="0" normalizeH="0" baseline="0" noProof="0">
                <a:ln>
                  <a:noFill/>
                </a:ln>
                <a:solidFill>
                  <a:srgbClr val="313131"/>
                </a:solidFill>
                <a:effectLst/>
                <a:uLnTx/>
                <a:uFillTx/>
                <a:latin typeface="Aptos"/>
                <a:ea typeface="+mn-ea"/>
                <a:cs typeface="+mn-cs"/>
                <a:hlinkClick r:id="rId10"/>
              </a:rPr>
              <a:t>Claims</a:t>
            </a:r>
            <a:r>
              <a:rPr kumimoji="0" lang="en-US" sz="1200" b="0" i="0" u="none" strike="noStrike" kern="1200" cap="none" spc="0" normalizeH="0" baseline="0" noProof="0">
                <a:ln>
                  <a:noFill/>
                </a:ln>
                <a:solidFill>
                  <a:srgbClr val="313131"/>
                </a:solidFill>
                <a:effectLst/>
                <a:uLnTx/>
                <a:uFillTx/>
                <a:latin typeface="Aptos"/>
                <a:ea typeface="+mn-ea"/>
                <a:cs typeface="+mn-cs"/>
              </a:rPr>
              <a:t> that two products, Cash Application and Cash Forecasting, are fully autonomous with 90% touchless automation. Targets to deliver fully autonomous capabilities across the Office of the CFO by 2027</a:t>
            </a:r>
            <a:endParaRPr kumimoji="0" lang="en-US" sz="1200" b="1" i="0" u="none" strike="noStrike" kern="1200" cap="none" spc="0" normalizeH="0" baseline="0" noProof="0">
              <a:ln>
                <a:noFill/>
              </a:ln>
              <a:solidFill>
                <a:srgbClr val="313131"/>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Zora stronger than HighRadius?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Breadth and enterprise positioning – Zora frames a broader scope of digital workers across finance, tax, procurement, HR, IT, and adjacent functions, highlighting interoperability with other agents, e.g., SAP Joule/BTP and Oracle AI Agent Studio</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Deployment flexibility – HighRadius appears to be SaaS-first, with no independently verified private cloud hosting options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200" b="0" i="0" u="none" strike="noStrike" kern="1200" cap="none" spc="0" normalizeH="0" baseline="0" noProof="0">
              <a:ln>
                <a:noFill/>
              </a:ln>
              <a:solidFill>
                <a:srgbClr val="313131"/>
              </a:solidFill>
              <a:effectLst/>
              <a:uLnTx/>
              <a:uFillTx/>
              <a:latin typeface="Aptos"/>
              <a:ea typeface="+mn-ea"/>
              <a:cs typeface="+mn-cs"/>
            </a:endParaRPr>
          </a:p>
        </p:txBody>
      </p:sp>
      <p:sp>
        <p:nvSpPr>
          <p:cNvPr id="7" name="Rectangle 6">
            <a:extLst>
              <a:ext uri="{FF2B5EF4-FFF2-40B4-BE49-F238E27FC236}">
                <a16:creationId xmlns:a16="http://schemas.microsoft.com/office/drawing/2014/main" id="{15A65348-3911-2D29-C959-1963EE10D652}"/>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Make deployment and trust explicit: </a:t>
            </a:r>
            <a:r>
              <a:rPr kumimoji="0" lang="en-US" sz="1200" b="0" i="0" u="none" strike="noStrike" kern="1200" cap="none" spc="0" normalizeH="0" baseline="0" noProof="0">
                <a:ln>
                  <a:noFill/>
                </a:ln>
                <a:solidFill>
                  <a:prstClr val="black"/>
                </a:solidFill>
                <a:effectLst/>
                <a:uLnTx/>
                <a:uFillTx/>
                <a:latin typeface="Aptos"/>
                <a:ea typeface="+mn-ea"/>
                <a:cs typeface="+mn-cs"/>
              </a:rPr>
              <a:t> Highlight hybrid / OCI / private-cloud options, especially  among clients with data residency, sovereignty or infrastructure requirements</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Position Breadth: </a:t>
            </a:r>
            <a:r>
              <a:rPr kumimoji="0" lang="en-US" sz="1200" b="0" i="0" u="none" strike="noStrike" kern="1200" cap="none" spc="0" normalizeH="0" baseline="0" noProof="0">
                <a:ln>
                  <a:noFill/>
                </a:ln>
                <a:solidFill>
                  <a:prstClr val="black"/>
                </a:solidFill>
                <a:effectLst/>
                <a:uLnTx/>
                <a:uFillTx/>
                <a:latin typeface="Aptos"/>
                <a:ea typeface="+mn-ea"/>
                <a:cs typeface="+mn-cs"/>
              </a:rPr>
              <a:t>Position as the layer that can connect finance with procurement, HR, IT, SAP, and Oracle workflows without fragmenting decisions across tools</a:t>
            </a:r>
          </a:p>
        </p:txBody>
      </p:sp>
      <p:sp>
        <p:nvSpPr>
          <p:cNvPr id="22" name="TextBox 21">
            <a:extLst>
              <a:ext uri="{FF2B5EF4-FFF2-40B4-BE49-F238E27FC236}">
                <a16:creationId xmlns:a16="http://schemas.microsoft.com/office/drawing/2014/main" id="{E04A8B0E-AF3D-65F0-EA9C-202639EBADE7}"/>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10C332C7-1CBF-FAB8-B1B5-E03A5C0B1362}"/>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8EDC2F10-5816-C4EF-4063-E851CA66827A}"/>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A91A158F-EEF6-A42E-32AF-D32217A7C85D}"/>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C8C86D8D-B760-EB0B-0E40-458F67EA4078}"/>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DDC58B20-AB78-30AB-733B-4B6BEC5D1CC4}"/>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pic>
        <p:nvPicPr>
          <p:cNvPr id="29" name="Picture 2" descr="HighRadius Announces a 2027 Goal of Releasing a Fully ...">
            <a:extLst>
              <a:ext uri="{FF2B5EF4-FFF2-40B4-BE49-F238E27FC236}">
                <a16:creationId xmlns:a16="http://schemas.microsoft.com/office/drawing/2014/main" id="{A8269B43-002F-8311-CACC-8884988B25F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844617" y="85841"/>
            <a:ext cx="1080977" cy="627391"/>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Rounded Corners 33">
            <a:extLst>
              <a:ext uri="{FF2B5EF4-FFF2-40B4-BE49-F238E27FC236}">
                <a16:creationId xmlns:a16="http://schemas.microsoft.com/office/drawing/2014/main" id="{72EE4985-DCF7-1808-BEC0-35FE6FECDD3C}"/>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36" name="Rectangle: Rounded Corners 35">
            <a:extLst>
              <a:ext uri="{FF2B5EF4-FFF2-40B4-BE49-F238E27FC236}">
                <a16:creationId xmlns:a16="http://schemas.microsoft.com/office/drawing/2014/main" id="{5A5300F9-29EA-0AB3-DE8C-BC4399FB259B}"/>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p:txBody>
      </p:sp>
      <p:sp>
        <p:nvSpPr>
          <p:cNvPr id="38" name="Rectangle: Rounded Corners 37">
            <a:extLst>
              <a:ext uri="{FF2B5EF4-FFF2-40B4-BE49-F238E27FC236}">
                <a16:creationId xmlns:a16="http://schemas.microsoft.com/office/drawing/2014/main" id="{9119DB1A-3695-B8E4-68C0-91913E70AD50}"/>
              </a:ext>
            </a:extLst>
          </p:cNvPr>
          <p:cNvSpPr/>
          <p:nvPr/>
        </p:nvSpPr>
        <p:spPr bwMode="gray">
          <a:xfrm>
            <a:off x="1259176" y="1971024"/>
            <a:ext cx="731520" cy="1463040"/>
          </a:xfrm>
          <a:prstGeom prst="roundRect">
            <a:avLst/>
          </a:prstGeom>
          <a:solidFill>
            <a:srgbClr val="E3E48D"/>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Aptos"/>
                <a:ea typeface="+mn-ea"/>
                <a:cs typeface="+mn-cs"/>
              </a:rPr>
              <a:t>Embedded across Finance Modules</a:t>
            </a: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40" name="Rectangle: Rounded Corners 39">
            <a:extLst>
              <a:ext uri="{FF2B5EF4-FFF2-40B4-BE49-F238E27FC236}">
                <a16:creationId xmlns:a16="http://schemas.microsoft.com/office/drawing/2014/main" id="{5D6FC18D-BBA0-A8BD-0523-81FE002DE19D}"/>
              </a:ext>
            </a:extLst>
          </p:cNvPr>
          <p:cNvSpPr/>
          <p:nvPr/>
        </p:nvSpPr>
        <p:spPr bwMode="gray">
          <a:xfrm>
            <a:off x="2045039"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42" name="Rectangle: Rounded Corners 41">
            <a:extLst>
              <a:ext uri="{FF2B5EF4-FFF2-40B4-BE49-F238E27FC236}">
                <a16:creationId xmlns:a16="http://schemas.microsoft.com/office/drawing/2014/main" id="{7E7562DB-4BEA-943B-B497-4D9A20A5AB15}"/>
              </a:ext>
            </a:extLst>
          </p:cNvPr>
          <p:cNvSpPr/>
          <p:nvPr/>
        </p:nvSpPr>
        <p:spPr bwMode="gray">
          <a:xfrm>
            <a:off x="429769" y="3639561"/>
            <a:ext cx="2377440" cy="816923"/>
          </a:xfrm>
          <a:prstGeom prst="roundRect">
            <a:avLst/>
          </a:prstGeom>
          <a:solidFill>
            <a:schemeClr val="bg1"/>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sp>
        <p:nvSpPr>
          <p:cNvPr id="44" name="Rectangle: Rounded Corners 43">
            <a:extLst>
              <a:ext uri="{FF2B5EF4-FFF2-40B4-BE49-F238E27FC236}">
                <a16:creationId xmlns:a16="http://schemas.microsoft.com/office/drawing/2014/main" id="{601B0AB5-0A1A-09B1-0493-C76131CEF24E}"/>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337741920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72FF0-EBC9-4204-D5F9-2BF67C78DFC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E94C0E5-77F4-CD9A-8BF1-755E52D6121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3" name="think-cell data - do not delete" hidden="1">
                        <a:extLst>
                          <a:ext uri="{FF2B5EF4-FFF2-40B4-BE49-F238E27FC236}">
                            <a16:creationId xmlns:a16="http://schemas.microsoft.com/office/drawing/2014/main" id="{6E94C0E5-77F4-CD9A-8BF1-755E52D612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32" name="Straight Connector 31">
            <a:extLst>
              <a:ext uri="{FF2B5EF4-FFF2-40B4-BE49-F238E27FC236}">
                <a16:creationId xmlns:a16="http://schemas.microsoft.com/office/drawing/2014/main" id="{466AFC8D-08EB-7152-8955-D4C880F44FE4}"/>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B584043-8B95-54C2-E63C-0016F86C5945}"/>
              </a:ext>
            </a:extLst>
          </p:cNvPr>
          <p:cNvSpPr>
            <a:spLocks noGrp="1"/>
          </p:cNvSpPr>
          <p:nvPr>
            <p:ph type="title"/>
          </p:nvPr>
        </p:nvSpPr>
        <p:spPr/>
        <p:txBody>
          <a:bodyPr vert="horz" rIns="0"/>
          <a:lstStyle/>
          <a:p>
            <a:r>
              <a:rPr lang="en-US" sz="2000" b="1" err="1">
                <a:solidFill>
                  <a:srgbClr val="282728"/>
                </a:solidFill>
                <a:latin typeface="Aptos"/>
              </a:rPr>
              <a:t>DataRails</a:t>
            </a:r>
            <a:endParaRPr lang="en-US"/>
          </a:p>
        </p:txBody>
      </p:sp>
      <p:sp>
        <p:nvSpPr>
          <p:cNvPr id="4" name="TextBox 3">
            <a:extLst>
              <a:ext uri="{FF2B5EF4-FFF2-40B4-BE49-F238E27FC236}">
                <a16:creationId xmlns:a16="http://schemas.microsoft.com/office/drawing/2014/main" id="{37A8C48C-5E49-AF8E-60C1-D01A514B8E0C}"/>
              </a:ext>
            </a:extLst>
          </p:cNvPr>
          <p:cNvSpPr txBox="1"/>
          <p:nvPr/>
        </p:nvSpPr>
        <p:spPr>
          <a:xfrm>
            <a:off x="382772" y="687992"/>
            <a:ext cx="1180922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err="1">
                <a:ln>
                  <a:noFill/>
                </a:ln>
                <a:solidFill>
                  <a:prstClr val="black"/>
                </a:solidFill>
                <a:effectLst/>
                <a:uLnTx/>
                <a:uFillTx/>
                <a:latin typeface="Aptos"/>
                <a:ea typeface="+mn-ea"/>
                <a:cs typeface="+mn-cs"/>
              </a:rPr>
              <a:t>DataRails</a:t>
            </a:r>
            <a:r>
              <a:rPr kumimoji="0" lang="en-US" sz="1400" b="1" i="1" u="sng" strike="noStrike" kern="1200" cap="none" spc="0" normalizeH="0" baseline="0" noProof="0">
                <a:ln>
                  <a:noFill/>
                </a:ln>
                <a:solidFill>
                  <a:prstClr val="black"/>
                </a:solidFill>
                <a:effectLst/>
                <a:uLnTx/>
                <a:uFillTx/>
                <a:latin typeface="Aptos"/>
                <a:ea typeface="+mn-ea"/>
                <a:cs typeface="+mn-cs"/>
              </a:rPr>
              <a:t> packages Excel-native FP&amp;A agents for SMB and mid-market finance teams; Zora brings a broader, enterprise-grade digital workforce</a:t>
            </a:r>
          </a:p>
        </p:txBody>
      </p:sp>
      <p:sp>
        <p:nvSpPr>
          <p:cNvPr id="6" name="TextBox 5">
            <a:extLst>
              <a:ext uri="{FF2B5EF4-FFF2-40B4-BE49-F238E27FC236}">
                <a16:creationId xmlns:a16="http://schemas.microsoft.com/office/drawing/2014/main" id="{8182F41A-9676-7A01-47B7-42A8A3B1E8D9}"/>
              </a:ext>
            </a:extLst>
          </p:cNvPr>
          <p:cNvSpPr txBox="1"/>
          <p:nvPr/>
        </p:nvSpPr>
        <p:spPr>
          <a:xfrm>
            <a:off x="3222171" y="1106424"/>
            <a:ext cx="8509580" cy="44319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are </a:t>
            </a:r>
            <a:r>
              <a:rPr kumimoji="0" lang="en-US" sz="1200" b="1" i="0" u="none" strike="noStrike" kern="1200" cap="none" spc="0" normalizeH="0" baseline="0" noProof="0" err="1">
                <a:ln>
                  <a:noFill/>
                </a:ln>
                <a:solidFill>
                  <a:srgbClr val="313131"/>
                </a:solidFill>
                <a:effectLst/>
                <a:uLnTx/>
                <a:uFillTx/>
                <a:latin typeface="Aptos"/>
                <a:ea typeface="+mn-ea"/>
                <a:cs typeface="+mn-cs"/>
              </a:rPr>
              <a:t>DataRails</a:t>
            </a:r>
            <a:r>
              <a:rPr kumimoji="0" lang="en-US" sz="1200" b="1" i="0" u="none" strike="noStrike" kern="1200" cap="none" spc="0" normalizeH="0" baseline="0" noProof="0">
                <a:ln>
                  <a:noFill/>
                </a:ln>
                <a:solidFill>
                  <a:srgbClr val="313131"/>
                </a:solidFill>
                <a:effectLst/>
                <a:uLnTx/>
                <a:uFillTx/>
                <a:latin typeface="Aptos"/>
                <a:ea typeface="+mn-ea"/>
                <a:cs typeface="+mn-cs"/>
              </a:rPr>
              <a:t> offerings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err="1">
                <a:ln>
                  <a:noFill/>
                </a:ln>
                <a:solidFill>
                  <a:srgbClr val="313131"/>
                </a:solidFill>
                <a:effectLst/>
                <a:uLnTx/>
                <a:uFillTx/>
                <a:latin typeface="Aptos"/>
                <a:ea typeface="+mn-ea"/>
                <a:cs typeface="+mn-cs"/>
              </a:rPr>
              <a:t>DataRails</a:t>
            </a:r>
            <a:r>
              <a:rPr kumimoji="0" lang="en-US" sz="1200" b="0" i="0" u="none" strike="noStrike" kern="1200" cap="none" spc="0" normalizeH="0" baseline="0" noProof="0">
                <a:ln>
                  <a:noFill/>
                </a:ln>
                <a:solidFill>
                  <a:srgbClr val="313131"/>
                </a:solidFill>
                <a:effectLst/>
                <a:uLnTx/>
                <a:uFillTx/>
                <a:latin typeface="Aptos"/>
                <a:ea typeface="+mn-ea"/>
                <a:cs typeface="+mn-cs"/>
              </a:rPr>
              <a:t> is an Excel-native financial planning and analysis platform, rebranded in March 2026 as "</a:t>
            </a:r>
            <a:r>
              <a:rPr kumimoji="0" lang="en-US" sz="1200" b="0" i="0" u="none" strike="noStrike" kern="1200" cap="none" spc="0" normalizeH="0" baseline="0" noProof="0" err="1">
                <a:ln>
                  <a:noFill/>
                </a:ln>
                <a:solidFill>
                  <a:srgbClr val="313131"/>
                </a:solidFill>
                <a:effectLst/>
                <a:uLnTx/>
                <a:uFillTx/>
                <a:latin typeface="Aptos"/>
                <a:ea typeface="+mn-ea"/>
                <a:cs typeface="+mn-cs"/>
              </a:rPr>
              <a:t>FinanceOS</a:t>
            </a:r>
            <a:r>
              <a:rPr kumimoji="0" lang="en-US" sz="1200" b="0" i="0" u="none" strike="noStrike" kern="1200" cap="none" spc="0" normalizeH="0" baseline="0" noProof="0">
                <a:ln>
                  <a:noFill/>
                </a:ln>
                <a:solidFill>
                  <a:srgbClr val="313131"/>
                </a:solidFill>
                <a:effectLst/>
                <a:uLnTx/>
                <a:uFillTx/>
                <a:latin typeface="Aptos"/>
                <a:ea typeface="+mn-ea"/>
                <a:cs typeface="+mn-cs"/>
              </a:rPr>
              <a:t>“</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It is built around three named AI Finance Agents: </a:t>
            </a:r>
            <a:r>
              <a:rPr kumimoji="0" lang="en-US" sz="1200" b="0" i="0" u="none" strike="noStrike" kern="1200" cap="none" spc="0" normalizeH="0" baseline="0" noProof="0">
                <a:ln>
                  <a:noFill/>
                </a:ln>
                <a:solidFill>
                  <a:srgbClr val="313131"/>
                </a:solidFill>
                <a:effectLst/>
                <a:uLnTx/>
                <a:uFillTx/>
                <a:latin typeface="Aptos"/>
                <a:ea typeface="+mn-ea"/>
                <a:cs typeface="+mn-cs"/>
                <a:hlinkClick r:id="rId5"/>
              </a:rPr>
              <a:t>Strategy, Planning, and Reporting</a:t>
            </a:r>
            <a:r>
              <a:rPr kumimoji="0" lang="en-US" sz="1200" b="0" i="0" u="none" strike="noStrike" kern="1200" cap="none" spc="0" normalizeH="0" baseline="0" noProof="0">
                <a:ln>
                  <a:noFill/>
                </a:ln>
                <a:solidFill>
                  <a:srgbClr val="313131"/>
                </a:solidFill>
                <a:effectLst/>
                <a:uLnTx/>
                <a:uFillTx/>
                <a:latin typeface="Aptos"/>
                <a:ea typeface="+mn-ea"/>
                <a:cs typeface="+mn-cs"/>
              </a:rPr>
              <a:t>.</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These agents work on a company's consolidated ERP, CRM, HRIS, and Excel data to generate forecasts, variance narratives, and board-ready PowerPoint, PDF, and Excel outputs.</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Its scope covers FP&amp;A, month-end close, cash management, and spend control, mainly for SMB and mid-market finance teams.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a:t>
            </a:r>
            <a:r>
              <a:rPr kumimoji="0" lang="en-US" sz="1200" b="1" i="0" u="none" strike="noStrike" kern="1200" cap="none" spc="0" normalizeH="0" baseline="0" noProof="0" err="1">
                <a:ln>
                  <a:noFill/>
                </a:ln>
                <a:solidFill>
                  <a:srgbClr val="313131"/>
                </a:solidFill>
                <a:effectLst/>
                <a:uLnTx/>
                <a:uFillTx/>
                <a:latin typeface="Aptos"/>
                <a:ea typeface="+mn-ea"/>
                <a:cs typeface="+mn-cs"/>
              </a:rPr>
              <a:t>DataRails</a:t>
            </a:r>
            <a:r>
              <a:rPr kumimoji="0" lang="en-US" sz="1200" b="1" i="0" u="none" strike="noStrike" kern="1200" cap="none" spc="0" normalizeH="0" baseline="0" noProof="0">
                <a:ln>
                  <a:noFill/>
                </a:ln>
                <a:solidFill>
                  <a:srgbClr val="313131"/>
                </a:solidFill>
                <a:effectLst/>
                <a:uLnTx/>
                <a:uFillTx/>
                <a:latin typeface="Aptos"/>
                <a:ea typeface="+mn-ea"/>
                <a:cs typeface="+mn-cs"/>
              </a:rPr>
              <a:t> stronger compared to Zora?</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Broad, pre-built connector library – Out-of-the-box integrations to accounting systems, ERPs, CRMs, and HRIS platforms (QuickBooks, Xero, NetSuite, Sage, and others), letting smaller finance teams consolidate data without custom integration work</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Fast time to value for its segment – </a:t>
            </a:r>
            <a:r>
              <a:rPr kumimoji="0" lang="en-US" sz="1200" b="0" i="0" u="none" strike="noStrike" kern="1200" cap="none" spc="0" normalizeH="0" baseline="0" noProof="0" err="1">
                <a:ln>
                  <a:noFill/>
                </a:ln>
                <a:solidFill>
                  <a:srgbClr val="313131"/>
                </a:solidFill>
                <a:effectLst/>
                <a:uLnTx/>
                <a:uFillTx/>
                <a:latin typeface="Aptos"/>
                <a:ea typeface="+mn-ea"/>
                <a:cs typeface="+mn-cs"/>
              </a:rPr>
              <a:t>DataRails</a:t>
            </a:r>
            <a:r>
              <a:rPr kumimoji="0" lang="en-US" sz="1200" b="0" i="0" u="none" strike="noStrike" kern="1200" cap="none" spc="0" normalizeH="0" baseline="0" noProof="0">
                <a:ln>
                  <a:noFill/>
                </a:ln>
                <a:solidFill>
                  <a:srgbClr val="313131"/>
                </a:solidFill>
                <a:effectLst/>
                <a:uLnTx/>
                <a:uFillTx/>
                <a:latin typeface="Aptos"/>
                <a:ea typeface="+mn-ea"/>
                <a:cs typeface="+mn-cs"/>
              </a:rPr>
              <a:t> cites 2-to-6-week implementation timelines, versus months for larger planning platforms, with minimal reliance on outside consultants.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Excel-native adoption path – Keeps finance teams working inside Excel through a two-way sync add-in rather than asking them to learn a new interface.</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a:t>
            </a:r>
            <a:r>
              <a:rPr kumimoji="0" lang="en-US" sz="1200" b="1" i="0" u="none" strike="noStrike" kern="1200" cap="none" spc="0" normalizeH="0" baseline="0" noProof="0" err="1">
                <a:ln>
                  <a:noFill/>
                </a:ln>
                <a:solidFill>
                  <a:srgbClr val="313131"/>
                </a:solidFill>
                <a:effectLst/>
                <a:uLnTx/>
                <a:uFillTx/>
                <a:latin typeface="Aptos"/>
                <a:ea typeface="+mn-ea"/>
                <a:cs typeface="+mn-cs"/>
              </a:rPr>
              <a:t>DataRails</a:t>
            </a:r>
            <a:r>
              <a:rPr kumimoji="0" lang="en-US" sz="1200" b="1" i="0" u="none" strike="noStrike" kern="1200" cap="none" spc="0" normalizeH="0" baseline="0" noProof="0">
                <a:ln>
                  <a:noFill/>
                </a:ln>
                <a:solidFill>
                  <a:srgbClr val="313131"/>
                </a:solidFill>
                <a:effectLst/>
                <a:uLnTx/>
                <a:uFillTx/>
                <a:latin typeface="Aptos"/>
                <a:ea typeface="+mn-ea"/>
                <a:cs typeface="+mn-cs"/>
              </a:rPr>
              <a:t>?</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Domain breadth beyond finance – </a:t>
            </a:r>
            <a:r>
              <a:rPr kumimoji="0" lang="en-US" sz="1200" b="0" i="0" u="none" strike="noStrike" kern="1200" cap="none" spc="0" normalizeH="0" baseline="0" noProof="0" err="1">
                <a:ln>
                  <a:noFill/>
                </a:ln>
                <a:solidFill>
                  <a:srgbClr val="313131"/>
                </a:solidFill>
                <a:effectLst/>
                <a:uLnTx/>
                <a:uFillTx/>
                <a:latin typeface="Aptos"/>
                <a:ea typeface="+mn-ea"/>
                <a:cs typeface="+mn-cs"/>
              </a:rPr>
              <a:t>DataRails</a:t>
            </a:r>
            <a:r>
              <a:rPr kumimoji="0" lang="en-US" sz="1200" b="0" i="0" u="none" strike="noStrike" kern="1200" cap="none" spc="0" normalizeH="0" baseline="0" noProof="0">
                <a:ln>
                  <a:noFill/>
                </a:ln>
                <a:solidFill>
                  <a:srgbClr val="313131"/>
                </a:solidFill>
                <a:effectLst/>
                <a:uLnTx/>
                <a:uFillTx/>
                <a:latin typeface="Aptos"/>
                <a:ea typeface="+mn-ea"/>
                <a:cs typeface="+mn-cs"/>
              </a:rPr>
              <a:t>' agents are scoped to FP&amp;A, close, cash, and spend; Zora spans finance, procurement, tax, audit, and HR as a single digital workforce.</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Built for enterprise complexity – </a:t>
            </a:r>
            <a:r>
              <a:rPr kumimoji="0" lang="en-US" sz="1200" b="0" i="0" u="none" strike="noStrike" kern="1200" cap="none" spc="0" normalizeH="0" baseline="0" noProof="0" err="1">
                <a:ln>
                  <a:noFill/>
                </a:ln>
                <a:solidFill>
                  <a:srgbClr val="313131"/>
                </a:solidFill>
                <a:effectLst/>
                <a:uLnTx/>
                <a:uFillTx/>
                <a:latin typeface="Aptos"/>
                <a:ea typeface="+mn-ea"/>
                <a:cs typeface="+mn-cs"/>
              </a:rPr>
              <a:t>DataRails</a:t>
            </a:r>
            <a:r>
              <a:rPr kumimoji="0" lang="en-US" sz="1200" b="0" i="0" u="none" strike="noStrike" kern="1200" cap="none" spc="0" normalizeH="0" baseline="0" noProof="0">
                <a:ln>
                  <a:noFill/>
                </a:ln>
                <a:solidFill>
                  <a:srgbClr val="313131"/>
                </a:solidFill>
                <a:effectLst/>
                <a:uLnTx/>
                <a:uFillTx/>
                <a:latin typeface="Aptos"/>
                <a:ea typeface="+mn-ea"/>
                <a:cs typeface="+mn-cs"/>
              </a:rPr>
              <a:t> positions itself for SMB and mid-market planning, not the scale or multi-entity complexity Zora targets.</a:t>
            </a:r>
          </a:p>
        </p:txBody>
      </p:sp>
      <p:sp>
        <p:nvSpPr>
          <p:cNvPr id="7" name="Rectangle 6">
            <a:extLst>
              <a:ext uri="{FF2B5EF4-FFF2-40B4-BE49-F238E27FC236}">
                <a16:creationId xmlns:a16="http://schemas.microsoft.com/office/drawing/2014/main" id="{2A8501F4-9AA8-7162-962B-8F2715354829}"/>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Lead with enterprise scale and domain breadth</a:t>
            </a:r>
            <a:r>
              <a:rPr kumimoji="0" lang="en-US" sz="1200" b="0" i="0" u="none" strike="noStrike" kern="1200" cap="none" spc="0" normalizeH="0" baseline="0" noProof="0">
                <a:ln>
                  <a:noFill/>
                </a:ln>
                <a:solidFill>
                  <a:prstClr val="black"/>
                </a:solidFill>
                <a:effectLst/>
                <a:uLnTx/>
                <a:uFillTx/>
                <a:latin typeface="Aptos"/>
                <a:ea typeface="+mn-ea"/>
                <a:cs typeface="+mn-cs"/>
              </a:rPr>
              <a:t>: Position Zora as the digital workforce built for multi-entity, cross-functional enterprises spanning finance, procurement, tax, audit, and HR, versus </a:t>
            </a:r>
            <a:r>
              <a:rPr kumimoji="0" lang="en-US" sz="1200" b="0" i="0" u="none" strike="noStrike" kern="1200" cap="none" spc="0" normalizeH="0" baseline="0" noProof="0" err="1">
                <a:ln>
                  <a:noFill/>
                </a:ln>
                <a:solidFill>
                  <a:prstClr val="black"/>
                </a:solidFill>
                <a:effectLst/>
                <a:uLnTx/>
                <a:uFillTx/>
                <a:latin typeface="Aptos"/>
                <a:ea typeface="+mn-ea"/>
                <a:cs typeface="+mn-cs"/>
              </a:rPr>
              <a:t>DataRails</a:t>
            </a:r>
            <a:r>
              <a:rPr kumimoji="0" lang="en-US" sz="1200" b="0" i="0" u="none" strike="noStrike" kern="1200" cap="none" spc="0" normalizeH="0" baseline="0" noProof="0">
                <a:ln>
                  <a:noFill/>
                </a:ln>
                <a:solidFill>
                  <a:prstClr val="black"/>
                </a:solidFill>
                <a:effectLst/>
                <a:uLnTx/>
                <a:uFillTx/>
                <a:latin typeface="Aptos"/>
                <a:ea typeface="+mn-ea"/>
                <a:cs typeface="+mn-cs"/>
              </a:rPr>
              <a:t>' SMB and mid-market FP&amp;A focus.</a:t>
            </a:r>
          </a:p>
        </p:txBody>
      </p:sp>
      <p:sp>
        <p:nvSpPr>
          <p:cNvPr id="22" name="TextBox 21">
            <a:extLst>
              <a:ext uri="{FF2B5EF4-FFF2-40B4-BE49-F238E27FC236}">
                <a16:creationId xmlns:a16="http://schemas.microsoft.com/office/drawing/2014/main" id="{9245C54B-8A2A-B9F3-6CAC-A3FD865A29ED}"/>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E1FEB3E9-81AC-F7BF-D2A8-F7F04FF9C788}"/>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CB490CD4-B18D-4ED0-0DA3-84A209F29FBF}"/>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FE689074-FFE9-627D-4383-1CE3D5AE0D1A}"/>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E18B7A5B-D66A-9CB8-F540-DD8A365D67F7}"/>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976548D9-7432-B81C-14B5-B8F5682D1E6A}"/>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EBE759F6-B0F2-F5D3-F19E-4523C033A6B9}"/>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36" name="Rectangle: Rounded Corners 35">
            <a:extLst>
              <a:ext uri="{FF2B5EF4-FFF2-40B4-BE49-F238E27FC236}">
                <a16:creationId xmlns:a16="http://schemas.microsoft.com/office/drawing/2014/main" id="{C7235D48-6DD8-3BD1-7EDF-DD1BE3F9D694}"/>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p:txBody>
      </p:sp>
      <p:sp>
        <p:nvSpPr>
          <p:cNvPr id="38" name="Rectangle: Rounded Corners 37">
            <a:extLst>
              <a:ext uri="{FF2B5EF4-FFF2-40B4-BE49-F238E27FC236}">
                <a16:creationId xmlns:a16="http://schemas.microsoft.com/office/drawing/2014/main" id="{B8EF1D0D-CE7E-1576-5335-489044FBA3C2}"/>
              </a:ext>
            </a:extLst>
          </p:cNvPr>
          <p:cNvSpPr/>
          <p:nvPr/>
        </p:nvSpPr>
        <p:spPr bwMode="gray">
          <a:xfrm>
            <a:off x="1259176" y="1971024"/>
            <a:ext cx="731520" cy="1463040"/>
          </a:xfrm>
          <a:prstGeom prst="roundRect">
            <a:avLst/>
          </a:prstGeom>
          <a:solidFill>
            <a:srgbClr val="E3E48D"/>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Aptos"/>
                <a:ea typeface="+mn-ea"/>
                <a:cs typeface="+mn-cs"/>
              </a:rPr>
              <a:t>Strategy, Planning, and Reporting AI Finance Agents</a:t>
            </a: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40" name="Rectangle: Rounded Corners 39">
            <a:extLst>
              <a:ext uri="{FF2B5EF4-FFF2-40B4-BE49-F238E27FC236}">
                <a16:creationId xmlns:a16="http://schemas.microsoft.com/office/drawing/2014/main" id="{C36EFCB9-AF90-0DF9-18A1-E6830551BD97}"/>
              </a:ext>
            </a:extLst>
          </p:cNvPr>
          <p:cNvSpPr/>
          <p:nvPr/>
        </p:nvSpPr>
        <p:spPr bwMode="gray">
          <a:xfrm>
            <a:off x="2045039"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42" name="Rectangle: Rounded Corners 41">
            <a:extLst>
              <a:ext uri="{FF2B5EF4-FFF2-40B4-BE49-F238E27FC236}">
                <a16:creationId xmlns:a16="http://schemas.microsoft.com/office/drawing/2014/main" id="{DDA4A55A-8722-FA2A-CF59-B2644E7BC115}"/>
              </a:ext>
            </a:extLst>
          </p:cNvPr>
          <p:cNvSpPr/>
          <p:nvPr/>
        </p:nvSpPr>
        <p:spPr bwMode="gray">
          <a:xfrm>
            <a:off x="429769" y="3639561"/>
            <a:ext cx="2377440" cy="816923"/>
          </a:xfrm>
          <a:prstGeom prst="roundRect">
            <a:avLst/>
          </a:prstGeom>
          <a:solidFill>
            <a:schemeClr val="bg1"/>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sp>
        <p:nvSpPr>
          <p:cNvPr id="44" name="Rectangle: Rounded Corners 43">
            <a:extLst>
              <a:ext uri="{FF2B5EF4-FFF2-40B4-BE49-F238E27FC236}">
                <a16:creationId xmlns:a16="http://schemas.microsoft.com/office/drawing/2014/main" id="{92803FF5-023A-D746-6294-8BCEFEA6E960}"/>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2050" name="Picture 2" descr="Datarails Careers, Perks + Culture | Built In">
            <a:extLst>
              <a:ext uri="{FF2B5EF4-FFF2-40B4-BE49-F238E27FC236}">
                <a16:creationId xmlns:a16="http://schemas.microsoft.com/office/drawing/2014/main" id="{E2B52F79-FED9-5646-2CF6-0E63686E07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68542" y="0"/>
            <a:ext cx="1093334" cy="699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08898"/>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466AFC8D-08EB-7152-8955-D4C880F44FE4}"/>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B584043-8B95-54C2-E63C-0016F86C5945}"/>
              </a:ext>
            </a:extLst>
          </p:cNvPr>
          <p:cNvSpPr>
            <a:spLocks noGrp="1"/>
          </p:cNvSpPr>
          <p:nvPr>
            <p:ph type="title"/>
          </p:nvPr>
        </p:nvSpPr>
        <p:spPr/>
        <p:txBody>
          <a:bodyPr vert="horz" rIns="0"/>
          <a:lstStyle/>
          <a:p>
            <a:r>
              <a:rPr lang="en-US" sz="2000" b="1" err="1">
                <a:solidFill>
                  <a:srgbClr val="282728"/>
                </a:solidFill>
                <a:latin typeface="Aptos"/>
              </a:rPr>
              <a:t>OneStream</a:t>
            </a:r>
            <a:endParaRPr lang="en-US"/>
          </a:p>
        </p:txBody>
      </p:sp>
      <p:sp>
        <p:nvSpPr>
          <p:cNvPr id="4" name="TextBox 3">
            <a:extLst>
              <a:ext uri="{FF2B5EF4-FFF2-40B4-BE49-F238E27FC236}">
                <a16:creationId xmlns:a16="http://schemas.microsoft.com/office/drawing/2014/main" id="{37A8C48C-5E49-AF8E-60C1-D01A514B8E0C}"/>
              </a:ext>
            </a:extLst>
          </p:cNvPr>
          <p:cNvSpPr txBox="1"/>
          <p:nvPr/>
        </p:nvSpPr>
        <p:spPr>
          <a:xfrm>
            <a:off x="382772" y="687992"/>
            <a:ext cx="1180922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OneStream embeds governed finance agents in its CPM platform; Zora extends execution across functions and systems</a:t>
            </a:r>
          </a:p>
        </p:txBody>
      </p:sp>
      <p:sp>
        <p:nvSpPr>
          <p:cNvPr id="6" name="TextBox 5">
            <a:extLst>
              <a:ext uri="{FF2B5EF4-FFF2-40B4-BE49-F238E27FC236}">
                <a16:creationId xmlns:a16="http://schemas.microsoft.com/office/drawing/2014/main" id="{8182F41A-9676-7A01-47B7-42A8A3B1E8D9}"/>
              </a:ext>
            </a:extLst>
          </p:cNvPr>
          <p:cNvSpPr txBox="1"/>
          <p:nvPr/>
        </p:nvSpPr>
        <p:spPr>
          <a:xfrm>
            <a:off x="3222171" y="1106424"/>
            <a:ext cx="8509580" cy="398570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are OneStream offerings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OneStream is a Corporate Performance Management (CPM) application used for combining financial data, budgeting, reporting, and planning into a single system.</a:t>
            </a:r>
          </a:p>
          <a:p>
            <a:pPr marL="203200" indent="-203200">
              <a:spcBef>
                <a:spcPts val="600"/>
              </a:spcBef>
              <a:buSzPct val="100000"/>
              <a:buFont typeface="Arial"/>
              <a:buChar char="•"/>
              <a:defRPr/>
            </a:pPr>
            <a:r>
              <a:rPr lang="en-US" sz="1200">
                <a:solidFill>
                  <a:srgbClr val="313131"/>
                </a:solidFill>
              </a:rPr>
              <a:t>It offers </a:t>
            </a:r>
            <a:r>
              <a:rPr lang="en-US" sz="1200">
                <a:solidFill>
                  <a:srgbClr val="313131"/>
                </a:solidFill>
                <a:hlinkClick r:id="rId2"/>
              </a:rPr>
              <a:t>pre-built agents </a:t>
            </a:r>
            <a:r>
              <a:rPr lang="en-US" sz="1200">
                <a:solidFill>
                  <a:srgbClr val="313131"/>
                </a:solidFill>
              </a:rPr>
              <a:t>operating natively on OneStream platform for forecasting, financial analysis and information research.</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It also offers an </a:t>
            </a:r>
            <a:r>
              <a:rPr kumimoji="0" lang="en-US" sz="1200" b="0" i="0" u="none" strike="noStrike" kern="1200" cap="none" spc="0" normalizeH="0" baseline="0" noProof="0">
                <a:ln>
                  <a:noFill/>
                </a:ln>
                <a:solidFill>
                  <a:srgbClr val="313131"/>
                </a:solidFill>
                <a:effectLst/>
                <a:uLnTx/>
                <a:uFillTx/>
                <a:latin typeface="Aptos"/>
                <a:ea typeface="+mn-ea"/>
                <a:cs typeface="+mn-cs"/>
                <a:hlinkClick r:id="rId3"/>
              </a:rPr>
              <a:t>agentic finance layer </a:t>
            </a:r>
            <a:r>
              <a:rPr kumimoji="0" lang="en-US" sz="1200" b="0" i="0" u="none" strike="noStrike" kern="1200" cap="none" spc="0" normalizeH="0" baseline="0" noProof="0">
                <a:ln>
                  <a:noFill/>
                </a:ln>
                <a:solidFill>
                  <a:srgbClr val="313131"/>
                </a:solidFill>
                <a:effectLst/>
                <a:uLnTx/>
                <a:uFillTx/>
                <a:latin typeface="Aptos"/>
                <a:ea typeface="+mn-ea"/>
                <a:cs typeface="+mn-cs"/>
              </a:rPr>
              <a:t>that allows users to access data and insights from OneStream’s platform via existing AI tools like ChatGPT, Claude, Copilot etc.</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OneStream stronger compared to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Native application embedding – Agents inherit hierarchies, rules, permissions, audit trails</a:t>
            </a:r>
            <a:r>
              <a:rPr lang="en-US" sz="1200">
                <a:solidFill>
                  <a:srgbClr val="313131"/>
                </a:solidFill>
                <a:latin typeface="Aptos"/>
              </a:rPr>
              <a:t> of the OneStream platform</a:t>
            </a:r>
            <a:r>
              <a:rPr kumimoji="0" lang="en-US" sz="1200" b="0" i="0" u="none" strike="noStrike" kern="1200" cap="none" spc="0" normalizeH="0" baseline="0" noProof="0">
                <a:ln>
                  <a:noFill/>
                </a:ln>
                <a:solidFill>
                  <a:srgbClr val="313131"/>
                </a:solidFill>
                <a:effectLst/>
                <a:uLnTx/>
                <a:uFillTx/>
                <a:latin typeface="Aptos"/>
                <a:ea typeface="+mn-ea"/>
                <a:cs typeface="+mn-cs"/>
              </a:rPr>
              <a:t>.</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Integration with other AI tools – Allows teams to work </a:t>
            </a:r>
            <a:r>
              <a:rPr lang="en-US" sz="1200">
                <a:solidFill>
                  <a:srgbClr val="313131"/>
                </a:solidFill>
                <a:latin typeface="Aptos"/>
              </a:rPr>
              <a:t>with existing AI tools/interfaces like Claude, ChatGPT etc. while ensuring every query relies on trusted OneStream data</a:t>
            </a:r>
            <a:r>
              <a:rPr kumimoji="0" lang="en-US" sz="1200" b="0" i="0" u="none" strike="noStrike" kern="1200" cap="none" spc="0" normalizeH="0" baseline="0" noProof="0">
                <a:ln>
                  <a:noFill/>
                </a:ln>
                <a:solidFill>
                  <a:srgbClr val="313131"/>
                </a:solidFill>
                <a:effectLst/>
                <a:uLnTx/>
                <a:uFillTx/>
                <a:latin typeface="Aptos"/>
                <a:ea typeface="+mn-ea"/>
                <a:cs typeface="+mn-cs"/>
              </a:rPr>
              <a:t>. This gives users choice of multiple interfaces, relevant for an intelligence platform. Zora on the other hand focuses on workflow execution rather than enterprise intelligence.</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OneStream?</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Domain breadth – Zora extends beyond finance into procurement, audit, HR, and </a:t>
            </a:r>
            <a:r>
              <a:rPr lang="en-US" sz="1200">
                <a:solidFill>
                  <a:srgbClr val="313131"/>
                </a:solidFill>
                <a:latin typeface="Aptos"/>
              </a:rPr>
              <a:t>tax</a:t>
            </a:r>
            <a:r>
              <a:rPr kumimoji="0" lang="en-US" sz="1200" b="0" i="0" u="none" strike="noStrike" kern="1200" cap="none" spc="0" normalizeH="0" baseline="0" noProof="0">
                <a:ln>
                  <a:noFill/>
                </a:ln>
                <a:solidFill>
                  <a:srgbClr val="313131"/>
                </a:solidFill>
                <a:effectLst/>
                <a:uLnTx/>
                <a:uFillTx/>
                <a:latin typeface="Aptos"/>
                <a:ea typeface="+mn-ea"/>
                <a:cs typeface="+mn-cs"/>
              </a:rPr>
              <a:t>.</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Cross-system execution – Zora coordinates actions across ERP, CRM, and heterogenous data environments; OneStream pre-built agents execute tasks within OneStream application platform.</a:t>
            </a:r>
          </a:p>
          <a:p>
            <a:pPr marL="203200" indent="-203200">
              <a:spcBef>
                <a:spcPts val="600"/>
              </a:spcBef>
              <a:buSzPct val="100000"/>
              <a:buFont typeface="Arial"/>
              <a:buChar char="•"/>
              <a:defRPr/>
            </a:pPr>
            <a:r>
              <a:rPr lang="en-US" sz="1200">
                <a:solidFill>
                  <a:srgbClr val="313131"/>
                </a:solidFill>
              </a:rPr>
              <a:t>Deployment flexibility – OneStream appears to be SaaS-first, with no evidence of on-premise or private cloud hosting options.</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endParaRPr kumimoji="0" lang="en-US" sz="1200" b="0" i="0" u="none" strike="noStrike" kern="1200" cap="none" spc="0" normalizeH="0" baseline="0" noProof="0">
              <a:ln>
                <a:noFill/>
              </a:ln>
              <a:solidFill>
                <a:srgbClr val="313131"/>
              </a:solidFill>
              <a:effectLst/>
              <a:uLnTx/>
              <a:uFillTx/>
              <a:latin typeface="Aptos"/>
              <a:ea typeface="+mn-ea"/>
              <a:cs typeface="+mn-cs"/>
            </a:endParaRPr>
          </a:p>
        </p:txBody>
      </p:sp>
      <p:sp>
        <p:nvSpPr>
          <p:cNvPr id="7" name="Rectangle 6">
            <a:extLst>
              <a:ext uri="{FF2B5EF4-FFF2-40B4-BE49-F238E27FC236}">
                <a16:creationId xmlns:a16="http://schemas.microsoft.com/office/drawing/2014/main" id="{2A8501F4-9AA8-7162-962B-8F2715354829}"/>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Target cross-functional workflows beyond the CPM core: </a:t>
            </a:r>
            <a:r>
              <a:rPr kumimoji="0" lang="en-US" sz="1200" b="0" i="0" u="none" strike="noStrike" kern="1200" cap="none" spc="0" normalizeH="0" baseline="0" noProof="0">
                <a:ln>
                  <a:noFill/>
                </a:ln>
                <a:solidFill>
                  <a:prstClr val="black"/>
                </a:solidFill>
                <a:effectLst/>
                <a:uLnTx/>
                <a:uFillTx/>
                <a:latin typeface="Aptos"/>
                <a:ea typeface="+mn-ea"/>
                <a:cs typeface="+mn-cs"/>
              </a:rPr>
              <a:t>Target workflows across finance, procurement, audit, and HR, not only analysis or forecasting of financial data</a:t>
            </a:r>
            <a:r>
              <a:rPr lang="en-US" sz="1200">
                <a:solidFill>
                  <a:prstClr val="black"/>
                </a:solidFill>
                <a:latin typeface="Aptos"/>
              </a:rPr>
              <a:t>.</a:t>
            </a:r>
          </a:p>
        </p:txBody>
      </p:sp>
      <p:sp>
        <p:nvSpPr>
          <p:cNvPr id="22" name="TextBox 21">
            <a:extLst>
              <a:ext uri="{FF2B5EF4-FFF2-40B4-BE49-F238E27FC236}">
                <a16:creationId xmlns:a16="http://schemas.microsoft.com/office/drawing/2014/main" id="{9245C54B-8A2A-B9F3-6CAC-A3FD865A29ED}"/>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E1FEB3E9-81AC-F7BF-D2A8-F7F04FF9C788}"/>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CB490CD4-B18D-4ED0-0DA3-84A209F29FBF}"/>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FE689074-FFE9-627D-4383-1CE3D5AE0D1A}"/>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E18B7A5B-D66A-9CB8-F540-DD8A365D67F7}"/>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976548D9-7432-B81C-14B5-B8F5682D1E6A}"/>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EBE759F6-B0F2-F5D3-F19E-4523C033A6B9}"/>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36" name="Rectangle: Rounded Corners 35">
            <a:extLst>
              <a:ext uri="{FF2B5EF4-FFF2-40B4-BE49-F238E27FC236}">
                <a16:creationId xmlns:a16="http://schemas.microsoft.com/office/drawing/2014/main" id="{C7235D48-6DD8-3BD1-7EDF-DD1BE3F9D694}"/>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p:txBody>
      </p:sp>
      <p:sp>
        <p:nvSpPr>
          <p:cNvPr id="38" name="Rectangle: Rounded Corners 37">
            <a:extLst>
              <a:ext uri="{FF2B5EF4-FFF2-40B4-BE49-F238E27FC236}">
                <a16:creationId xmlns:a16="http://schemas.microsoft.com/office/drawing/2014/main" id="{B8EF1D0D-CE7E-1576-5335-489044FBA3C2}"/>
              </a:ext>
            </a:extLst>
          </p:cNvPr>
          <p:cNvSpPr/>
          <p:nvPr/>
        </p:nvSpPr>
        <p:spPr bwMode="gray">
          <a:xfrm>
            <a:off x="1259176"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40" name="Rectangle: Rounded Corners 39">
            <a:extLst>
              <a:ext uri="{FF2B5EF4-FFF2-40B4-BE49-F238E27FC236}">
                <a16:creationId xmlns:a16="http://schemas.microsoft.com/office/drawing/2014/main" id="{C36EFCB9-AF90-0DF9-18A1-E6830551BD97}"/>
              </a:ext>
            </a:extLst>
          </p:cNvPr>
          <p:cNvSpPr/>
          <p:nvPr/>
        </p:nvSpPr>
        <p:spPr bwMode="gray">
          <a:xfrm>
            <a:off x="2045039" y="1971024"/>
            <a:ext cx="731520" cy="1463040"/>
          </a:xfrm>
          <a:prstGeom prst="roundRect">
            <a:avLst/>
          </a:prstGeom>
          <a:solidFill>
            <a:srgbClr val="E3E48D"/>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algn="ctr">
              <a:lnSpc>
                <a:spcPct val="106000"/>
              </a:lnSpc>
              <a:defRPr/>
            </a:pPr>
            <a:r>
              <a:rPr lang="en-US" sz="900" err="1">
                <a:solidFill>
                  <a:sysClr val="windowText" lastClr="000000"/>
                </a:solidFill>
              </a:rPr>
              <a:t>SensibleAI</a:t>
            </a:r>
            <a:r>
              <a:rPr lang="en-US" sz="900">
                <a:solidFill>
                  <a:sysClr val="windowText" lastClr="000000"/>
                </a:solidFill>
              </a:rPr>
              <a:t> Agents</a:t>
            </a:r>
            <a:endParaRPr lang="en-US" sz="900" i="1">
              <a:solidFill>
                <a:prstClr val="black"/>
              </a:solidFill>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42" name="Rectangle: Rounded Corners 41">
            <a:extLst>
              <a:ext uri="{FF2B5EF4-FFF2-40B4-BE49-F238E27FC236}">
                <a16:creationId xmlns:a16="http://schemas.microsoft.com/office/drawing/2014/main" id="{DDA4A55A-8722-FA2A-CF59-B2644E7BC115}"/>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lang="en-US" sz="800" b="1">
              <a:solidFill>
                <a:prstClr val="black"/>
              </a:solidFill>
              <a:latin typeface="Apto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0">
                <a:latin typeface="Aptos"/>
              </a:rPr>
              <a:t>OneStream Agentic Finance Layer</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sp>
        <p:nvSpPr>
          <p:cNvPr id="44" name="Rectangle: Rounded Corners 43">
            <a:extLst>
              <a:ext uri="{FF2B5EF4-FFF2-40B4-BE49-F238E27FC236}">
                <a16:creationId xmlns:a16="http://schemas.microsoft.com/office/drawing/2014/main" id="{92803FF5-023A-D746-6294-8BCEFEA6E960}"/>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5" name="Picture 4" descr="OneStream Unveils New Logo and Brand Identity">
            <a:extLst>
              <a:ext uri="{FF2B5EF4-FFF2-40B4-BE49-F238E27FC236}">
                <a16:creationId xmlns:a16="http://schemas.microsoft.com/office/drawing/2014/main" id="{32A01D8F-78F8-5F22-65D0-4AA8BC4700AA}"/>
              </a:ext>
            </a:extLst>
          </p:cNvPr>
          <p:cNvPicPr>
            <a:picLocks noChangeAspect="1"/>
          </p:cNvPicPr>
          <p:nvPr/>
        </p:nvPicPr>
        <p:blipFill>
          <a:blip r:embed="rId4"/>
          <a:stretch>
            <a:fillRect/>
          </a:stretch>
        </p:blipFill>
        <p:spPr>
          <a:xfrm>
            <a:off x="10541030" y="100972"/>
            <a:ext cx="1265150" cy="70391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466AFC8D-08EB-7152-8955-D4C880F44FE4}"/>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B584043-8B95-54C2-E63C-0016F86C5945}"/>
              </a:ext>
            </a:extLst>
          </p:cNvPr>
          <p:cNvSpPr>
            <a:spLocks noGrp="1"/>
          </p:cNvSpPr>
          <p:nvPr>
            <p:ph type="title"/>
          </p:nvPr>
        </p:nvSpPr>
        <p:spPr/>
        <p:txBody>
          <a:bodyPr vert="horz" rIns="0"/>
          <a:lstStyle/>
          <a:p>
            <a:r>
              <a:rPr lang="en-US" sz="2000" b="1" i="0">
                <a:solidFill>
                  <a:srgbClr val="282728"/>
                </a:solidFill>
                <a:latin typeface="Aptos"/>
              </a:rPr>
              <a:t>Abacum</a:t>
            </a:r>
            <a:endParaRPr lang="en-US"/>
          </a:p>
        </p:txBody>
      </p:sp>
      <p:sp>
        <p:nvSpPr>
          <p:cNvPr id="4" name="TextBox 3">
            <a:extLst>
              <a:ext uri="{FF2B5EF4-FFF2-40B4-BE49-F238E27FC236}">
                <a16:creationId xmlns:a16="http://schemas.microsoft.com/office/drawing/2014/main" id="{37A8C48C-5E49-AF8E-60C1-D01A514B8E0C}"/>
              </a:ext>
            </a:extLst>
          </p:cNvPr>
          <p:cNvSpPr txBox="1"/>
          <p:nvPr/>
        </p:nvSpPr>
        <p:spPr>
          <a:xfrm>
            <a:off x="382772" y="687992"/>
            <a:ext cx="11809228" cy="307777"/>
          </a:xfrm>
          <a:prstGeom prst="rect">
            <a:avLst/>
          </a:prstGeom>
          <a:noFill/>
        </p:spPr>
        <p:txBody>
          <a:bodyPr wrap="square">
            <a:spAutoFit/>
          </a:bodyPr>
          <a:lstStyle/>
          <a:p>
            <a:pPr lvl="0">
              <a:defRPr/>
            </a:pPr>
            <a:r>
              <a:rPr kumimoji="0" lang="en-US" sz="1400" b="1" i="1" u="sng" strike="noStrike" kern="1200" cap="none" spc="0" normalizeH="0" baseline="0" noProof="0">
                <a:ln>
                  <a:noFill/>
                </a:ln>
                <a:solidFill>
                  <a:prstClr val="black"/>
                </a:solidFill>
                <a:effectLst/>
                <a:uLnTx/>
                <a:uFillTx/>
                <a:latin typeface="Aptos"/>
                <a:ea typeface="+mn-ea"/>
                <a:cs typeface="+mn-cs"/>
              </a:rPr>
              <a:t>Abacum streamlines FP&amp;A planning and analysis; </a:t>
            </a:r>
            <a:r>
              <a:rPr lang="en-US" sz="1400" b="1" i="1" u="sng">
                <a:solidFill>
                  <a:prstClr val="black"/>
                </a:solidFill>
              </a:rPr>
              <a:t>Zora extends execution across functions and systems</a:t>
            </a:r>
            <a:endParaRPr kumimoji="0" lang="en-US" sz="1400" b="1" i="1" u="sng" strike="noStrike" kern="1200" cap="none" spc="0" normalizeH="0" baseline="0" noProof="0">
              <a:ln>
                <a:noFill/>
              </a:ln>
              <a:solidFill>
                <a:prstClr val="black"/>
              </a:solidFill>
              <a:effectLst/>
              <a:uLnTx/>
              <a:uFillTx/>
              <a:latin typeface="Aptos"/>
              <a:ea typeface="+mn-ea"/>
              <a:cs typeface="+mn-cs"/>
            </a:endParaRPr>
          </a:p>
        </p:txBody>
      </p:sp>
      <p:sp>
        <p:nvSpPr>
          <p:cNvPr id="6" name="TextBox 5">
            <a:extLst>
              <a:ext uri="{FF2B5EF4-FFF2-40B4-BE49-F238E27FC236}">
                <a16:creationId xmlns:a16="http://schemas.microsoft.com/office/drawing/2014/main" id="{8182F41A-9676-7A01-47B7-42A8A3B1E8D9}"/>
              </a:ext>
            </a:extLst>
          </p:cNvPr>
          <p:cNvSpPr txBox="1"/>
          <p:nvPr/>
        </p:nvSpPr>
        <p:spPr>
          <a:xfrm>
            <a:off x="3222171" y="1106424"/>
            <a:ext cx="8509580" cy="35394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are Abacum offerings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Abacum is an AI-enabled FP&amp;A platform for planning, forecasting, reporting, and scenario modelling primarily for mid-market organizations.</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It connects finance and operational data from ERP, CRM, HRIS, and data warehouses into one collaborative planning model.</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AI integration accelerates variance analysis, commentary, and finance Q&amp;A inside FP&amp;A</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Abacum stronger compared to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Faster time to value for </a:t>
            </a:r>
            <a:r>
              <a:rPr lang="en-US" sz="1200">
                <a:solidFill>
                  <a:srgbClr val="313131"/>
                </a:solidFill>
                <a:latin typeface="Aptos"/>
              </a:rPr>
              <a:t>FP&amp;A function </a:t>
            </a:r>
            <a:r>
              <a:rPr kumimoji="0" lang="en-US" sz="1200" b="0" i="0" u="none" strike="noStrike" kern="1200" cap="none" spc="0" normalizeH="0" baseline="0" noProof="0">
                <a:ln>
                  <a:noFill/>
                </a:ln>
                <a:solidFill>
                  <a:srgbClr val="313131"/>
                </a:solidFill>
                <a:effectLst/>
                <a:uLnTx/>
                <a:uFillTx/>
                <a:latin typeface="Aptos"/>
                <a:ea typeface="+mn-ea"/>
                <a:cs typeface="+mn-cs"/>
              </a:rPr>
              <a:t>– Purpose-built planning workflows reduce build effort for core FP&amp;A use cases, claims first live use case within 8 weeks.</a:t>
            </a:r>
          </a:p>
          <a:p>
            <a:pPr marL="203200" lvl="0" indent="-203200">
              <a:spcBef>
                <a:spcPts val="600"/>
              </a:spcBef>
              <a:buSzPct val="100000"/>
              <a:buFont typeface="Arial"/>
              <a:buChar char="•"/>
              <a:defRPr/>
            </a:pPr>
            <a:r>
              <a:rPr lang="en-US" sz="1200">
                <a:solidFill>
                  <a:srgbClr val="313131"/>
                </a:solidFill>
                <a:latin typeface="Aptos"/>
              </a:rPr>
              <a:t>Broad, pre-built connector library – Out-of-the-box integrations to accounting systems, ERPs, CRMs, and HRIS platforms, letting smaller finance teams consolidate data without custom integration work. </a:t>
            </a:r>
          </a:p>
          <a:p>
            <a:pPr lvl="0">
              <a:spcBef>
                <a:spcPts val="600"/>
              </a:spcBef>
              <a:buSzPct val="100000"/>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Abacum?</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Domain breadth – Zora extends beyond FP&amp;A into procurement, tax, audit, HR, and broader finance operations.</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Cross-system execution – Zora coordinates enterprise workflows across applications; Abacum centers on planning, analysis, and decision support.</a:t>
            </a:r>
          </a:p>
          <a:p>
            <a:pPr marL="203200" indent="-203200">
              <a:spcBef>
                <a:spcPts val="600"/>
              </a:spcBef>
              <a:buSzPct val="100000"/>
              <a:buFont typeface="Arial"/>
              <a:buChar char="•"/>
              <a:defRPr/>
            </a:pPr>
            <a:r>
              <a:rPr lang="en-US" sz="1200">
                <a:solidFill>
                  <a:srgbClr val="313131"/>
                </a:solidFill>
              </a:rPr>
              <a:t>Deployment flexibility – Abacum appears to be SaaS-first, with no evidence of on-premise or private cloud hosting options.</a:t>
            </a:r>
          </a:p>
        </p:txBody>
      </p:sp>
      <p:sp>
        <p:nvSpPr>
          <p:cNvPr id="7" name="Rectangle 6">
            <a:extLst>
              <a:ext uri="{FF2B5EF4-FFF2-40B4-BE49-F238E27FC236}">
                <a16:creationId xmlns:a16="http://schemas.microsoft.com/office/drawing/2014/main" id="{2A8501F4-9AA8-7162-962B-8F2715354829}"/>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Lead beyond planning and insight: </a:t>
            </a:r>
            <a:r>
              <a:rPr kumimoji="0" lang="en-US" sz="1200" b="0" i="0" u="none" strike="noStrike" kern="1200" cap="none" spc="0" normalizeH="0" baseline="0" noProof="0">
                <a:ln>
                  <a:noFill/>
                </a:ln>
                <a:solidFill>
                  <a:prstClr val="black"/>
                </a:solidFill>
                <a:effectLst/>
                <a:uLnTx/>
                <a:uFillTx/>
                <a:latin typeface="Aptos"/>
                <a:ea typeface="+mn-ea"/>
                <a:cs typeface="+mn-cs"/>
              </a:rPr>
              <a:t>Target workflows that execute across systems and functions; coexist with Abacum as the FP&amp;A planning layer.</a:t>
            </a:r>
          </a:p>
        </p:txBody>
      </p:sp>
      <p:sp>
        <p:nvSpPr>
          <p:cNvPr id="22" name="TextBox 21">
            <a:extLst>
              <a:ext uri="{FF2B5EF4-FFF2-40B4-BE49-F238E27FC236}">
                <a16:creationId xmlns:a16="http://schemas.microsoft.com/office/drawing/2014/main" id="{9245C54B-8A2A-B9F3-6CAC-A3FD865A29ED}"/>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E1FEB3E9-81AC-F7BF-D2A8-F7F04FF9C788}"/>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CB490CD4-B18D-4ED0-0DA3-84A209F29FBF}"/>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FE689074-FFE9-627D-4383-1CE3D5AE0D1A}"/>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E18B7A5B-D66A-9CB8-F540-DD8A365D67F7}"/>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976548D9-7432-B81C-14B5-B8F5682D1E6A}"/>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EBE759F6-B0F2-F5D3-F19E-4523C033A6B9}"/>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36" name="Rectangle: Rounded Corners 35">
            <a:extLst>
              <a:ext uri="{FF2B5EF4-FFF2-40B4-BE49-F238E27FC236}">
                <a16:creationId xmlns:a16="http://schemas.microsoft.com/office/drawing/2014/main" id="{C7235D48-6DD8-3BD1-7EDF-DD1BE3F9D694}"/>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p:txBody>
      </p:sp>
      <p:sp>
        <p:nvSpPr>
          <p:cNvPr id="38" name="Rectangle: Rounded Corners 37">
            <a:extLst>
              <a:ext uri="{FF2B5EF4-FFF2-40B4-BE49-F238E27FC236}">
                <a16:creationId xmlns:a16="http://schemas.microsoft.com/office/drawing/2014/main" id="{B8EF1D0D-CE7E-1576-5335-489044FBA3C2}"/>
              </a:ext>
            </a:extLst>
          </p:cNvPr>
          <p:cNvSpPr/>
          <p:nvPr/>
        </p:nvSpPr>
        <p:spPr bwMode="gray">
          <a:xfrm>
            <a:off x="1259176"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40" name="Rectangle: Rounded Corners 39">
            <a:extLst>
              <a:ext uri="{FF2B5EF4-FFF2-40B4-BE49-F238E27FC236}">
                <a16:creationId xmlns:a16="http://schemas.microsoft.com/office/drawing/2014/main" id="{C36EFCB9-AF90-0DF9-18A1-E6830551BD97}"/>
              </a:ext>
            </a:extLst>
          </p:cNvPr>
          <p:cNvSpPr/>
          <p:nvPr/>
        </p:nvSpPr>
        <p:spPr bwMode="gray">
          <a:xfrm>
            <a:off x="2045039" y="1971024"/>
            <a:ext cx="731520" cy="1463040"/>
          </a:xfrm>
          <a:prstGeom prst="roundRect">
            <a:avLst/>
          </a:prstGeom>
          <a:solidFill>
            <a:srgbClr val="E3E48D"/>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algn="ctr">
              <a:lnSpc>
                <a:spcPct val="106000"/>
              </a:lnSpc>
              <a:defRPr/>
            </a:pPr>
            <a:r>
              <a:rPr lang="en-US" sz="900" b="0" i="0">
                <a:solidFill>
                  <a:sysClr val="windowText" lastClr="000000"/>
                </a:solidFill>
                <a:latin typeface="Aptos"/>
              </a:rPr>
              <a:t>Abacum AI for FP&amp;A</a:t>
            </a:r>
            <a:endParaRPr lang="en-US" sz="900" i="1">
              <a:solidFill>
                <a:prstClr val="black"/>
              </a:solidFill>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42" name="Rectangle: Rounded Corners 41">
            <a:extLst>
              <a:ext uri="{FF2B5EF4-FFF2-40B4-BE49-F238E27FC236}">
                <a16:creationId xmlns:a16="http://schemas.microsoft.com/office/drawing/2014/main" id="{DDA4A55A-8722-FA2A-CF59-B2644E7BC115}"/>
              </a:ext>
            </a:extLst>
          </p:cNvPr>
          <p:cNvSpPr/>
          <p:nvPr/>
        </p:nvSpPr>
        <p:spPr bwMode="gray">
          <a:xfrm>
            <a:off x="429769" y="3639561"/>
            <a:ext cx="2377440" cy="816923"/>
          </a:xfrm>
          <a:prstGeom prst="roundRect">
            <a:avLst/>
          </a:prstGeom>
          <a:solidFill>
            <a:schemeClr val="bg1"/>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lang="en-US" sz="800" b="1">
              <a:solidFill>
                <a:prstClr val="black"/>
              </a:solidFill>
              <a:latin typeface="Apto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sp>
        <p:nvSpPr>
          <p:cNvPr id="44" name="Rectangle: Rounded Corners 43">
            <a:extLst>
              <a:ext uri="{FF2B5EF4-FFF2-40B4-BE49-F238E27FC236}">
                <a16:creationId xmlns:a16="http://schemas.microsoft.com/office/drawing/2014/main" id="{92803FF5-023A-D746-6294-8BCEFEA6E960}"/>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3" name="Picture 2" descr="User Group Sponsors">
            <a:extLst>
              <a:ext uri="{FF2B5EF4-FFF2-40B4-BE49-F238E27FC236}">
                <a16:creationId xmlns:a16="http://schemas.microsoft.com/office/drawing/2014/main" id="{190AF62B-9845-3EAC-AC91-28C84D8E6CD7}"/>
              </a:ext>
            </a:extLst>
          </p:cNvPr>
          <p:cNvPicPr>
            <a:picLocks noChangeAspect="1"/>
          </p:cNvPicPr>
          <p:nvPr/>
        </p:nvPicPr>
        <p:blipFill>
          <a:blip r:embed="rId2"/>
          <a:stretch>
            <a:fillRect/>
          </a:stretch>
        </p:blipFill>
        <p:spPr>
          <a:xfrm>
            <a:off x="10308974" y="43875"/>
            <a:ext cx="1652902" cy="58921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466AFC8D-08EB-7152-8955-D4C880F44FE4}"/>
              </a:ext>
            </a:extLst>
          </p:cNvPr>
          <p:cNvCxnSpPr>
            <a:cxnSpLocks/>
          </p:cNvCxnSpPr>
          <p:nvPr/>
        </p:nvCxnSpPr>
        <p:spPr>
          <a:xfrm>
            <a:off x="458725" y="5574362"/>
            <a:ext cx="1127455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B584043-8B95-54C2-E63C-0016F86C5945}"/>
              </a:ext>
            </a:extLst>
          </p:cNvPr>
          <p:cNvSpPr>
            <a:spLocks noGrp="1"/>
          </p:cNvSpPr>
          <p:nvPr>
            <p:ph type="title"/>
          </p:nvPr>
        </p:nvSpPr>
        <p:spPr/>
        <p:txBody>
          <a:bodyPr vert="horz" rIns="0"/>
          <a:lstStyle/>
          <a:p>
            <a:r>
              <a:rPr lang="en-US" sz="2000" b="1" i="0" err="1">
                <a:solidFill>
                  <a:srgbClr val="282728"/>
                </a:solidFill>
                <a:latin typeface="Aptos"/>
              </a:rPr>
              <a:t>Coupa</a:t>
            </a:r>
            <a:endParaRPr lang="en-US"/>
          </a:p>
        </p:txBody>
      </p:sp>
      <p:sp>
        <p:nvSpPr>
          <p:cNvPr id="4" name="TextBox 3">
            <a:extLst>
              <a:ext uri="{FF2B5EF4-FFF2-40B4-BE49-F238E27FC236}">
                <a16:creationId xmlns:a16="http://schemas.microsoft.com/office/drawing/2014/main" id="{37A8C48C-5E49-AF8E-60C1-D01A514B8E0C}"/>
              </a:ext>
            </a:extLst>
          </p:cNvPr>
          <p:cNvSpPr txBox="1"/>
          <p:nvPr/>
        </p:nvSpPr>
        <p:spPr>
          <a:xfrm>
            <a:off x="382772" y="687992"/>
            <a:ext cx="1180922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sng" strike="noStrike" kern="1200" cap="none" spc="0" normalizeH="0" baseline="0" noProof="0">
                <a:ln>
                  <a:noFill/>
                </a:ln>
                <a:solidFill>
                  <a:prstClr val="black"/>
                </a:solidFill>
                <a:effectLst/>
                <a:uLnTx/>
                <a:uFillTx/>
                <a:latin typeface="Aptos"/>
                <a:ea typeface="+mn-ea"/>
                <a:cs typeface="+mn-cs"/>
              </a:rPr>
              <a:t>Coupa combines native spend agents in its platform; Zora extends domain breadth beyond procurement</a:t>
            </a:r>
          </a:p>
        </p:txBody>
      </p:sp>
      <p:sp>
        <p:nvSpPr>
          <p:cNvPr id="6" name="TextBox 5">
            <a:extLst>
              <a:ext uri="{FF2B5EF4-FFF2-40B4-BE49-F238E27FC236}">
                <a16:creationId xmlns:a16="http://schemas.microsoft.com/office/drawing/2014/main" id="{8182F41A-9676-7A01-47B7-42A8A3B1E8D9}"/>
              </a:ext>
            </a:extLst>
          </p:cNvPr>
          <p:cNvSpPr txBox="1"/>
          <p:nvPr/>
        </p:nvSpPr>
        <p:spPr>
          <a:xfrm>
            <a:off x="3222171" y="1106424"/>
            <a:ext cx="8509580" cy="32778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How are Coupa offerings different from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Coupa is a total spend management platform spanning sourcing, procurement, contracts, suppliers, AP, treasury, and supply chain.</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hlinkClick r:id="rId2"/>
              </a:rPr>
              <a:t>Its Navi agents </a:t>
            </a:r>
            <a:r>
              <a:rPr kumimoji="0" lang="en-US" sz="1200" b="0" i="0" u="none" strike="noStrike" kern="1200" cap="none" spc="0" normalizeH="0" baseline="0" noProof="0">
                <a:ln>
                  <a:noFill/>
                </a:ln>
                <a:solidFill>
                  <a:srgbClr val="313131"/>
                </a:solidFill>
                <a:effectLst/>
                <a:uLnTx/>
                <a:uFillTx/>
                <a:latin typeface="Aptos"/>
                <a:ea typeface="+mn-ea"/>
                <a:cs typeface="+mn-cs"/>
              </a:rPr>
              <a:t>automate spend analytics, sourcing events, contract summaries, supplier support, policy checks, and payment batches.</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hlinkClick r:id="rId3"/>
              </a:rPr>
              <a:t>Coupa Compose </a:t>
            </a:r>
            <a:r>
              <a:rPr lang="en-US" sz="1200">
                <a:solidFill>
                  <a:srgbClr val="313131"/>
                </a:solidFill>
                <a:latin typeface="Aptos"/>
              </a:rPr>
              <a:t>offers</a:t>
            </a:r>
            <a:r>
              <a:rPr kumimoji="0" lang="en-US" sz="1200" b="0" i="0" u="none" strike="noStrike" kern="1200" cap="none" spc="0" normalizeH="0" baseline="0" noProof="0">
                <a:ln>
                  <a:noFill/>
                </a:ln>
                <a:solidFill>
                  <a:srgbClr val="313131"/>
                </a:solidFill>
                <a:effectLst/>
                <a:uLnTx/>
                <a:uFillTx/>
                <a:latin typeface="Aptos"/>
                <a:ea typeface="+mn-ea"/>
                <a:cs typeface="+mn-cs"/>
              </a:rPr>
              <a:t> Agent Studio to build, govern, coordinate, and connect agents.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Coupa stronger compared to Zora?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Autonomous procurement workflows – Coupa agents can move from insight to governed action across sourcing, procurement, suppliers, AP, treasury, and supply chain.</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Faster time to value – Purpose-built native agents reduce the </a:t>
            </a:r>
            <a:r>
              <a:rPr lang="en-US" sz="1200">
                <a:solidFill>
                  <a:srgbClr val="313131"/>
                </a:solidFill>
                <a:latin typeface="Aptos"/>
              </a:rPr>
              <a:t>customization/configuration requirements, accelerating time to value</a:t>
            </a:r>
            <a:r>
              <a:rPr kumimoji="0" lang="en-US" sz="1200" b="0" i="0" u="none" strike="noStrike" kern="1200" cap="none" spc="0" normalizeH="0" baseline="0" noProof="0">
                <a:ln>
                  <a:noFill/>
                </a:ln>
                <a:solidFill>
                  <a:srgbClr val="313131"/>
                </a:solidFill>
                <a:effectLst/>
                <a:uLnTx/>
                <a:uFillTx/>
                <a:latin typeface="Aptos"/>
                <a:ea typeface="+mn-ea"/>
                <a:cs typeface="+mn-cs"/>
              </a:rPr>
              <a:t>.</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Aptos"/>
                <a:ea typeface="+mn-ea"/>
                <a:cs typeface="+mn-cs"/>
              </a:rPr>
              <a:t>Where is Zora stronger than Coupa?</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b="0" i="0" u="none" strike="noStrike" kern="1200" cap="none" spc="0" normalizeH="0" baseline="0" noProof="0">
                <a:ln>
                  <a:noFill/>
                </a:ln>
                <a:solidFill>
                  <a:srgbClr val="313131"/>
                </a:solidFill>
                <a:effectLst/>
                <a:uLnTx/>
                <a:uFillTx/>
                <a:latin typeface="Aptos"/>
                <a:ea typeface="+mn-ea"/>
                <a:cs typeface="+mn-cs"/>
              </a:rPr>
              <a:t>Domain breadth beyond procurement &amp; supply chain – Zora additionally packages Deloitte expertise for finance, tax, audit, HR</a:t>
            </a:r>
            <a:r>
              <a:rPr lang="en-US" sz="1200">
                <a:solidFill>
                  <a:srgbClr val="313131"/>
                </a:solidFill>
                <a:latin typeface="Aptos"/>
              </a:rPr>
              <a:t>.</a:t>
            </a:r>
          </a:p>
          <a:p>
            <a:pPr marL="203200" indent="-203200">
              <a:spcBef>
                <a:spcPts val="600"/>
              </a:spcBef>
              <a:buSzPct val="100000"/>
              <a:buFont typeface="Arial"/>
              <a:buChar char="•"/>
              <a:defRPr/>
            </a:pPr>
            <a:r>
              <a:rPr lang="en-US" sz="1200">
                <a:solidFill>
                  <a:srgbClr val="313131"/>
                </a:solidFill>
              </a:rPr>
              <a:t>Deployment flexibility – Coupa appears to be SaaS-first, with no evidence of on-premise or private cloud hosting options.</a:t>
            </a:r>
          </a:p>
        </p:txBody>
      </p:sp>
      <p:sp>
        <p:nvSpPr>
          <p:cNvPr id="7" name="Rectangle 6">
            <a:extLst>
              <a:ext uri="{FF2B5EF4-FFF2-40B4-BE49-F238E27FC236}">
                <a16:creationId xmlns:a16="http://schemas.microsoft.com/office/drawing/2014/main" id="{2A8501F4-9AA8-7162-962B-8F2715354829}"/>
              </a:ext>
            </a:extLst>
          </p:cNvPr>
          <p:cNvSpPr/>
          <p:nvPr/>
        </p:nvSpPr>
        <p:spPr bwMode="gray">
          <a:xfrm>
            <a:off x="382772" y="5725430"/>
            <a:ext cx="11348980" cy="867876"/>
          </a:xfrm>
          <a:prstGeom prst="rect">
            <a:avLst/>
          </a:prstGeom>
          <a:noFill/>
          <a:ln w="19050" algn="ctr">
            <a:noFill/>
            <a:miter lim="800000"/>
            <a:headEnd/>
            <a:tailEnd/>
          </a:ln>
        </p:spPr>
        <p:txBody>
          <a:bodyPr wrap="square" lIns="88900" tIns="88900" rIns="88900" bIns="88900" rtlCol="0" anchor="t"/>
          <a:lstStyle/>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a:ea typeface="+mn-ea"/>
                <a:cs typeface="+mn-cs"/>
              </a:rPr>
              <a:t>Focus on workflows outside Coupa’s coverage: </a:t>
            </a:r>
            <a:r>
              <a:rPr kumimoji="0" lang="en-US" sz="1200" b="0" i="0" u="none" strike="noStrike" kern="1200" cap="none" spc="0" normalizeH="0" baseline="0" noProof="0">
                <a:ln>
                  <a:noFill/>
                </a:ln>
                <a:solidFill>
                  <a:prstClr val="black"/>
                </a:solidFill>
                <a:effectLst/>
                <a:uLnTx/>
                <a:uFillTx/>
                <a:latin typeface="Aptos"/>
                <a:ea typeface="+mn-ea"/>
                <a:cs typeface="+mn-cs"/>
              </a:rPr>
              <a:t>Position Zora for finance, tax, audit, HR and other cross-functional workflows not addressed by Coupa’s spend-native agents.</a:t>
            </a:r>
          </a:p>
        </p:txBody>
      </p:sp>
      <p:sp>
        <p:nvSpPr>
          <p:cNvPr id="22" name="TextBox 21">
            <a:extLst>
              <a:ext uri="{FF2B5EF4-FFF2-40B4-BE49-F238E27FC236}">
                <a16:creationId xmlns:a16="http://schemas.microsoft.com/office/drawing/2014/main" id="{9245C54B-8A2A-B9F3-6CAC-A3FD865A29ED}"/>
              </a:ext>
            </a:extLst>
          </p:cNvPr>
          <p:cNvSpPr txBox="1"/>
          <p:nvPr/>
        </p:nvSpPr>
        <p:spPr>
          <a:xfrm>
            <a:off x="382772" y="1262307"/>
            <a:ext cx="237131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Where it Competes</a:t>
            </a:r>
          </a:p>
        </p:txBody>
      </p:sp>
      <p:sp>
        <p:nvSpPr>
          <p:cNvPr id="24" name="Rectangle: Rounded Corners 23">
            <a:extLst>
              <a:ext uri="{FF2B5EF4-FFF2-40B4-BE49-F238E27FC236}">
                <a16:creationId xmlns:a16="http://schemas.microsoft.com/office/drawing/2014/main" id="{E1FEB3E9-81AC-F7BF-D2A8-F7F04FF9C788}"/>
              </a:ext>
            </a:extLst>
          </p:cNvPr>
          <p:cNvSpPr/>
          <p:nvPr/>
        </p:nvSpPr>
        <p:spPr bwMode="gray">
          <a:xfrm>
            <a:off x="1028049" y="4808771"/>
            <a:ext cx="822960" cy="365760"/>
          </a:xfrm>
          <a:prstGeom prst="roundRect">
            <a:avLst/>
          </a:prstGeom>
          <a:solidFill>
            <a:srgbClr val="E3E48D"/>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Primary Positioning</a:t>
            </a:r>
          </a:p>
        </p:txBody>
      </p:sp>
      <p:sp>
        <p:nvSpPr>
          <p:cNvPr id="26" name="Rectangle: Rounded Corners 25">
            <a:extLst>
              <a:ext uri="{FF2B5EF4-FFF2-40B4-BE49-F238E27FC236}">
                <a16:creationId xmlns:a16="http://schemas.microsoft.com/office/drawing/2014/main" id="{CB490CD4-B18D-4ED0-0DA3-84A209F29FBF}"/>
              </a:ext>
            </a:extLst>
          </p:cNvPr>
          <p:cNvSpPr/>
          <p:nvPr/>
        </p:nvSpPr>
        <p:spPr bwMode="gray">
          <a:xfrm>
            <a:off x="1893027" y="4808771"/>
            <a:ext cx="822960" cy="365760"/>
          </a:xfrm>
          <a:prstGeom prst="roundRect">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sysClr val="windowText" lastClr="000000"/>
                </a:solidFill>
                <a:effectLst/>
                <a:uLnTx/>
                <a:uFillTx/>
                <a:latin typeface="Aptos"/>
                <a:ea typeface="+mn-ea"/>
                <a:cs typeface="+mn-cs"/>
              </a:rPr>
              <a:t>Secondary Positioning</a:t>
            </a:r>
          </a:p>
        </p:txBody>
      </p:sp>
      <p:sp>
        <p:nvSpPr>
          <p:cNvPr id="28" name="Rectangle: Rounded Corners 27">
            <a:extLst>
              <a:ext uri="{FF2B5EF4-FFF2-40B4-BE49-F238E27FC236}">
                <a16:creationId xmlns:a16="http://schemas.microsoft.com/office/drawing/2014/main" id="{FE689074-FFE9-627D-4383-1CE3D5AE0D1A}"/>
              </a:ext>
            </a:extLst>
          </p:cNvPr>
          <p:cNvSpPr/>
          <p:nvPr/>
        </p:nvSpPr>
        <p:spPr bwMode="gray">
          <a:xfrm>
            <a:off x="331797" y="4839780"/>
            <a:ext cx="1109472" cy="365760"/>
          </a:xfrm>
          <a:prstGeom prst="round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ysClr val="windowText" lastClr="000000"/>
                </a:solidFill>
                <a:effectLst/>
                <a:uLnTx/>
                <a:uFillTx/>
                <a:latin typeface="Aptos"/>
                <a:ea typeface="+mn-ea"/>
                <a:cs typeface="+mn-cs"/>
              </a:rPr>
              <a:t>Legend</a:t>
            </a:r>
          </a:p>
        </p:txBody>
      </p:sp>
      <p:sp>
        <p:nvSpPr>
          <p:cNvPr id="30" name="TextBox 29">
            <a:extLst>
              <a:ext uri="{FF2B5EF4-FFF2-40B4-BE49-F238E27FC236}">
                <a16:creationId xmlns:a16="http://schemas.microsoft.com/office/drawing/2014/main" id="{E18B7A5B-D66A-9CB8-F540-DD8A365D67F7}"/>
              </a:ext>
            </a:extLst>
          </p:cNvPr>
          <p:cNvSpPr txBox="1"/>
          <p:nvPr/>
        </p:nvSpPr>
        <p:spPr>
          <a:xfrm>
            <a:off x="4678680" y="5417653"/>
            <a:ext cx="2834640" cy="313419"/>
          </a:xfrm>
          <a:prstGeom prst="rect">
            <a:avLst/>
          </a:prstGeom>
          <a:solidFill>
            <a:schemeClr val="bg1"/>
          </a:solidFill>
        </p:spPr>
        <p:txBody>
          <a:bodyPr wrap="square">
            <a:spAutoFit/>
          </a:bodyPr>
          <a:lstStyle/>
          <a:p>
            <a:pPr marL="0" marR="0" lvl="0" indent="0" algn="ctr" defTabSz="914400" rtl="0" eaLnBrk="1" fontAlgn="auto" latinLnBrk="0" hangingPunct="1">
              <a:lnSpc>
                <a:spcPct val="106000"/>
              </a:lnSpc>
              <a:spcBef>
                <a:spcPts val="0"/>
              </a:spcBef>
              <a:spcAft>
                <a:spcPts val="600"/>
              </a:spcAft>
              <a:buClrTx/>
              <a:buSzTx/>
              <a:buFont typeface="Wingdings 2" pitchFamily="18" charset="2"/>
              <a:buNone/>
              <a:tabLst/>
              <a:defRPr/>
            </a:pPr>
            <a:r>
              <a:rPr kumimoji="0" lang="en-US" sz="1400" b="1" i="0" u="none" strike="noStrike" kern="1200" cap="none" spc="0" normalizeH="0" baseline="0" noProof="0">
                <a:ln>
                  <a:noFill/>
                </a:ln>
                <a:solidFill>
                  <a:srgbClr val="046A38"/>
                </a:solidFill>
                <a:effectLst/>
                <a:uLnTx/>
                <a:uFillTx/>
                <a:latin typeface="Aptos"/>
                <a:ea typeface="+mn-ea"/>
                <a:cs typeface="+mn-cs"/>
              </a:rPr>
              <a:t>Recommendations (for Zora)</a:t>
            </a:r>
          </a:p>
        </p:txBody>
      </p:sp>
      <p:cxnSp>
        <p:nvCxnSpPr>
          <p:cNvPr id="33" name="Straight Connector 32">
            <a:extLst>
              <a:ext uri="{FF2B5EF4-FFF2-40B4-BE49-F238E27FC236}">
                <a16:creationId xmlns:a16="http://schemas.microsoft.com/office/drawing/2014/main" id="{976548D9-7432-B81C-14B5-B8F5682D1E6A}"/>
              </a:ext>
            </a:extLst>
          </p:cNvPr>
          <p:cNvCxnSpPr>
            <a:cxnSpLocks/>
          </p:cNvCxnSpPr>
          <p:nvPr/>
        </p:nvCxnSpPr>
        <p:spPr>
          <a:xfrm rot="5400000" flipV="1">
            <a:off x="949777" y="3206999"/>
            <a:ext cx="4114800" cy="0"/>
          </a:xfrm>
          <a:prstGeom prst="line">
            <a:avLst/>
          </a:prstGeom>
          <a:ln w="254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EBE759F6-B0F2-F5D3-F19E-4523C033A6B9}"/>
              </a:ext>
            </a:extLst>
          </p:cNvPr>
          <p:cNvSpPr/>
          <p:nvPr/>
        </p:nvSpPr>
        <p:spPr bwMode="gray">
          <a:xfrm>
            <a:off x="382771" y="1566980"/>
            <a:ext cx="2501941" cy="3060192"/>
          </a:xfrm>
          <a:prstGeom prst="roundRect">
            <a:avLst>
              <a:gd name="adj" fmla="val 6122"/>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black"/>
              </a:solidFill>
              <a:effectLst/>
              <a:uLnTx/>
              <a:uFillTx/>
              <a:latin typeface="Aptos"/>
              <a:ea typeface="+mn-ea"/>
              <a:cs typeface="+mn-cs"/>
            </a:endParaRPr>
          </a:p>
        </p:txBody>
      </p:sp>
      <p:sp>
        <p:nvSpPr>
          <p:cNvPr id="36" name="Rectangle: Rounded Corners 35">
            <a:extLst>
              <a:ext uri="{FF2B5EF4-FFF2-40B4-BE49-F238E27FC236}">
                <a16:creationId xmlns:a16="http://schemas.microsoft.com/office/drawing/2014/main" id="{C7235D48-6DD8-3BD1-7EDF-DD1BE3F9D694}"/>
              </a:ext>
            </a:extLst>
          </p:cNvPr>
          <p:cNvSpPr/>
          <p:nvPr/>
        </p:nvSpPr>
        <p:spPr bwMode="gray">
          <a:xfrm>
            <a:off x="473313" y="1977655"/>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1. General Productivity Agents</a:t>
            </a:r>
          </a:p>
        </p:txBody>
      </p:sp>
      <p:sp>
        <p:nvSpPr>
          <p:cNvPr id="38" name="Rectangle: Rounded Corners 37">
            <a:extLst>
              <a:ext uri="{FF2B5EF4-FFF2-40B4-BE49-F238E27FC236}">
                <a16:creationId xmlns:a16="http://schemas.microsoft.com/office/drawing/2014/main" id="{B8EF1D0D-CE7E-1576-5335-489044FBA3C2}"/>
              </a:ext>
            </a:extLst>
          </p:cNvPr>
          <p:cNvSpPr/>
          <p:nvPr/>
        </p:nvSpPr>
        <p:spPr bwMode="gray">
          <a:xfrm>
            <a:off x="1259176" y="1971024"/>
            <a:ext cx="731520" cy="1463040"/>
          </a:xfrm>
          <a:prstGeom prst="roundRect">
            <a:avLst/>
          </a:prstGeom>
          <a:solidFill>
            <a:schemeClr val="bg1"/>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2. Functional/ Industry Agents</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900" b="0" i="1" u="none" strike="noStrike" kern="1200" cap="none" spc="0" normalizeH="0" baseline="0" noProof="0">
              <a:ln>
                <a:noFill/>
              </a:ln>
              <a:solidFill>
                <a:prstClr val="black"/>
              </a:solidFill>
              <a:effectLst/>
              <a:uLnTx/>
              <a:uFillTx/>
              <a:latin typeface="Aptos"/>
              <a:ea typeface="+mn-ea"/>
              <a:cs typeface="+mn-cs"/>
            </a:endParaRPr>
          </a:p>
        </p:txBody>
      </p:sp>
      <p:sp>
        <p:nvSpPr>
          <p:cNvPr id="40" name="Rectangle: Rounded Corners 39">
            <a:extLst>
              <a:ext uri="{FF2B5EF4-FFF2-40B4-BE49-F238E27FC236}">
                <a16:creationId xmlns:a16="http://schemas.microsoft.com/office/drawing/2014/main" id="{C36EFCB9-AF90-0DF9-18A1-E6830551BD97}"/>
              </a:ext>
            </a:extLst>
          </p:cNvPr>
          <p:cNvSpPr/>
          <p:nvPr/>
        </p:nvSpPr>
        <p:spPr bwMode="gray">
          <a:xfrm>
            <a:off x="2045039" y="1971024"/>
            <a:ext cx="731520" cy="1463040"/>
          </a:xfrm>
          <a:prstGeom prst="roundRect">
            <a:avLst/>
          </a:prstGeom>
          <a:solidFill>
            <a:srgbClr val="E3E48D"/>
          </a:solidFill>
          <a:ln w="6350">
            <a:solidFill>
              <a:schemeClr val="accent1">
                <a:alpha val="95000"/>
              </a:schemeClr>
            </a:solidFill>
            <a:headEnd/>
            <a:tailEnd/>
          </a:ln>
        </p:spPr>
        <p:style>
          <a:lnRef idx="2">
            <a:schemeClr val="accent2"/>
          </a:lnRef>
          <a:fillRef idx="1">
            <a:schemeClr val="lt1"/>
          </a:fillRef>
          <a:effectRef idx="0">
            <a:schemeClr val="accent2"/>
          </a:effectRef>
          <a:fontRef idx="minor">
            <a:schemeClr val="dk1"/>
          </a:fontRef>
        </p:style>
        <p:txBody>
          <a:bodyPr wrap="square" lIns="0" tIns="0" rIns="0" bIns="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sysClr val="windowText" lastClr="000000"/>
                </a:solidFill>
                <a:effectLst/>
                <a:uLnTx/>
                <a:uFillTx/>
                <a:latin typeface="Aptos"/>
                <a:ea typeface="+mn-ea"/>
                <a:cs typeface="+mn-cs"/>
              </a:rPr>
              <a:t>3. App-native Agents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sysClr val="windowText" lastClr="000000"/>
              </a:solidFill>
              <a:effectLst/>
              <a:uLnTx/>
              <a:uFillTx/>
              <a:latin typeface="Aptos"/>
              <a:ea typeface="+mn-ea"/>
              <a:cs typeface="+mn-cs"/>
            </a:endParaRPr>
          </a:p>
          <a:p>
            <a:pPr algn="ctr">
              <a:lnSpc>
                <a:spcPct val="106000"/>
              </a:lnSpc>
              <a:defRPr/>
            </a:pPr>
            <a:r>
              <a:rPr lang="en-US" sz="900" b="0" i="0" err="1">
                <a:solidFill>
                  <a:sysClr val="windowText" lastClr="000000"/>
                </a:solidFill>
                <a:latin typeface="Aptos"/>
              </a:rPr>
              <a:t>Coupa Navi agents</a:t>
            </a:r>
            <a:endParaRPr lang="en-US" sz="900" i="1">
              <a:solidFill>
                <a:prstClr val="black"/>
              </a:solidFill>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42" name="Rectangle: Rounded Corners 41">
            <a:extLst>
              <a:ext uri="{FF2B5EF4-FFF2-40B4-BE49-F238E27FC236}">
                <a16:creationId xmlns:a16="http://schemas.microsoft.com/office/drawing/2014/main" id="{DDA4A55A-8722-FA2A-CF59-B2644E7BC115}"/>
              </a:ext>
            </a:extLst>
          </p:cNvPr>
          <p:cNvSpPr/>
          <p:nvPr/>
        </p:nvSpPr>
        <p:spPr bwMode="gray">
          <a:xfrm>
            <a:off x="429769" y="3639561"/>
            <a:ext cx="2377440" cy="816923"/>
          </a:xfrm>
          <a:prstGeom prst="roundRect">
            <a:avLst/>
          </a:prstGeom>
          <a:solidFill>
            <a:srgbClr val="E3E48D"/>
          </a:solidFill>
          <a:ln w="19050" algn="ctr">
            <a:solidFill>
              <a:schemeClr val="accent3">
                <a:lumMod val="75000"/>
              </a:schemeClr>
            </a:solidFill>
            <a:miter lim="800000"/>
            <a:headEnd/>
            <a:tailEnd/>
          </a:ln>
        </p:spPr>
        <p:txBody>
          <a:bodyPr wrap="square" lIns="88900" tIns="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Aptos"/>
                <a:ea typeface="+mn-ea"/>
                <a:cs typeface="+mn-cs"/>
              </a:rPr>
              <a:t>4. Agent Enabling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lang="en-US" sz="800" b="1">
              <a:solidFill>
                <a:prstClr val="black"/>
              </a:solidFill>
              <a:latin typeface="Aptos"/>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sz="900" b="0" i="0">
                <a:latin typeface="Aptos"/>
              </a:rPr>
              <a:t>Coupa Compose</a:t>
            </a:r>
            <a:r>
              <a:rPr lang="en-US" sz="900" b="0" i="0">
                <a:latin typeface="Aptos"/>
              </a:rPr>
              <a:t>; </a:t>
            </a:r>
            <a:r>
              <a:rPr sz="900" b="0" i="0">
                <a:latin typeface="Aptos"/>
              </a:rPr>
              <a:t> Navi Agent Studio</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sp>
        <p:nvSpPr>
          <p:cNvPr id="44" name="Rectangle: Rounded Corners 43">
            <a:extLst>
              <a:ext uri="{FF2B5EF4-FFF2-40B4-BE49-F238E27FC236}">
                <a16:creationId xmlns:a16="http://schemas.microsoft.com/office/drawing/2014/main" id="{92803FF5-023A-D746-6294-8BCEFEA6E960}"/>
              </a:ext>
            </a:extLst>
          </p:cNvPr>
          <p:cNvSpPr/>
          <p:nvPr/>
        </p:nvSpPr>
        <p:spPr bwMode="gray">
          <a:xfrm>
            <a:off x="447015" y="1693156"/>
            <a:ext cx="2377440" cy="1845513"/>
          </a:xfrm>
          <a:prstGeom prst="roundRect">
            <a:avLst>
              <a:gd name="adj" fmla="val 5460"/>
            </a:avLst>
          </a:prstGeom>
          <a:noFill/>
          <a:ln w="19050" algn="ctr">
            <a:solidFill>
              <a:schemeClr val="accent3">
                <a:lumMod val="75000"/>
              </a:schemeClr>
            </a:solidFill>
            <a:miter lim="800000"/>
            <a:headEnd/>
            <a:tailEnd/>
          </a:ln>
        </p:spPr>
        <p:txBody>
          <a:bodyPr wrap="square" lIns="88900" tIns="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Deployable Agents</a:t>
            </a:r>
            <a:endParaRPr kumimoji="0" lang="en-US" sz="1100" b="0" i="1" u="none" strike="noStrike" kern="1200" cap="none" spc="0" normalizeH="0" baseline="0" noProof="0">
              <a:ln>
                <a:noFill/>
              </a:ln>
              <a:solidFill>
                <a:prstClr val="black"/>
              </a:solidFill>
              <a:effectLst/>
              <a:uLnTx/>
              <a:uFillTx/>
              <a:latin typeface="Aptos"/>
              <a:ea typeface="+mn-ea"/>
              <a:cs typeface="+mn-cs"/>
            </a:endParaRPr>
          </a:p>
        </p:txBody>
      </p:sp>
      <p:pic>
        <p:nvPicPr>
          <p:cNvPr id="5" name="Picture 4" descr="Coupa Login">
            <a:extLst>
              <a:ext uri="{FF2B5EF4-FFF2-40B4-BE49-F238E27FC236}">
                <a16:creationId xmlns:a16="http://schemas.microsoft.com/office/drawing/2014/main" id="{C206BAD8-8648-54B9-2185-F1DD9692D58F}"/>
              </a:ext>
            </a:extLst>
          </p:cNvPr>
          <p:cNvPicPr>
            <a:picLocks noChangeAspect="1"/>
          </p:cNvPicPr>
          <p:nvPr/>
        </p:nvPicPr>
        <p:blipFill>
          <a:blip r:embed="rId4"/>
          <a:stretch>
            <a:fillRect/>
          </a:stretch>
        </p:blipFill>
        <p:spPr>
          <a:xfrm>
            <a:off x="10741688" y="168382"/>
            <a:ext cx="1159898" cy="35521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think-cell data - do not delete" hidden="1">
            <a:extLst>
              <a:ext uri="{FF2B5EF4-FFF2-40B4-BE49-F238E27FC236}">
                <a16:creationId xmlns:a16="http://schemas.microsoft.com/office/drawing/2014/main" id="{72D56CD6-8FE5-4904-CC1B-0635690C16D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24" name="think-cell data - do not delete" hidden="1">
                        <a:extLst>
                          <a:ext uri="{FF2B5EF4-FFF2-40B4-BE49-F238E27FC236}">
                            <a16:creationId xmlns:a16="http://schemas.microsoft.com/office/drawing/2014/main" id="{72D56CD6-8FE5-4904-CC1B-0635690C16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rIns="0"/>
          <a:lstStyle/>
          <a:p>
            <a:r>
              <a:t>Methodology: </a:t>
            </a:r>
            <a:r>
              <a:rPr lang="en-US"/>
              <a:t>E</a:t>
            </a:r>
            <a:r>
              <a:t>vidence</a:t>
            </a:r>
            <a:r>
              <a:rPr lang="en-US"/>
              <a:t> based</a:t>
            </a:r>
            <a:r>
              <a:t> assessment using public information</a:t>
            </a:r>
          </a:p>
        </p:txBody>
      </p:sp>
      <p:sp>
        <p:nvSpPr>
          <p:cNvPr id="3" name="TextBox 2"/>
          <p:cNvSpPr txBox="1"/>
          <p:nvPr/>
        </p:nvSpPr>
        <p:spPr>
          <a:xfrm>
            <a:off x="475488" y="749808"/>
            <a:ext cx="11109960" cy="307777"/>
          </a:xfrm>
          <a:prstGeom prst="rect">
            <a:avLst/>
          </a:prstGeom>
          <a:noFill/>
        </p:spPr>
        <p:txBody>
          <a:bodyPr wrap="square">
            <a:spAutoFit/>
          </a:bodyPr>
          <a:lstStyle/>
          <a:p>
            <a:pPr algn="l"/>
            <a:r>
              <a:rPr sz="1400">
                <a:solidFill>
                  <a:srgbClr val="585858"/>
                </a:solidFill>
                <a:latin typeface="Aptos"/>
              </a:rPr>
              <a:t>The analysis synthesizes credible public evidence into a directional comparison</a:t>
            </a:r>
            <a:r>
              <a:rPr lang="en-US" sz="1400">
                <a:solidFill>
                  <a:srgbClr val="585858"/>
                </a:solidFill>
                <a:latin typeface="Aptos"/>
              </a:rPr>
              <a:t>, </a:t>
            </a:r>
            <a:r>
              <a:rPr sz="1400">
                <a:solidFill>
                  <a:srgbClr val="585858"/>
                </a:solidFill>
                <a:latin typeface="Aptos"/>
              </a:rPr>
              <a:t>not an independent technical validation.</a:t>
            </a:r>
          </a:p>
        </p:txBody>
      </p:sp>
      <p:sp>
        <p:nvSpPr>
          <p:cNvPr id="4" name="Rectangle 3"/>
          <p:cNvSpPr/>
          <p:nvPr/>
        </p:nvSpPr>
        <p:spPr>
          <a:xfrm>
            <a:off x="566928" y="1417320"/>
            <a:ext cx="566928"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54480"/>
            <a:ext cx="2578608" cy="438912"/>
          </a:xfrm>
          <a:prstGeom prst="rect">
            <a:avLst/>
          </a:prstGeom>
          <a:noFill/>
        </p:spPr>
        <p:txBody>
          <a:bodyPr wrap="square">
            <a:spAutoFit/>
          </a:bodyPr>
          <a:lstStyle/>
          <a:p>
            <a:r>
              <a:rPr sz="2700" b="1">
                <a:solidFill>
                  <a:srgbClr val="86BC25"/>
                </a:solidFill>
                <a:latin typeface="Aptos"/>
              </a:rPr>
              <a:t>01</a:t>
            </a:r>
          </a:p>
        </p:txBody>
      </p:sp>
      <p:sp>
        <p:nvSpPr>
          <p:cNvPr id="6" name="TextBox 5"/>
          <p:cNvSpPr txBox="1"/>
          <p:nvPr/>
        </p:nvSpPr>
        <p:spPr>
          <a:xfrm>
            <a:off x="566928" y="1993392"/>
            <a:ext cx="2578608" cy="438912"/>
          </a:xfrm>
          <a:prstGeom prst="rect">
            <a:avLst/>
          </a:prstGeom>
          <a:noFill/>
        </p:spPr>
        <p:txBody>
          <a:bodyPr wrap="square">
            <a:spAutoFit/>
          </a:bodyPr>
          <a:lstStyle/>
          <a:p>
            <a:r>
              <a:rPr sz="1500" b="1">
                <a:solidFill>
                  <a:srgbClr val="26890D"/>
                </a:solidFill>
                <a:latin typeface="Aptos"/>
              </a:rPr>
              <a:t>SOURCE BASE</a:t>
            </a:r>
          </a:p>
        </p:txBody>
      </p:sp>
      <p:sp>
        <p:nvSpPr>
          <p:cNvPr id="7" name="TextBox 6"/>
          <p:cNvSpPr txBox="1"/>
          <p:nvPr/>
        </p:nvSpPr>
        <p:spPr>
          <a:xfrm>
            <a:off x="566928" y="2542032"/>
            <a:ext cx="2578608" cy="2487168"/>
          </a:xfrm>
          <a:prstGeom prst="rect">
            <a:avLst/>
          </a:prstGeom>
          <a:noFill/>
        </p:spPr>
        <p:txBody>
          <a:bodyPr wrap="square" lIns="0" tIns="0" rIns="27432" bIns="0">
            <a:spAutoFit/>
          </a:bodyPr>
          <a:lstStyle/>
          <a:p>
            <a:pPr>
              <a:lnSpc>
                <a:spcPct val="105000"/>
              </a:lnSpc>
              <a:spcAft>
                <a:spcPts val="900"/>
              </a:spcAft>
            </a:pPr>
            <a:r>
              <a:rPr sz="1400">
                <a:solidFill>
                  <a:srgbClr val="1A1A1A"/>
                </a:solidFill>
                <a:latin typeface="Aptos"/>
              </a:rPr>
              <a:t>▪  Official vendor websites, product pages and technical documentation</a:t>
            </a:r>
          </a:p>
          <a:p>
            <a:pPr>
              <a:lnSpc>
                <a:spcPct val="105000"/>
              </a:lnSpc>
              <a:spcAft>
                <a:spcPts val="900"/>
              </a:spcAft>
            </a:pPr>
            <a:r>
              <a:rPr sz="1400">
                <a:solidFill>
                  <a:srgbClr val="1A1A1A"/>
                </a:solidFill>
                <a:latin typeface="Aptos"/>
              </a:rPr>
              <a:t>▪  Release notes, public announcements, customer cases and demonstrations</a:t>
            </a:r>
          </a:p>
          <a:p>
            <a:pPr>
              <a:lnSpc>
                <a:spcPct val="105000"/>
              </a:lnSpc>
              <a:spcAft>
                <a:spcPts val="900"/>
              </a:spcAft>
            </a:pPr>
            <a:r>
              <a:rPr sz="1400">
                <a:solidFill>
                  <a:srgbClr val="1A1A1A"/>
                </a:solidFill>
                <a:latin typeface="Aptos"/>
              </a:rPr>
              <a:t>▪  Credible industry publications and third-party research for context or corroboration</a:t>
            </a:r>
          </a:p>
        </p:txBody>
      </p:sp>
      <p:sp>
        <p:nvSpPr>
          <p:cNvPr id="8" name="Rectangle 7"/>
          <p:cNvSpPr/>
          <p:nvPr/>
        </p:nvSpPr>
        <p:spPr>
          <a:xfrm>
            <a:off x="3264408" y="1417320"/>
            <a:ext cx="10972" cy="36118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401568" y="1417320"/>
            <a:ext cx="566928"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01568" y="1554480"/>
            <a:ext cx="2578608" cy="438912"/>
          </a:xfrm>
          <a:prstGeom prst="rect">
            <a:avLst/>
          </a:prstGeom>
          <a:noFill/>
        </p:spPr>
        <p:txBody>
          <a:bodyPr wrap="square">
            <a:spAutoFit/>
          </a:bodyPr>
          <a:lstStyle/>
          <a:p>
            <a:r>
              <a:rPr sz="2700" b="1">
                <a:solidFill>
                  <a:srgbClr val="86BC25"/>
                </a:solidFill>
                <a:latin typeface="Aptos"/>
              </a:rPr>
              <a:t>02</a:t>
            </a:r>
          </a:p>
        </p:txBody>
      </p:sp>
      <p:sp>
        <p:nvSpPr>
          <p:cNvPr id="11" name="TextBox 10"/>
          <p:cNvSpPr txBox="1"/>
          <p:nvPr/>
        </p:nvSpPr>
        <p:spPr>
          <a:xfrm>
            <a:off x="3401568" y="1993392"/>
            <a:ext cx="2578608" cy="438912"/>
          </a:xfrm>
          <a:prstGeom prst="rect">
            <a:avLst/>
          </a:prstGeom>
          <a:noFill/>
        </p:spPr>
        <p:txBody>
          <a:bodyPr wrap="square">
            <a:spAutoFit/>
          </a:bodyPr>
          <a:lstStyle/>
          <a:p>
            <a:r>
              <a:rPr sz="1500" b="1">
                <a:solidFill>
                  <a:srgbClr val="26890D"/>
                </a:solidFill>
                <a:latin typeface="Aptos"/>
              </a:rPr>
              <a:t>EVIDENCE PRIORITIZATION</a:t>
            </a:r>
          </a:p>
        </p:txBody>
      </p:sp>
      <p:sp>
        <p:nvSpPr>
          <p:cNvPr id="12" name="TextBox 11"/>
          <p:cNvSpPr txBox="1"/>
          <p:nvPr/>
        </p:nvSpPr>
        <p:spPr>
          <a:xfrm>
            <a:off x="3401568" y="2542032"/>
            <a:ext cx="2578608" cy="1465914"/>
          </a:xfrm>
          <a:prstGeom prst="rect">
            <a:avLst/>
          </a:prstGeom>
          <a:noFill/>
        </p:spPr>
        <p:txBody>
          <a:bodyPr wrap="square" lIns="0" tIns="0" rIns="27432" bIns="0">
            <a:spAutoFit/>
          </a:bodyPr>
          <a:lstStyle/>
          <a:p>
            <a:pPr>
              <a:lnSpc>
                <a:spcPct val="105000"/>
              </a:lnSpc>
              <a:spcAft>
                <a:spcPts val="900"/>
              </a:spcAft>
            </a:pPr>
            <a:r>
              <a:rPr sz="1400">
                <a:solidFill>
                  <a:srgbClr val="1A1A1A"/>
                </a:solidFill>
                <a:latin typeface="Aptos"/>
              </a:rPr>
              <a:t>▪  Highest weight given to current, first-party product documentation</a:t>
            </a:r>
          </a:p>
          <a:p>
            <a:pPr>
              <a:lnSpc>
                <a:spcPct val="105000"/>
              </a:lnSpc>
              <a:spcAft>
                <a:spcPts val="900"/>
              </a:spcAft>
            </a:pPr>
            <a:r>
              <a:rPr sz="1400">
                <a:solidFill>
                  <a:srgbClr val="1A1A1A"/>
                </a:solidFill>
                <a:latin typeface="Aptos"/>
              </a:rPr>
              <a:t>▪  Secondary sources used to corroborate or contextualize</a:t>
            </a:r>
            <a:r>
              <a:rPr lang="en-US" sz="1400">
                <a:solidFill>
                  <a:srgbClr val="1A1A1A"/>
                </a:solidFill>
                <a:latin typeface="Aptos"/>
              </a:rPr>
              <a:t> </a:t>
            </a:r>
            <a:r>
              <a:rPr sz="1400">
                <a:solidFill>
                  <a:srgbClr val="1A1A1A"/>
                </a:solidFill>
                <a:latin typeface="Aptos"/>
              </a:rPr>
              <a:t>primary evidence</a:t>
            </a:r>
          </a:p>
        </p:txBody>
      </p:sp>
      <p:sp>
        <p:nvSpPr>
          <p:cNvPr id="13" name="Rectangle 12"/>
          <p:cNvSpPr/>
          <p:nvPr/>
        </p:nvSpPr>
        <p:spPr>
          <a:xfrm>
            <a:off x="6099047" y="1417320"/>
            <a:ext cx="10972" cy="36118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36207" y="1417320"/>
            <a:ext cx="566928"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36207" y="1554480"/>
            <a:ext cx="2578608" cy="438912"/>
          </a:xfrm>
          <a:prstGeom prst="rect">
            <a:avLst/>
          </a:prstGeom>
          <a:noFill/>
        </p:spPr>
        <p:txBody>
          <a:bodyPr wrap="square">
            <a:spAutoFit/>
          </a:bodyPr>
          <a:lstStyle/>
          <a:p>
            <a:r>
              <a:rPr sz="2700" b="1">
                <a:solidFill>
                  <a:srgbClr val="86BC25"/>
                </a:solidFill>
                <a:latin typeface="Aptos"/>
              </a:rPr>
              <a:t>03</a:t>
            </a:r>
          </a:p>
        </p:txBody>
      </p:sp>
      <p:sp>
        <p:nvSpPr>
          <p:cNvPr id="16" name="TextBox 15"/>
          <p:cNvSpPr txBox="1"/>
          <p:nvPr/>
        </p:nvSpPr>
        <p:spPr>
          <a:xfrm>
            <a:off x="6236207" y="1993392"/>
            <a:ext cx="2578608" cy="438912"/>
          </a:xfrm>
          <a:prstGeom prst="rect">
            <a:avLst/>
          </a:prstGeom>
          <a:noFill/>
        </p:spPr>
        <p:txBody>
          <a:bodyPr wrap="square">
            <a:spAutoFit/>
          </a:bodyPr>
          <a:lstStyle/>
          <a:p>
            <a:r>
              <a:rPr sz="1500" b="1">
                <a:solidFill>
                  <a:srgbClr val="26890D"/>
                </a:solidFill>
                <a:latin typeface="Aptos"/>
              </a:rPr>
              <a:t>CONSISTENT ASSESSMENT</a:t>
            </a:r>
          </a:p>
        </p:txBody>
      </p:sp>
      <p:sp>
        <p:nvSpPr>
          <p:cNvPr id="17" name="TextBox 16"/>
          <p:cNvSpPr txBox="1"/>
          <p:nvPr/>
        </p:nvSpPr>
        <p:spPr>
          <a:xfrm>
            <a:off x="6236207" y="2542032"/>
            <a:ext cx="2578608" cy="2712409"/>
          </a:xfrm>
          <a:prstGeom prst="rect">
            <a:avLst/>
          </a:prstGeom>
          <a:noFill/>
        </p:spPr>
        <p:txBody>
          <a:bodyPr wrap="square" lIns="0" tIns="0" rIns="27432" bIns="0">
            <a:spAutoFit/>
          </a:bodyPr>
          <a:lstStyle/>
          <a:p>
            <a:pPr>
              <a:lnSpc>
                <a:spcPct val="105000"/>
              </a:lnSpc>
              <a:spcAft>
                <a:spcPts val="900"/>
              </a:spcAft>
            </a:pPr>
            <a:r>
              <a:rPr sz="1400">
                <a:solidFill>
                  <a:srgbClr val="1A1A1A"/>
                </a:solidFill>
                <a:latin typeface="Aptos"/>
              </a:rPr>
              <a:t>▪  Offerings assessed on common dimensions: breadth, depth, productization, integration, autonomy and governance</a:t>
            </a:r>
          </a:p>
          <a:p>
            <a:pPr>
              <a:lnSpc>
                <a:spcPct val="105000"/>
              </a:lnSpc>
              <a:spcAft>
                <a:spcPts val="900"/>
              </a:spcAft>
            </a:pPr>
            <a:r>
              <a:rPr sz="1400">
                <a:solidFill>
                  <a:srgbClr val="1A1A1A"/>
                </a:solidFill>
                <a:latin typeface="Aptos"/>
              </a:rPr>
              <a:t>▪  </a:t>
            </a:r>
            <a:r>
              <a:rPr lang="en-US" sz="1400">
                <a:solidFill>
                  <a:srgbClr val="1A1A1A"/>
                </a:solidFill>
                <a:latin typeface="Aptos"/>
              </a:rPr>
              <a:t>Scoring</a:t>
            </a:r>
            <a:r>
              <a:rPr sz="1400">
                <a:solidFill>
                  <a:srgbClr val="1A1A1A"/>
                </a:solidFill>
                <a:latin typeface="Aptos"/>
              </a:rPr>
              <a:t> reflect the relative strength of publicly documented capabilities</a:t>
            </a:r>
          </a:p>
          <a:p>
            <a:pPr>
              <a:lnSpc>
                <a:spcPct val="105000"/>
              </a:lnSpc>
              <a:spcAft>
                <a:spcPts val="900"/>
              </a:spcAft>
            </a:pPr>
            <a:r>
              <a:rPr sz="1400">
                <a:solidFill>
                  <a:srgbClr val="1A1A1A"/>
                </a:solidFill>
                <a:latin typeface="Aptos"/>
              </a:rPr>
              <a:t>▪  Specific offerings evaluated; scores do not represent the vendor’s entire portfolio</a:t>
            </a:r>
          </a:p>
        </p:txBody>
      </p:sp>
      <p:sp>
        <p:nvSpPr>
          <p:cNvPr id="18" name="Rectangle 17"/>
          <p:cNvSpPr/>
          <p:nvPr/>
        </p:nvSpPr>
        <p:spPr>
          <a:xfrm>
            <a:off x="8933688" y="1417320"/>
            <a:ext cx="10972" cy="36118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70847" y="1417320"/>
            <a:ext cx="566928"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70847" y="1554480"/>
            <a:ext cx="2578608" cy="438912"/>
          </a:xfrm>
          <a:prstGeom prst="rect">
            <a:avLst/>
          </a:prstGeom>
          <a:noFill/>
        </p:spPr>
        <p:txBody>
          <a:bodyPr wrap="square">
            <a:spAutoFit/>
          </a:bodyPr>
          <a:lstStyle/>
          <a:p>
            <a:r>
              <a:rPr sz="2700" b="1">
                <a:solidFill>
                  <a:srgbClr val="86BC25"/>
                </a:solidFill>
                <a:latin typeface="Aptos"/>
              </a:rPr>
              <a:t>04</a:t>
            </a:r>
          </a:p>
        </p:txBody>
      </p:sp>
      <p:sp>
        <p:nvSpPr>
          <p:cNvPr id="21" name="TextBox 20"/>
          <p:cNvSpPr txBox="1"/>
          <p:nvPr/>
        </p:nvSpPr>
        <p:spPr>
          <a:xfrm>
            <a:off x="9070847" y="1993392"/>
            <a:ext cx="2578608" cy="323165"/>
          </a:xfrm>
          <a:prstGeom prst="rect">
            <a:avLst/>
          </a:prstGeom>
          <a:noFill/>
        </p:spPr>
        <p:txBody>
          <a:bodyPr wrap="square">
            <a:spAutoFit/>
          </a:bodyPr>
          <a:lstStyle/>
          <a:p>
            <a:r>
              <a:rPr sz="1500" b="1">
                <a:solidFill>
                  <a:srgbClr val="26890D"/>
                </a:solidFill>
                <a:latin typeface="Aptos"/>
              </a:rPr>
              <a:t>INTERPRETATION</a:t>
            </a:r>
          </a:p>
        </p:txBody>
      </p:sp>
      <p:sp>
        <p:nvSpPr>
          <p:cNvPr id="22" name="TextBox 21"/>
          <p:cNvSpPr txBox="1"/>
          <p:nvPr/>
        </p:nvSpPr>
        <p:spPr>
          <a:xfrm>
            <a:off x="9070847" y="2542032"/>
            <a:ext cx="2578608" cy="2486193"/>
          </a:xfrm>
          <a:prstGeom prst="rect">
            <a:avLst/>
          </a:prstGeom>
          <a:noFill/>
        </p:spPr>
        <p:txBody>
          <a:bodyPr wrap="square" lIns="0" tIns="0" rIns="27432" bIns="0">
            <a:spAutoFit/>
          </a:bodyPr>
          <a:lstStyle/>
          <a:p>
            <a:pPr>
              <a:lnSpc>
                <a:spcPct val="105000"/>
              </a:lnSpc>
              <a:spcAft>
                <a:spcPts val="900"/>
              </a:spcAft>
            </a:pPr>
            <a:r>
              <a:rPr sz="1400">
                <a:solidFill>
                  <a:srgbClr val="1A1A1A"/>
                </a:solidFill>
                <a:latin typeface="Aptos"/>
              </a:rPr>
              <a:t>▪  Available capabilities </a:t>
            </a:r>
            <a:r>
              <a:rPr lang="en-US" sz="1400">
                <a:solidFill>
                  <a:srgbClr val="1A1A1A"/>
                </a:solidFill>
                <a:latin typeface="Aptos"/>
              </a:rPr>
              <a:t>might be different </a:t>
            </a:r>
            <a:r>
              <a:rPr sz="1400">
                <a:solidFill>
                  <a:srgbClr val="1A1A1A"/>
                </a:solidFill>
                <a:latin typeface="Aptos"/>
              </a:rPr>
              <a:t>from announced or planned features</a:t>
            </a:r>
          </a:p>
          <a:p>
            <a:pPr>
              <a:lnSpc>
                <a:spcPct val="105000"/>
              </a:lnSpc>
              <a:spcAft>
                <a:spcPts val="900"/>
              </a:spcAft>
            </a:pPr>
            <a:r>
              <a:rPr sz="1400">
                <a:solidFill>
                  <a:srgbClr val="1A1A1A"/>
                </a:solidFill>
                <a:latin typeface="Aptos"/>
              </a:rPr>
              <a:t>▪  Absence of public evidence does not necessarily indicate absence of capability</a:t>
            </a:r>
          </a:p>
          <a:p>
            <a:pPr>
              <a:lnSpc>
                <a:spcPct val="105000"/>
              </a:lnSpc>
              <a:spcAft>
                <a:spcPts val="900"/>
              </a:spcAft>
            </a:pPr>
            <a:r>
              <a:rPr sz="1400">
                <a:solidFill>
                  <a:srgbClr val="1A1A1A"/>
                </a:solidFill>
                <a:latin typeface="Aptos"/>
              </a:rPr>
              <a:t>▪  Assessment reflects information available as of August 2026 and may change as offerings evolve</a:t>
            </a:r>
          </a:p>
        </p:txBody>
      </p:sp>
      <p:sp>
        <p:nvSpPr>
          <p:cNvPr id="23" name="Rectangle 22"/>
          <p:cNvSpPr/>
          <p:nvPr/>
        </p:nvSpPr>
        <p:spPr>
          <a:xfrm>
            <a:off x="457200" y="5321808"/>
            <a:ext cx="11274552" cy="804672"/>
          </a:xfrm>
          <a:prstGeom prst="rect">
            <a:avLst/>
          </a:prstGeom>
          <a:solidFill>
            <a:srgbClr val="E8F6CF"/>
          </a:solidFill>
          <a:ln>
            <a:no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ctr"/>
            <a:r>
              <a:rPr sz="1300">
                <a:solidFill>
                  <a:srgbClr val="1A1A1A"/>
                </a:solidFill>
                <a:latin typeface="Aptos"/>
              </a:rPr>
              <a:t>Treat findings as directional. Validate current availability, deployment requirements and client-specific fit with vendors and internal SMEs before making definitive claims.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7591B-0F18-C748-985D-60761C5F599B}"/>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65AE705-77DA-9645-A83D-1F086B2C290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 name="think-cell data - do not delete" hidden="1">
                        <a:extLst>
                          <a:ext uri="{FF2B5EF4-FFF2-40B4-BE49-F238E27FC236}">
                            <a16:creationId xmlns:a16="http://schemas.microsoft.com/office/drawing/2014/main" id="{465AE705-77DA-9645-A83D-1F086B2C290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1E9320F-5517-DB51-ACC5-7825D5EB1711}"/>
              </a:ext>
            </a:extLst>
          </p:cNvPr>
          <p:cNvSpPr>
            <a:spLocks noGrp="1"/>
          </p:cNvSpPr>
          <p:nvPr>
            <p:ph type="title"/>
          </p:nvPr>
        </p:nvSpPr>
        <p:spPr/>
        <p:txBody>
          <a:bodyPr vert="horz" rIns="0"/>
          <a:lstStyle/>
          <a:p>
            <a:r>
              <a:rPr lang="en-US"/>
              <a:t>Scoring Matrix for Comparison Maps (1/3)</a:t>
            </a:r>
          </a:p>
        </p:txBody>
      </p:sp>
      <p:graphicFrame>
        <p:nvGraphicFramePr>
          <p:cNvPr id="11" name="Table 10">
            <a:extLst>
              <a:ext uri="{FF2B5EF4-FFF2-40B4-BE49-F238E27FC236}">
                <a16:creationId xmlns:a16="http://schemas.microsoft.com/office/drawing/2014/main" id="{6ECE1EBA-5969-7B3C-29B6-D44F6F00A400}"/>
              </a:ext>
            </a:extLst>
          </p:cNvPr>
          <p:cNvGraphicFramePr>
            <a:graphicFrameLocks noGrp="1"/>
          </p:cNvGraphicFramePr>
          <p:nvPr/>
        </p:nvGraphicFramePr>
        <p:xfrm>
          <a:off x="457200" y="745875"/>
          <a:ext cx="11423904" cy="4349596"/>
        </p:xfrm>
        <a:graphic>
          <a:graphicData uri="http://schemas.openxmlformats.org/drawingml/2006/table">
            <a:tbl>
              <a:tblPr firstRow="1" firstCol="1">
                <a:tableStyleId>{F2DE63D5-997A-4646-A377-4702673A728D}</a:tableStyleId>
              </a:tblPr>
              <a:tblGrid>
                <a:gridCol w="1362456">
                  <a:extLst>
                    <a:ext uri="{9D8B030D-6E8A-4147-A177-3AD203B41FA5}">
                      <a16:colId xmlns:a16="http://schemas.microsoft.com/office/drawing/2014/main" val="3877191384"/>
                    </a:ext>
                  </a:extLst>
                </a:gridCol>
                <a:gridCol w="3566160">
                  <a:extLst>
                    <a:ext uri="{9D8B030D-6E8A-4147-A177-3AD203B41FA5}">
                      <a16:colId xmlns:a16="http://schemas.microsoft.com/office/drawing/2014/main" val="2313948053"/>
                    </a:ext>
                  </a:extLst>
                </a:gridCol>
                <a:gridCol w="2075688">
                  <a:extLst>
                    <a:ext uri="{9D8B030D-6E8A-4147-A177-3AD203B41FA5}">
                      <a16:colId xmlns:a16="http://schemas.microsoft.com/office/drawing/2014/main" val="2956628135"/>
                    </a:ext>
                  </a:extLst>
                </a:gridCol>
                <a:gridCol w="2185416">
                  <a:extLst>
                    <a:ext uri="{9D8B030D-6E8A-4147-A177-3AD203B41FA5}">
                      <a16:colId xmlns:a16="http://schemas.microsoft.com/office/drawing/2014/main" val="2394489840"/>
                    </a:ext>
                  </a:extLst>
                </a:gridCol>
                <a:gridCol w="2234184">
                  <a:extLst>
                    <a:ext uri="{9D8B030D-6E8A-4147-A177-3AD203B41FA5}">
                      <a16:colId xmlns:a16="http://schemas.microsoft.com/office/drawing/2014/main" val="3290926634"/>
                    </a:ext>
                  </a:extLst>
                </a:gridCol>
              </a:tblGrid>
              <a:tr h="216990">
                <a:tc>
                  <a:txBody>
                    <a:bodyPr/>
                    <a:lstStyle/>
                    <a:p>
                      <a:pPr algn="ctr">
                        <a:buNone/>
                      </a:pPr>
                      <a:r>
                        <a:rPr lang="en-US" sz="1100"/>
                        <a:t>Dimension</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ctr">
                        <a:buNone/>
                      </a:pPr>
                      <a:r>
                        <a:rPr lang="en-US" sz="1100"/>
                        <a:t>Definition</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ctr">
                        <a:buNone/>
                      </a:pPr>
                      <a:r>
                        <a:rPr lang="en-US" sz="1100"/>
                        <a:t>Low</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ctr">
                        <a:buNone/>
                      </a:pPr>
                      <a:r>
                        <a:rPr lang="en-US" sz="1100"/>
                        <a:t>Medium</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ctr">
                        <a:buNone/>
                      </a:pPr>
                      <a:r>
                        <a:rPr lang="en-US" sz="1100"/>
                        <a:t>High</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extLst>
                  <a:ext uri="{0D108BD9-81ED-4DB2-BD59-A6C34878D82A}">
                    <a16:rowId xmlns:a16="http://schemas.microsoft.com/office/drawing/2014/main" val="1964382329"/>
                  </a:ext>
                </a:extLst>
              </a:tr>
              <a:tr h="1023646">
                <a:tc>
                  <a:txBody>
                    <a:bodyPr/>
                    <a:lstStyle/>
                    <a:p>
                      <a:pPr algn="l" rtl="0" fontAlgn="ctr">
                        <a:buNone/>
                      </a:pPr>
                      <a:r>
                        <a:rPr lang="en-US" sz="1100" b="1" i="0" u="none" strike="noStrike">
                          <a:solidFill>
                            <a:srgbClr val="000000"/>
                          </a:solidFill>
                          <a:effectLst/>
                          <a:latin typeface="Aptos" panose="020B0004020202020204" pitchFamily="34" charset="0"/>
                        </a:rPr>
                        <a:t>Business-domain breadth</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100" b="0" i="0" u="none" strike="noStrike">
                          <a:solidFill>
                            <a:srgbClr val="000000"/>
                          </a:solidFill>
                          <a:effectLst/>
                          <a:latin typeface="Aptos" panose="020B0004020202020204" pitchFamily="34" charset="0"/>
                        </a:rPr>
                        <a:t>How many business domains does the packaged offering address? Number of distinct enterprise domains for which the offer provides productized agents/workflows. Example domains include finance, supply chain, sales, service, HR, IT, not industries served or integrations offered.</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050" b="0" i="0" u="none" strike="noStrike">
                          <a:solidFill>
                            <a:srgbClr val="000000"/>
                          </a:solidFill>
                          <a:effectLst/>
                          <a:latin typeface="Aptos" panose="020B0004020202020204" pitchFamily="34" charset="0"/>
                        </a:rPr>
                        <a:t>One primary domain or workflow family</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Two to three distinct domains/workflow families</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Four or more domains, or a genuinely enterprise-wide suite of productized agents</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extLst>
                  <a:ext uri="{0D108BD9-81ED-4DB2-BD59-A6C34878D82A}">
                    <a16:rowId xmlns:a16="http://schemas.microsoft.com/office/drawing/2014/main" val="2740916668"/>
                  </a:ext>
                </a:extLst>
              </a:tr>
              <a:tr h="755312">
                <a:tc>
                  <a:txBody>
                    <a:bodyPr/>
                    <a:lstStyle/>
                    <a:p>
                      <a:pPr algn="l" rtl="0" fontAlgn="ctr">
                        <a:buNone/>
                      </a:pPr>
                      <a:r>
                        <a:rPr lang="en-US" sz="1100" b="1" i="0" u="none" strike="noStrike">
                          <a:solidFill>
                            <a:srgbClr val="000000"/>
                          </a:solidFill>
                          <a:effectLst/>
                          <a:latin typeface="Aptos" panose="020B0004020202020204" pitchFamily="34" charset="0"/>
                        </a:rPr>
                        <a:t>Domain Depth</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100" b="0" i="0" u="none" strike="noStrike">
                          <a:solidFill>
                            <a:srgbClr val="000000"/>
                          </a:solidFill>
                          <a:effectLst/>
                          <a:latin typeface="Aptos" panose="020B0004020202020204" pitchFamily="34" charset="0"/>
                        </a:rPr>
                        <a:t>Within its strongest domain, how much of the business lifecycle does it cover? Considered only Finance, procurement and supply chain domains. Example, workflow families for finance would include record-to-report, FP&amp;A, order-to-cash, and more. Other domains are excluded for direct comparability with Zora. Only productisedand  prebuilt agentic solutions to be scored for domain depth. Solutions leaning more towards custom development and high on customization to be excluded.</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050" b="0" i="0" u="none" strike="noStrike">
                          <a:solidFill>
                            <a:srgbClr val="000000"/>
                          </a:solidFill>
                          <a:effectLst/>
                          <a:latin typeface="Aptos" panose="020B0004020202020204" pitchFamily="34" charset="0"/>
                        </a:rPr>
                        <a:t>Supports One workflow or isolated use cases</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Supports Several related workflows</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Supports broad coverage across the domain lifecycle</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extLst>
                  <a:ext uri="{0D108BD9-81ED-4DB2-BD59-A6C34878D82A}">
                    <a16:rowId xmlns:a16="http://schemas.microsoft.com/office/drawing/2014/main" val="3198487702"/>
                  </a:ext>
                </a:extLst>
              </a:tr>
              <a:tr h="844757">
                <a:tc>
                  <a:txBody>
                    <a:bodyPr/>
                    <a:lstStyle/>
                    <a:p>
                      <a:pPr algn="l" rtl="0" fontAlgn="ctr">
                        <a:buNone/>
                      </a:pPr>
                      <a:r>
                        <a:rPr lang="en-US" sz="1100" b="1" i="0" u="none" strike="noStrike">
                          <a:solidFill>
                            <a:srgbClr val="000000"/>
                          </a:solidFill>
                          <a:effectLst/>
                          <a:latin typeface="Aptos" panose="020B0004020202020204" pitchFamily="34" charset="0"/>
                        </a:rPr>
                        <a:t>Productization/ Repeatability of prebuilt solution</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100" b="0" i="0" u="none" strike="noStrike">
                          <a:solidFill>
                            <a:srgbClr val="000000"/>
                          </a:solidFill>
                          <a:effectLst/>
                          <a:latin typeface="Aptos" panose="020B0004020202020204" pitchFamily="34" charset="0"/>
                        </a:rPr>
                        <a:t>The extent to which the product provides a prebuilt, repeatable agentic solution with defined use cases, workflows, and reusable solution logic that can be deployed across buyers with limited client-specific customization or development.</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050" b="0" i="0" u="none" strike="noStrike">
                          <a:solidFill>
                            <a:srgbClr val="000000"/>
                          </a:solidFill>
                          <a:effectLst/>
                          <a:latin typeface="Aptos" panose="020B0004020202020204" pitchFamily="34" charset="0"/>
                        </a:rPr>
                        <a:t>Product with limited prebuilt solution content. Provides agent-building capabilities or foundational product components, but few/no prebuilt end-to-end workflows or use-case-specific solution assets. Buyers must largely design and build the agentic solution themselves or through implementation support.</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Product + reusable solution assets. Provides prebuilt workflows, templates, accelerators, and/or use-case-specific components that create a repeatable starting point. However, meaningful configuration, customization, integration, and/or development is typically required for deployment in a buyer environment.</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Highly repeatable solution product. Provides prebuilt agentic solution with defined use cases, workflows, and core solution logic that can be carried across buyers with limited modification. Buyer-specific configuration and integration may still be required, but significant redevelopment of the core solution is generally not needed.</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extLst>
                  <a:ext uri="{0D108BD9-81ED-4DB2-BD59-A6C34878D82A}">
                    <a16:rowId xmlns:a16="http://schemas.microsoft.com/office/drawing/2014/main" val="1885881303"/>
                  </a:ext>
                </a:extLst>
              </a:tr>
            </a:tbl>
          </a:graphicData>
        </a:graphic>
      </p:graphicFrame>
    </p:spTree>
    <p:extLst>
      <p:ext uri="{BB962C8B-B14F-4D97-AF65-F5344CB8AC3E}">
        <p14:creationId xmlns:p14="http://schemas.microsoft.com/office/powerpoint/2010/main" val="1015057177"/>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47D0B-283E-2F16-EEB0-6BAC3146661A}"/>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90EBFE0-B2C2-3706-B57B-2553C602F74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 name="think-cell data - do not delete" hidden="1">
                        <a:extLst>
                          <a:ext uri="{FF2B5EF4-FFF2-40B4-BE49-F238E27FC236}">
                            <a16:creationId xmlns:a16="http://schemas.microsoft.com/office/drawing/2014/main" id="{890EBFE0-B2C2-3706-B57B-2553C602F74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B4E537A-62AB-E73C-11BA-D48CDF3FE40A}"/>
              </a:ext>
            </a:extLst>
          </p:cNvPr>
          <p:cNvSpPr>
            <a:spLocks noGrp="1"/>
          </p:cNvSpPr>
          <p:nvPr>
            <p:ph type="title"/>
          </p:nvPr>
        </p:nvSpPr>
        <p:spPr/>
        <p:txBody>
          <a:bodyPr vert="horz" rIns="0"/>
          <a:lstStyle/>
          <a:p>
            <a:r>
              <a:rPr lang="en-US"/>
              <a:t>Scoring Matrix for Comparison Maps (2/3)</a:t>
            </a:r>
          </a:p>
        </p:txBody>
      </p:sp>
      <p:graphicFrame>
        <p:nvGraphicFramePr>
          <p:cNvPr id="11" name="Table 10">
            <a:extLst>
              <a:ext uri="{FF2B5EF4-FFF2-40B4-BE49-F238E27FC236}">
                <a16:creationId xmlns:a16="http://schemas.microsoft.com/office/drawing/2014/main" id="{28EC4D53-C495-BA59-D5A7-E8F3ECE01161}"/>
              </a:ext>
            </a:extLst>
          </p:cNvPr>
          <p:cNvGraphicFramePr>
            <a:graphicFrameLocks noGrp="1"/>
          </p:cNvGraphicFramePr>
          <p:nvPr>
            <p:extLst>
              <p:ext uri="{D42A27DB-BD31-4B8C-83A1-F6EECF244321}">
                <p14:modId xmlns:p14="http://schemas.microsoft.com/office/powerpoint/2010/main" val="370304172"/>
              </p:ext>
            </p:extLst>
          </p:nvPr>
        </p:nvGraphicFramePr>
        <p:xfrm>
          <a:off x="457200" y="745875"/>
          <a:ext cx="11423904" cy="4537530"/>
        </p:xfrm>
        <a:graphic>
          <a:graphicData uri="http://schemas.openxmlformats.org/drawingml/2006/table">
            <a:tbl>
              <a:tblPr firstRow="1" firstCol="1">
                <a:tableStyleId>{F2DE63D5-997A-4646-A377-4702673A728D}</a:tableStyleId>
              </a:tblPr>
              <a:tblGrid>
                <a:gridCol w="1097280">
                  <a:extLst>
                    <a:ext uri="{9D8B030D-6E8A-4147-A177-3AD203B41FA5}">
                      <a16:colId xmlns:a16="http://schemas.microsoft.com/office/drawing/2014/main" val="3877191384"/>
                    </a:ext>
                  </a:extLst>
                </a:gridCol>
                <a:gridCol w="3483864">
                  <a:extLst>
                    <a:ext uri="{9D8B030D-6E8A-4147-A177-3AD203B41FA5}">
                      <a16:colId xmlns:a16="http://schemas.microsoft.com/office/drawing/2014/main" val="2313948053"/>
                    </a:ext>
                  </a:extLst>
                </a:gridCol>
                <a:gridCol w="2194560">
                  <a:extLst>
                    <a:ext uri="{9D8B030D-6E8A-4147-A177-3AD203B41FA5}">
                      <a16:colId xmlns:a16="http://schemas.microsoft.com/office/drawing/2014/main" val="2956628135"/>
                    </a:ext>
                  </a:extLst>
                </a:gridCol>
                <a:gridCol w="2167128">
                  <a:extLst>
                    <a:ext uri="{9D8B030D-6E8A-4147-A177-3AD203B41FA5}">
                      <a16:colId xmlns:a16="http://schemas.microsoft.com/office/drawing/2014/main" val="2394489840"/>
                    </a:ext>
                  </a:extLst>
                </a:gridCol>
                <a:gridCol w="2481072">
                  <a:extLst>
                    <a:ext uri="{9D8B030D-6E8A-4147-A177-3AD203B41FA5}">
                      <a16:colId xmlns:a16="http://schemas.microsoft.com/office/drawing/2014/main" val="3290926634"/>
                    </a:ext>
                  </a:extLst>
                </a:gridCol>
              </a:tblGrid>
              <a:tr h="216990">
                <a:tc>
                  <a:txBody>
                    <a:bodyPr/>
                    <a:lstStyle/>
                    <a:p>
                      <a:pPr algn="ctr">
                        <a:buNone/>
                      </a:pPr>
                      <a:r>
                        <a:rPr lang="en-US" sz="1100"/>
                        <a:t>Dimension</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ctr">
                        <a:buNone/>
                      </a:pPr>
                      <a:r>
                        <a:rPr lang="en-US" sz="1100"/>
                        <a:t>Definition</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ctr">
                        <a:buNone/>
                      </a:pPr>
                      <a:r>
                        <a:rPr lang="en-US" sz="1100"/>
                        <a:t>Low</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ctr">
                        <a:buNone/>
                      </a:pPr>
                      <a:r>
                        <a:rPr lang="en-US" sz="1100"/>
                        <a:t>Medium</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ctr">
                        <a:buNone/>
                      </a:pPr>
                      <a:r>
                        <a:rPr lang="en-US" sz="1100"/>
                        <a:t>High</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extLst>
                  <a:ext uri="{0D108BD9-81ED-4DB2-BD59-A6C34878D82A}">
                    <a16:rowId xmlns:a16="http://schemas.microsoft.com/office/drawing/2014/main" val="1964382329"/>
                  </a:ext>
                </a:extLst>
              </a:tr>
              <a:tr h="925938">
                <a:tc>
                  <a:txBody>
                    <a:bodyPr/>
                    <a:lstStyle/>
                    <a:p>
                      <a:pPr algn="l" rtl="0" fontAlgn="ctr">
                        <a:buNone/>
                      </a:pPr>
                      <a:r>
                        <a:rPr lang="en-US" sz="1100" b="1" i="0" u="none" strike="noStrike">
                          <a:solidFill>
                            <a:srgbClr val="000000"/>
                          </a:solidFill>
                          <a:effectLst/>
                          <a:latin typeface="Aptos" panose="020B0004020202020204" pitchFamily="34" charset="0"/>
                        </a:rPr>
                        <a:t>Autonomy</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100" b="0" i="0" u="none" strike="noStrike">
                          <a:solidFill>
                            <a:srgbClr val="000000"/>
                          </a:solidFill>
                          <a:effectLst/>
                          <a:latin typeface="Aptos" panose="020B0004020202020204" pitchFamily="34" charset="0"/>
                        </a:rPr>
                        <a:t>How much work can the agent perform rather than merely assist with? Extent to which agent progresses the workflow</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050" b="0" i="0" u="none" strike="noStrike">
                          <a:solidFill>
                            <a:srgbClr val="000000"/>
                          </a:solidFill>
                          <a:effectLst/>
                          <a:latin typeface="Aptos" panose="020B0004020202020204" pitchFamily="34" charset="0"/>
                        </a:rPr>
                        <a:t>Primarily analyzes, generates, summarizes, predicts, or recommends. A human decides, initiates, or performs the consequential workflow actions.</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Executes actions or multiple workflow steps, but a human routinely initiates, directs, approves, or advances material steps before the workflow can continue or complete.</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Independently progresses and completes a bounded workflow, selecting and executing required steps within delegated authority. Human involvement is focused mainly on policy-defined approvals, material exceptions, or cases outside the agent’s authority.</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extLst>
                  <a:ext uri="{0D108BD9-81ED-4DB2-BD59-A6C34878D82A}">
                    <a16:rowId xmlns:a16="http://schemas.microsoft.com/office/drawing/2014/main" val="1793155925"/>
                  </a:ext>
                </a:extLst>
              </a:tr>
              <a:tr h="748701">
                <a:tc>
                  <a:txBody>
                    <a:bodyPr/>
                    <a:lstStyle/>
                    <a:p>
                      <a:pPr algn="l" rtl="0" fontAlgn="ctr">
                        <a:buNone/>
                      </a:pPr>
                      <a:r>
                        <a:rPr lang="en-US" sz="1100" b="1" i="0" u="none" strike="noStrike">
                          <a:solidFill>
                            <a:srgbClr val="000000"/>
                          </a:solidFill>
                          <a:effectLst/>
                          <a:latin typeface="Aptos" panose="020B0004020202020204" pitchFamily="34" charset="0"/>
                        </a:rPr>
                        <a:t>Ecosystem integration maturity</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100" b="0" i="0" u="none" strike="noStrike">
                          <a:solidFill>
                            <a:srgbClr val="000000"/>
                          </a:solidFill>
                          <a:effectLst/>
                          <a:latin typeface="Aptos" panose="020B0004020202020204" pitchFamily="34" charset="0"/>
                        </a:rPr>
                        <a:t>Corss-system orchestration and deployment flexibility: Assesses whether the packaged offering can execute and manage an end-to-end business workflow across the enterprise applications involved, and how flexibly it can operate across different cloud, application, data, model, and technology environments.</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050" b="0" i="0" u="none" strike="noStrike">
                          <a:solidFill>
                            <a:srgbClr val="000000"/>
                          </a:solidFill>
                          <a:effectLst/>
                          <a:latin typeface="Aptos" panose="020B0004020202020204" pitchFamily="34" charset="0"/>
                        </a:rPr>
                        <a:t>Operates primarily within one application or provides data access without evidenced cross-system workflow execution. Deployment is largely tied to a specific cloud, application suite, model, or proprietary technology stack.</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Connects to and performs actions across multiple relevant enterprise applications, but orchestration may cover only part of the workflow, depend on material configuration, or remain strongest within a preferred cloud or application ecosystem.</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Orchestrates a bounded end-to-end business workflow across multiple enterprise systems, including bidirectional transactional actions, workflow-state management, exception handling, and auditable handoffs. It can be deployed across different enterprise technology environments with limited dependency on a single cloud, application, data, or model stack.</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extLst>
                  <a:ext uri="{0D108BD9-81ED-4DB2-BD59-A6C34878D82A}">
                    <a16:rowId xmlns:a16="http://schemas.microsoft.com/office/drawing/2014/main" val="1643015983"/>
                  </a:ext>
                </a:extLst>
              </a:tr>
              <a:tr h="925938">
                <a:tc>
                  <a:txBody>
                    <a:bodyPr/>
                    <a:lstStyle/>
                    <a:p>
                      <a:pPr algn="l" rtl="0" fontAlgn="ctr">
                        <a:buNone/>
                      </a:pPr>
                      <a:r>
                        <a:rPr lang="en-US" sz="1100" b="1" i="0" u="none" strike="noStrike">
                          <a:solidFill>
                            <a:srgbClr val="000000"/>
                          </a:solidFill>
                          <a:effectLst/>
                          <a:latin typeface="Aptos" panose="020B0004020202020204" pitchFamily="34" charset="0"/>
                        </a:rPr>
                        <a:t>Embedded governance readiness</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100" b="0" i="0" u="none" strike="noStrike">
                          <a:solidFill>
                            <a:srgbClr val="000000"/>
                          </a:solidFill>
                          <a:effectLst/>
                          <a:latin typeface="Aptos" panose="020B0004020202020204" pitchFamily="34" charset="0"/>
                        </a:rPr>
                        <a:t>To what extent does the product provide embedded, agent-specific controls to constrain, oversee, and audit agent actions when operating autonomously in production?</a:t>
                      </a:r>
                      <a:br>
                        <a:rPr lang="en-US" sz="1100" b="0" i="0" u="none" strike="noStrike">
                          <a:solidFill>
                            <a:srgbClr val="000000"/>
                          </a:solidFill>
                          <a:effectLst/>
                          <a:latin typeface="Aptos" panose="020B0004020202020204" pitchFamily="34" charset="0"/>
                        </a:rPr>
                      </a:br>
                      <a:r>
                        <a:rPr lang="en-US" sz="1100" b="0" i="0" u="none" strike="noStrike">
                          <a:solidFill>
                            <a:srgbClr val="000000"/>
                          </a:solidFill>
                          <a:effectLst/>
                          <a:latin typeface="Aptos" panose="020B0004020202020204" pitchFamily="34" charset="0"/>
                        </a:rPr>
                        <a:t> Extent to which the agent offering itself provides controls to manage risk, compliance, security, quality, and accountability in production.</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050" b="0" i="0" u="none" strike="noStrike">
                          <a:solidFill>
                            <a:srgbClr val="000000"/>
                          </a:solidFill>
                          <a:effectLst/>
                          <a:latin typeface="Aptos" panose="020B0004020202020204" pitchFamily="34" charset="0"/>
                        </a:rPr>
                        <a:t>Evidence is mainly at the vendor or enterprise level.</a:t>
                      </a:r>
                      <a:br>
                        <a:rPr lang="en-US" sz="1050" b="0" i="0" u="none" strike="noStrike">
                          <a:solidFill>
                            <a:srgbClr val="000000"/>
                          </a:solidFill>
                          <a:effectLst/>
                          <a:latin typeface="Aptos" panose="020B0004020202020204" pitchFamily="34" charset="0"/>
                        </a:rPr>
                      </a:br>
                      <a:r>
                        <a:rPr lang="en-US" sz="1050" b="0" i="0" u="none" strike="noStrike">
                          <a:solidFill>
                            <a:srgbClr val="000000"/>
                          </a:solidFill>
                          <a:effectLst/>
                          <a:latin typeface="Aptos" panose="020B0004020202020204" pitchFamily="34" charset="0"/>
                        </a:rPr>
                        <a:t>Basic user authentication and access control are available.</a:t>
                      </a:r>
                      <a:br>
                        <a:rPr lang="en-US" sz="1050" b="0" i="0" u="none" strike="noStrike">
                          <a:solidFill>
                            <a:srgbClr val="000000"/>
                          </a:solidFill>
                          <a:effectLst/>
                          <a:latin typeface="Aptos" panose="020B0004020202020204" pitchFamily="34" charset="0"/>
                        </a:rPr>
                      </a:br>
                      <a:r>
                        <a:rPr lang="en-US" sz="1050" b="0" i="0" u="none" strike="noStrike">
                          <a:solidFill>
                            <a:srgbClr val="000000"/>
                          </a:solidFill>
                          <a:effectLst/>
                          <a:latin typeface="Aptos" panose="020B0004020202020204" pitchFamily="34" charset="0"/>
                        </a:rPr>
                        <a:t>Humans review agent outputs.</a:t>
                      </a:r>
                      <a:br>
                        <a:rPr lang="en-US" sz="1050" b="0" i="0" u="none" strike="noStrike">
                          <a:solidFill>
                            <a:srgbClr val="000000"/>
                          </a:solidFill>
                          <a:effectLst/>
                          <a:latin typeface="Aptos" panose="020B0004020202020204" pitchFamily="34" charset="0"/>
                        </a:rPr>
                      </a:br>
                      <a:r>
                        <a:rPr lang="en-US" sz="1050" b="0" i="0" u="none" strike="noStrike">
                          <a:solidFill>
                            <a:srgbClr val="000000"/>
                          </a:solidFill>
                          <a:effectLst/>
                          <a:latin typeface="Aptos" panose="020B0004020202020204" pitchFamily="34" charset="0"/>
                        </a:rPr>
                        <a:t>Agent-specific runtime controls are not evidenced.</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Agent-specific controls are evidenced</a:t>
                      </a:r>
                      <a:br>
                        <a:rPr lang="en-US" sz="1050" b="0" i="0" u="none" strike="noStrike">
                          <a:solidFill>
                            <a:srgbClr val="000000"/>
                          </a:solidFill>
                          <a:effectLst/>
                          <a:latin typeface="Aptos" panose="020B0004020202020204" pitchFamily="34" charset="0"/>
                        </a:rPr>
                      </a:br>
                      <a:r>
                        <a:rPr lang="en-US" sz="1050" b="0" i="0" u="none" strike="noStrike">
                          <a:solidFill>
                            <a:srgbClr val="000000"/>
                          </a:solidFill>
                          <a:effectLst/>
                          <a:latin typeface="Aptos" panose="020B0004020202020204" pitchFamily="34" charset="0"/>
                        </a:rPr>
                        <a:t>The agent has controls such as permissions, approvals, logging, or monitoring</a:t>
                      </a:r>
                      <a:br>
                        <a:rPr lang="en-US" sz="1050" b="0" i="0" u="none" strike="noStrike">
                          <a:solidFill>
                            <a:srgbClr val="000000"/>
                          </a:solidFill>
                          <a:effectLst/>
                          <a:latin typeface="Aptos" panose="020B0004020202020204" pitchFamily="34" charset="0"/>
                        </a:rPr>
                      </a:br>
                      <a:r>
                        <a:rPr lang="en-US" sz="1050" b="0" i="0" u="none" strike="noStrike">
                          <a:solidFill>
                            <a:srgbClr val="000000"/>
                          </a:solidFill>
                          <a:effectLst/>
                          <a:latin typeface="Aptos" panose="020B0004020202020204" pitchFamily="34" charset="0"/>
                        </a:rPr>
                        <a:t>Some controls are configurable rather than included by default</a:t>
                      </a:r>
                      <a:br>
                        <a:rPr lang="en-US" sz="1050" b="0" i="0" u="none" strike="noStrike">
                          <a:solidFill>
                            <a:srgbClr val="000000"/>
                          </a:solidFill>
                          <a:effectLst/>
                          <a:latin typeface="Aptos" panose="020B0004020202020204" pitchFamily="34" charset="0"/>
                        </a:rPr>
                      </a:br>
                      <a:r>
                        <a:rPr lang="en-US" sz="1050" b="0" i="0" u="none" strike="noStrike">
                          <a:solidFill>
                            <a:srgbClr val="000000"/>
                          </a:solidFill>
                          <a:effectLst/>
                          <a:latin typeface="Aptos" panose="020B0004020202020204" pitchFamily="34" charset="0"/>
                        </a:rPr>
                        <a:t>It is unclear whether the controls operate together in a production deployment</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Controls apply to the scored offering or its confirmed runtime</a:t>
                      </a:r>
                      <a:br>
                        <a:rPr lang="en-US" sz="1050" b="0" i="0" u="none" strike="noStrike">
                          <a:solidFill>
                            <a:srgbClr val="000000"/>
                          </a:solidFill>
                          <a:effectLst/>
                          <a:latin typeface="Aptos" panose="020B0004020202020204" pitchFamily="34" charset="0"/>
                        </a:rPr>
                      </a:br>
                      <a:r>
                        <a:rPr lang="en-US" sz="1050" b="0" i="0" u="none" strike="noStrike">
                          <a:solidFill>
                            <a:srgbClr val="000000"/>
                          </a:solidFill>
                          <a:effectLst/>
                          <a:latin typeface="Aptos" panose="020B0004020202020204" pitchFamily="34" charset="0"/>
                        </a:rPr>
                        <a:t>Controls are technically enforceable, not merely policies or instructions</a:t>
                      </a:r>
                      <a:br>
                        <a:rPr lang="en-US" sz="1050" b="0" i="0" u="none" strike="noStrike">
                          <a:solidFill>
                            <a:srgbClr val="000000"/>
                          </a:solidFill>
                          <a:effectLst/>
                          <a:latin typeface="Aptos" panose="020B0004020202020204" pitchFamily="34" charset="0"/>
                        </a:rPr>
                      </a:br>
                      <a:r>
                        <a:rPr lang="en-US" sz="1050" b="0" i="0" u="none" strike="noStrike">
                          <a:solidFill>
                            <a:srgbClr val="000000"/>
                          </a:solidFill>
                          <a:effectLst/>
                          <a:latin typeface="Aptos" panose="020B0004020202020204" pitchFamily="34" charset="0"/>
                        </a:rPr>
                        <a:t>Evidence covers actual production operation or a clearly production-ready architecture</a:t>
                      </a:r>
                      <a:br>
                        <a:rPr lang="en-US" sz="1050" b="0" i="0" u="none" strike="noStrike">
                          <a:solidFill>
                            <a:srgbClr val="000000"/>
                          </a:solidFill>
                          <a:effectLst/>
                          <a:latin typeface="Aptos" panose="020B0004020202020204" pitchFamily="34" charset="0"/>
                        </a:rPr>
                      </a:br>
                      <a:r>
                        <a:rPr lang="en-US" sz="1050" b="0" i="0" u="none" strike="noStrike">
                          <a:solidFill>
                            <a:srgbClr val="000000"/>
                          </a:solidFill>
                          <a:effectLst/>
                          <a:latin typeface="Aptos" panose="020B0004020202020204" pitchFamily="34" charset="0"/>
                        </a:rPr>
                        <a:t>The organization can govern both the agent’s actions and changes to the agent over time</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extLst>
                  <a:ext uri="{0D108BD9-81ED-4DB2-BD59-A6C34878D82A}">
                    <a16:rowId xmlns:a16="http://schemas.microsoft.com/office/drawing/2014/main" val="1800531625"/>
                  </a:ext>
                </a:extLst>
              </a:tr>
            </a:tbl>
          </a:graphicData>
        </a:graphic>
      </p:graphicFrame>
    </p:spTree>
    <p:extLst>
      <p:ext uri="{BB962C8B-B14F-4D97-AF65-F5344CB8AC3E}">
        <p14:creationId xmlns:p14="http://schemas.microsoft.com/office/powerpoint/2010/main" val="221847429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46D78-E9D2-4FCC-7FBE-A5C106E232F6}"/>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AA9B4E7-CD10-1318-68EF-A1481991B33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3" name="think-cell data - do not delete" hidden="1">
                        <a:extLst>
                          <a:ext uri="{FF2B5EF4-FFF2-40B4-BE49-F238E27FC236}">
                            <a16:creationId xmlns:a16="http://schemas.microsoft.com/office/drawing/2014/main" id="{9AA9B4E7-CD10-1318-68EF-A1481991B33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FE8468A-0ED0-98F8-553B-823C70C50DBE}"/>
              </a:ext>
            </a:extLst>
          </p:cNvPr>
          <p:cNvSpPr>
            <a:spLocks noGrp="1"/>
          </p:cNvSpPr>
          <p:nvPr>
            <p:ph type="title"/>
          </p:nvPr>
        </p:nvSpPr>
        <p:spPr/>
        <p:txBody>
          <a:bodyPr vert="horz" rIns="0"/>
          <a:lstStyle/>
          <a:p>
            <a:r>
              <a:rPr lang="en-US"/>
              <a:t>Scoring Matrix for Comparison Maps (3/3)</a:t>
            </a:r>
          </a:p>
        </p:txBody>
      </p:sp>
      <p:graphicFrame>
        <p:nvGraphicFramePr>
          <p:cNvPr id="11" name="Table 10">
            <a:extLst>
              <a:ext uri="{FF2B5EF4-FFF2-40B4-BE49-F238E27FC236}">
                <a16:creationId xmlns:a16="http://schemas.microsoft.com/office/drawing/2014/main" id="{691DCBD7-D857-74EB-B94A-FC4D53B811F1}"/>
              </a:ext>
            </a:extLst>
          </p:cNvPr>
          <p:cNvGraphicFramePr>
            <a:graphicFrameLocks noGrp="1"/>
          </p:cNvGraphicFramePr>
          <p:nvPr>
            <p:extLst>
              <p:ext uri="{D42A27DB-BD31-4B8C-83A1-F6EECF244321}">
                <p14:modId xmlns:p14="http://schemas.microsoft.com/office/powerpoint/2010/main" val="2152484720"/>
              </p:ext>
            </p:extLst>
          </p:nvPr>
        </p:nvGraphicFramePr>
        <p:xfrm>
          <a:off x="457200" y="745875"/>
          <a:ext cx="11423904" cy="2068866"/>
        </p:xfrm>
        <a:graphic>
          <a:graphicData uri="http://schemas.openxmlformats.org/drawingml/2006/table">
            <a:tbl>
              <a:tblPr firstRow="1" firstCol="1">
                <a:tableStyleId>{F2DE63D5-997A-4646-A377-4702673A728D}</a:tableStyleId>
              </a:tblPr>
              <a:tblGrid>
                <a:gridCol w="1097280">
                  <a:extLst>
                    <a:ext uri="{9D8B030D-6E8A-4147-A177-3AD203B41FA5}">
                      <a16:colId xmlns:a16="http://schemas.microsoft.com/office/drawing/2014/main" val="3877191384"/>
                    </a:ext>
                  </a:extLst>
                </a:gridCol>
                <a:gridCol w="3483864">
                  <a:extLst>
                    <a:ext uri="{9D8B030D-6E8A-4147-A177-3AD203B41FA5}">
                      <a16:colId xmlns:a16="http://schemas.microsoft.com/office/drawing/2014/main" val="2313948053"/>
                    </a:ext>
                  </a:extLst>
                </a:gridCol>
                <a:gridCol w="2194560">
                  <a:extLst>
                    <a:ext uri="{9D8B030D-6E8A-4147-A177-3AD203B41FA5}">
                      <a16:colId xmlns:a16="http://schemas.microsoft.com/office/drawing/2014/main" val="2956628135"/>
                    </a:ext>
                  </a:extLst>
                </a:gridCol>
                <a:gridCol w="2167128">
                  <a:extLst>
                    <a:ext uri="{9D8B030D-6E8A-4147-A177-3AD203B41FA5}">
                      <a16:colId xmlns:a16="http://schemas.microsoft.com/office/drawing/2014/main" val="2394489840"/>
                    </a:ext>
                  </a:extLst>
                </a:gridCol>
                <a:gridCol w="2481072">
                  <a:extLst>
                    <a:ext uri="{9D8B030D-6E8A-4147-A177-3AD203B41FA5}">
                      <a16:colId xmlns:a16="http://schemas.microsoft.com/office/drawing/2014/main" val="3290926634"/>
                    </a:ext>
                  </a:extLst>
                </a:gridCol>
              </a:tblGrid>
              <a:tr h="216990">
                <a:tc>
                  <a:txBody>
                    <a:bodyPr/>
                    <a:lstStyle/>
                    <a:p>
                      <a:pPr algn="ctr">
                        <a:buNone/>
                      </a:pPr>
                      <a:r>
                        <a:rPr lang="en-US" sz="1100"/>
                        <a:t>Dimension</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ctr">
                        <a:buNone/>
                      </a:pPr>
                      <a:r>
                        <a:rPr lang="en-US" sz="1100"/>
                        <a:t>Definition</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ctr">
                        <a:buNone/>
                      </a:pPr>
                      <a:r>
                        <a:rPr lang="en-US" sz="1100"/>
                        <a:t>Low</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ctr">
                        <a:buNone/>
                      </a:pPr>
                      <a:r>
                        <a:rPr lang="en-US" sz="1100"/>
                        <a:t>Medium</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ctr">
                        <a:buNone/>
                      </a:pPr>
                      <a:r>
                        <a:rPr lang="en-US" sz="1100"/>
                        <a:t>High</a:t>
                      </a:r>
                    </a:p>
                  </a:txBody>
                  <a:tcPr marL="37601" marR="37601" marT="18800" marB="1880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extLst>
                  <a:ext uri="{0D108BD9-81ED-4DB2-BD59-A6C34878D82A}">
                    <a16:rowId xmlns:a16="http://schemas.microsoft.com/office/drawing/2014/main" val="1964382329"/>
                  </a:ext>
                </a:extLst>
              </a:tr>
              <a:tr h="925938">
                <a:tc>
                  <a:txBody>
                    <a:bodyPr/>
                    <a:lstStyle/>
                    <a:p>
                      <a:pPr algn="l" rtl="0" fontAlgn="ctr">
                        <a:buNone/>
                      </a:pPr>
                      <a:r>
                        <a:rPr lang="en-US" sz="1100" b="1" i="0" u="none" strike="noStrike">
                          <a:solidFill>
                            <a:srgbClr val="000000"/>
                          </a:solidFill>
                          <a:effectLst/>
                          <a:latin typeface="Aptos" panose="020B0004020202020204" pitchFamily="34" charset="0"/>
                        </a:rPr>
                        <a:t>Deployment flexibility</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050" b="0" i="0">
                          <a:solidFill>
                            <a:srgbClr val="000000"/>
                          </a:solidFill>
                          <a:latin typeface="Aptos"/>
                        </a:rPr>
                        <a:t>Degree of choice in where the offering runs, from vendor SaaS to customer-controlled, multi-cloud, private, on-premises or sovereign environments, without material redesign.</a:t>
                      </a:r>
                      <a:endParaRPr lang="en-US" sz="1100" b="0" i="0" u="none" strike="noStrike">
                        <a:solidFill>
                          <a:srgbClr val="000000"/>
                        </a:solidFill>
                        <a:effectLst/>
                        <a:latin typeface="Aptos" panose="020B0004020202020204" pitchFamily="34" charset="0"/>
                      </a:endParaRP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050" b="0" i="0" u="none" strike="noStrike">
                          <a:solidFill>
                            <a:srgbClr val="000000"/>
                          </a:solidFill>
                          <a:effectLst/>
                          <a:latin typeface="Aptos" panose="020B0004020202020204" pitchFamily="34" charset="0"/>
                        </a:rPr>
                        <a:t>Vendor-hosted SaaS only; no runtime or infrastructure choice.</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Managed deployment in customer cloud/VPC or containers, but core services remain vendor-hosted.</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Verified multi-cloud, private, on-premises and sovereign deployment; agents move across environments without material redesign.</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extLst>
                  <a:ext uri="{0D108BD9-81ED-4DB2-BD59-A6C34878D82A}">
                    <a16:rowId xmlns:a16="http://schemas.microsoft.com/office/drawing/2014/main" val="1793155925"/>
                  </a:ext>
                </a:extLst>
              </a:tr>
              <a:tr h="925938">
                <a:tc>
                  <a:txBody>
                    <a:bodyPr/>
                    <a:lstStyle/>
                    <a:p>
                      <a:pPr algn="l" rtl="0" fontAlgn="ctr">
                        <a:buNone/>
                      </a:pPr>
                      <a:r>
                        <a:rPr lang="en-US" sz="1100" b="1" i="0" u="none" strike="noStrike">
                          <a:solidFill>
                            <a:srgbClr val="000000"/>
                          </a:solidFill>
                          <a:effectLst/>
                          <a:latin typeface="Aptos" panose="020B0004020202020204" pitchFamily="34" charset="0"/>
                        </a:rPr>
                        <a:t>Open-model choice</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050" b="0" i="0">
                          <a:solidFill>
                            <a:srgbClr val="000000"/>
                          </a:solidFill>
                          <a:latin typeface="Aptos"/>
                        </a:rPr>
                        <a:t>Breadth and practical usability of open-weight or open-source models, and model switching without workflow redesign.</a:t>
                      </a:r>
                      <a:endParaRPr lang="en-US" sz="1100" b="0" i="0" u="none" strike="noStrike">
                        <a:solidFill>
                          <a:srgbClr val="000000"/>
                        </a:solidFill>
                        <a:effectLst/>
                        <a:latin typeface="Aptos" panose="020B0004020202020204" pitchFamily="34" charset="0"/>
                      </a:endParaRP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solidFill>
                      <a:schemeClr val="bg1">
                        <a:lumMod val="95000"/>
                      </a:schemeClr>
                    </a:solidFill>
                  </a:tcPr>
                </a:tc>
                <a:tc>
                  <a:txBody>
                    <a:bodyPr/>
                    <a:lstStyle/>
                    <a:p>
                      <a:pPr algn="l" rtl="0" fontAlgn="ctr">
                        <a:buNone/>
                      </a:pPr>
                      <a:r>
                        <a:rPr lang="en-US" sz="1050" b="0" i="0" u="none" strike="noStrike">
                          <a:solidFill>
                            <a:srgbClr val="000000"/>
                          </a:solidFill>
                          <a:effectLst/>
                          <a:latin typeface="Aptos" panose="020B0004020202020204" pitchFamily="34" charset="0"/>
                        </a:rPr>
                        <a:t>First-party proprietary models only.</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Proprietary/ selected open-weight/selected open-source models available through a managed catalog.</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tc>
                  <a:txBody>
                    <a:bodyPr/>
                    <a:lstStyle/>
                    <a:p>
                      <a:pPr algn="l" rtl="0" fontAlgn="ctr">
                        <a:buNone/>
                      </a:pPr>
                      <a:r>
                        <a:rPr lang="en-US" sz="1050" b="0" i="0" u="none" strike="noStrike">
                          <a:solidFill>
                            <a:srgbClr val="000000"/>
                          </a:solidFill>
                          <a:effectLst/>
                          <a:latin typeface="Aptos" panose="020B0004020202020204" pitchFamily="34" charset="0"/>
                        </a:rPr>
                        <a:t>Proprietary/ Open-weight models/ Open-source model (Any model); model switching is supported without redesigning workflows.</a:t>
                      </a:r>
                    </a:p>
                  </a:txBody>
                  <a:tcPr marL="0" marR="0" marT="0" marB="0" anchor="ctr">
                    <a:lnL w="6350" cap="flat" cmpd="sng" algn="ctr">
                      <a:solidFill>
                        <a:schemeClr val="accent4">
                          <a:lumMod val="25000"/>
                          <a:lumOff val="75000"/>
                        </a:schemeClr>
                      </a:solidFill>
                      <a:prstDash val="solid"/>
                      <a:round/>
                      <a:headEnd type="none" w="med" len="med"/>
                      <a:tailEnd type="none" w="med" len="med"/>
                    </a:lnL>
                    <a:lnR w="6350" cap="flat" cmpd="sng" algn="ctr">
                      <a:solidFill>
                        <a:schemeClr val="accent4">
                          <a:lumMod val="25000"/>
                          <a:lumOff val="75000"/>
                        </a:schemeClr>
                      </a:solidFill>
                      <a:prstDash val="solid"/>
                      <a:round/>
                      <a:headEnd type="none" w="med" len="med"/>
                      <a:tailEnd type="none" w="med" len="med"/>
                    </a:lnR>
                    <a:lnT w="6350" cap="flat" cmpd="sng" algn="ctr">
                      <a:solidFill>
                        <a:schemeClr val="accent4">
                          <a:lumMod val="25000"/>
                          <a:lumOff val="75000"/>
                        </a:schemeClr>
                      </a:solidFill>
                      <a:prstDash val="solid"/>
                      <a:round/>
                      <a:headEnd type="none" w="med" len="med"/>
                      <a:tailEnd type="none" w="med" len="med"/>
                    </a:lnT>
                    <a:lnB w="6350" cap="flat" cmpd="sng" algn="ctr">
                      <a:solidFill>
                        <a:schemeClr val="accent4">
                          <a:lumMod val="25000"/>
                          <a:lumOff val="75000"/>
                        </a:schemeClr>
                      </a:solidFill>
                      <a:prstDash val="solid"/>
                      <a:round/>
                      <a:headEnd type="none" w="med" len="med"/>
                      <a:tailEnd type="none" w="med" len="med"/>
                    </a:lnB>
                  </a:tcPr>
                </a:tc>
                <a:extLst>
                  <a:ext uri="{0D108BD9-81ED-4DB2-BD59-A6C34878D82A}">
                    <a16:rowId xmlns:a16="http://schemas.microsoft.com/office/drawing/2014/main" val="1800531625"/>
                  </a:ext>
                </a:extLst>
              </a:tr>
            </a:tbl>
          </a:graphicData>
        </a:graphic>
      </p:graphicFrame>
    </p:spTree>
    <p:extLst>
      <p:ext uri="{BB962C8B-B14F-4D97-AF65-F5344CB8AC3E}">
        <p14:creationId xmlns:p14="http://schemas.microsoft.com/office/powerpoint/2010/main" val="2356937585"/>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FD1FE894-F9B2-1846-098C-AE9C336AB4B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40" name="think-cell data - do not delete" hidden="1">
                        <a:extLst>
                          <a:ext uri="{FF2B5EF4-FFF2-40B4-BE49-F238E27FC236}">
                            <a16:creationId xmlns:a16="http://schemas.microsoft.com/office/drawing/2014/main" id="{FD1FE894-F9B2-1846-098C-AE9C336AB4B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457200" y="292608"/>
            <a:ext cx="11274552" cy="822960"/>
          </a:xfrm>
        </p:spPr>
        <p:txBody>
          <a:bodyPr vert="horz" wrap="square" rIns="0"/>
          <a:lstStyle/>
          <a:p>
            <a:pPr>
              <a:lnSpc>
                <a:spcPct val="100000"/>
              </a:lnSpc>
            </a:pPr>
            <a:r>
              <a:t>Zora's direct competition sits in the </a:t>
            </a:r>
            <a:r>
              <a:rPr lang="en-US"/>
              <a:t>deployable agents </a:t>
            </a:r>
            <a:r>
              <a:t>layer, split into three categories that each need a different </a:t>
            </a:r>
            <a:r>
              <a:rPr lang="en-US"/>
              <a:t>sales posturing</a:t>
            </a:r>
            <a:endParaRPr/>
          </a:p>
        </p:txBody>
      </p:sp>
      <p:sp>
        <p:nvSpPr>
          <p:cNvPr id="4" name="Rectangle 3"/>
          <p:cNvSpPr/>
          <p:nvPr/>
        </p:nvSpPr>
        <p:spPr>
          <a:xfrm>
            <a:off x="457200" y="1308463"/>
            <a:ext cx="3290835" cy="384048"/>
          </a:xfrm>
          <a:prstGeom prst="rect">
            <a:avLst/>
          </a:prstGeom>
          <a:solidFill>
            <a:srgbClr val="86BC25"/>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5" name="TextBox 4"/>
          <p:cNvSpPr txBox="1"/>
          <p:nvPr/>
        </p:nvSpPr>
        <p:spPr>
          <a:xfrm>
            <a:off x="566928" y="1415848"/>
            <a:ext cx="3502152" cy="1692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ptos"/>
                <a:ea typeface="+mn-ea"/>
                <a:cs typeface="+mn-cs"/>
              </a:rPr>
              <a:t>1. General Productivity Agents</a:t>
            </a:r>
          </a:p>
        </p:txBody>
      </p:sp>
      <p:sp>
        <p:nvSpPr>
          <p:cNvPr id="6" name="Rectangle 5"/>
          <p:cNvSpPr/>
          <p:nvPr/>
        </p:nvSpPr>
        <p:spPr>
          <a:xfrm>
            <a:off x="457201" y="1692510"/>
            <a:ext cx="3290834" cy="1861853"/>
          </a:xfrm>
          <a:prstGeom prst="rect">
            <a:avLst/>
          </a:prstGeom>
          <a:solidFill>
            <a:srgbClr val="FFFFFF"/>
          </a:solidFill>
          <a:ln w="9525">
            <a:solidFill>
              <a:srgbClr val="D0D0D0"/>
            </a:solid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9" name="Rectangle 8"/>
          <p:cNvSpPr/>
          <p:nvPr/>
        </p:nvSpPr>
        <p:spPr>
          <a:xfrm>
            <a:off x="457200" y="3645806"/>
            <a:ext cx="3290835" cy="1640295"/>
          </a:xfrm>
          <a:prstGeom prst="rect">
            <a:avLst/>
          </a:prstGeom>
          <a:solidFill>
            <a:schemeClr val="accent1">
              <a:lumMod val="20000"/>
              <a:lumOff val="80000"/>
            </a:schemeClr>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Box 9"/>
          <p:cNvSpPr txBox="1"/>
          <p:nvPr/>
        </p:nvSpPr>
        <p:spPr>
          <a:xfrm>
            <a:off x="585216" y="3714285"/>
            <a:ext cx="3082432" cy="136793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RECOMMENDATION FOR ZORA</a:t>
            </a:r>
          </a:p>
          <a:p>
            <a:pPr marL="171450" marR="0" lvl="0" indent="-171450" algn="l" defTabSz="914400" rtl="0" eaLnBrk="1" fontAlgn="auto" latinLnBrk="0" hangingPunct="1">
              <a:lnSpc>
                <a:spcPct val="102000"/>
              </a:lnSpc>
              <a:spcBef>
                <a:spcPts val="0"/>
              </a:spcBef>
              <a:spcAft>
                <a:spcPts val="7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Position as complementary, not competitive: copilots lift individual productivity, Zora owns the functional workflow and outcome.</a:t>
            </a:r>
          </a:p>
          <a:p>
            <a:pPr marL="171450" marR="0" lvl="0" indent="-171450" algn="l" defTabSz="914400" rtl="0" eaLnBrk="1" fontAlgn="auto" latinLnBrk="0" hangingPunct="1">
              <a:lnSpc>
                <a:spcPct val="102000"/>
              </a:lnSpc>
              <a:spcBef>
                <a:spcPts val="0"/>
              </a:spcBef>
              <a:spcAft>
                <a:spcPts val="7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Drive conversations around what stays employee-led vs. delegated to Zora, plus shared escalation paths and outcome metrics.</a:t>
            </a:r>
          </a:p>
        </p:txBody>
      </p:sp>
      <p:sp>
        <p:nvSpPr>
          <p:cNvPr id="12" name="Rectangle 11"/>
          <p:cNvSpPr/>
          <p:nvPr/>
        </p:nvSpPr>
        <p:spPr>
          <a:xfrm>
            <a:off x="457200" y="5377543"/>
            <a:ext cx="3290835" cy="868680"/>
          </a:xfrm>
          <a:prstGeom prst="rect">
            <a:avLst/>
          </a:prstGeom>
          <a:solidFill>
            <a:schemeClr val="accent2"/>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Box 13"/>
          <p:cNvSpPr txBox="1"/>
          <p:nvPr/>
        </p:nvSpPr>
        <p:spPr>
          <a:xfrm>
            <a:off x="566928" y="5459839"/>
            <a:ext cx="3100720" cy="1692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ptos"/>
                <a:ea typeface="+mn-ea"/>
                <a:cs typeface="+mn-cs"/>
              </a:rPr>
              <a:t>POSSIBLE SELLER RESPONSE</a:t>
            </a:r>
          </a:p>
        </p:txBody>
      </p:sp>
      <p:sp>
        <p:nvSpPr>
          <p:cNvPr id="15" name="TextBox 14"/>
          <p:cNvSpPr txBox="1"/>
          <p:nvPr/>
        </p:nvSpPr>
        <p:spPr>
          <a:xfrm>
            <a:off x="566928" y="5670151"/>
            <a:ext cx="3100720" cy="527837"/>
          </a:xfrm>
          <a:prstGeom prst="rect">
            <a:avLst/>
          </a:prstGeom>
          <a:noFill/>
        </p:spPr>
        <p:txBody>
          <a:bodyPr wrap="square" lIns="0" tIns="0" rIns="0" bIns="0" anchor="t">
            <a:sp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a:ln>
                  <a:noFill/>
                </a:ln>
                <a:solidFill>
                  <a:srgbClr val="FFFFFF"/>
                </a:solidFill>
                <a:effectLst/>
                <a:uLnTx/>
                <a:uFillTx/>
                <a:latin typeface="Aptos"/>
                <a:ea typeface="+mn-ea"/>
                <a:cs typeface="+mn-cs"/>
              </a:rPr>
              <a:t>“Copilots assist employees with general tasks but don’t automate domain-specific workflows like Zora."</a:t>
            </a:r>
          </a:p>
        </p:txBody>
      </p:sp>
      <p:sp>
        <p:nvSpPr>
          <p:cNvPr id="16" name="Rectangle 15"/>
          <p:cNvSpPr/>
          <p:nvPr/>
        </p:nvSpPr>
        <p:spPr>
          <a:xfrm>
            <a:off x="3876051" y="1308462"/>
            <a:ext cx="4619729" cy="699805"/>
          </a:xfrm>
          <a:prstGeom prst="rect">
            <a:avLst/>
          </a:prstGeom>
          <a:solidFill>
            <a:srgbClr val="86BC25"/>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Box 16"/>
          <p:cNvSpPr txBox="1"/>
          <p:nvPr/>
        </p:nvSpPr>
        <p:spPr>
          <a:xfrm>
            <a:off x="3985779" y="1415848"/>
            <a:ext cx="3502152" cy="1692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ptos"/>
                <a:ea typeface="+mn-ea"/>
                <a:cs typeface="+mn-cs"/>
              </a:rPr>
              <a:t>2. Functional/Industry Agents</a:t>
            </a:r>
          </a:p>
        </p:txBody>
      </p:sp>
      <p:sp>
        <p:nvSpPr>
          <p:cNvPr id="18" name="Rectangle 17"/>
          <p:cNvSpPr/>
          <p:nvPr/>
        </p:nvSpPr>
        <p:spPr>
          <a:xfrm>
            <a:off x="3876051" y="1692510"/>
            <a:ext cx="4619729" cy="1861853"/>
          </a:xfrm>
          <a:prstGeom prst="rect">
            <a:avLst/>
          </a:prstGeom>
          <a:solidFill>
            <a:srgbClr val="FFFFFF"/>
          </a:solidFill>
          <a:ln w="9525">
            <a:solidFill>
              <a:srgbClr val="D0D0D0"/>
            </a:solid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21" name="Rectangle 20"/>
          <p:cNvSpPr/>
          <p:nvPr/>
        </p:nvSpPr>
        <p:spPr>
          <a:xfrm>
            <a:off x="3876051" y="3645806"/>
            <a:ext cx="4619729" cy="1640296"/>
          </a:xfrm>
          <a:prstGeom prst="rect">
            <a:avLst/>
          </a:prstGeom>
          <a:solidFill>
            <a:schemeClr val="accent1">
              <a:lumMod val="20000"/>
              <a:lumOff val="80000"/>
            </a:schemeClr>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22" name="TextBox 21"/>
          <p:cNvSpPr txBox="1"/>
          <p:nvPr/>
        </p:nvSpPr>
        <p:spPr>
          <a:xfrm>
            <a:off x="3985779" y="3714285"/>
            <a:ext cx="4410969" cy="136793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RECOMMENDATION FOR ZORA</a:t>
            </a:r>
          </a:p>
          <a:p>
            <a:pPr marL="171450" marR="0" lvl="0" indent="-171450" algn="l" defTabSz="914400" rtl="0" eaLnBrk="1" fontAlgn="auto" latinLnBrk="0" hangingPunct="1">
              <a:lnSpc>
                <a:spcPct val="102000"/>
              </a:lnSpc>
              <a:spcBef>
                <a:spcPts val="0"/>
              </a:spcBef>
              <a:spcAft>
                <a:spcPts val="7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Against broad enterprise suits: Lead with workflow completeness. Compare named workflows on scope, domain depth, configuration required, autonomy and demonstrated outcomes.</a:t>
            </a:r>
          </a:p>
          <a:p>
            <a:pPr marL="171450" marR="0" lvl="0" indent="-171450" algn="l" defTabSz="914400" rtl="0" eaLnBrk="1" fontAlgn="auto" latinLnBrk="0" hangingPunct="1">
              <a:lnSpc>
                <a:spcPct val="102000"/>
              </a:lnSpc>
              <a:spcBef>
                <a:spcPts val="0"/>
              </a:spcBef>
              <a:spcAft>
                <a:spcPts val="7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Against specialists: Lead with connected breadth across processes and systems. Concede where client prioritizes best in class depth or looking to replace the underlying process application.</a:t>
            </a:r>
          </a:p>
        </p:txBody>
      </p:sp>
      <p:sp>
        <p:nvSpPr>
          <p:cNvPr id="24" name="Rectangle 23"/>
          <p:cNvSpPr/>
          <p:nvPr/>
        </p:nvSpPr>
        <p:spPr>
          <a:xfrm>
            <a:off x="3876051" y="5377543"/>
            <a:ext cx="4619729" cy="868680"/>
          </a:xfrm>
          <a:prstGeom prst="rect">
            <a:avLst/>
          </a:prstGeom>
          <a:solidFill>
            <a:schemeClr val="accent2"/>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26" name="TextBox 25"/>
          <p:cNvSpPr txBox="1"/>
          <p:nvPr/>
        </p:nvSpPr>
        <p:spPr>
          <a:xfrm>
            <a:off x="3985778" y="5459839"/>
            <a:ext cx="3410712" cy="1692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ptos"/>
                <a:ea typeface="+mn-ea"/>
                <a:cs typeface="+mn-cs"/>
              </a:rPr>
              <a:t>POSSIBLE SELLER RESPONSE</a:t>
            </a:r>
          </a:p>
        </p:txBody>
      </p:sp>
      <p:sp>
        <p:nvSpPr>
          <p:cNvPr id="27" name="TextBox 26"/>
          <p:cNvSpPr txBox="1"/>
          <p:nvPr/>
        </p:nvSpPr>
        <p:spPr>
          <a:xfrm>
            <a:off x="3985778" y="5670151"/>
            <a:ext cx="4410970" cy="527837"/>
          </a:xfrm>
          <a:prstGeom prst="rect">
            <a:avLst/>
          </a:prstGeom>
          <a:noFill/>
        </p:spPr>
        <p:txBody>
          <a:bodyPr wrap="square" lIns="0" tIns="0" rIns="0" bIns="0" anchor="t">
            <a:sp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a:ln>
                  <a:noFill/>
                </a:ln>
                <a:solidFill>
                  <a:srgbClr val="FFFFFF"/>
                </a:solidFill>
                <a:effectLst/>
                <a:uLnTx/>
                <a:uFillTx/>
                <a:latin typeface="Aptos"/>
                <a:ea typeface="+mn-ea"/>
                <a:cs typeface="+mn-cs"/>
              </a:rPr>
              <a:t>“Zora provides greater domain expertise and faster time to value than broader enterprise suites, and addresses a broader set of workflows and enterprise functions than domain specialists/point solutions"</a:t>
            </a:r>
          </a:p>
        </p:txBody>
      </p:sp>
      <p:sp>
        <p:nvSpPr>
          <p:cNvPr id="28" name="Rectangle 27"/>
          <p:cNvSpPr/>
          <p:nvPr/>
        </p:nvSpPr>
        <p:spPr>
          <a:xfrm>
            <a:off x="8623796" y="1308463"/>
            <a:ext cx="3290836" cy="384048"/>
          </a:xfrm>
          <a:prstGeom prst="rect">
            <a:avLst/>
          </a:prstGeom>
          <a:solidFill>
            <a:srgbClr val="86BC25"/>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29" name="TextBox 28"/>
          <p:cNvSpPr txBox="1"/>
          <p:nvPr/>
        </p:nvSpPr>
        <p:spPr>
          <a:xfrm>
            <a:off x="8734832" y="1415848"/>
            <a:ext cx="3051784" cy="1692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ptos"/>
                <a:ea typeface="+mn-ea"/>
                <a:cs typeface="+mn-cs"/>
              </a:rPr>
              <a:t>3. Application-native Agents</a:t>
            </a:r>
          </a:p>
        </p:txBody>
      </p:sp>
      <p:sp>
        <p:nvSpPr>
          <p:cNvPr id="30" name="Rectangle 29"/>
          <p:cNvSpPr/>
          <p:nvPr/>
        </p:nvSpPr>
        <p:spPr>
          <a:xfrm>
            <a:off x="8623796" y="1692511"/>
            <a:ext cx="3290836" cy="1861852"/>
          </a:xfrm>
          <a:prstGeom prst="rect">
            <a:avLst/>
          </a:prstGeom>
          <a:solidFill>
            <a:srgbClr val="FFFFFF"/>
          </a:solidFill>
          <a:ln w="9525">
            <a:solidFill>
              <a:srgbClr val="D0D0D0"/>
            </a:solid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33" name="Rectangle 32"/>
          <p:cNvSpPr/>
          <p:nvPr/>
        </p:nvSpPr>
        <p:spPr>
          <a:xfrm>
            <a:off x="8623796" y="3645805"/>
            <a:ext cx="3290835" cy="1640297"/>
          </a:xfrm>
          <a:prstGeom prst="rect">
            <a:avLst/>
          </a:prstGeom>
          <a:solidFill>
            <a:schemeClr val="accent1">
              <a:lumMod val="20000"/>
              <a:lumOff val="80000"/>
            </a:schemeClr>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34" name="TextBox 33"/>
          <p:cNvSpPr txBox="1"/>
          <p:nvPr/>
        </p:nvSpPr>
        <p:spPr>
          <a:xfrm>
            <a:off x="8734829" y="3714285"/>
            <a:ext cx="3051785" cy="154061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RECOMMENDATION FOR ZORA</a:t>
            </a:r>
          </a:p>
          <a:p>
            <a:pPr marL="171450" marR="0" lvl="0" indent="-171450" algn="l" defTabSz="914400" rtl="0" eaLnBrk="1" fontAlgn="auto" latinLnBrk="0" hangingPunct="1">
              <a:lnSpc>
                <a:spcPct val="102000"/>
              </a:lnSpc>
              <a:spcBef>
                <a:spcPts val="0"/>
              </a:spcBef>
              <a:spcAft>
                <a:spcPts val="7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Frame as integration, not replacement: Native agents win inside one application, Zora wins when the outcome crosses systems.</a:t>
            </a:r>
          </a:p>
          <a:p>
            <a:pPr marL="171450" marR="0" lvl="0" indent="-171450" algn="l" defTabSz="914400" rtl="0" eaLnBrk="1" fontAlgn="auto" latinLnBrk="0" hangingPunct="1">
              <a:lnSpc>
                <a:spcPct val="102000"/>
              </a:lnSpc>
              <a:spcBef>
                <a:spcPts val="0"/>
              </a:spcBef>
              <a:spcAft>
                <a:spcPts val="7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Position Zora as the orchestration layer for cross-application workflows: it can extend workflows beyond siloed applications while coordinating tasks with app-native agents.</a:t>
            </a:r>
          </a:p>
        </p:txBody>
      </p:sp>
      <p:sp>
        <p:nvSpPr>
          <p:cNvPr id="36" name="Rectangle 35"/>
          <p:cNvSpPr/>
          <p:nvPr/>
        </p:nvSpPr>
        <p:spPr>
          <a:xfrm>
            <a:off x="8623796" y="5377543"/>
            <a:ext cx="3290836" cy="868680"/>
          </a:xfrm>
          <a:prstGeom prst="rect">
            <a:avLst/>
          </a:prstGeom>
          <a:solidFill>
            <a:schemeClr val="accent2"/>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a:ea typeface="+mn-ea"/>
              <a:cs typeface="+mn-cs"/>
            </a:endParaRPr>
          </a:p>
        </p:txBody>
      </p:sp>
      <p:sp>
        <p:nvSpPr>
          <p:cNvPr id="38" name="TextBox 37"/>
          <p:cNvSpPr txBox="1"/>
          <p:nvPr/>
        </p:nvSpPr>
        <p:spPr>
          <a:xfrm>
            <a:off x="8734830" y="5459839"/>
            <a:ext cx="3033498" cy="1692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ptos"/>
                <a:ea typeface="+mn-ea"/>
                <a:cs typeface="+mn-cs"/>
              </a:rPr>
              <a:t>POSSIBLE SELLER RESPONSE</a:t>
            </a:r>
          </a:p>
        </p:txBody>
      </p:sp>
      <p:sp>
        <p:nvSpPr>
          <p:cNvPr id="39" name="TextBox 38"/>
          <p:cNvSpPr txBox="1"/>
          <p:nvPr/>
        </p:nvSpPr>
        <p:spPr>
          <a:xfrm>
            <a:off x="8734830" y="5670151"/>
            <a:ext cx="3033498" cy="527837"/>
          </a:xfrm>
          <a:prstGeom prst="rect">
            <a:avLst/>
          </a:prstGeom>
          <a:noFill/>
        </p:spPr>
        <p:txBody>
          <a:bodyPr wrap="square" lIns="0" tIns="0" rIns="0" bIns="0" anchor="t">
            <a:sp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a:ln>
                  <a:noFill/>
                </a:ln>
                <a:solidFill>
                  <a:srgbClr val="FFFFFF"/>
                </a:solidFill>
                <a:effectLst/>
                <a:uLnTx/>
                <a:uFillTx/>
                <a:latin typeface="Aptos"/>
                <a:ea typeface="+mn-ea"/>
                <a:cs typeface="+mn-cs"/>
              </a:rPr>
              <a:t>“Native agents are good for application centric workflows; Zora is designed around the end-to-end business outcome."</a:t>
            </a:r>
          </a:p>
        </p:txBody>
      </p:sp>
      <p:sp>
        <p:nvSpPr>
          <p:cNvPr id="8" name="TextBox 7">
            <a:extLst>
              <a:ext uri="{FF2B5EF4-FFF2-40B4-BE49-F238E27FC236}">
                <a16:creationId xmlns:a16="http://schemas.microsoft.com/office/drawing/2014/main" id="{CF28E21C-6312-A32E-0724-040BE092960D}"/>
              </a:ext>
            </a:extLst>
          </p:cNvPr>
          <p:cNvSpPr txBox="1"/>
          <p:nvPr/>
        </p:nvSpPr>
        <p:spPr>
          <a:xfrm>
            <a:off x="585216" y="1782832"/>
            <a:ext cx="3082432" cy="143116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HOW IT COMPARES WITH </a:t>
            </a:r>
            <a:r>
              <a:rPr kumimoji="0" sz="1100" b="1" i="0" u="none" strike="noStrike" kern="1200" cap="none" spc="0" normalizeH="0" baseline="0" noProof="0">
                <a:ln>
                  <a:noFill/>
                </a:ln>
                <a:solidFill>
                  <a:prstClr val="black"/>
                </a:solidFill>
                <a:effectLst/>
                <a:uLnTx/>
                <a:uFillTx/>
                <a:latin typeface="Aptos"/>
                <a:ea typeface="+mn-ea"/>
                <a:cs typeface="+mn-cs"/>
              </a:rPr>
              <a:t>ZORA</a:t>
            </a:r>
            <a:endParaRPr kumimoji="0" lang="en-US" sz="1100" b="1" i="0" u="none" strike="noStrike" kern="1200" cap="none" spc="0" normalizeH="0" baseline="0" noProof="0">
              <a:ln>
                <a:noFill/>
              </a:ln>
              <a:solidFill>
                <a:prstClr val="black"/>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Supports employee tasks and repeatable workflows.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Employee provides the functional process logic, controls and accountability.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Zora starts closer to a defined enterprise workflow</a:t>
            </a:r>
            <a:r>
              <a:rPr kumimoji="0" lang="en-US" sz="1100" b="0" i="0" u="none" strike="noStrike" kern="1200" cap="none" spc="0" normalizeH="0" baseline="0" noProof="0">
                <a:ln>
                  <a:noFill/>
                </a:ln>
                <a:solidFill>
                  <a:prstClr val="black"/>
                </a:solidFill>
                <a:effectLst/>
                <a:uLnTx/>
                <a:uFillTx/>
                <a:latin typeface="Aptos"/>
                <a:ea typeface="+mn-ea"/>
                <a:cs typeface="+mn-cs"/>
              </a:rPr>
              <a:t>, with domain logic and execution responsibilities.</a:t>
            </a:r>
            <a:endParaRPr kumimoji="0" sz="11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Box 19">
            <a:extLst>
              <a:ext uri="{FF2B5EF4-FFF2-40B4-BE49-F238E27FC236}">
                <a16:creationId xmlns:a16="http://schemas.microsoft.com/office/drawing/2014/main" id="{8EB75B04-8466-4135-62AE-5B685D536E65}"/>
              </a:ext>
            </a:extLst>
          </p:cNvPr>
          <p:cNvSpPr txBox="1"/>
          <p:nvPr/>
        </p:nvSpPr>
        <p:spPr>
          <a:xfrm>
            <a:off x="3985778" y="1782832"/>
            <a:ext cx="4410970" cy="173124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HOW IT COMPARES WITH </a:t>
            </a:r>
            <a:r>
              <a:rPr kumimoji="0" sz="1100" b="1" i="0" u="none" strike="noStrike" kern="1200" cap="none" spc="0" normalizeH="0" baseline="0" noProof="0">
                <a:ln>
                  <a:noFill/>
                </a:ln>
                <a:solidFill>
                  <a:prstClr val="black"/>
                </a:solidFill>
                <a:effectLst/>
                <a:uLnTx/>
                <a:uFillTx/>
                <a:latin typeface="Aptos"/>
                <a:ea typeface="+mn-ea"/>
                <a:cs typeface="+mn-cs"/>
              </a:rPr>
              <a:t>ZORA</a:t>
            </a:r>
            <a:endParaRPr kumimoji="0" lang="en-US" sz="1100" b="1" i="0" u="none" strike="noStrike" kern="1200" cap="none" spc="0" normalizeH="0" baseline="0" noProof="0">
              <a:ln>
                <a:noFill/>
              </a:ln>
              <a:solidFill>
                <a:prstClr val="black"/>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Includes both broader </a:t>
            </a:r>
            <a:r>
              <a:rPr kumimoji="0" lang="en-US" sz="1100" b="1" i="0" u="none" strike="noStrike" kern="1200" cap="none" spc="0" normalizeH="0" baseline="0" noProof="0">
                <a:ln>
                  <a:noFill/>
                </a:ln>
                <a:solidFill>
                  <a:prstClr val="black"/>
                </a:solidFill>
                <a:effectLst/>
                <a:uLnTx/>
                <a:uFillTx/>
                <a:latin typeface="Aptos"/>
                <a:ea typeface="+mn-ea"/>
                <a:cs typeface="+mn-cs"/>
              </a:rPr>
              <a:t>enterprise suites that focus on domain breadth and specialists that focus on domain depth.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Enterprise suites offer broad catalogs of domain workflows that lack depth and repeatable deployment/productization, with varied levels of autonomy; Specialists with stronger process functionality embed higher productization and autonomy but focus on one domain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Zora occupies a differentiated middle ground, deeper than enterprise suites and broader than specialists, </a:t>
            </a:r>
            <a:r>
              <a:rPr kumimoji="0" lang="en-US" sz="1100" b="0" i="0" u="none" strike="noStrike" kern="1200" cap="none" spc="0" normalizeH="0" baseline="0" noProof="0">
                <a:ln>
                  <a:noFill/>
                </a:ln>
                <a:solidFill>
                  <a:prstClr val="black"/>
                </a:solidFill>
                <a:effectLst/>
                <a:uLnTx/>
                <a:uFillTx/>
                <a:latin typeface="Aptos"/>
                <a:ea typeface="+mn-ea"/>
                <a:cs typeface="+mn-cs"/>
              </a:rPr>
              <a:t>though not as deep as the strongest specialists.</a:t>
            </a:r>
            <a:endParaRPr kumimoji="0" sz="1100" b="0" i="0" u="none" strike="noStrike" kern="1200" cap="none" spc="0" normalizeH="0" baseline="0" noProof="0">
              <a:ln>
                <a:noFill/>
              </a:ln>
              <a:solidFill>
                <a:prstClr val="black"/>
              </a:solidFill>
              <a:effectLst/>
              <a:uLnTx/>
              <a:uFillTx/>
              <a:latin typeface="Aptos"/>
              <a:ea typeface="+mn-ea"/>
              <a:cs typeface="+mn-cs"/>
            </a:endParaRPr>
          </a:p>
        </p:txBody>
      </p:sp>
      <p:sp>
        <p:nvSpPr>
          <p:cNvPr id="32" name="TextBox 31">
            <a:extLst>
              <a:ext uri="{FF2B5EF4-FFF2-40B4-BE49-F238E27FC236}">
                <a16:creationId xmlns:a16="http://schemas.microsoft.com/office/drawing/2014/main" id="{4E52F516-2976-7E64-6233-7F2FE8352E3E}"/>
              </a:ext>
            </a:extLst>
          </p:cNvPr>
          <p:cNvSpPr txBox="1"/>
          <p:nvPr/>
        </p:nvSpPr>
        <p:spPr>
          <a:xfrm>
            <a:off x="8734829" y="1782832"/>
            <a:ext cx="3179802" cy="160043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HOW IT COMPARES WITH </a:t>
            </a:r>
            <a:r>
              <a:rPr kumimoji="0" sz="1100" b="1" i="0" u="none" strike="noStrike" kern="1200" cap="none" spc="0" normalizeH="0" baseline="0" noProof="0">
                <a:ln>
                  <a:noFill/>
                </a:ln>
                <a:solidFill>
                  <a:prstClr val="black"/>
                </a:solidFill>
                <a:effectLst/>
                <a:uLnTx/>
                <a:uFillTx/>
                <a:latin typeface="Aptos"/>
                <a:ea typeface="+mn-ea"/>
                <a:cs typeface="+mn-cs"/>
              </a:rPr>
              <a:t>ZORA</a:t>
            </a:r>
            <a:endParaRPr kumimoji="0" lang="en-US" sz="1100" b="1" i="0" u="none" strike="noStrike" kern="1200" cap="none" spc="0" normalizeH="0" baseline="0" noProof="0">
              <a:ln>
                <a:noFill/>
              </a:ln>
              <a:solidFill>
                <a:prstClr val="black"/>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Strongest where workflows rely on the host application’s data, permissions and transaction objects.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Can automate workflows beyond the application through connectors and custom agents.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Zora differentiates when a business outcome spans heterogeneous applications </a:t>
            </a:r>
            <a:r>
              <a:rPr kumimoji="0" lang="en-US" sz="1100" b="0" i="0" u="none" strike="noStrike" kern="1200" cap="none" spc="0" normalizeH="0" baseline="0" noProof="0">
                <a:ln>
                  <a:noFill/>
                </a:ln>
                <a:solidFill>
                  <a:prstClr val="black"/>
                </a:solidFill>
                <a:effectLst/>
                <a:uLnTx/>
                <a:uFillTx/>
                <a:latin typeface="Aptos"/>
                <a:ea typeface="+mn-ea"/>
                <a:cs typeface="+mn-cs"/>
              </a:rPr>
              <a:t>and requires broader functional logic or transformation.</a:t>
            </a:r>
            <a:endParaRPr kumimoji="0" sz="1100" b="0" i="0" u="none" strike="noStrike" kern="1200" cap="none" spc="0" normalizeH="0" baseline="0" noProof="0">
              <a:ln>
                <a:noFill/>
              </a:ln>
              <a:solidFill>
                <a:prstClr val="black"/>
              </a:solidFill>
              <a:effectLst/>
              <a:uLnTx/>
              <a:uFillTx/>
              <a:latin typeface="Aptos"/>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043B59-4096-7383-F3AA-162A06D617C0}"/>
            </a:ext>
          </a:extLst>
        </p:cNvPr>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81BBB133-6756-3795-EC94-E16729E89D3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25" name="think-cell data - do not delete" hidden="1">
                        <a:extLst>
                          <a:ext uri="{FF2B5EF4-FFF2-40B4-BE49-F238E27FC236}">
                            <a16:creationId xmlns:a16="http://schemas.microsoft.com/office/drawing/2014/main" id="{81BBB133-6756-3795-EC94-E16729E89D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E5CFDB7-7BE1-0856-DCF4-DB6156C466E9}"/>
              </a:ext>
            </a:extLst>
          </p:cNvPr>
          <p:cNvSpPr>
            <a:spLocks noGrp="1"/>
          </p:cNvSpPr>
          <p:nvPr>
            <p:ph type="title"/>
          </p:nvPr>
        </p:nvSpPr>
        <p:spPr>
          <a:xfrm>
            <a:off x="457200" y="292608"/>
            <a:ext cx="11274552" cy="502920"/>
          </a:xfrm>
        </p:spPr>
        <p:txBody>
          <a:bodyPr vert="horz" wrap="square" rIns="0"/>
          <a:lstStyle/>
          <a:p>
            <a:r>
              <a:rPr lang="en-US"/>
              <a:t>Zora also indirectly competes with p</a:t>
            </a:r>
            <a:r>
              <a:t>latforms</a:t>
            </a:r>
            <a:r>
              <a:rPr lang="en-US"/>
              <a:t> that</a:t>
            </a:r>
            <a:r>
              <a:t> </a:t>
            </a:r>
            <a:r>
              <a:rPr lang="en-US"/>
              <a:t>provide agent</a:t>
            </a:r>
            <a:r>
              <a:t> infrastructure, not outcomes</a:t>
            </a:r>
          </a:p>
        </p:txBody>
      </p:sp>
      <p:sp>
        <p:nvSpPr>
          <p:cNvPr id="3" name="Rectangle 2">
            <a:extLst>
              <a:ext uri="{FF2B5EF4-FFF2-40B4-BE49-F238E27FC236}">
                <a16:creationId xmlns:a16="http://schemas.microsoft.com/office/drawing/2014/main" id="{68D67997-3B7E-6E14-C195-FE8C08B8120F}"/>
              </a:ext>
            </a:extLst>
          </p:cNvPr>
          <p:cNvSpPr/>
          <p:nvPr/>
        </p:nvSpPr>
        <p:spPr>
          <a:xfrm>
            <a:off x="457200" y="1118998"/>
            <a:ext cx="11274552" cy="741698"/>
          </a:xfrm>
          <a:prstGeom prst="rect">
            <a:avLst/>
          </a:prstGeom>
          <a:solidFill>
            <a:srgbClr val="F5F5F5"/>
          </a:solidFill>
          <a:ln w="9525">
            <a:solidFill>
              <a:srgbClr val="D0D0D0"/>
            </a:solid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4" name="TextBox 3">
            <a:extLst>
              <a:ext uri="{FF2B5EF4-FFF2-40B4-BE49-F238E27FC236}">
                <a16:creationId xmlns:a16="http://schemas.microsoft.com/office/drawing/2014/main" id="{A0AAC2BC-79CE-9663-AA00-52675AF4413B}"/>
              </a:ext>
            </a:extLst>
          </p:cNvPr>
          <p:cNvSpPr txBox="1"/>
          <p:nvPr/>
        </p:nvSpPr>
        <p:spPr>
          <a:xfrm>
            <a:off x="603504" y="1210438"/>
            <a:ext cx="11000232" cy="575799"/>
          </a:xfrm>
          <a:prstGeom prst="rect">
            <a:avLst/>
          </a:prstGeom>
          <a:noFill/>
        </p:spPr>
        <p:txBody>
          <a:bodyPr wrap="square" lIns="0" tIns="0" rIns="0" bIns="0" anchor="t">
            <a:spAutoFit/>
          </a:bodyPr>
          <a:lstStyle/>
          <a:p>
            <a:pPr marL="0" marR="0" lvl="0" indent="0" algn="l" defTabSz="914400" rtl="0" eaLnBrk="1" fontAlgn="auto" latinLnBrk="0" hangingPunct="1">
              <a:lnSpc>
                <a:spcPct val="105000"/>
              </a:lnSpc>
              <a:spcBef>
                <a:spcPts val="0"/>
              </a:spcBef>
              <a:spcAft>
                <a:spcPts val="400"/>
              </a:spcAft>
              <a:buClrTx/>
              <a:buSzTx/>
              <a:buFontTx/>
              <a:buNone/>
              <a:tabLst/>
              <a:defRPr/>
            </a:pPr>
            <a:r>
              <a:rPr kumimoji="0" lang="en-US" sz="1200" b="0" i="0" u="none" strike="noStrike" kern="1200" cap="none" spc="0" normalizeH="0" baseline="0" noProof="0">
                <a:ln>
                  <a:noFill/>
                </a:ln>
                <a:solidFill>
                  <a:srgbClr val="282728"/>
                </a:solidFill>
                <a:effectLst/>
                <a:uLnTx/>
                <a:uFillTx/>
                <a:latin typeface="Aptos"/>
                <a:ea typeface="+mn-ea"/>
                <a:cs typeface="+mn-cs"/>
              </a:rPr>
              <a:t>Agent platforms provide the technology and operating environment to build, connect, govern and run agents. Unlike deployable agents, their core proposition is flexibility and control, rather than a predefined business outcome. They still compete with Zora when clients ask whether their existing platform can be used to build the same capability.</a:t>
            </a:r>
          </a:p>
        </p:txBody>
      </p:sp>
      <p:sp>
        <p:nvSpPr>
          <p:cNvPr id="5" name="Rectangle 4">
            <a:extLst>
              <a:ext uri="{FF2B5EF4-FFF2-40B4-BE49-F238E27FC236}">
                <a16:creationId xmlns:a16="http://schemas.microsoft.com/office/drawing/2014/main" id="{9CBF3D0F-F4A3-0002-1B2F-8A18634D2584}"/>
              </a:ext>
            </a:extLst>
          </p:cNvPr>
          <p:cNvSpPr/>
          <p:nvPr/>
        </p:nvSpPr>
        <p:spPr>
          <a:xfrm>
            <a:off x="457200" y="1961642"/>
            <a:ext cx="5554980" cy="365760"/>
          </a:xfrm>
          <a:prstGeom prst="rect">
            <a:avLst/>
          </a:prstGeom>
          <a:solidFill>
            <a:srgbClr val="86BC25"/>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Box 5">
            <a:extLst>
              <a:ext uri="{FF2B5EF4-FFF2-40B4-BE49-F238E27FC236}">
                <a16:creationId xmlns:a16="http://schemas.microsoft.com/office/drawing/2014/main" id="{AF7114F8-92D4-B94C-D641-1B9AB49DA4C1}"/>
              </a:ext>
            </a:extLst>
          </p:cNvPr>
          <p:cNvSpPr txBox="1"/>
          <p:nvPr/>
        </p:nvSpPr>
        <p:spPr>
          <a:xfrm>
            <a:off x="585216" y="2052189"/>
            <a:ext cx="5298948" cy="18466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a:ea typeface="+mn-ea"/>
                <a:cs typeface="+mn-cs"/>
              </a:rPr>
              <a:t>4A. Technology-owned agent-building platforms</a:t>
            </a:r>
            <a:endParaRPr kumimoji="0" sz="1200" b="1" i="0" u="none" strike="noStrike" kern="1200" cap="none" spc="0" normalizeH="0" baseline="0" noProof="0">
              <a:ln>
                <a:noFill/>
              </a:ln>
              <a:solidFill>
                <a:srgbClr val="FFFFFF"/>
              </a:solidFill>
              <a:effectLst/>
              <a:uLnTx/>
              <a:uFillTx/>
              <a:latin typeface="Aptos"/>
              <a:ea typeface="+mn-ea"/>
              <a:cs typeface="+mn-cs"/>
            </a:endParaRPr>
          </a:p>
        </p:txBody>
      </p:sp>
      <p:sp>
        <p:nvSpPr>
          <p:cNvPr id="7" name="Rectangle 6">
            <a:extLst>
              <a:ext uri="{FF2B5EF4-FFF2-40B4-BE49-F238E27FC236}">
                <a16:creationId xmlns:a16="http://schemas.microsoft.com/office/drawing/2014/main" id="{62D5A583-90EA-4CE2-5A17-ECF2864EA6D3}"/>
              </a:ext>
            </a:extLst>
          </p:cNvPr>
          <p:cNvSpPr/>
          <p:nvPr/>
        </p:nvSpPr>
        <p:spPr>
          <a:xfrm>
            <a:off x="457200" y="2327401"/>
            <a:ext cx="5554980" cy="1177404"/>
          </a:xfrm>
          <a:prstGeom prst="rect">
            <a:avLst/>
          </a:prstGeom>
          <a:solidFill>
            <a:srgbClr val="FFFFFF"/>
          </a:solidFill>
          <a:ln w="9525">
            <a:solidFill>
              <a:srgbClr val="D0D0D0"/>
            </a:solid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9" name="Rectangle 8">
            <a:extLst>
              <a:ext uri="{FF2B5EF4-FFF2-40B4-BE49-F238E27FC236}">
                <a16:creationId xmlns:a16="http://schemas.microsoft.com/office/drawing/2014/main" id="{B851CD02-ABC2-A80B-3ABB-8F6EF2A78E25}"/>
              </a:ext>
            </a:extLst>
          </p:cNvPr>
          <p:cNvSpPr/>
          <p:nvPr/>
        </p:nvSpPr>
        <p:spPr>
          <a:xfrm>
            <a:off x="457200" y="5323494"/>
            <a:ext cx="11274552" cy="777240"/>
          </a:xfrm>
          <a:prstGeom prst="rect">
            <a:avLst/>
          </a:prstGeom>
          <a:solidFill>
            <a:schemeClr val="accent2"/>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Box 10">
            <a:extLst>
              <a:ext uri="{FF2B5EF4-FFF2-40B4-BE49-F238E27FC236}">
                <a16:creationId xmlns:a16="http://schemas.microsoft.com/office/drawing/2014/main" id="{F9EBBA1F-CF11-A36C-DED7-C94A4D2EF373}"/>
              </a:ext>
            </a:extLst>
          </p:cNvPr>
          <p:cNvSpPr txBox="1"/>
          <p:nvPr/>
        </p:nvSpPr>
        <p:spPr>
          <a:xfrm>
            <a:off x="621792" y="5405790"/>
            <a:ext cx="5244084"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prstClr val="white"/>
                </a:solidFill>
                <a:effectLst/>
                <a:uLnTx/>
                <a:uFillTx/>
                <a:latin typeface="Aptos"/>
                <a:ea typeface="+mn-ea"/>
                <a:cs typeface="+mn-cs"/>
              </a:rPr>
              <a:t>POSSIBLE SELLER RESPONSE</a:t>
            </a:r>
          </a:p>
        </p:txBody>
      </p:sp>
      <p:sp>
        <p:nvSpPr>
          <p:cNvPr id="12" name="TextBox 11">
            <a:extLst>
              <a:ext uri="{FF2B5EF4-FFF2-40B4-BE49-F238E27FC236}">
                <a16:creationId xmlns:a16="http://schemas.microsoft.com/office/drawing/2014/main" id="{F3DDF63C-FAC4-A75C-A239-B6E69097EDB6}"/>
              </a:ext>
            </a:extLst>
          </p:cNvPr>
          <p:cNvSpPr txBox="1"/>
          <p:nvPr/>
        </p:nvSpPr>
        <p:spPr>
          <a:xfrm>
            <a:off x="621792" y="5616102"/>
            <a:ext cx="10981944" cy="188000"/>
          </a:xfrm>
          <a:prstGeom prst="rect">
            <a:avLst/>
          </a:prstGeom>
          <a:noFill/>
        </p:spPr>
        <p:txBody>
          <a:bodyPr wrap="square" lIns="0" tIns="0" rIns="0" bIns="0" anchor="t">
            <a:sp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1" u="none" strike="noStrike" kern="1200" cap="none" spc="0" normalizeH="0" baseline="0" noProof="0">
                <a:ln>
                  <a:noFill/>
                </a:ln>
                <a:solidFill>
                  <a:prstClr val="white"/>
                </a:solidFill>
                <a:effectLst/>
                <a:uLnTx/>
                <a:uFillTx/>
                <a:latin typeface="Aptos"/>
                <a:ea typeface="+mn-ea"/>
                <a:cs typeface="+mn-cs"/>
              </a:rPr>
              <a:t>“Retain your preferred platform to build and govern agents; use Zora where you want a packaged functional workforce without designing every workflow from scratch"</a:t>
            </a:r>
            <a:endParaRPr kumimoji="0" sz="1200" b="0" i="1" u="none" strike="noStrike" kern="1200" cap="none" spc="0" normalizeH="0" baseline="0" noProof="0">
              <a:ln>
                <a:noFill/>
              </a:ln>
              <a:solidFill>
                <a:prstClr val="white"/>
              </a:solidFill>
              <a:effectLst/>
              <a:uLnTx/>
              <a:uFillTx/>
              <a:latin typeface="Aptos"/>
              <a:ea typeface="+mn-ea"/>
              <a:cs typeface="+mn-cs"/>
            </a:endParaRPr>
          </a:p>
        </p:txBody>
      </p:sp>
      <p:sp>
        <p:nvSpPr>
          <p:cNvPr id="13" name="Rectangle 12">
            <a:extLst>
              <a:ext uri="{FF2B5EF4-FFF2-40B4-BE49-F238E27FC236}">
                <a16:creationId xmlns:a16="http://schemas.microsoft.com/office/drawing/2014/main" id="{DAE3E30B-9779-9137-1CDB-7846DC19F4F3}"/>
              </a:ext>
            </a:extLst>
          </p:cNvPr>
          <p:cNvSpPr/>
          <p:nvPr/>
        </p:nvSpPr>
        <p:spPr>
          <a:xfrm>
            <a:off x="6176772" y="1961642"/>
            <a:ext cx="5554980" cy="365760"/>
          </a:xfrm>
          <a:prstGeom prst="rect">
            <a:avLst/>
          </a:prstGeom>
          <a:solidFill>
            <a:srgbClr val="86BC25"/>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Box 13">
            <a:extLst>
              <a:ext uri="{FF2B5EF4-FFF2-40B4-BE49-F238E27FC236}">
                <a16:creationId xmlns:a16="http://schemas.microsoft.com/office/drawing/2014/main" id="{D6823643-7FF3-27AC-C47F-5128AB3D0946}"/>
              </a:ext>
            </a:extLst>
          </p:cNvPr>
          <p:cNvSpPr txBox="1"/>
          <p:nvPr/>
        </p:nvSpPr>
        <p:spPr>
          <a:xfrm>
            <a:off x="6304788" y="2052189"/>
            <a:ext cx="5298948" cy="18466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a:ea typeface="+mn-ea"/>
                <a:cs typeface="+mn-cs"/>
              </a:rPr>
              <a:t>4B. Platforms built on partner infrastructure</a:t>
            </a:r>
            <a:endParaRPr kumimoji="0" sz="1200" b="1" i="0" u="none" strike="noStrike" kern="1200" cap="none" spc="0" normalizeH="0" baseline="0" noProof="0">
              <a:ln>
                <a:noFill/>
              </a:ln>
              <a:solidFill>
                <a:srgbClr val="FFFFFF"/>
              </a:solidFill>
              <a:effectLst/>
              <a:uLnTx/>
              <a:uFillTx/>
              <a:latin typeface="Aptos"/>
              <a:ea typeface="+mn-ea"/>
              <a:cs typeface="+mn-cs"/>
            </a:endParaRPr>
          </a:p>
        </p:txBody>
      </p:sp>
      <p:sp>
        <p:nvSpPr>
          <p:cNvPr id="15" name="Rectangle 14">
            <a:extLst>
              <a:ext uri="{FF2B5EF4-FFF2-40B4-BE49-F238E27FC236}">
                <a16:creationId xmlns:a16="http://schemas.microsoft.com/office/drawing/2014/main" id="{FC79EA4A-A502-8C4B-D734-D3DE9D6E9486}"/>
              </a:ext>
            </a:extLst>
          </p:cNvPr>
          <p:cNvSpPr/>
          <p:nvPr/>
        </p:nvSpPr>
        <p:spPr>
          <a:xfrm>
            <a:off x="6176772" y="2327401"/>
            <a:ext cx="5554980" cy="1177403"/>
          </a:xfrm>
          <a:prstGeom prst="rect">
            <a:avLst/>
          </a:prstGeom>
          <a:solidFill>
            <a:srgbClr val="FFFFFF"/>
          </a:solidFill>
          <a:ln w="9525">
            <a:solidFill>
              <a:srgbClr val="D0D0D0"/>
            </a:solid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22" name="Rectangle 21">
            <a:extLst>
              <a:ext uri="{FF2B5EF4-FFF2-40B4-BE49-F238E27FC236}">
                <a16:creationId xmlns:a16="http://schemas.microsoft.com/office/drawing/2014/main" id="{F4588ECD-A66A-BCEA-0483-276E150DD635}"/>
              </a:ext>
            </a:extLst>
          </p:cNvPr>
          <p:cNvSpPr/>
          <p:nvPr/>
        </p:nvSpPr>
        <p:spPr>
          <a:xfrm>
            <a:off x="457200" y="3561455"/>
            <a:ext cx="5554980" cy="1659306"/>
          </a:xfrm>
          <a:prstGeom prst="rect">
            <a:avLst/>
          </a:prstGeom>
          <a:solidFill>
            <a:schemeClr val="accent1">
              <a:lumMod val="20000"/>
              <a:lumOff val="80000"/>
            </a:schemeClr>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TextBox 17">
            <a:extLst>
              <a:ext uri="{FF2B5EF4-FFF2-40B4-BE49-F238E27FC236}">
                <a16:creationId xmlns:a16="http://schemas.microsoft.com/office/drawing/2014/main" id="{EAB00447-E251-63CD-A3D5-0F690A498A73}"/>
              </a:ext>
            </a:extLst>
          </p:cNvPr>
          <p:cNvSpPr txBox="1"/>
          <p:nvPr/>
        </p:nvSpPr>
        <p:spPr>
          <a:xfrm>
            <a:off x="585216" y="2386552"/>
            <a:ext cx="5426964" cy="109260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HOW THEY COMPARE WITH </a:t>
            </a:r>
            <a:r>
              <a:rPr kumimoji="0" sz="1100" b="1" i="0" u="none" strike="noStrike" kern="1200" cap="none" spc="0" normalizeH="0" baseline="0" noProof="0">
                <a:ln>
                  <a:noFill/>
                </a:ln>
                <a:solidFill>
                  <a:prstClr val="black"/>
                </a:solidFill>
                <a:effectLst/>
                <a:uLnTx/>
                <a:uFillTx/>
                <a:latin typeface="Aptos"/>
                <a:ea typeface="+mn-ea"/>
                <a:cs typeface="+mn-cs"/>
              </a:rPr>
              <a:t>ZORA</a:t>
            </a:r>
            <a:endParaRPr kumimoji="0" lang="en-US" sz="1100" b="1" i="0" u="none" strike="noStrike" kern="1200" cap="none" spc="0" normalizeH="0" baseline="0" noProof="0">
              <a:ln>
                <a:noFill/>
              </a:ln>
              <a:solidFill>
                <a:prstClr val="black"/>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Provide first-party models or model access, development tools, runtime, orchestration, evaluation, observability and governance.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Offer maximum flexibility for clients that want to build and own differentiated agents.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May include templates and prebuilt agents, but clients or partners generally must define the functional workflow, domain logic, controls and integrations.</a:t>
            </a:r>
            <a:endParaRPr kumimoji="0" sz="1100" b="0" i="0" u="none" strike="noStrike" kern="1200" cap="none" spc="0" normalizeH="0" baseline="0" noProof="0">
              <a:ln>
                <a:noFill/>
              </a:ln>
              <a:solidFill>
                <a:prstClr val="black"/>
              </a:solidFill>
              <a:effectLst/>
              <a:uLnTx/>
              <a:uFillTx/>
              <a:latin typeface="Aptos"/>
              <a:ea typeface="+mn-ea"/>
              <a:cs typeface="+mn-cs"/>
            </a:endParaRPr>
          </a:p>
        </p:txBody>
      </p:sp>
      <p:sp>
        <p:nvSpPr>
          <p:cNvPr id="26" name="TextBox 25">
            <a:extLst>
              <a:ext uri="{FF2B5EF4-FFF2-40B4-BE49-F238E27FC236}">
                <a16:creationId xmlns:a16="http://schemas.microsoft.com/office/drawing/2014/main" id="{58E2EE97-7CB9-D2A9-238B-0B181133D26D}"/>
              </a:ext>
            </a:extLst>
          </p:cNvPr>
          <p:cNvSpPr txBox="1"/>
          <p:nvPr/>
        </p:nvSpPr>
        <p:spPr>
          <a:xfrm>
            <a:off x="6304788" y="2386552"/>
            <a:ext cx="5426964" cy="109260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a:ea typeface="+mn-ea"/>
                <a:cs typeface="+mn-cs"/>
              </a:rPr>
              <a:t>HOW THEY COMPARE WITH </a:t>
            </a:r>
            <a:r>
              <a:rPr kumimoji="0" sz="1100" b="1" i="0" u="none" strike="noStrike" kern="1200" cap="none" spc="0" normalizeH="0" baseline="0" noProof="0">
                <a:ln>
                  <a:noFill/>
                </a:ln>
                <a:solidFill>
                  <a:prstClr val="black"/>
                </a:solidFill>
                <a:effectLst/>
                <a:uLnTx/>
                <a:uFillTx/>
                <a:latin typeface="Aptos"/>
                <a:ea typeface="+mn-ea"/>
                <a:cs typeface="+mn-cs"/>
              </a:rPr>
              <a:t>ZORA</a:t>
            </a:r>
            <a:endParaRPr kumimoji="0" lang="en-US" sz="1100" b="1" i="0" u="none" strike="noStrike" kern="1200" cap="none" spc="0" normalizeH="0" baseline="0" noProof="0">
              <a:ln>
                <a:noFill/>
              </a:ln>
              <a:solidFill>
                <a:prstClr val="black"/>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Combine partner technology with implementation services, reusable components, agent catalogues and varying levels of orchestration and governance.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Offer flexibility to build, customize and coordinate agents across the enterprise.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Some platforms include preconfigured functional or industry agents, but their domain depth, productization and autonomy vary; client-specific assembly often remains.</a:t>
            </a:r>
            <a:endParaRPr kumimoji="0" sz="1100" b="0" i="0" u="none" strike="noStrike" kern="1200" cap="none" spc="0" normalizeH="0" baseline="0" noProof="0">
              <a:ln>
                <a:noFill/>
              </a:ln>
              <a:solidFill>
                <a:prstClr val="black"/>
              </a:solidFill>
              <a:effectLst/>
              <a:uLnTx/>
              <a:uFillTx/>
              <a:latin typeface="Aptos"/>
              <a:ea typeface="+mn-ea"/>
              <a:cs typeface="+mn-cs"/>
            </a:endParaRPr>
          </a:p>
        </p:txBody>
      </p:sp>
      <p:sp>
        <p:nvSpPr>
          <p:cNvPr id="28" name="TextBox 27">
            <a:extLst>
              <a:ext uri="{FF2B5EF4-FFF2-40B4-BE49-F238E27FC236}">
                <a16:creationId xmlns:a16="http://schemas.microsoft.com/office/drawing/2014/main" id="{C7233BDF-F489-82EE-8C8B-CE488C095821}"/>
              </a:ext>
            </a:extLst>
          </p:cNvPr>
          <p:cNvSpPr txBox="1"/>
          <p:nvPr/>
        </p:nvSpPr>
        <p:spPr>
          <a:xfrm>
            <a:off x="585216" y="3621974"/>
            <a:ext cx="5426964" cy="145770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sz="1100" b="1" i="0" u="none" strike="noStrike" kern="1200" cap="none" spc="0" normalizeH="0" baseline="0" noProof="0">
                <a:ln>
                  <a:noFill/>
                </a:ln>
                <a:solidFill>
                  <a:prstClr val="black"/>
                </a:solidFill>
                <a:effectLst/>
                <a:uLnTx/>
                <a:uFillTx/>
                <a:latin typeface="Aptos"/>
                <a:ea typeface="+mn-ea"/>
                <a:cs typeface="+mn-cs"/>
              </a:rPr>
              <a:t>RECOMMENDATION FOR ZORA</a:t>
            </a:r>
            <a:endParaRPr kumimoji="0" lang="en-US" sz="1100" b="1" i="0" u="none" strike="noStrike" kern="1200" cap="none" spc="0" normalizeH="0" baseline="0" noProof="0">
              <a:ln>
                <a:noFill/>
              </a:ln>
              <a:solidFill>
                <a:prstClr val="black"/>
              </a:solidFill>
              <a:effectLst/>
              <a:uLnTx/>
              <a:uFillTx/>
              <a:latin typeface="Aptos"/>
              <a:ea typeface="+mn-ea"/>
              <a:cs typeface="+mn-cs"/>
            </a:endParaRPr>
          </a:p>
          <a:p>
            <a:pPr marL="171450" marR="0" lvl="0" indent="-171450" algn="l" defTabSz="914400" rtl="0" eaLnBrk="1" fontAlgn="auto" latinLnBrk="0" hangingPunct="1">
              <a:lnSpc>
                <a:spcPct val="102000"/>
              </a:lnSpc>
              <a:spcBef>
                <a:spcPts val="0"/>
              </a:spcBef>
              <a:spcAft>
                <a:spcPts val="7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Avoid feature-by-feature tooling comparisons: Lead with buying a functional outcome versus building one.</a:t>
            </a:r>
          </a:p>
          <a:p>
            <a:pPr marL="171450" marR="0" lvl="0" indent="-171450" algn="l" defTabSz="914400" rtl="0" eaLnBrk="1" fontAlgn="auto" latinLnBrk="0" hangingPunct="1">
              <a:lnSpc>
                <a:spcPct val="102000"/>
              </a:lnSpc>
              <a:spcBef>
                <a:spcPts val="0"/>
              </a:spcBef>
              <a:spcAft>
                <a:spcPts val="7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Quantify what Zora eliminates or accelerates: Workflow design, domain logic, controls, integration and deployment effort.</a:t>
            </a:r>
          </a:p>
          <a:p>
            <a:pPr marL="171450" marR="0" lvl="0" indent="-171450" algn="l" defTabSz="914400" rtl="0" eaLnBrk="1" fontAlgn="auto" latinLnBrk="0" hangingPunct="1">
              <a:lnSpc>
                <a:spcPct val="102000"/>
              </a:lnSpc>
              <a:spcBef>
                <a:spcPts val="0"/>
              </a:spcBef>
              <a:spcAft>
                <a:spcPts val="7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Position Zora as deployable within or alongside the client’s chosen platform, not as a replacement for its technology estate</a:t>
            </a:r>
          </a:p>
        </p:txBody>
      </p:sp>
      <p:sp>
        <p:nvSpPr>
          <p:cNvPr id="30" name="Rectangle 29">
            <a:extLst>
              <a:ext uri="{FF2B5EF4-FFF2-40B4-BE49-F238E27FC236}">
                <a16:creationId xmlns:a16="http://schemas.microsoft.com/office/drawing/2014/main" id="{672D094F-061C-FFC9-5BFB-67837F4EEA2A}"/>
              </a:ext>
            </a:extLst>
          </p:cNvPr>
          <p:cNvSpPr/>
          <p:nvPr/>
        </p:nvSpPr>
        <p:spPr>
          <a:xfrm>
            <a:off x="6176772" y="3560409"/>
            <a:ext cx="5554980" cy="1659306"/>
          </a:xfrm>
          <a:prstGeom prst="rect">
            <a:avLst/>
          </a:prstGeom>
          <a:solidFill>
            <a:schemeClr val="accent1">
              <a:lumMod val="20000"/>
              <a:lumOff val="80000"/>
            </a:schemeClr>
          </a:solidFill>
          <a:ln>
            <a:noFil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32" name="TextBox 31">
            <a:extLst>
              <a:ext uri="{FF2B5EF4-FFF2-40B4-BE49-F238E27FC236}">
                <a16:creationId xmlns:a16="http://schemas.microsoft.com/office/drawing/2014/main" id="{F194FEDE-4CB7-89CB-93EE-AD268B266848}"/>
              </a:ext>
            </a:extLst>
          </p:cNvPr>
          <p:cNvSpPr txBox="1"/>
          <p:nvPr/>
        </p:nvSpPr>
        <p:spPr>
          <a:xfrm>
            <a:off x="6304788" y="3620928"/>
            <a:ext cx="5426964" cy="136793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sz="1100" b="1" i="0" u="none" strike="noStrike" kern="1200" cap="none" spc="0" normalizeH="0" baseline="0" noProof="0">
                <a:ln>
                  <a:noFill/>
                </a:ln>
                <a:solidFill>
                  <a:prstClr val="black"/>
                </a:solidFill>
                <a:effectLst/>
                <a:uLnTx/>
                <a:uFillTx/>
                <a:latin typeface="Aptos"/>
                <a:ea typeface="+mn-ea"/>
                <a:cs typeface="+mn-cs"/>
              </a:rPr>
              <a:t>RECOMMENDATION FOR ZORA</a:t>
            </a:r>
            <a:endParaRPr kumimoji="0" lang="en-US" sz="1100" b="1" i="0" u="none" strike="noStrike" kern="1200" cap="none" spc="0" normalizeH="0" baseline="0" noProof="0">
              <a:ln>
                <a:noFill/>
              </a:ln>
              <a:solidFill>
                <a:prstClr val="black"/>
              </a:solidFill>
              <a:effectLst/>
              <a:uLnTx/>
              <a:uFillTx/>
              <a:latin typeface="Aptos"/>
              <a:ea typeface="+mn-ea"/>
              <a:cs typeface="+mn-cs"/>
            </a:endParaRPr>
          </a:p>
          <a:p>
            <a:pPr marL="171450" marR="0" lvl="0" indent="-171450" algn="l" defTabSz="914400" rtl="0" eaLnBrk="1" fontAlgn="auto" latinLnBrk="0" hangingPunct="1">
              <a:lnSpc>
                <a:spcPct val="102000"/>
              </a:lnSpc>
              <a:spcBef>
                <a:spcPts val="0"/>
              </a:spcBef>
              <a:spcAft>
                <a:spcPts val="7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Separate the platform claim from the deployable-agent claim: Compare named Zora workflows only with named, available competitor solutions.</a:t>
            </a:r>
          </a:p>
          <a:p>
            <a:pPr marL="171450" marR="0" lvl="0" indent="-171450" algn="l" defTabSz="914400" rtl="0" eaLnBrk="1" fontAlgn="auto" latinLnBrk="0" hangingPunct="1">
              <a:lnSpc>
                <a:spcPct val="102000"/>
              </a:lnSpc>
              <a:spcBef>
                <a:spcPts val="0"/>
              </a:spcBef>
              <a:spcAft>
                <a:spcPts val="7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a:ea typeface="+mn-ea"/>
                <a:cs typeface="+mn-cs"/>
              </a:rPr>
              <a:t>Concede their advantage where the client prioritizes a customizable enterprise agent factory. Zora’s proposition as a packaged domain-oriented workforce can still complement that factory, providing greater domain expertise and faster time to value for specific workflows in finance, procurement, etc.</a:t>
            </a:r>
          </a:p>
        </p:txBody>
      </p:sp>
    </p:spTree>
    <p:extLst>
      <p:ext uri="{BB962C8B-B14F-4D97-AF65-F5344CB8AC3E}">
        <p14:creationId xmlns:p14="http://schemas.microsoft.com/office/powerpoint/2010/main" val="2952229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Brand_Theme">
  <a:themeElements>
    <a:clrScheme name="Custom 1">
      <a:dk1>
        <a:sysClr val="windowText" lastClr="000000"/>
      </a:dk1>
      <a:lt1>
        <a:sysClr val="window" lastClr="FFFFFF"/>
      </a:lt1>
      <a:dk2>
        <a:srgbClr val="222222"/>
      </a:dk2>
      <a:lt2>
        <a:srgbClr val="E6E6E6"/>
      </a:lt2>
      <a:accent1>
        <a:srgbClr val="86BC25"/>
      </a:accent1>
      <a:accent2>
        <a:srgbClr val="26890D"/>
      </a:accent2>
      <a:accent3>
        <a:srgbClr val="046A38"/>
      </a:accent3>
      <a:accent4>
        <a:srgbClr val="1C3D26"/>
      </a:accent4>
      <a:accent5>
        <a:srgbClr val="0DF200"/>
      </a:accent5>
      <a:accent6>
        <a:srgbClr val="F1F6E4"/>
      </a:accent6>
      <a:hlink>
        <a:srgbClr val="26890D"/>
      </a:hlink>
      <a:folHlink>
        <a:srgbClr val="7F7F7F"/>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5">
      <a:srgbClr val="009A44"/>
    </a:custClr>
    <a:custClr name="Green 4">
      <a:srgbClr val="43B02A"/>
    </a:custClr>
    <a:custClr name="Green 2">
      <a:srgbClr val="C4D600"/>
    </a:custClr>
    <a:custClr name="Green 1">
      <a:srgbClr val="E3E48D"/>
    </a:custClr>
    <a:custClr name="Teal 8">
      <a:srgbClr val="0D8390"/>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8">
      <a:srgbClr val="007CB0"/>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Bright Teal">
      <a:srgbClr val="3EFAC5"/>
    </a:custClr>
    <a:custClr name="Bright Blue">
      <a:srgbClr val="33F0FF"/>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rand_Theme" id="{917CC780-C041-4F84-B057-DE63A8CDEF25}" vid="{5A16EDA9-025E-49B0-B403-896FAE83D1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57690279B99048B63BE41A9621E33B" ma:contentTypeVersion="3" ma:contentTypeDescription="Create a new document." ma:contentTypeScope="" ma:versionID="092b3c23fb38faf9b90dceb7ebb9ccf3">
  <xsd:schema xmlns:xsd="http://www.w3.org/2001/XMLSchema" xmlns:xs="http://www.w3.org/2001/XMLSchema" xmlns:p="http://schemas.microsoft.com/office/2006/metadata/properties" xmlns:ns2="131db2dc-c73e-42a3-9c16-d1b98f3bf3c1" targetNamespace="http://schemas.microsoft.com/office/2006/metadata/properties" ma:root="true" ma:fieldsID="c2193df527a1cc18c7079d9dad70627d" ns2:_="">
    <xsd:import namespace="131db2dc-c73e-42a3-9c16-d1b98f3bf3c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db2dc-c73e-42a3-9c16-d1b98f3bf3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0CFC8F-5826-428B-A3DD-055585CF655F}">
  <ds:schemaRefs>
    <ds:schemaRef ds:uri="http://schemas.microsoft.com/sharepoint/v3/contenttype/forms"/>
  </ds:schemaRefs>
</ds:datastoreItem>
</file>

<file path=customXml/itemProps2.xml><?xml version="1.0" encoding="utf-8"?>
<ds:datastoreItem xmlns:ds="http://schemas.openxmlformats.org/officeDocument/2006/customXml" ds:itemID="{58DC3949-44C7-4EB1-B52E-23DD2495B1FD}">
  <ds:schemaRefs>
    <ds:schemaRef ds:uri="http://schemas.microsoft.com/office/infopath/2007/PartnerControls"/>
    <ds:schemaRef ds:uri="http://purl.org/dc/elements/1.1/"/>
    <ds:schemaRef ds:uri="http://schemas.microsoft.com/office/2006/documentManagement/types"/>
    <ds:schemaRef ds:uri="131db2dc-c73e-42a3-9c16-d1b98f3bf3c1"/>
    <ds:schemaRef ds:uri="http://schemas.openxmlformats.org/package/2006/metadata/core-properties"/>
    <ds:schemaRef ds:uri="http://schemas.microsoft.com/office/2006/metadata/properties"/>
    <ds:schemaRef ds:uri="http://www.w3.org/XML/1998/namespace"/>
    <ds:schemaRef ds:uri="http://purl.org/dc/dcmitype/"/>
    <ds:schemaRef ds:uri="http://purl.org/dc/terms/"/>
  </ds:schemaRefs>
</ds:datastoreItem>
</file>

<file path=customXml/itemProps3.xml><?xml version="1.0" encoding="utf-8"?>
<ds:datastoreItem xmlns:ds="http://schemas.openxmlformats.org/officeDocument/2006/customXml" ds:itemID="{642C0E8F-C72D-45A1-B8E3-67A989CB66E2}">
  <ds:schemaRefs>
    <ds:schemaRef ds:uri="131db2dc-c73e-42a3-9c16-d1b98f3bf3c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3</TotalTime>
  <Words>11792</Words>
  <Application>Microsoft Office PowerPoint</Application>
  <PresentationFormat>Widescreen</PresentationFormat>
  <Paragraphs>1198</Paragraphs>
  <Slides>46</Slides>
  <Notes>8</Notes>
  <HiddenSlides>2</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5" baseType="lpstr">
      <vt:lpstr>Aptos</vt:lpstr>
      <vt:lpstr>Arial</vt:lpstr>
      <vt:lpstr>Open Sans</vt:lpstr>
      <vt:lpstr>Segoe UI</vt:lpstr>
      <vt:lpstr>Segoe UI Symbol</vt:lpstr>
      <vt:lpstr>Verdana</vt:lpstr>
      <vt:lpstr>Wingdings 2</vt:lpstr>
      <vt:lpstr>Deloitte_Brand_Theme</vt:lpstr>
      <vt:lpstr>think-cell Slide</vt:lpstr>
      <vt:lpstr>Zora CI</vt:lpstr>
      <vt:lpstr>Context and Objectives</vt:lpstr>
      <vt:lpstr>Contents</vt:lpstr>
      <vt:lpstr>Zora belongs to the application layer of the AI stack; the application layer consists of standalone Deployable Agent solutions, as well as Enabling Platforms with Deployable Agent capabilities</vt:lpstr>
      <vt:lpstr>Zora’s immediate competitors are function and industry-specialized agents, and application-native offerings, while agent-building platforms also present alternatives for clients</vt:lpstr>
      <vt:lpstr>Zora's direct competition sits in the deployable agents layer, split into three categories that each need a different sales posturing</vt:lpstr>
      <vt:lpstr>Zora also indirectly competes with platforms that provide agent infrastructure, not outcomes</vt:lpstr>
      <vt:lpstr>Limited competitors offer a combination of breadth and depth, a unique position that Zora occupies, shared with only SAP’s Joule Agents</vt:lpstr>
      <vt:lpstr>Zora leads PSF peers in productization, but trails point solutions; PSFs, few Application native solutions offer cross-system interoperability, but announced partnerships are less evidenced than Zora</vt:lpstr>
      <vt:lpstr>Zora offers autonomous execution closer to specialized solutions; governance needs to be more evidenced (identity, action level authorization, approvals) to match few competitors</vt:lpstr>
      <vt:lpstr>Zora offers broad model choice and deployment flexibility, also emulated by few PSFs</vt:lpstr>
      <vt:lpstr>Finance domain: Competitive proximity to Zora</vt:lpstr>
      <vt:lpstr>Finance domain: Workflow coverage by peers </vt:lpstr>
      <vt:lpstr>Competitor Profiles: Big 4 and Consulting </vt:lpstr>
      <vt:lpstr>Accenture</vt:lpstr>
      <vt:lpstr>PwC</vt:lpstr>
      <vt:lpstr>EY</vt:lpstr>
      <vt:lpstr>KPMG</vt:lpstr>
      <vt:lpstr>IBM</vt:lpstr>
      <vt:lpstr>Capgemini</vt:lpstr>
      <vt:lpstr>Infosys</vt:lpstr>
      <vt:lpstr>Competitor Profiles: Hyperscalers and Enterprise Software</vt:lpstr>
      <vt:lpstr>Microsoft</vt:lpstr>
      <vt:lpstr>SAP</vt:lpstr>
      <vt:lpstr>ServiceNow</vt:lpstr>
      <vt:lpstr>Salesforce</vt:lpstr>
      <vt:lpstr>Workday</vt:lpstr>
      <vt:lpstr>Google</vt:lpstr>
      <vt:lpstr>AWS</vt:lpstr>
      <vt:lpstr>Databricks: The proposition</vt:lpstr>
      <vt:lpstr>Databricks: Comparability with Zora</vt:lpstr>
      <vt:lpstr>Competitor Profiles: Frontier AI Labs/Model Providers</vt:lpstr>
      <vt:lpstr>Open AI</vt:lpstr>
      <vt:lpstr>Anthropic</vt:lpstr>
      <vt:lpstr>Competitor Profiles: Point Solutions</vt:lpstr>
      <vt:lpstr>HighRadius</vt:lpstr>
      <vt:lpstr>DataRails</vt:lpstr>
      <vt:lpstr>OneStream</vt:lpstr>
      <vt:lpstr>Abacum</vt:lpstr>
      <vt:lpstr>Coupa</vt:lpstr>
      <vt:lpstr>Methodology: Evidence based assessment using public information</vt:lpstr>
      <vt:lpstr>Scoring Matrix for Comparison Maps (1/3)</vt:lpstr>
      <vt:lpstr>Scoring Matrix for Comparison Maps (2/3)</vt:lpstr>
      <vt:lpstr>Scoring Matrix for Comparison Maps (3/3)</vt:lpstr>
      <vt:lpstr>Zora's direct competition sits in the deployable agents layer, split into three categories that each need a different sales posturing</vt:lpstr>
      <vt:lpstr>Zora also indirectly competes with platforms that provide agent infrastructure, not outcomes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Camhi, Jonathan</dc:creator>
  <cp:lastModifiedBy>Camhi, Jonathan</cp:lastModifiedBy>
  <cp:revision>2</cp:revision>
  <dcterms:created xsi:type="dcterms:W3CDTF">2026-08-25T17:49:40Z</dcterms:created>
  <dcterms:modified xsi:type="dcterms:W3CDTF">2026-09-09T20:12:29Z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0x0101000757690279B99048B63BE41A9621E33B</vt:lpwstr>
  </property>
</Properties>
</file>